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rgbClr val="BB9F4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rgbClr val="BB9F4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rgbClr val="BB9F4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96696" y="1847595"/>
            <a:ext cx="3374390" cy="35121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001000" y="1399336"/>
            <a:ext cx="3200400" cy="4399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2"/>
            <a:ext cx="12188952" cy="68579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rgbClr val="BB9F4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2"/>
            <a:ext cx="12188952" cy="68579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7511" y="218135"/>
            <a:ext cx="10587240" cy="1209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rgbClr val="BB9F4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39890" y="2893250"/>
            <a:ext cx="5161915" cy="2633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jpg"/><Relationship Id="rId8" Type="http://schemas.openxmlformats.org/officeDocument/2006/relationships/image" Target="../media/image15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image" Target="../media/image20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image" Target="../media/image21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863" y="1261870"/>
            <a:ext cx="1371600" cy="13350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07991" y="457198"/>
            <a:ext cx="7680959" cy="640080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148092" y="2790950"/>
            <a:ext cx="2680970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630" b="0">
                <a:solidFill>
                  <a:srgbClr val="007B5D"/>
                </a:solidFill>
                <a:latin typeface="Arial MT"/>
                <a:cs typeface="Arial MT"/>
              </a:rPr>
              <a:t>EUROPEAN</a:t>
            </a:r>
            <a:endParaRPr sz="4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2498" y="3250944"/>
            <a:ext cx="3114040" cy="734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50" spc="-430">
                <a:solidFill>
                  <a:srgbClr val="012A46"/>
                </a:solidFill>
                <a:latin typeface="Arial Black"/>
                <a:cs typeface="Arial Black"/>
              </a:rPr>
              <a:t>MICROOFT</a:t>
            </a:r>
            <a:endParaRPr sz="465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0949" y="3723638"/>
            <a:ext cx="3171190" cy="726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775">
                <a:solidFill>
                  <a:srgbClr val="002849"/>
                </a:solidFill>
                <a:latin typeface="Arial Black"/>
                <a:cs typeface="Arial Black"/>
              </a:rPr>
              <a:t>FABRIC</a:t>
            </a:r>
            <a:r>
              <a:rPr dirty="0" sz="4600" spc="385">
                <a:solidFill>
                  <a:srgbClr val="002849"/>
                </a:solidFill>
                <a:latin typeface="Arial Black"/>
                <a:cs typeface="Arial Black"/>
              </a:rPr>
              <a:t> </a:t>
            </a:r>
            <a:r>
              <a:rPr dirty="0" sz="4600" spc="-409">
                <a:solidFill>
                  <a:srgbClr val="002A4B"/>
                </a:solidFill>
                <a:latin typeface="Arial Black"/>
                <a:cs typeface="Arial Black"/>
              </a:rPr>
              <a:t>SäL</a:t>
            </a:r>
            <a:endParaRPr sz="46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1284" y="4257292"/>
            <a:ext cx="2885440" cy="398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 spc="-409">
                <a:solidFill>
                  <a:srgbClr val="1D1D1D"/>
                </a:solidFill>
                <a:latin typeface="Arial Black"/>
                <a:cs typeface="Arial Black"/>
              </a:rPr>
              <a:t>CoitmunityConfeænce</a:t>
            </a:r>
            <a:endParaRPr sz="245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4772" y="5440171"/>
            <a:ext cx="2386330" cy="579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270"/>
              </a:lnSpc>
              <a:spcBef>
                <a:spcPts val="100"/>
              </a:spcBef>
            </a:pPr>
            <a:r>
              <a:rPr dirty="0" sz="2100" spc="-290">
                <a:solidFill>
                  <a:srgbClr val="9A933A"/>
                </a:solidFill>
                <a:latin typeface="Arial MT"/>
                <a:cs typeface="Arial MT"/>
              </a:rPr>
              <a:t>BARCELONA</a:t>
            </a:r>
            <a:endParaRPr sz="2100">
              <a:latin typeface="Arial MT"/>
              <a:cs typeface="Arial MT"/>
            </a:endParaRPr>
          </a:p>
          <a:p>
            <a:pPr marL="947419">
              <a:lnSpc>
                <a:spcPts val="2090"/>
              </a:lnSpc>
            </a:pPr>
            <a:r>
              <a:rPr dirty="0" sz="1950">
                <a:solidFill>
                  <a:srgbClr val="979075"/>
                </a:solidFill>
                <a:latin typeface="Arial MT"/>
                <a:cs typeface="Arial MT"/>
              </a:rPr>
              <a:t>-</a:t>
            </a:r>
            <a:r>
              <a:rPr dirty="0" sz="1950" spc="60">
                <a:solidFill>
                  <a:srgbClr val="979075"/>
                </a:solidFill>
                <a:latin typeface="Arial MT"/>
                <a:cs typeface="Arial MT"/>
              </a:rPr>
              <a:t> </a:t>
            </a:r>
            <a:r>
              <a:rPr dirty="0" sz="1950" spc="-185">
                <a:solidFill>
                  <a:srgbClr val="908A50"/>
                </a:solidFill>
                <a:latin typeface="Arial MT"/>
                <a:cs typeface="Arial MT"/>
              </a:rPr>
              <a:t>01</a:t>
            </a:r>
            <a:r>
              <a:rPr dirty="0" sz="1950" spc="-5">
                <a:solidFill>
                  <a:srgbClr val="908A50"/>
                </a:solidFill>
                <a:latin typeface="Arial MT"/>
                <a:cs typeface="Arial MT"/>
              </a:rPr>
              <a:t> </a:t>
            </a:r>
            <a:r>
              <a:rPr dirty="0" sz="1950" spc="-295">
                <a:solidFill>
                  <a:srgbClr val="8C824B"/>
                </a:solidFill>
                <a:latin typeface="Arial MT"/>
                <a:cs typeface="Arial MT"/>
              </a:rPr>
              <a:t>OCT</a:t>
            </a:r>
            <a:r>
              <a:rPr dirty="0" sz="1950" spc="85">
                <a:solidFill>
                  <a:srgbClr val="8C824B"/>
                </a:solidFill>
                <a:latin typeface="Arial MT"/>
                <a:cs typeface="Arial MT"/>
              </a:rPr>
              <a:t> </a:t>
            </a:r>
            <a:r>
              <a:rPr dirty="0" sz="1950" spc="-135">
                <a:solidFill>
                  <a:srgbClr val="8E8C1F"/>
                </a:solidFill>
                <a:latin typeface="Arial MT"/>
                <a:cs typeface="Arial MT"/>
              </a:rPr>
              <a:t>2026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"/>
            <a:ext cx="12189460" cy="6858000"/>
            <a:chOff x="0" y="12"/>
            <a:chExt cx="1218946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2"/>
              <a:ext cx="12188952" cy="685793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2"/>
              <a:ext cx="12189460" cy="475615"/>
            </a:xfrm>
            <a:custGeom>
              <a:avLst/>
              <a:gdLst/>
              <a:ahLst/>
              <a:cxnLst/>
              <a:rect l="l" t="t" r="r" b="b"/>
              <a:pathLst>
                <a:path w="12189460" h="475615">
                  <a:moveTo>
                    <a:pt x="12188952" y="0"/>
                  </a:moveTo>
                  <a:lnTo>
                    <a:pt x="0" y="0"/>
                  </a:lnTo>
                  <a:lnTo>
                    <a:pt x="0" y="475602"/>
                  </a:lnTo>
                  <a:lnTo>
                    <a:pt x="12188952" y="475602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BB9F4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87603" y="1322019"/>
            <a:ext cx="7356475" cy="2042795"/>
          </a:xfrm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75"/>
              </a:spcBef>
            </a:pPr>
            <a:r>
              <a:rPr dirty="0" sz="4400">
                <a:solidFill>
                  <a:srgbClr val="F1F1F1"/>
                </a:solidFill>
                <a:latin typeface="Segoe UI"/>
                <a:cs typeface="Segoe UI"/>
              </a:rPr>
              <a:t>From</a:t>
            </a:r>
            <a:r>
              <a:rPr dirty="0" sz="4400" spc="-55">
                <a:solidFill>
                  <a:srgbClr val="F1F1F1"/>
                </a:solidFill>
                <a:latin typeface="Segoe UI"/>
                <a:cs typeface="Segoe UI"/>
              </a:rPr>
              <a:t> </a:t>
            </a:r>
            <a:r>
              <a:rPr dirty="0" sz="4400">
                <a:solidFill>
                  <a:srgbClr val="F1F1F1"/>
                </a:solidFill>
                <a:latin typeface="Segoe UI"/>
                <a:cs typeface="Segoe UI"/>
              </a:rPr>
              <a:t>Notebook</a:t>
            </a:r>
            <a:r>
              <a:rPr dirty="0" sz="4400" spc="-65">
                <a:solidFill>
                  <a:srgbClr val="F1F1F1"/>
                </a:solidFill>
                <a:latin typeface="Segoe UI"/>
                <a:cs typeface="Segoe UI"/>
              </a:rPr>
              <a:t> </a:t>
            </a:r>
            <a:r>
              <a:rPr dirty="0" sz="4400">
                <a:solidFill>
                  <a:srgbClr val="F1F1F1"/>
                </a:solidFill>
                <a:latin typeface="Segoe UI"/>
                <a:cs typeface="Segoe UI"/>
              </a:rPr>
              <a:t>to</a:t>
            </a:r>
            <a:r>
              <a:rPr dirty="0" sz="4400" spc="-80">
                <a:solidFill>
                  <a:srgbClr val="F1F1F1"/>
                </a:solidFill>
                <a:latin typeface="Segoe UI"/>
                <a:cs typeface="Segoe UI"/>
              </a:rPr>
              <a:t> </a:t>
            </a:r>
            <a:r>
              <a:rPr dirty="0" sz="4400" spc="-10">
                <a:solidFill>
                  <a:srgbClr val="F1F1F1"/>
                </a:solidFill>
                <a:latin typeface="Segoe UI"/>
                <a:cs typeface="Segoe UI"/>
              </a:rPr>
              <a:t>Bedside: </a:t>
            </a:r>
            <a:r>
              <a:rPr dirty="0" sz="4400">
                <a:solidFill>
                  <a:srgbClr val="F1F1F1"/>
                </a:solidFill>
                <a:latin typeface="Segoe UI"/>
                <a:cs typeface="Segoe UI"/>
              </a:rPr>
              <a:t>Building</a:t>
            </a:r>
            <a:r>
              <a:rPr dirty="0" sz="4400" spc="-70">
                <a:solidFill>
                  <a:srgbClr val="F1F1F1"/>
                </a:solidFill>
                <a:latin typeface="Segoe UI"/>
                <a:cs typeface="Segoe UI"/>
              </a:rPr>
              <a:t> </a:t>
            </a:r>
            <a:r>
              <a:rPr dirty="0" sz="4400">
                <a:solidFill>
                  <a:srgbClr val="F1F1F1"/>
                </a:solidFill>
                <a:latin typeface="Segoe UI"/>
                <a:cs typeface="Segoe UI"/>
              </a:rPr>
              <a:t>a</a:t>
            </a:r>
            <a:r>
              <a:rPr dirty="0" sz="4400" spc="-125">
                <a:solidFill>
                  <a:srgbClr val="F1F1F1"/>
                </a:solidFill>
                <a:latin typeface="Segoe UI"/>
                <a:cs typeface="Segoe UI"/>
              </a:rPr>
              <a:t> </a:t>
            </a:r>
            <a:r>
              <a:rPr dirty="0" sz="4400">
                <a:solidFill>
                  <a:srgbClr val="F1F1F1"/>
                </a:solidFill>
                <a:latin typeface="Segoe UI"/>
                <a:cs typeface="Segoe UI"/>
              </a:rPr>
              <a:t>Clinical</a:t>
            </a:r>
            <a:r>
              <a:rPr dirty="0" sz="4400" spc="-85">
                <a:solidFill>
                  <a:srgbClr val="F1F1F1"/>
                </a:solidFill>
                <a:latin typeface="Segoe UI"/>
                <a:cs typeface="Segoe UI"/>
              </a:rPr>
              <a:t> </a:t>
            </a:r>
            <a:r>
              <a:rPr dirty="0" sz="4400" spc="-20">
                <a:solidFill>
                  <a:srgbClr val="F1F1F1"/>
                </a:solidFill>
                <a:latin typeface="Segoe UI"/>
                <a:cs typeface="Segoe UI"/>
              </a:rPr>
              <a:t>Risk </a:t>
            </a:r>
            <a:r>
              <a:rPr dirty="0" sz="4400">
                <a:solidFill>
                  <a:srgbClr val="F1F1F1"/>
                </a:solidFill>
                <a:latin typeface="Segoe UI"/>
                <a:cs typeface="Segoe UI"/>
              </a:rPr>
              <a:t>Prediction</a:t>
            </a:r>
            <a:r>
              <a:rPr dirty="0" sz="4400" spc="-90">
                <a:solidFill>
                  <a:srgbClr val="F1F1F1"/>
                </a:solidFill>
                <a:latin typeface="Segoe UI"/>
                <a:cs typeface="Segoe UI"/>
              </a:rPr>
              <a:t> </a:t>
            </a:r>
            <a:r>
              <a:rPr dirty="0" sz="4400">
                <a:solidFill>
                  <a:srgbClr val="F1F1F1"/>
                </a:solidFill>
                <a:latin typeface="Segoe UI"/>
                <a:cs typeface="Segoe UI"/>
              </a:rPr>
              <a:t>Pipeline</a:t>
            </a:r>
            <a:r>
              <a:rPr dirty="0" sz="4400" spc="-75">
                <a:solidFill>
                  <a:srgbClr val="F1F1F1"/>
                </a:solidFill>
                <a:latin typeface="Segoe UI"/>
                <a:cs typeface="Segoe UI"/>
              </a:rPr>
              <a:t> </a:t>
            </a:r>
            <a:r>
              <a:rPr dirty="0" sz="4400">
                <a:solidFill>
                  <a:srgbClr val="F1F1F1"/>
                </a:solidFill>
                <a:latin typeface="Segoe UI"/>
                <a:cs typeface="Segoe UI"/>
              </a:rPr>
              <a:t>in</a:t>
            </a:r>
            <a:r>
              <a:rPr dirty="0" sz="4400" spc="-5">
                <a:solidFill>
                  <a:srgbClr val="F1F1F1"/>
                </a:solidFill>
                <a:latin typeface="Segoe UI"/>
                <a:cs typeface="Segoe UI"/>
              </a:rPr>
              <a:t> </a:t>
            </a:r>
            <a:r>
              <a:rPr dirty="0" sz="4400" spc="-10">
                <a:solidFill>
                  <a:srgbClr val="F1F1F1"/>
                </a:solidFill>
                <a:latin typeface="Segoe UI"/>
                <a:cs typeface="Segoe UI"/>
              </a:rPr>
              <a:t>Fabric</a:t>
            </a:r>
            <a:endParaRPr sz="440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44265" y="63944"/>
            <a:ext cx="4980305" cy="3333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000" spc="60">
                <a:solidFill>
                  <a:srgbClr val="125B44"/>
                </a:solidFill>
                <a:latin typeface="Arial MT"/>
                <a:cs typeface="Arial MT"/>
              </a:rPr>
              <a:t>Do</a:t>
            </a:r>
            <a:r>
              <a:rPr dirty="0" sz="2000" spc="130">
                <a:solidFill>
                  <a:srgbClr val="125B44"/>
                </a:solidFill>
                <a:latin typeface="Arial MT"/>
                <a:cs typeface="Arial MT"/>
              </a:rPr>
              <a:t> </a:t>
            </a:r>
            <a:r>
              <a:rPr dirty="0" sz="2000" spc="65">
                <a:solidFill>
                  <a:srgbClr val="125B44"/>
                </a:solidFill>
                <a:latin typeface="Arial MT"/>
                <a:cs typeface="Arial MT"/>
              </a:rPr>
              <a:t>not</a:t>
            </a:r>
            <a:r>
              <a:rPr dirty="0" sz="2000" spc="190">
                <a:solidFill>
                  <a:srgbClr val="125B44"/>
                </a:solidFill>
                <a:latin typeface="Arial MT"/>
                <a:cs typeface="Arial MT"/>
              </a:rPr>
              <a:t> </a:t>
            </a:r>
            <a:r>
              <a:rPr dirty="0" sz="2000" spc="70">
                <a:solidFill>
                  <a:srgbClr val="125B44"/>
                </a:solidFill>
                <a:latin typeface="Arial MT"/>
                <a:cs typeface="Arial MT"/>
              </a:rPr>
              <a:t>record</a:t>
            </a:r>
            <a:r>
              <a:rPr dirty="0" sz="2000" spc="204">
                <a:solidFill>
                  <a:srgbClr val="125B44"/>
                </a:solidFill>
                <a:latin typeface="Arial MT"/>
                <a:cs typeface="Arial MT"/>
              </a:rPr>
              <a:t> </a:t>
            </a:r>
            <a:r>
              <a:rPr dirty="0" sz="2000" spc="50">
                <a:solidFill>
                  <a:srgbClr val="125B44"/>
                </a:solidFill>
                <a:latin typeface="Arial MT"/>
                <a:cs typeface="Arial MT"/>
              </a:rPr>
              <a:t>or</a:t>
            </a:r>
            <a:r>
              <a:rPr dirty="0" sz="2000" spc="225">
                <a:solidFill>
                  <a:srgbClr val="125B44"/>
                </a:solidFill>
                <a:latin typeface="Arial MT"/>
                <a:cs typeface="Arial MT"/>
              </a:rPr>
              <a:t> </a:t>
            </a:r>
            <a:r>
              <a:rPr dirty="0" sz="2000" spc="75">
                <a:solidFill>
                  <a:srgbClr val="125B44"/>
                </a:solidFill>
                <a:latin typeface="Arial MT"/>
                <a:cs typeface="Arial MT"/>
              </a:rPr>
              <a:t>livestream</a:t>
            </a:r>
            <a:r>
              <a:rPr dirty="0" sz="2000" spc="225">
                <a:solidFill>
                  <a:srgbClr val="125B44"/>
                </a:solidFill>
                <a:latin typeface="Arial MT"/>
                <a:cs typeface="Arial MT"/>
              </a:rPr>
              <a:t> </a:t>
            </a:r>
            <a:r>
              <a:rPr dirty="0" sz="2000" spc="55">
                <a:solidFill>
                  <a:srgbClr val="125B44"/>
                </a:solidFill>
                <a:latin typeface="Arial MT"/>
                <a:cs typeface="Arial MT"/>
              </a:rPr>
              <a:t>this</a:t>
            </a:r>
            <a:r>
              <a:rPr dirty="0" sz="2000" spc="250">
                <a:solidFill>
                  <a:srgbClr val="125B44"/>
                </a:solidFill>
                <a:latin typeface="Arial MT"/>
                <a:cs typeface="Arial MT"/>
              </a:rPr>
              <a:t> </a:t>
            </a:r>
            <a:r>
              <a:rPr dirty="0" sz="2000" spc="65">
                <a:solidFill>
                  <a:srgbClr val="125B44"/>
                </a:solidFill>
                <a:latin typeface="Arial MT"/>
                <a:cs typeface="Arial MT"/>
              </a:rPr>
              <a:t>session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08166" y="3776090"/>
            <a:ext cx="2625725" cy="94741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2390"/>
              </a:lnSpc>
              <a:spcBef>
                <a:spcPts val="120"/>
              </a:spcBef>
            </a:pPr>
            <a:r>
              <a:rPr dirty="0" sz="2000" b="1">
                <a:solidFill>
                  <a:srgbClr val="BB9F45"/>
                </a:solidFill>
                <a:latin typeface="Arial"/>
                <a:cs typeface="Arial"/>
              </a:rPr>
              <a:t>Manu</a:t>
            </a:r>
            <a:r>
              <a:rPr dirty="0" sz="2000" spc="-50" b="1">
                <a:solidFill>
                  <a:srgbClr val="BB9F45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BB9F45"/>
                </a:solidFill>
                <a:latin typeface="Arial"/>
                <a:cs typeface="Arial"/>
              </a:rPr>
              <a:t>Huygens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390"/>
              </a:lnSpc>
            </a:pPr>
            <a:r>
              <a:rPr dirty="0" sz="2000">
                <a:solidFill>
                  <a:srgbClr val="BB9F45"/>
                </a:solidFill>
                <a:latin typeface="Arial MT"/>
                <a:cs typeface="Arial MT"/>
              </a:rPr>
              <a:t>Cloud</a:t>
            </a:r>
            <a:r>
              <a:rPr dirty="0" sz="2000" spc="-60">
                <a:solidFill>
                  <a:srgbClr val="BB9F45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BB9F45"/>
                </a:solidFill>
                <a:latin typeface="Arial MT"/>
                <a:cs typeface="Arial MT"/>
              </a:rPr>
              <a:t>&amp; Data</a:t>
            </a:r>
            <a:r>
              <a:rPr dirty="0" sz="2000" spc="-60">
                <a:solidFill>
                  <a:srgbClr val="BB9F45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BB9F45"/>
                </a:solidFill>
                <a:latin typeface="Arial MT"/>
                <a:cs typeface="Arial MT"/>
              </a:rPr>
              <a:t>Engineer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2000">
                <a:solidFill>
                  <a:srgbClr val="BB9F45"/>
                </a:solidFill>
                <a:latin typeface="Arial MT"/>
                <a:cs typeface="Arial MT"/>
              </a:rPr>
              <a:t>KPMG</a:t>
            </a:r>
            <a:r>
              <a:rPr dirty="0" sz="2000" spc="-65">
                <a:solidFill>
                  <a:srgbClr val="BB9F45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BB9F45"/>
                </a:solidFill>
                <a:latin typeface="Arial MT"/>
                <a:cs typeface="Arial MT"/>
              </a:rPr>
              <a:t>Netherlands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83079" y="4902377"/>
            <a:ext cx="320039" cy="32926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798447" y="3742372"/>
            <a:ext cx="2209800" cy="14382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2390"/>
              </a:lnSpc>
              <a:spcBef>
                <a:spcPts val="114"/>
              </a:spcBef>
            </a:pPr>
            <a:r>
              <a:rPr dirty="0" sz="2000" b="1">
                <a:solidFill>
                  <a:srgbClr val="BB9F45"/>
                </a:solidFill>
                <a:latin typeface="Arial"/>
                <a:cs typeface="Arial"/>
              </a:rPr>
              <a:t>Audrius</a:t>
            </a:r>
            <a:r>
              <a:rPr dirty="0" sz="2000" spc="-65" b="1">
                <a:solidFill>
                  <a:srgbClr val="BB9F45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BB9F45"/>
                </a:solidFill>
                <a:latin typeface="Arial"/>
                <a:cs typeface="Arial"/>
              </a:rPr>
              <a:t>Šaras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390"/>
              </a:lnSpc>
            </a:pPr>
            <a:r>
              <a:rPr dirty="0" sz="2000">
                <a:solidFill>
                  <a:srgbClr val="BB9F45"/>
                </a:solidFill>
                <a:latin typeface="Arial MT"/>
                <a:cs typeface="Arial MT"/>
              </a:rPr>
              <a:t>AI</a:t>
            </a:r>
            <a:r>
              <a:rPr dirty="0" sz="2000" spc="-40">
                <a:solidFill>
                  <a:srgbClr val="BB9F45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BB9F45"/>
                </a:solidFill>
                <a:latin typeface="Arial MT"/>
                <a:cs typeface="Arial MT"/>
              </a:rPr>
              <a:t>&amp;</a:t>
            </a:r>
            <a:r>
              <a:rPr dirty="0" sz="2000" spc="-35">
                <a:solidFill>
                  <a:srgbClr val="BB9F45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BB9F45"/>
                </a:solidFill>
                <a:latin typeface="Arial MT"/>
                <a:cs typeface="Arial MT"/>
              </a:rPr>
              <a:t>Data</a:t>
            </a:r>
            <a:r>
              <a:rPr dirty="0" sz="2000" spc="-30">
                <a:solidFill>
                  <a:srgbClr val="BB9F45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BB9F45"/>
                </a:solidFill>
                <a:latin typeface="Arial MT"/>
                <a:cs typeface="Arial MT"/>
              </a:rPr>
              <a:t>Engineer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2000">
                <a:solidFill>
                  <a:srgbClr val="BB9F45"/>
                </a:solidFill>
                <a:latin typeface="Arial MT"/>
                <a:cs typeface="Arial MT"/>
              </a:rPr>
              <a:t>KPMG</a:t>
            </a:r>
            <a:r>
              <a:rPr dirty="0" sz="2000" spc="-75">
                <a:solidFill>
                  <a:srgbClr val="BB9F45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BB9F45"/>
                </a:solidFill>
                <a:latin typeface="Arial MT"/>
                <a:cs typeface="Arial MT"/>
              </a:rPr>
              <a:t>Netherlands</a:t>
            </a:r>
            <a:endParaRPr sz="2000">
              <a:latin typeface="Arial MT"/>
              <a:cs typeface="Arial MT"/>
            </a:endParaRPr>
          </a:p>
          <a:p>
            <a:pPr marL="460375">
              <a:lnSpc>
                <a:spcPct val="100000"/>
              </a:lnSpc>
              <a:spcBef>
                <a:spcPts val="2250"/>
              </a:spcBef>
            </a:pPr>
            <a:r>
              <a:rPr dirty="0" sz="1350" spc="-10">
                <a:solidFill>
                  <a:srgbClr val="FFFFFF"/>
                </a:solidFill>
                <a:latin typeface="Segoe UI"/>
                <a:cs typeface="Segoe UI"/>
              </a:rPr>
              <a:t>/sarasaudrius</a:t>
            </a:r>
            <a:endParaRPr sz="1350">
              <a:latin typeface="Segoe UI"/>
              <a:cs typeface="Segoe U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92608" y="3767328"/>
            <a:ext cx="5907405" cy="1861185"/>
            <a:chOff x="292608" y="3767328"/>
            <a:chExt cx="5907405" cy="186118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70448" y="4920666"/>
              <a:ext cx="329184" cy="329260"/>
            </a:xfrm>
            <a:prstGeom prst="rect">
              <a:avLst/>
            </a:prstGeom>
          </p:spPr>
        </p:pic>
        <p:pic>
          <p:nvPicPr>
            <p:cNvPr id="12" name="object 12" descr="Profile image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98263" y="3831336"/>
              <a:ext cx="1531619" cy="1796795"/>
            </a:xfrm>
            <a:prstGeom prst="rect">
              <a:avLst/>
            </a:prstGeom>
          </p:spPr>
        </p:pic>
        <p:pic>
          <p:nvPicPr>
            <p:cNvPr id="13" name="object 13" descr="Profile image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2608" y="3767328"/>
              <a:ext cx="1531620" cy="179679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341745" y="4964112"/>
            <a:ext cx="93345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50">
                <a:solidFill>
                  <a:srgbClr val="FFFFFF"/>
                </a:solidFill>
                <a:latin typeface="Segoe UI"/>
                <a:cs typeface="Segoe UI"/>
              </a:rPr>
              <a:t>/</a:t>
            </a:r>
            <a:endParaRPr sz="13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2"/>
            <a:ext cx="12188952" cy="685793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12395">
              <a:lnSpc>
                <a:spcPct val="100000"/>
              </a:lnSpc>
              <a:spcBef>
                <a:spcPts val="130"/>
              </a:spcBef>
            </a:pPr>
            <a:r>
              <a:rPr dirty="0" sz="4800" spc="-10">
                <a:latin typeface="Segoe UI"/>
                <a:cs typeface="Segoe UI"/>
              </a:rPr>
              <a:t>Agenda</a:t>
            </a:r>
            <a:endParaRPr sz="4800">
              <a:latin typeface="Segoe UI"/>
              <a:cs typeface="Segoe U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53592" y="1468629"/>
          <a:ext cx="5141595" cy="33185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530"/>
                <a:gridCol w="3959860"/>
                <a:gridCol w="547370"/>
              </a:tblGrid>
              <a:tr h="530225"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3150" spc="-25" b="1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01</a:t>
                      </a:r>
                      <a:endParaRPr sz="3150">
                        <a:latin typeface="Segoe UI"/>
                        <a:cs typeface="Segoe UI"/>
                      </a:endParaRPr>
                    </a:p>
                  </a:txBody>
                  <a:tcPr marL="0" marR="0" marB="0" marT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501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55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Fabric</a:t>
                      </a:r>
                      <a:r>
                        <a:rPr dirty="0" sz="1550" spc="35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55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Data</a:t>
                      </a:r>
                      <a:r>
                        <a:rPr dirty="0" sz="1550" spc="114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55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Science</a:t>
                      </a:r>
                      <a:r>
                        <a:rPr dirty="0" sz="1550" spc="9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55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&amp;</a:t>
                      </a:r>
                      <a:r>
                        <a:rPr dirty="0" sz="1550" spc="8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550" spc="-25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ML</a:t>
                      </a:r>
                      <a:endParaRPr sz="1550">
                        <a:latin typeface="Segoe UI"/>
                        <a:cs typeface="Segoe U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r" marR="241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550" spc="-25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XX</a:t>
                      </a:r>
                      <a:endParaRPr sz="1550">
                        <a:latin typeface="Segoe UI"/>
                        <a:cs typeface="Segoe UI"/>
                      </a:endParaRPr>
                    </a:p>
                  </a:txBody>
                  <a:tcPr marL="0" marR="0" marB="0" marT="8255"/>
                </a:tc>
              </a:tr>
              <a:tr h="565150"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3150" spc="-25" b="1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02</a:t>
                      </a:r>
                      <a:endParaRPr sz="3150">
                        <a:latin typeface="Segoe UI"/>
                        <a:cs typeface="Segoe UI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50165">
                        <a:lnSpc>
                          <a:spcPct val="100000"/>
                        </a:lnSpc>
                      </a:pPr>
                      <a:r>
                        <a:rPr dirty="0" sz="155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Prediction</a:t>
                      </a:r>
                      <a:r>
                        <a:rPr dirty="0" sz="1550" spc="13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55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models</a:t>
                      </a:r>
                      <a:r>
                        <a:rPr dirty="0" sz="1550" spc="6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55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within</a:t>
                      </a:r>
                      <a:r>
                        <a:rPr dirty="0" sz="1550" spc="135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55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EU</a:t>
                      </a:r>
                      <a:r>
                        <a:rPr dirty="0" sz="1550" spc="8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550" spc="-1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healthcare</a:t>
                      </a:r>
                      <a:endParaRPr sz="1550">
                        <a:latin typeface="Segoe UI"/>
                        <a:cs typeface="Segoe UI"/>
                      </a:endParaRPr>
                    </a:p>
                  </a:txBody>
                  <a:tcPr marL="0" marR="0" marB="0" marT="698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r" marR="24130">
                        <a:lnSpc>
                          <a:spcPct val="100000"/>
                        </a:lnSpc>
                      </a:pPr>
                      <a:r>
                        <a:rPr dirty="0" sz="1550" spc="-25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XX</a:t>
                      </a:r>
                      <a:endParaRPr sz="1550">
                        <a:latin typeface="Segoe UI"/>
                        <a:cs typeface="Segoe UI"/>
                      </a:endParaRPr>
                    </a:p>
                  </a:txBody>
                  <a:tcPr marL="0" marR="0" marB="0" marT="6985"/>
                </a:tc>
              </a:tr>
              <a:tr h="629920"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3150" spc="-25" b="1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03</a:t>
                      </a:r>
                      <a:endParaRPr sz="3150">
                        <a:latin typeface="Segoe UI"/>
                        <a:cs typeface="Segoe UI"/>
                      </a:endParaRPr>
                    </a:p>
                  </a:txBody>
                  <a:tcPr marL="0" marR="0" marB="0" marT="66040"/>
                </a:tc>
                <a:tc>
                  <a:txBody>
                    <a:bodyPr/>
                    <a:lstStyle/>
                    <a:p>
                      <a:pPr marL="50165" marR="269875">
                        <a:lnSpc>
                          <a:spcPct val="100800"/>
                        </a:lnSpc>
                        <a:spcBef>
                          <a:spcPts val="1110"/>
                        </a:spcBef>
                      </a:pPr>
                      <a:r>
                        <a:rPr dirty="0" sz="155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Case</a:t>
                      </a:r>
                      <a:r>
                        <a:rPr dirty="0" sz="1550" spc="105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55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Study:</a:t>
                      </a:r>
                      <a:r>
                        <a:rPr dirty="0" sz="1550" spc="8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55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predicting</a:t>
                      </a:r>
                      <a:r>
                        <a:rPr dirty="0" sz="1550" spc="7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55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knee</a:t>
                      </a:r>
                      <a:r>
                        <a:rPr dirty="0" sz="1550" spc="105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550" spc="-1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replacement outcomes</a:t>
                      </a:r>
                      <a:endParaRPr sz="1550">
                        <a:latin typeface="Segoe UI"/>
                        <a:cs typeface="Segoe UI"/>
                      </a:endParaRPr>
                    </a:p>
                  </a:txBody>
                  <a:tcPr marL="0" marR="0" marB="0" marT="14097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r" marR="24130">
                        <a:lnSpc>
                          <a:spcPct val="100000"/>
                        </a:lnSpc>
                      </a:pPr>
                      <a:r>
                        <a:rPr dirty="0" sz="1550" spc="-25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XX</a:t>
                      </a:r>
                      <a:endParaRPr sz="1550">
                        <a:latin typeface="Segoe UI"/>
                        <a:cs typeface="Segoe UI"/>
                      </a:endParaRPr>
                    </a:p>
                  </a:txBody>
                  <a:tcPr marL="0" marR="0" marB="0" marT="40005"/>
                </a:tc>
              </a:tr>
              <a:tr h="530860"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3150" spc="-25" b="1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04</a:t>
                      </a:r>
                      <a:endParaRPr sz="3150">
                        <a:latin typeface="Segoe UI"/>
                        <a:cs typeface="Segoe UI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50165">
                        <a:lnSpc>
                          <a:spcPct val="100000"/>
                        </a:lnSpc>
                      </a:pPr>
                      <a:r>
                        <a:rPr dirty="0" sz="155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Governed</a:t>
                      </a:r>
                      <a:r>
                        <a:rPr dirty="0" sz="1550" spc="135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550" spc="-25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ML</a:t>
                      </a:r>
                      <a:endParaRPr sz="1550">
                        <a:latin typeface="Segoe UI"/>
                        <a:cs typeface="Segoe U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r" marR="24130">
                        <a:lnSpc>
                          <a:spcPct val="100000"/>
                        </a:lnSpc>
                      </a:pPr>
                      <a:r>
                        <a:rPr dirty="0" sz="1550" spc="-25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XX</a:t>
                      </a:r>
                      <a:endParaRPr sz="1550">
                        <a:latin typeface="Segoe UI"/>
                        <a:cs typeface="Segoe UI"/>
                      </a:endParaRPr>
                    </a:p>
                  </a:txBody>
                  <a:tcPr marL="0" marR="0" marB="0" marT="8890"/>
                </a:tc>
              </a:tr>
              <a:tr h="528320"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3150" spc="-25" b="1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05</a:t>
                      </a:r>
                      <a:endParaRPr sz="3150">
                        <a:latin typeface="Segoe UI"/>
                        <a:cs typeface="Segoe UI"/>
                      </a:endParaRPr>
                    </a:p>
                  </a:txBody>
                  <a:tcPr marL="0" marR="0" marB="0" marT="330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50165">
                        <a:lnSpc>
                          <a:spcPct val="100000"/>
                        </a:lnSpc>
                      </a:pPr>
                      <a:r>
                        <a:rPr dirty="0" sz="155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Main</a:t>
                      </a:r>
                      <a:r>
                        <a:rPr dirty="0" sz="1550" spc="75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550" spc="-1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Learnings</a:t>
                      </a:r>
                      <a:endParaRPr sz="1550">
                        <a:latin typeface="Segoe UI"/>
                        <a:cs typeface="Segoe UI"/>
                      </a:endParaRPr>
                    </a:p>
                  </a:txBody>
                  <a:tcPr marL="0" marR="0" marB="0" marT="698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r" marR="24130">
                        <a:lnSpc>
                          <a:spcPct val="100000"/>
                        </a:lnSpc>
                      </a:pPr>
                      <a:r>
                        <a:rPr dirty="0" sz="1550" spc="-25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XX</a:t>
                      </a:r>
                      <a:endParaRPr sz="1550">
                        <a:latin typeface="Segoe UI"/>
                        <a:cs typeface="Segoe UI"/>
                      </a:endParaRPr>
                    </a:p>
                  </a:txBody>
                  <a:tcPr marL="0" marR="0" marB="0" marT="6985"/>
                </a:tc>
              </a:tr>
              <a:tr h="534035"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3150" spc="-25" b="1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06</a:t>
                      </a:r>
                      <a:endParaRPr sz="3150">
                        <a:latin typeface="Segoe UI"/>
                        <a:cs typeface="Segoe UI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50165">
                        <a:lnSpc>
                          <a:spcPct val="100000"/>
                        </a:lnSpc>
                      </a:pPr>
                      <a:r>
                        <a:rPr dirty="0" sz="155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Lorem</a:t>
                      </a:r>
                      <a:r>
                        <a:rPr dirty="0" sz="1550" spc="6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55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ipsum</a:t>
                      </a:r>
                      <a:r>
                        <a:rPr dirty="0" sz="1550" spc="9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55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dolor</a:t>
                      </a:r>
                      <a:r>
                        <a:rPr dirty="0" sz="1550" spc="12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55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sit</a:t>
                      </a:r>
                      <a:r>
                        <a:rPr dirty="0" sz="1550" spc="5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550" spc="-20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amet</a:t>
                      </a:r>
                      <a:endParaRPr sz="1550">
                        <a:latin typeface="Segoe UI"/>
                        <a:cs typeface="Segoe UI"/>
                      </a:endParaRPr>
                    </a:p>
                  </a:txBody>
                  <a:tcPr marL="0" marR="0" marB="0" marT="698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r" marR="24130">
                        <a:lnSpc>
                          <a:spcPct val="100000"/>
                        </a:lnSpc>
                      </a:pPr>
                      <a:r>
                        <a:rPr dirty="0" sz="1550" spc="-25">
                          <a:solidFill>
                            <a:srgbClr val="BB9F45"/>
                          </a:solidFill>
                          <a:latin typeface="Segoe UI"/>
                          <a:cs typeface="Segoe UI"/>
                        </a:rPr>
                        <a:t>XX</a:t>
                      </a:r>
                      <a:endParaRPr sz="1550">
                        <a:latin typeface="Segoe UI"/>
                        <a:cs typeface="Segoe UI"/>
                      </a:endParaRPr>
                    </a:p>
                  </a:txBody>
                  <a:tcPr marL="0" marR="0" marB="0" marT="698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7460" y="2357831"/>
            <a:ext cx="9055100" cy="1421765"/>
          </a:xfrm>
          <a:prstGeom prst="rect"/>
        </p:spPr>
        <p:txBody>
          <a:bodyPr wrap="square" lIns="0" tIns="99060" rIns="0" bIns="0" rtlCol="0" vert="horz">
            <a:spAutoFit/>
          </a:bodyPr>
          <a:lstStyle/>
          <a:p>
            <a:pPr marL="12700" marR="5080">
              <a:lnSpc>
                <a:spcPts val="5190"/>
              </a:lnSpc>
              <a:spcBef>
                <a:spcPts val="780"/>
              </a:spcBef>
            </a:pPr>
            <a:r>
              <a:rPr dirty="0" sz="4800"/>
              <a:t>Fabric</a:t>
            </a:r>
            <a:r>
              <a:rPr dirty="0" sz="4800" spc="-80"/>
              <a:t> </a:t>
            </a:r>
            <a:r>
              <a:rPr dirty="0" sz="4800"/>
              <a:t>Data</a:t>
            </a:r>
            <a:r>
              <a:rPr dirty="0" sz="4800" spc="-65"/>
              <a:t> </a:t>
            </a:r>
            <a:r>
              <a:rPr dirty="0" sz="4800"/>
              <a:t>Science</a:t>
            </a:r>
            <a:r>
              <a:rPr dirty="0" sz="4800" spc="-65"/>
              <a:t> </a:t>
            </a:r>
            <a:r>
              <a:rPr dirty="0" sz="4800"/>
              <a:t>&amp;</a:t>
            </a:r>
            <a:r>
              <a:rPr dirty="0" sz="4800" spc="-70"/>
              <a:t> </a:t>
            </a:r>
            <a:r>
              <a:rPr dirty="0" sz="4800" spc="-10"/>
              <a:t>Machine Learning</a:t>
            </a:r>
            <a:endParaRPr sz="4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2"/>
            <a:ext cx="12188952" cy="685793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6293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30"/>
              </a:spcBef>
            </a:pPr>
            <a:r>
              <a:rPr dirty="0" sz="4800">
                <a:solidFill>
                  <a:srgbClr val="003E34"/>
                </a:solidFill>
                <a:latin typeface="Segoe UI"/>
                <a:cs typeface="Segoe UI"/>
              </a:rPr>
              <a:t>ML</a:t>
            </a:r>
            <a:r>
              <a:rPr dirty="0" sz="4800" spc="-80">
                <a:solidFill>
                  <a:srgbClr val="003E34"/>
                </a:solidFill>
                <a:latin typeface="Segoe UI"/>
                <a:cs typeface="Segoe UI"/>
              </a:rPr>
              <a:t> </a:t>
            </a:r>
            <a:r>
              <a:rPr dirty="0" sz="4800">
                <a:solidFill>
                  <a:srgbClr val="003E34"/>
                </a:solidFill>
                <a:latin typeface="Segoe UI"/>
                <a:cs typeface="Segoe UI"/>
              </a:rPr>
              <a:t>as</a:t>
            </a:r>
            <a:r>
              <a:rPr dirty="0" sz="4800" spc="-25">
                <a:solidFill>
                  <a:srgbClr val="003E34"/>
                </a:solidFill>
                <a:latin typeface="Segoe UI"/>
                <a:cs typeface="Segoe UI"/>
              </a:rPr>
              <a:t> </a:t>
            </a:r>
            <a:r>
              <a:rPr dirty="0" sz="4800">
                <a:solidFill>
                  <a:srgbClr val="003E34"/>
                </a:solidFill>
                <a:latin typeface="Segoe UI"/>
                <a:cs typeface="Segoe UI"/>
              </a:rPr>
              <a:t>a</a:t>
            </a:r>
            <a:r>
              <a:rPr dirty="0" sz="4800" spc="-50">
                <a:solidFill>
                  <a:srgbClr val="003E34"/>
                </a:solidFill>
                <a:latin typeface="Segoe UI"/>
                <a:cs typeface="Segoe UI"/>
              </a:rPr>
              <a:t> </a:t>
            </a:r>
            <a:r>
              <a:rPr dirty="0" sz="4800">
                <a:solidFill>
                  <a:srgbClr val="003E34"/>
                </a:solidFill>
                <a:latin typeface="Segoe UI"/>
                <a:cs typeface="Segoe UI"/>
              </a:rPr>
              <a:t>subset</a:t>
            </a:r>
            <a:r>
              <a:rPr dirty="0" sz="4800" spc="-60">
                <a:solidFill>
                  <a:srgbClr val="003E34"/>
                </a:solidFill>
                <a:latin typeface="Segoe UI"/>
                <a:cs typeface="Segoe UI"/>
              </a:rPr>
              <a:t> </a:t>
            </a:r>
            <a:r>
              <a:rPr dirty="0" sz="4800">
                <a:solidFill>
                  <a:srgbClr val="003E34"/>
                </a:solidFill>
                <a:latin typeface="Segoe UI"/>
                <a:cs typeface="Segoe UI"/>
              </a:rPr>
              <a:t>of</a:t>
            </a:r>
            <a:r>
              <a:rPr dirty="0" sz="4800" spc="-30">
                <a:solidFill>
                  <a:srgbClr val="003E34"/>
                </a:solidFill>
                <a:latin typeface="Segoe UI"/>
                <a:cs typeface="Segoe UI"/>
              </a:rPr>
              <a:t> </a:t>
            </a:r>
            <a:r>
              <a:rPr dirty="0" sz="4800" spc="-25">
                <a:solidFill>
                  <a:srgbClr val="003E34"/>
                </a:solidFill>
                <a:latin typeface="Segoe UI"/>
                <a:cs typeface="Segoe UI"/>
              </a:rPr>
              <a:t>AI</a:t>
            </a:r>
            <a:endParaRPr sz="4800">
              <a:latin typeface="Segoe UI"/>
              <a:cs typeface="Segoe UI"/>
            </a:endParaRPr>
          </a:p>
        </p:txBody>
      </p:sp>
      <p:pic>
        <p:nvPicPr>
          <p:cNvPr id="4" name="object 4" descr="AI vs Machine Learning vs Deep Learni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2767" y="1820062"/>
            <a:ext cx="9281160" cy="38963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0735" y="6352032"/>
            <a:ext cx="9345167" cy="50596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3544" y="2356104"/>
            <a:ext cx="10091928" cy="288645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66672" y="1609344"/>
            <a:ext cx="615696" cy="6278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93664" y="1618488"/>
            <a:ext cx="551688" cy="55473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820656" y="1609344"/>
            <a:ext cx="615696" cy="627887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231647" y="6428232"/>
            <a:ext cx="350520" cy="344805"/>
            <a:chOff x="231647" y="6428232"/>
            <a:chExt cx="350520" cy="344805"/>
          </a:xfrm>
        </p:grpSpPr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8431" y="6711696"/>
              <a:ext cx="143256" cy="609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1647" y="6428232"/>
              <a:ext cx="350520" cy="283464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45820" rIns="0" bIns="0" rtlCol="0" vert="horz">
            <a:spAutoFit/>
          </a:bodyPr>
          <a:lstStyle/>
          <a:p>
            <a:pPr marL="104139">
              <a:lnSpc>
                <a:spcPct val="100000"/>
              </a:lnSpc>
              <a:spcBef>
                <a:spcPts val="100"/>
              </a:spcBef>
            </a:pPr>
            <a:r>
              <a:rPr dirty="0" sz="3700" spc="-815" b="0">
                <a:solidFill>
                  <a:srgbClr val="131313"/>
                </a:solidFill>
                <a:latin typeface="Arial Black"/>
                <a:cs typeface="Arial Black"/>
              </a:rPr>
              <a:t>The</a:t>
            </a:r>
            <a:r>
              <a:rPr dirty="0" sz="3700" spc="-175" b="0">
                <a:solidFill>
                  <a:srgbClr val="131313"/>
                </a:solidFill>
                <a:latin typeface="Arial Black"/>
                <a:cs typeface="Arial Black"/>
              </a:rPr>
              <a:t> </a:t>
            </a:r>
            <a:r>
              <a:rPr dirty="0" sz="3700" spc="-730" b="0">
                <a:solidFill>
                  <a:srgbClr val="131313"/>
                </a:solidFill>
                <a:latin typeface="Arial Black"/>
                <a:cs typeface="Arial Black"/>
              </a:rPr>
              <a:t>data</a:t>
            </a:r>
            <a:r>
              <a:rPr dirty="0" sz="3700" spc="-35" b="0">
                <a:solidFill>
                  <a:srgbClr val="131313"/>
                </a:solidFill>
                <a:latin typeface="Arial Black"/>
                <a:cs typeface="Arial Black"/>
              </a:rPr>
              <a:t> </a:t>
            </a:r>
            <a:r>
              <a:rPr dirty="0" sz="3700" spc="-819" b="0">
                <a:solidFill>
                  <a:srgbClr val="131313"/>
                </a:solidFill>
                <a:latin typeface="Arial Black"/>
                <a:cs typeface="Arial Black"/>
              </a:rPr>
              <a:t>science</a:t>
            </a:r>
            <a:r>
              <a:rPr dirty="0" sz="3700" spc="25" b="0">
                <a:solidFill>
                  <a:srgbClr val="131313"/>
                </a:solidFill>
                <a:latin typeface="Arial Black"/>
                <a:cs typeface="Arial Black"/>
              </a:rPr>
              <a:t> </a:t>
            </a:r>
            <a:r>
              <a:rPr dirty="0" sz="3700" spc="-795" b="0">
                <a:solidFill>
                  <a:srgbClr val="131313"/>
                </a:solidFill>
                <a:latin typeface="Arial Black"/>
                <a:cs typeface="Arial Black"/>
              </a:rPr>
              <a:t>process</a:t>
            </a:r>
            <a:endParaRPr sz="37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6242" y="6366002"/>
            <a:ext cx="1995170" cy="377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85"/>
              </a:lnSpc>
              <a:spcBef>
                <a:spcPts val="100"/>
              </a:spcBef>
            </a:pPr>
            <a:r>
              <a:rPr dirty="0" sz="1350" spc="-275">
                <a:solidFill>
                  <a:srgbClr val="599990"/>
                </a:solidFill>
                <a:latin typeface="Arial Black"/>
                <a:cs typeface="Arial Black"/>
              </a:rPr>
              <a:t>EUROPEAN</a:t>
            </a:r>
            <a:endParaRPr sz="1350">
              <a:latin typeface="Arial Black"/>
              <a:cs typeface="Arial Black"/>
            </a:endParaRPr>
          </a:p>
          <a:p>
            <a:pPr marL="12700">
              <a:lnSpc>
                <a:spcPts val="1385"/>
              </a:lnSpc>
            </a:pPr>
            <a:r>
              <a:rPr dirty="0" sz="1350" spc="-180">
                <a:solidFill>
                  <a:srgbClr val="012D4F"/>
                </a:solidFill>
                <a:latin typeface="Arial Black"/>
                <a:cs typeface="Arial Black"/>
              </a:rPr>
              <a:t>MICROSOFT</a:t>
            </a:r>
            <a:r>
              <a:rPr dirty="0" sz="1350" spc="-155">
                <a:solidFill>
                  <a:srgbClr val="012D4F"/>
                </a:solidFill>
                <a:latin typeface="Arial Black"/>
                <a:cs typeface="Arial Black"/>
              </a:rPr>
              <a:t> </a:t>
            </a:r>
            <a:r>
              <a:rPr dirty="0" sz="1350" spc="-180">
                <a:solidFill>
                  <a:srgbClr val="052B42"/>
                </a:solidFill>
                <a:latin typeface="Arial Black"/>
                <a:cs typeface="Arial Black"/>
              </a:rPr>
              <a:t>FABRIC</a:t>
            </a:r>
            <a:r>
              <a:rPr dirty="0" sz="1350" spc="125">
                <a:solidFill>
                  <a:srgbClr val="052B42"/>
                </a:solidFill>
                <a:latin typeface="Arial Black"/>
                <a:cs typeface="Arial Black"/>
              </a:rPr>
              <a:t> </a:t>
            </a:r>
            <a:r>
              <a:rPr dirty="0" sz="1350" spc="-90">
                <a:solidFill>
                  <a:srgbClr val="002A44"/>
                </a:solidFill>
                <a:latin typeface="Arial Black"/>
                <a:cs typeface="Arial Black"/>
              </a:rPr>
              <a:t>SQL</a:t>
            </a:r>
            <a:endParaRPr sz="135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8409" y="6671056"/>
            <a:ext cx="896619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30">
                <a:solidFill>
                  <a:srgbClr val="131313"/>
                </a:solidFill>
                <a:latin typeface="Arial Black"/>
                <a:cs typeface="Arial Black"/>
              </a:rPr>
              <a:t>Community</a:t>
            </a:r>
            <a:r>
              <a:rPr dirty="0" sz="700" spc="10">
                <a:solidFill>
                  <a:srgbClr val="131313"/>
                </a:solidFill>
                <a:latin typeface="Arial Black"/>
                <a:cs typeface="Arial Black"/>
              </a:rPr>
              <a:t> </a:t>
            </a:r>
            <a:r>
              <a:rPr dirty="0" sz="700" spc="-95">
                <a:solidFill>
                  <a:srgbClr val="0C0C0C"/>
                </a:solidFill>
                <a:latin typeface="Arial Black"/>
                <a:cs typeface="Arial Black"/>
              </a:rPr>
              <a:t>Conference</a:t>
            </a:r>
            <a:endParaRPr sz="7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19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003E34"/>
                </a:solidFill>
              </a:rPr>
              <a:t>Microsoft</a:t>
            </a:r>
            <a:r>
              <a:rPr dirty="0" spc="25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Fabric</a:t>
            </a:r>
            <a:r>
              <a:rPr dirty="0" spc="40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as</a:t>
            </a:r>
            <a:r>
              <a:rPr dirty="0" spc="45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a</a:t>
            </a:r>
            <a:r>
              <a:rPr dirty="0" spc="45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platform</a:t>
            </a:r>
            <a:r>
              <a:rPr dirty="0" spc="65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for</a:t>
            </a:r>
            <a:r>
              <a:rPr dirty="0" spc="5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Data</a:t>
            </a:r>
            <a:r>
              <a:rPr dirty="0" spc="45">
                <a:solidFill>
                  <a:srgbClr val="003E34"/>
                </a:solidFill>
              </a:rPr>
              <a:t> </a:t>
            </a:r>
            <a:r>
              <a:rPr dirty="0" spc="-10">
                <a:solidFill>
                  <a:srgbClr val="003E34"/>
                </a:solidFill>
              </a:rPr>
              <a:t>Science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0453" y="1847595"/>
            <a:ext cx="3935476" cy="29193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654169" y="2108139"/>
            <a:ext cx="278765" cy="16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25" b="1">
                <a:solidFill>
                  <a:srgbClr val="126C5A"/>
                </a:solidFill>
                <a:latin typeface="Arial"/>
                <a:cs typeface="Arial"/>
              </a:rPr>
              <a:t>GOV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79767" y="2108139"/>
            <a:ext cx="242570" cy="16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25" b="1">
                <a:solidFill>
                  <a:srgbClr val="126C5A"/>
                </a:solidFill>
                <a:latin typeface="Arial"/>
                <a:cs typeface="Arial"/>
              </a:rPr>
              <a:t>E2E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69834" y="3205419"/>
            <a:ext cx="415925" cy="16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20" b="1">
                <a:solidFill>
                  <a:srgbClr val="126C5A"/>
                </a:solidFill>
                <a:latin typeface="Arial"/>
                <a:cs typeface="Arial"/>
              </a:rPr>
              <a:t>SCALE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95363" y="4389627"/>
            <a:ext cx="352425" cy="135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00" spc="-10" b="1">
                <a:solidFill>
                  <a:srgbClr val="126C5A"/>
                </a:solidFill>
                <a:latin typeface="Arial"/>
                <a:cs typeface="Arial"/>
              </a:rPr>
              <a:t>MLflow</a:t>
            </a:r>
            <a:endParaRPr sz="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13223" y="4398771"/>
            <a:ext cx="374015" cy="135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00" b="1">
                <a:solidFill>
                  <a:srgbClr val="126C5A"/>
                </a:solidFill>
                <a:latin typeface="Arial"/>
                <a:cs typeface="Arial"/>
              </a:rPr>
              <a:t>Auto</a:t>
            </a:r>
            <a:r>
              <a:rPr dirty="0" sz="700" spc="-80" b="1">
                <a:solidFill>
                  <a:srgbClr val="126C5A"/>
                </a:solidFill>
                <a:latin typeface="Arial"/>
                <a:cs typeface="Arial"/>
              </a:rPr>
              <a:t> </a:t>
            </a:r>
            <a:r>
              <a:rPr dirty="0" sz="700" spc="-25" b="1">
                <a:solidFill>
                  <a:srgbClr val="126C5A"/>
                </a:solidFill>
                <a:latin typeface="Arial"/>
                <a:cs typeface="Arial"/>
              </a:rPr>
              <a:t>ML</a:t>
            </a:r>
            <a:endParaRPr sz="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76673" y="3208466"/>
            <a:ext cx="113030" cy="1358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00" spc="-25" b="1">
                <a:solidFill>
                  <a:srgbClr val="126C5A"/>
                </a:solidFill>
                <a:latin typeface="Arial"/>
                <a:cs typeface="Arial"/>
              </a:rPr>
              <a:t>AI</a:t>
            </a:r>
            <a:endParaRPr sz="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04008" y="1828669"/>
            <a:ext cx="2315210" cy="73660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278130">
              <a:lnSpc>
                <a:spcPct val="100000"/>
              </a:lnSpc>
              <a:spcBef>
                <a:spcPts val="560"/>
              </a:spcBef>
            </a:pPr>
            <a:r>
              <a:rPr dirty="0" sz="1200" b="1">
                <a:solidFill>
                  <a:srgbClr val="232323"/>
                </a:solidFill>
                <a:latin typeface="Arial"/>
                <a:cs typeface="Arial"/>
              </a:rPr>
              <a:t>Governance</a:t>
            </a:r>
            <a:r>
              <a:rPr dirty="0" sz="1200" spc="195" b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32323"/>
                </a:solidFill>
                <a:latin typeface="Arial"/>
                <a:cs typeface="Arial"/>
              </a:rPr>
              <a:t>&amp;</a:t>
            </a:r>
            <a:r>
              <a:rPr dirty="0" sz="1200" spc="120" b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32323"/>
                </a:solidFill>
                <a:latin typeface="Arial"/>
                <a:cs typeface="Arial"/>
              </a:rPr>
              <a:t>Compliance</a:t>
            </a:r>
            <a:endParaRPr sz="12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375"/>
              </a:spcBef>
            </a:pP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Role-based</a:t>
            </a:r>
            <a:r>
              <a:rPr dirty="0" sz="900" spc="120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access,</a:t>
            </a:r>
            <a:r>
              <a:rPr dirty="0" sz="900" spc="175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lineage</a:t>
            </a:r>
            <a:r>
              <a:rPr dirty="0" sz="900" spc="120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and</a:t>
            </a:r>
            <a:r>
              <a:rPr dirty="0" sz="900" spc="125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E565F"/>
                </a:solidFill>
                <a:latin typeface="Arial MT"/>
                <a:cs typeface="Arial MT"/>
              </a:rPr>
              <a:t>versioning</a:t>
            </a:r>
            <a:endParaRPr sz="900">
              <a:latin typeface="Arial MT"/>
              <a:cs typeface="Arial MT"/>
            </a:endParaRPr>
          </a:p>
          <a:p>
            <a:pPr algn="r" marR="7620">
              <a:lnSpc>
                <a:spcPct val="100000"/>
              </a:lnSpc>
              <a:spcBef>
                <a:spcPts val="70"/>
              </a:spcBef>
            </a:pP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keep</a:t>
            </a:r>
            <a:r>
              <a:rPr dirty="0" sz="900" spc="155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models</a:t>
            </a:r>
            <a:r>
              <a:rPr dirty="0" sz="900" spc="125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secure,</a:t>
            </a:r>
            <a:r>
              <a:rPr dirty="0" sz="900" spc="120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auditable</a:t>
            </a:r>
            <a:r>
              <a:rPr dirty="0" sz="900" spc="155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4E565F"/>
                </a:solidFill>
                <a:latin typeface="Arial MT"/>
                <a:cs typeface="Arial MT"/>
              </a:rPr>
              <a:t>and</a:t>
            </a:r>
            <a:endParaRPr sz="900">
              <a:latin typeface="Arial MT"/>
              <a:cs typeface="Arial MT"/>
            </a:endParaRPr>
          </a:p>
          <a:p>
            <a:pPr algn="r" marR="5715">
              <a:lnSpc>
                <a:spcPct val="100000"/>
              </a:lnSpc>
              <a:spcBef>
                <a:spcPts val="5"/>
              </a:spcBef>
            </a:pPr>
            <a:r>
              <a:rPr dirty="0" sz="900" spc="-10">
                <a:solidFill>
                  <a:srgbClr val="4E565F"/>
                </a:solidFill>
                <a:latin typeface="Arial MT"/>
                <a:cs typeface="Arial MT"/>
              </a:rPr>
              <a:t>compliant.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54315" y="1828669"/>
            <a:ext cx="2120900" cy="59944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1200" b="1">
                <a:solidFill>
                  <a:srgbClr val="232323"/>
                </a:solidFill>
                <a:latin typeface="Arial"/>
                <a:cs typeface="Arial"/>
              </a:rPr>
              <a:t>End-to-End</a:t>
            </a:r>
            <a:r>
              <a:rPr dirty="0" sz="1200" spc="225" b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32323"/>
                </a:solidFill>
                <a:latin typeface="Arial"/>
                <a:cs typeface="Arial"/>
              </a:rPr>
              <a:t>Unification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One</a:t>
            </a:r>
            <a:r>
              <a:rPr dirty="0" sz="900" spc="65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platform</a:t>
            </a:r>
            <a:r>
              <a:rPr dirty="0" sz="900" spc="114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for</a:t>
            </a:r>
            <a:r>
              <a:rPr dirty="0" sz="900" spc="170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ingestion,</a:t>
            </a:r>
            <a:r>
              <a:rPr dirty="0" sz="900" spc="130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E565F"/>
                </a:solidFill>
                <a:latin typeface="Arial MT"/>
                <a:cs typeface="Arial MT"/>
              </a:rPr>
              <a:t>preparation,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900" spc="10">
                <a:solidFill>
                  <a:srgbClr val="4E565F"/>
                </a:solidFill>
                <a:latin typeface="Arial MT"/>
                <a:cs typeface="Arial MT"/>
              </a:rPr>
              <a:t>training,</a:t>
            </a:r>
            <a:r>
              <a:rPr dirty="0" sz="900" spc="55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4E565F"/>
                </a:solidFill>
                <a:latin typeface="Arial MT"/>
                <a:cs typeface="Arial MT"/>
              </a:rPr>
              <a:t>deployment</a:t>
            </a:r>
            <a:r>
              <a:rPr dirty="0" sz="900" spc="55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4E565F"/>
                </a:solidFill>
                <a:latin typeface="Arial MT"/>
                <a:cs typeface="Arial MT"/>
              </a:rPr>
              <a:t>and</a:t>
            </a:r>
            <a:r>
              <a:rPr dirty="0" sz="900" spc="90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E565F"/>
                </a:solidFill>
                <a:latin typeface="Arial MT"/>
                <a:cs typeface="Arial MT"/>
              </a:rPr>
              <a:t>visualization.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20964" y="2953592"/>
            <a:ext cx="1461770" cy="73660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1200" spc="-10" b="1">
                <a:solidFill>
                  <a:srgbClr val="232323"/>
                </a:solidFill>
                <a:latin typeface="Arial"/>
                <a:cs typeface="Arial"/>
              </a:rPr>
              <a:t>Scalability</a:t>
            </a: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3400"/>
              </a:lnSpc>
              <a:spcBef>
                <a:spcPts val="335"/>
              </a:spcBef>
            </a:pPr>
            <a:r>
              <a:rPr dirty="0" sz="900" spc="10">
                <a:solidFill>
                  <a:srgbClr val="4E565F"/>
                </a:solidFill>
                <a:latin typeface="Arial MT"/>
                <a:cs typeface="Arial MT"/>
              </a:rPr>
              <a:t>Distributed</a:t>
            </a:r>
            <a:r>
              <a:rPr dirty="0" sz="900" spc="20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4E565F"/>
                </a:solidFill>
                <a:latin typeface="Arial MT"/>
                <a:cs typeface="Arial MT"/>
              </a:rPr>
              <a:t>Spark</a:t>
            </a:r>
            <a:r>
              <a:rPr dirty="0" sz="900" spc="95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E565F"/>
                </a:solidFill>
                <a:latin typeface="Arial MT"/>
                <a:cs typeface="Arial MT"/>
              </a:rPr>
              <a:t>compute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handles</a:t>
            </a:r>
            <a:r>
              <a:rPr dirty="0" sz="900" spc="190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large</a:t>
            </a:r>
            <a:r>
              <a:rPr dirty="0" sz="900" spc="20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datasets</a:t>
            </a:r>
            <a:r>
              <a:rPr dirty="0" sz="900" spc="195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4E565F"/>
                </a:solidFill>
                <a:latin typeface="Arial MT"/>
                <a:cs typeface="Arial MT"/>
              </a:rPr>
              <a:t>and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complex</a:t>
            </a:r>
            <a:r>
              <a:rPr dirty="0" sz="900" spc="175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ML</a:t>
            </a:r>
            <a:r>
              <a:rPr dirty="0" sz="900" spc="5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E565F"/>
                </a:solidFill>
                <a:latin typeface="Arial MT"/>
                <a:cs typeface="Arial MT"/>
              </a:rPr>
              <a:t>models.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26933" y="4006846"/>
            <a:ext cx="2672080" cy="59944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1200" b="1">
                <a:solidFill>
                  <a:srgbClr val="232323"/>
                </a:solidFill>
                <a:latin typeface="Arial"/>
                <a:cs typeface="Arial"/>
              </a:rPr>
              <a:t>MLflow</a:t>
            </a:r>
            <a:r>
              <a:rPr dirty="0" sz="1200" spc="130" b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32323"/>
                </a:solidFill>
                <a:latin typeface="Arial"/>
                <a:cs typeface="Arial"/>
              </a:rPr>
              <a:t>integration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Autolog</a:t>
            </a:r>
            <a:r>
              <a:rPr dirty="0" sz="900" spc="150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runs,</a:t>
            </a:r>
            <a:r>
              <a:rPr dirty="0" sz="900" spc="85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metrics</a:t>
            </a:r>
            <a:r>
              <a:rPr dirty="0" sz="900" spc="105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and</a:t>
            </a:r>
            <a:r>
              <a:rPr dirty="0" sz="900" spc="130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parameters</a:t>
            </a:r>
            <a:r>
              <a:rPr dirty="0" sz="900" spc="100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to</a:t>
            </a:r>
            <a:r>
              <a:rPr dirty="0" sz="900" spc="130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E565F"/>
                </a:solidFill>
                <a:latin typeface="Arial MT"/>
                <a:cs typeface="Arial MT"/>
              </a:rPr>
              <a:t>compare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models</a:t>
            </a:r>
            <a:r>
              <a:rPr dirty="0" sz="900" spc="114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and</a:t>
            </a:r>
            <a:r>
              <a:rPr dirty="0" sz="900" spc="150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experiments</a:t>
            </a:r>
            <a:r>
              <a:rPr dirty="0" sz="900" spc="220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without</a:t>
            </a:r>
            <a:r>
              <a:rPr dirty="0" sz="900" spc="105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manual</a:t>
            </a:r>
            <a:r>
              <a:rPr dirty="0" sz="900" spc="175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E565F"/>
                </a:solidFill>
                <a:latin typeface="Arial MT"/>
                <a:cs typeface="Arial MT"/>
              </a:rPr>
              <a:t>tracking.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76779" y="4006846"/>
            <a:ext cx="2468245" cy="59944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027430">
              <a:lnSpc>
                <a:spcPct val="100000"/>
              </a:lnSpc>
              <a:spcBef>
                <a:spcPts val="560"/>
              </a:spcBef>
            </a:pPr>
            <a:r>
              <a:rPr dirty="0" sz="1200" b="1">
                <a:solidFill>
                  <a:srgbClr val="232323"/>
                </a:solidFill>
                <a:latin typeface="Arial"/>
                <a:cs typeface="Arial"/>
              </a:rPr>
              <a:t>AutoML</a:t>
            </a:r>
            <a:r>
              <a:rPr dirty="0" sz="1200" spc="180" b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32323"/>
                </a:solidFill>
                <a:latin typeface="Arial"/>
                <a:cs typeface="Arial"/>
              </a:rPr>
              <a:t>(low-</a:t>
            </a:r>
            <a:r>
              <a:rPr dirty="0" sz="1200" spc="-20" b="1">
                <a:solidFill>
                  <a:srgbClr val="232323"/>
                </a:solidFill>
                <a:latin typeface="Arial"/>
                <a:cs typeface="Arial"/>
              </a:rPr>
              <a:t>code)</a:t>
            </a:r>
            <a:endParaRPr sz="1200">
              <a:latin typeface="Arial"/>
              <a:cs typeface="Arial"/>
            </a:endParaRPr>
          </a:p>
          <a:p>
            <a:pPr algn="r" marR="13970">
              <a:lnSpc>
                <a:spcPct val="100000"/>
              </a:lnSpc>
              <a:spcBef>
                <a:spcPts val="375"/>
              </a:spcBef>
            </a:pP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Start</a:t>
            </a:r>
            <a:r>
              <a:rPr dirty="0" sz="900" spc="45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ML</a:t>
            </a:r>
            <a:r>
              <a:rPr dirty="0" sz="900" spc="85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tasks</a:t>
            </a:r>
            <a:r>
              <a:rPr dirty="0" sz="900" spc="145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quickly</a:t>
            </a:r>
            <a:r>
              <a:rPr dirty="0" sz="900" spc="150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while</a:t>
            </a:r>
            <a:r>
              <a:rPr dirty="0" sz="900" spc="85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Fabric</a:t>
            </a:r>
            <a:r>
              <a:rPr dirty="0" sz="900" spc="60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E565F"/>
                </a:solidFill>
                <a:latin typeface="Arial MT"/>
                <a:cs typeface="Arial MT"/>
              </a:rPr>
              <a:t>automates</a:t>
            </a:r>
            <a:endParaRPr sz="900">
              <a:latin typeface="Arial MT"/>
              <a:cs typeface="Arial MT"/>
            </a:endParaRPr>
          </a:p>
          <a:p>
            <a:pPr algn="r" marR="13970">
              <a:lnSpc>
                <a:spcPct val="100000"/>
              </a:lnSpc>
              <a:spcBef>
                <a:spcPts val="70"/>
              </a:spcBef>
            </a:pP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much</a:t>
            </a:r>
            <a:r>
              <a:rPr dirty="0" sz="900" spc="70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of</a:t>
            </a:r>
            <a:r>
              <a:rPr dirty="0" sz="900" spc="45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the</a:t>
            </a:r>
            <a:r>
              <a:rPr dirty="0" sz="900" spc="70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E565F"/>
                </a:solidFill>
                <a:latin typeface="Arial MT"/>
                <a:cs typeface="Arial MT"/>
              </a:rPr>
              <a:t>workflow.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75255" y="2882299"/>
            <a:ext cx="1892935" cy="73533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421005">
              <a:lnSpc>
                <a:spcPct val="100000"/>
              </a:lnSpc>
              <a:spcBef>
                <a:spcPts val="550"/>
              </a:spcBef>
            </a:pPr>
            <a:r>
              <a:rPr dirty="0" sz="1200" b="1">
                <a:solidFill>
                  <a:srgbClr val="232323"/>
                </a:solidFill>
                <a:latin typeface="Arial"/>
                <a:cs typeface="Arial"/>
              </a:rPr>
              <a:t>AI-powered</a:t>
            </a:r>
            <a:r>
              <a:rPr dirty="0" sz="1200" spc="204" b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32323"/>
                </a:solidFill>
                <a:latin typeface="Arial"/>
                <a:cs typeface="Arial"/>
              </a:rPr>
              <a:t>Copilot</a:t>
            </a:r>
            <a:endParaRPr sz="1200">
              <a:latin typeface="Arial"/>
              <a:cs typeface="Arial"/>
            </a:endParaRPr>
          </a:p>
          <a:p>
            <a:pPr algn="r" marL="407670" marR="5080" indent="-395605">
              <a:lnSpc>
                <a:spcPct val="106900"/>
              </a:lnSpc>
              <a:spcBef>
                <a:spcPts val="300"/>
              </a:spcBef>
            </a:pP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Accelerates</a:t>
            </a:r>
            <a:r>
              <a:rPr dirty="0" sz="900" spc="140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data-science</a:t>
            </a:r>
            <a:r>
              <a:rPr dirty="0" sz="900" spc="170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work</a:t>
            </a:r>
            <a:r>
              <a:rPr dirty="0" sz="900" spc="260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4E565F"/>
                </a:solidFill>
                <a:latin typeface="Arial MT"/>
                <a:cs typeface="Arial MT"/>
              </a:rPr>
              <a:t>and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makes</a:t>
            </a:r>
            <a:r>
              <a:rPr dirty="0" sz="900" spc="110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common</a:t>
            </a:r>
            <a:r>
              <a:rPr dirty="0" sz="900" spc="130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E565F"/>
                </a:solidFill>
                <a:latin typeface="Arial MT"/>
                <a:cs typeface="Arial MT"/>
              </a:rPr>
              <a:t>tasks</a:t>
            </a:r>
            <a:r>
              <a:rPr dirty="0" sz="900" spc="210">
                <a:solidFill>
                  <a:srgbClr val="4E565F"/>
                </a:solidFill>
                <a:latin typeface="Arial MT"/>
                <a:cs typeface="Arial MT"/>
              </a:rPr>
              <a:t> </a:t>
            </a:r>
            <a:r>
              <a:rPr dirty="0" sz="900" spc="-20">
                <a:solidFill>
                  <a:srgbClr val="4E565F"/>
                </a:solidFill>
                <a:latin typeface="Arial MT"/>
                <a:cs typeface="Arial MT"/>
              </a:rPr>
              <a:t>more</a:t>
            </a:r>
            <a:endParaRPr sz="900">
              <a:latin typeface="Arial MT"/>
              <a:cs typeface="Arial MT"/>
            </a:endParaRPr>
          </a:p>
          <a:p>
            <a:pPr algn="r" marR="12700">
              <a:lnSpc>
                <a:spcPct val="100000"/>
              </a:lnSpc>
            </a:pPr>
            <a:r>
              <a:rPr dirty="0" sz="900" spc="-10">
                <a:solidFill>
                  <a:srgbClr val="4E565F"/>
                </a:solidFill>
                <a:latin typeface="Arial MT"/>
                <a:cs typeface="Arial MT"/>
              </a:rPr>
              <a:t>accessible.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06948" y="2720788"/>
            <a:ext cx="1654175" cy="1026160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1055"/>
              </a:spcBef>
            </a:pPr>
            <a:r>
              <a:rPr dirty="0" sz="2000" b="1">
                <a:solidFill>
                  <a:srgbClr val="1BB79A"/>
                </a:solidFill>
                <a:latin typeface="Arial"/>
                <a:cs typeface="Arial"/>
              </a:rPr>
              <a:t>Fabric</a:t>
            </a:r>
            <a:r>
              <a:rPr dirty="0" sz="2000" spc="-20" b="1">
                <a:solidFill>
                  <a:srgbClr val="1BB79A"/>
                </a:solidFill>
                <a:latin typeface="Arial"/>
                <a:cs typeface="Arial"/>
              </a:rPr>
              <a:t>  </a:t>
            </a:r>
            <a:r>
              <a:rPr dirty="0" sz="2000" b="1">
                <a:solidFill>
                  <a:srgbClr val="1863B4"/>
                </a:solidFill>
                <a:latin typeface="Arial"/>
                <a:cs typeface="Arial"/>
              </a:rPr>
              <a:t>+</a:t>
            </a:r>
            <a:r>
              <a:rPr dirty="0" sz="2000" spc="475" b="1">
                <a:solidFill>
                  <a:srgbClr val="1863B4"/>
                </a:solidFill>
                <a:latin typeface="Arial"/>
                <a:cs typeface="Arial"/>
              </a:rPr>
              <a:t> </a:t>
            </a:r>
            <a:r>
              <a:rPr dirty="0" sz="2000" spc="-25" b="1">
                <a:solidFill>
                  <a:srgbClr val="1863B4"/>
                </a:solidFill>
                <a:latin typeface="Arial"/>
                <a:cs typeface="Arial"/>
              </a:rPr>
              <a:t>ML</a:t>
            </a:r>
            <a:endParaRPr sz="2000">
              <a:latin typeface="Arial"/>
              <a:cs typeface="Arial"/>
            </a:endParaRPr>
          </a:p>
          <a:p>
            <a:pPr marL="12700" marR="50800" indent="40005">
              <a:lnSpc>
                <a:spcPct val="100800"/>
              </a:lnSpc>
              <a:spcBef>
                <a:spcPts val="765"/>
              </a:spcBef>
            </a:pPr>
            <a:r>
              <a:rPr dirty="0" sz="1550" b="1">
                <a:solidFill>
                  <a:srgbClr val="232323"/>
                </a:solidFill>
                <a:latin typeface="Arial"/>
                <a:cs typeface="Arial"/>
              </a:rPr>
              <a:t>Data</a:t>
            </a:r>
            <a:r>
              <a:rPr dirty="0" sz="1550" spc="105" b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232323"/>
                </a:solidFill>
                <a:latin typeface="Arial"/>
                <a:cs typeface="Arial"/>
              </a:rPr>
              <a:t>Science</a:t>
            </a:r>
            <a:r>
              <a:rPr dirty="0" sz="1550" spc="110" b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550" spc="-25" b="1">
                <a:solidFill>
                  <a:srgbClr val="232323"/>
                </a:solidFill>
                <a:latin typeface="Arial"/>
                <a:cs typeface="Arial"/>
              </a:rPr>
              <a:t>in </a:t>
            </a:r>
            <a:r>
              <a:rPr dirty="0" sz="1550" b="1">
                <a:solidFill>
                  <a:srgbClr val="232323"/>
                </a:solidFill>
                <a:latin typeface="Arial"/>
                <a:cs typeface="Arial"/>
              </a:rPr>
              <a:t>Microsoft</a:t>
            </a:r>
            <a:r>
              <a:rPr dirty="0" sz="1550" spc="185" b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550" spc="-10" b="1">
                <a:solidFill>
                  <a:srgbClr val="232323"/>
                </a:solidFill>
                <a:latin typeface="Arial"/>
                <a:cs typeface="Arial"/>
              </a:rPr>
              <a:t>Fabric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696711" y="2588437"/>
            <a:ext cx="1188720" cy="311150"/>
            <a:chOff x="5696711" y="2588437"/>
            <a:chExt cx="1188720" cy="311150"/>
          </a:xfrm>
        </p:grpSpPr>
        <p:pic>
          <p:nvPicPr>
            <p:cNvPr id="18" name="object 18" descr="Microsoft Edge Logo Transparent Iconmicrosoft Edge Icon Not Showi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96711" y="2588437"/>
              <a:ext cx="301751" cy="301828"/>
            </a:xfrm>
            <a:prstGeom prst="rect">
              <a:avLst/>
            </a:prstGeom>
          </p:spPr>
        </p:pic>
        <p:pic>
          <p:nvPicPr>
            <p:cNvPr id="19" name="object 19" descr="Documentazione di Microsoft Fabric - Microsoft Fabric | Microsoft Learn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83679" y="2597581"/>
              <a:ext cx="301751" cy="30182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7460" y="2357831"/>
            <a:ext cx="5996305" cy="1421765"/>
          </a:xfrm>
          <a:prstGeom prst="rect"/>
        </p:spPr>
        <p:txBody>
          <a:bodyPr wrap="square" lIns="0" tIns="99060" rIns="0" bIns="0" rtlCol="0" vert="horz">
            <a:spAutoFit/>
          </a:bodyPr>
          <a:lstStyle/>
          <a:p>
            <a:pPr marL="12700" marR="5080">
              <a:lnSpc>
                <a:spcPts val="5190"/>
              </a:lnSpc>
              <a:spcBef>
                <a:spcPts val="780"/>
              </a:spcBef>
            </a:pPr>
            <a:r>
              <a:rPr dirty="0" sz="4800"/>
              <a:t>Prediction</a:t>
            </a:r>
            <a:r>
              <a:rPr dirty="0" sz="4800" spc="-140"/>
              <a:t> </a:t>
            </a:r>
            <a:r>
              <a:rPr dirty="0" sz="4800"/>
              <a:t>Models</a:t>
            </a:r>
            <a:r>
              <a:rPr dirty="0" sz="4800" spc="-140"/>
              <a:t> </a:t>
            </a:r>
            <a:r>
              <a:rPr dirty="0" sz="4800" spc="-25"/>
              <a:t>in </a:t>
            </a:r>
            <a:r>
              <a:rPr dirty="0" sz="4800" spc="-10"/>
              <a:t>Healthcare</a:t>
            </a:r>
            <a:endParaRPr sz="4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71067" y="272923"/>
            <a:ext cx="8949055" cy="948690"/>
          </a:xfrm>
          <a:prstGeom prst="rect"/>
        </p:spPr>
        <p:txBody>
          <a:bodyPr wrap="square" lIns="0" tIns="64135" rIns="0" bIns="0" rtlCol="0" vert="horz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05"/>
              </a:spcBef>
            </a:pPr>
            <a:r>
              <a:rPr dirty="0">
                <a:solidFill>
                  <a:srgbClr val="003E34"/>
                </a:solidFill>
                <a:latin typeface="Segoe UI"/>
                <a:cs typeface="Segoe UI"/>
              </a:rPr>
              <a:t>AI</a:t>
            </a:r>
            <a:r>
              <a:rPr dirty="0" spc="95">
                <a:solidFill>
                  <a:srgbClr val="003E34"/>
                </a:solidFill>
                <a:latin typeface="Segoe UI"/>
                <a:cs typeface="Segoe UI"/>
              </a:rPr>
              <a:t> </a:t>
            </a:r>
            <a:r>
              <a:rPr dirty="0">
                <a:solidFill>
                  <a:srgbClr val="003E34"/>
                </a:solidFill>
                <a:latin typeface="Segoe UI"/>
                <a:cs typeface="Segoe UI"/>
              </a:rPr>
              <a:t>and</a:t>
            </a:r>
            <a:r>
              <a:rPr dirty="0" spc="65">
                <a:solidFill>
                  <a:srgbClr val="003E34"/>
                </a:solidFill>
                <a:latin typeface="Segoe UI"/>
                <a:cs typeface="Segoe UI"/>
              </a:rPr>
              <a:t> </a:t>
            </a:r>
            <a:r>
              <a:rPr dirty="0">
                <a:solidFill>
                  <a:srgbClr val="003E34"/>
                </a:solidFill>
                <a:latin typeface="Segoe UI"/>
                <a:cs typeface="Segoe UI"/>
              </a:rPr>
              <a:t>ML</a:t>
            </a:r>
            <a:r>
              <a:rPr dirty="0" spc="50">
                <a:solidFill>
                  <a:srgbClr val="003E34"/>
                </a:solidFill>
                <a:latin typeface="Segoe UI"/>
                <a:cs typeface="Segoe UI"/>
              </a:rPr>
              <a:t> </a:t>
            </a:r>
            <a:r>
              <a:rPr dirty="0">
                <a:solidFill>
                  <a:srgbClr val="003E34"/>
                </a:solidFill>
                <a:latin typeface="Segoe UI"/>
                <a:cs typeface="Segoe UI"/>
              </a:rPr>
              <a:t>is</a:t>
            </a:r>
            <a:r>
              <a:rPr dirty="0" spc="70">
                <a:solidFill>
                  <a:srgbClr val="003E34"/>
                </a:solidFill>
                <a:latin typeface="Segoe UI"/>
                <a:cs typeface="Segoe UI"/>
              </a:rPr>
              <a:t> </a:t>
            </a:r>
            <a:r>
              <a:rPr dirty="0">
                <a:solidFill>
                  <a:srgbClr val="003E34"/>
                </a:solidFill>
                <a:latin typeface="Segoe UI"/>
                <a:cs typeface="Segoe UI"/>
              </a:rPr>
              <a:t>being</a:t>
            </a:r>
            <a:r>
              <a:rPr dirty="0" spc="70">
                <a:solidFill>
                  <a:srgbClr val="003E34"/>
                </a:solidFill>
                <a:latin typeface="Segoe UI"/>
                <a:cs typeface="Segoe UI"/>
              </a:rPr>
              <a:t> </a:t>
            </a:r>
            <a:r>
              <a:rPr dirty="0">
                <a:solidFill>
                  <a:srgbClr val="003E34"/>
                </a:solidFill>
                <a:latin typeface="Segoe UI"/>
                <a:cs typeface="Segoe UI"/>
              </a:rPr>
              <a:t>embedded</a:t>
            </a:r>
            <a:r>
              <a:rPr dirty="0" spc="70">
                <a:solidFill>
                  <a:srgbClr val="003E34"/>
                </a:solidFill>
                <a:latin typeface="Segoe UI"/>
                <a:cs typeface="Segoe UI"/>
              </a:rPr>
              <a:t> </a:t>
            </a:r>
            <a:r>
              <a:rPr dirty="0">
                <a:solidFill>
                  <a:srgbClr val="003E34"/>
                </a:solidFill>
                <a:latin typeface="Segoe UI"/>
                <a:cs typeface="Segoe UI"/>
              </a:rPr>
              <a:t>in</a:t>
            </a:r>
            <a:r>
              <a:rPr dirty="0" spc="110">
                <a:solidFill>
                  <a:srgbClr val="003E34"/>
                </a:solidFill>
                <a:latin typeface="Segoe UI"/>
                <a:cs typeface="Segoe UI"/>
              </a:rPr>
              <a:t> </a:t>
            </a:r>
            <a:r>
              <a:rPr dirty="0">
                <a:solidFill>
                  <a:srgbClr val="003E34"/>
                </a:solidFill>
                <a:latin typeface="Segoe UI"/>
                <a:cs typeface="Segoe UI"/>
              </a:rPr>
              <a:t>EU</a:t>
            </a:r>
            <a:r>
              <a:rPr dirty="0" spc="100">
                <a:solidFill>
                  <a:srgbClr val="003E34"/>
                </a:solidFill>
                <a:latin typeface="Segoe UI"/>
                <a:cs typeface="Segoe UI"/>
              </a:rPr>
              <a:t> </a:t>
            </a:r>
            <a:r>
              <a:rPr dirty="0" spc="-10">
                <a:solidFill>
                  <a:srgbClr val="003E34"/>
                </a:solidFill>
                <a:latin typeface="Segoe UI"/>
                <a:cs typeface="Segoe UI"/>
              </a:rPr>
              <a:t>healthcare systems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5976" y="1996313"/>
            <a:ext cx="5992368" cy="387413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26940" y="1931270"/>
            <a:ext cx="1086485" cy="1306830"/>
          </a:xfrm>
          <a:prstGeom prst="rect">
            <a:avLst/>
          </a:prstGeom>
        </p:spPr>
        <p:txBody>
          <a:bodyPr wrap="square" lIns="0" tIns="3187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10"/>
              </a:spcBef>
            </a:pPr>
            <a:r>
              <a:rPr dirty="0" sz="4400" spc="-25">
                <a:solidFill>
                  <a:srgbClr val="00338D"/>
                </a:solidFill>
                <a:latin typeface="Segoe UI"/>
                <a:cs typeface="Segoe UI"/>
              </a:rPr>
              <a:t>48%</a:t>
            </a:r>
            <a:endParaRPr sz="4400">
              <a:latin typeface="Segoe UI"/>
              <a:cs typeface="Segoe UI"/>
            </a:endParaRPr>
          </a:p>
          <a:p>
            <a:pPr marL="97790">
              <a:lnSpc>
                <a:spcPct val="100000"/>
              </a:lnSpc>
              <a:spcBef>
                <a:spcPts val="775"/>
              </a:spcBef>
            </a:pPr>
            <a:r>
              <a:rPr dirty="0" sz="1350" spc="-10" b="1">
                <a:solidFill>
                  <a:srgbClr val="00338D"/>
                </a:solidFill>
                <a:latin typeface="Segoe UI"/>
                <a:cs typeface="Segoe UI"/>
              </a:rPr>
              <a:t>Radiology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52365" y="4073045"/>
            <a:ext cx="1087755" cy="1159510"/>
          </a:xfrm>
          <a:prstGeom prst="rect">
            <a:avLst/>
          </a:prstGeom>
        </p:spPr>
        <p:txBody>
          <a:bodyPr wrap="square" lIns="0" tIns="24002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dirty="0" sz="4400" spc="-25">
                <a:solidFill>
                  <a:srgbClr val="FFC000"/>
                </a:solidFill>
                <a:latin typeface="Segoe UI"/>
                <a:cs typeface="Segoe UI"/>
              </a:rPr>
              <a:t>74%</a:t>
            </a:r>
            <a:endParaRPr sz="4400">
              <a:latin typeface="Segoe UI"/>
              <a:cs typeface="Segoe UI"/>
            </a:endParaRPr>
          </a:p>
          <a:p>
            <a:pPr marL="62230">
              <a:lnSpc>
                <a:spcPct val="100000"/>
              </a:lnSpc>
              <a:spcBef>
                <a:spcPts val="475"/>
              </a:spcBef>
            </a:pPr>
            <a:r>
              <a:rPr dirty="0" sz="1150" b="1">
                <a:solidFill>
                  <a:srgbClr val="FFC000"/>
                </a:solidFill>
                <a:latin typeface="Segoe UI"/>
                <a:cs typeface="Segoe UI"/>
              </a:rPr>
              <a:t>EU</a:t>
            </a:r>
            <a:r>
              <a:rPr dirty="0" sz="1150" spc="-55" b="1">
                <a:solidFill>
                  <a:srgbClr val="FFC000"/>
                </a:solidFill>
                <a:latin typeface="Segoe UI"/>
                <a:cs typeface="Segoe UI"/>
              </a:rPr>
              <a:t> </a:t>
            </a:r>
            <a:r>
              <a:rPr dirty="0" sz="1150" spc="-10" b="1">
                <a:solidFill>
                  <a:srgbClr val="FFC000"/>
                </a:solidFill>
                <a:latin typeface="Segoe UI"/>
                <a:cs typeface="Segoe UI"/>
              </a:rPr>
              <a:t>countries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26960" y="2956729"/>
            <a:ext cx="1089660" cy="1183005"/>
          </a:xfrm>
          <a:prstGeom prst="rect">
            <a:avLst/>
          </a:prstGeom>
        </p:spPr>
        <p:txBody>
          <a:bodyPr wrap="square" lIns="0" tIns="163195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285"/>
              </a:spcBef>
            </a:pPr>
            <a:r>
              <a:rPr dirty="0" sz="4400" spc="-25">
                <a:solidFill>
                  <a:srgbClr val="4471C4"/>
                </a:solidFill>
                <a:latin typeface="Segoe UI"/>
                <a:cs typeface="Segoe UI"/>
              </a:rPr>
              <a:t>94%</a:t>
            </a:r>
            <a:endParaRPr sz="4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800" spc="-10" b="1">
                <a:solidFill>
                  <a:srgbClr val="4471C4"/>
                </a:solidFill>
                <a:latin typeface="Segoe UI"/>
                <a:cs typeface="Segoe UI"/>
              </a:rPr>
              <a:t>Providers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89441" y="1876192"/>
            <a:ext cx="2069464" cy="122428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500" b="1">
                <a:solidFill>
                  <a:srgbClr val="EC7C30"/>
                </a:solidFill>
                <a:latin typeface="Segoe UI"/>
                <a:cs typeface="Segoe UI"/>
              </a:rPr>
              <a:t>Provider</a:t>
            </a:r>
            <a:r>
              <a:rPr dirty="0" sz="1500" spc="-65" b="1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dirty="0" sz="1500" spc="-10" b="1">
                <a:solidFill>
                  <a:srgbClr val="EC7C30"/>
                </a:solidFill>
                <a:latin typeface="Segoe UI"/>
                <a:cs typeface="Segoe UI"/>
              </a:rPr>
              <a:t>pipeline</a:t>
            </a:r>
            <a:endParaRPr sz="1500">
              <a:latin typeface="Segoe UI"/>
              <a:cs typeface="Segoe UI"/>
            </a:endParaRPr>
          </a:p>
          <a:p>
            <a:pPr marL="12700" marR="5080">
              <a:lnSpc>
                <a:spcPct val="100099"/>
              </a:lnSpc>
              <a:spcBef>
                <a:spcPts val="635"/>
              </a:spcBef>
            </a:pPr>
            <a:r>
              <a:rPr dirty="0" sz="1300">
                <a:solidFill>
                  <a:srgbClr val="EC7C30"/>
                </a:solidFill>
                <a:latin typeface="Segoe UI"/>
                <a:cs typeface="Segoe UI"/>
              </a:rPr>
              <a:t>94%</a:t>
            </a:r>
            <a:r>
              <a:rPr dirty="0" sz="1300" spc="-25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EC7C30"/>
                </a:solidFill>
                <a:latin typeface="Segoe UI"/>
                <a:cs typeface="Segoe UI"/>
              </a:rPr>
              <a:t>of</a:t>
            </a:r>
            <a:r>
              <a:rPr dirty="0" sz="1300" spc="-20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EC7C30"/>
                </a:solidFill>
                <a:latin typeface="Segoe UI"/>
                <a:cs typeface="Segoe UI"/>
              </a:rPr>
              <a:t>surveyed</a:t>
            </a:r>
            <a:r>
              <a:rPr dirty="0" sz="1300" spc="-75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dirty="0" sz="1300" spc="-25">
                <a:solidFill>
                  <a:srgbClr val="EC7C30"/>
                </a:solidFill>
                <a:latin typeface="Segoe UI"/>
                <a:cs typeface="Segoe UI"/>
              </a:rPr>
              <a:t>EU </a:t>
            </a:r>
            <a:r>
              <a:rPr dirty="0" sz="1300" spc="-10">
                <a:solidFill>
                  <a:srgbClr val="EC7C30"/>
                </a:solidFill>
                <a:latin typeface="Segoe UI"/>
                <a:cs typeface="Segoe UI"/>
              </a:rPr>
              <a:t>healthcare</a:t>
            </a:r>
            <a:r>
              <a:rPr dirty="0" sz="1300" spc="-35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EC7C30"/>
                </a:solidFill>
                <a:latin typeface="Segoe UI"/>
                <a:cs typeface="Segoe UI"/>
              </a:rPr>
              <a:t>providers</a:t>
            </a:r>
            <a:r>
              <a:rPr dirty="0" sz="1300" spc="-50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EC7C30"/>
                </a:solidFill>
                <a:latin typeface="Segoe UI"/>
                <a:cs typeface="Segoe UI"/>
              </a:rPr>
              <a:t>already </a:t>
            </a:r>
            <a:r>
              <a:rPr dirty="0" sz="1300">
                <a:solidFill>
                  <a:srgbClr val="EC7C30"/>
                </a:solidFill>
                <a:latin typeface="Segoe UI"/>
                <a:cs typeface="Segoe UI"/>
              </a:rPr>
              <a:t>use</a:t>
            </a:r>
            <a:r>
              <a:rPr dirty="0" sz="1300" spc="-35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EC7C30"/>
                </a:solidFill>
                <a:latin typeface="Segoe UI"/>
                <a:cs typeface="Segoe UI"/>
              </a:rPr>
              <a:t>AI</a:t>
            </a:r>
            <a:r>
              <a:rPr dirty="0" sz="1300" spc="-55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EC7C30"/>
                </a:solidFill>
                <a:latin typeface="Segoe UI"/>
                <a:cs typeface="Segoe UI"/>
              </a:rPr>
              <a:t>solutions</a:t>
            </a:r>
            <a:r>
              <a:rPr dirty="0" sz="1300" spc="-45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EC7C30"/>
                </a:solidFill>
                <a:latin typeface="Segoe UI"/>
                <a:cs typeface="Segoe UI"/>
              </a:rPr>
              <a:t>or</a:t>
            </a:r>
            <a:r>
              <a:rPr dirty="0" sz="1300" spc="-20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EC7C30"/>
                </a:solidFill>
                <a:latin typeface="Segoe UI"/>
                <a:cs typeface="Segoe UI"/>
              </a:rPr>
              <a:t>plan</a:t>
            </a:r>
            <a:r>
              <a:rPr dirty="0" sz="1300" spc="-20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dirty="0" sz="1300" spc="-25">
                <a:solidFill>
                  <a:srgbClr val="EC7C30"/>
                </a:solidFill>
                <a:latin typeface="Segoe UI"/>
                <a:cs typeface="Segoe UI"/>
              </a:rPr>
              <a:t>to </a:t>
            </a:r>
            <a:r>
              <a:rPr dirty="0" sz="1300">
                <a:solidFill>
                  <a:srgbClr val="EC7C30"/>
                </a:solidFill>
                <a:latin typeface="Segoe UI"/>
                <a:cs typeface="Segoe UI"/>
              </a:rPr>
              <a:t>adopt</a:t>
            </a:r>
            <a:r>
              <a:rPr dirty="0" sz="1300" spc="-35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EC7C30"/>
                </a:solidFill>
                <a:latin typeface="Segoe UI"/>
                <a:cs typeface="Segoe UI"/>
              </a:rPr>
              <a:t>them.</a:t>
            </a:r>
            <a:endParaRPr sz="1300">
              <a:latin typeface="Segoe UI"/>
              <a:cs typeface="Segoe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66189" y="4047194"/>
            <a:ext cx="2171065" cy="102235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1500" b="1">
                <a:solidFill>
                  <a:srgbClr val="EC7C30"/>
                </a:solidFill>
                <a:latin typeface="Segoe UI"/>
                <a:cs typeface="Segoe UI"/>
              </a:rPr>
              <a:t>Diagnostics</a:t>
            </a:r>
            <a:r>
              <a:rPr dirty="0" sz="1500" spc="-75" b="1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dirty="0" sz="1500" spc="-10" b="1">
                <a:solidFill>
                  <a:srgbClr val="EC7C30"/>
                </a:solidFill>
                <a:latin typeface="Segoe UI"/>
                <a:cs typeface="Segoe UI"/>
              </a:rPr>
              <a:t>spread</a:t>
            </a:r>
            <a:endParaRPr sz="1500">
              <a:latin typeface="Segoe UI"/>
              <a:cs typeface="Segoe UI"/>
            </a:endParaRPr>
          </a:p>
          <a:p>
            <a:pPr marL="12700" marR="5080">
              <a:lnSpc>
                <a:spcPct val="99400"/>
              </a:lnSpc>
              <a:spcBef>
                <a:spcPts val="645"/>
              </a:spcBef>
            </a:pPr>
            <a:r>
              <a:rPr dirty="0" sz="1300">
                <a:solidFill>
                  <a:srgbClr val="EC7C30"/>
                </a:solidFill>
                <a:latin typeface="Segoe UI"/>
                <a:cs typeface="Segoe UI"/>
              </a:rPr>
              <a:t>Nearly</a:t>
            </a:r>
            <a:r>
              <a:rPr dirty="0" sz="1300" spc="-65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EC7C30"/>
                </a:solidFill>
                <a:latin typeface="Segoe UI"/>
                <a:cs typeface="Segoe UI"/>
              </a:rPr>
              <a:t>3</a:t>
            </a:r>
            <a:r>
              <a:rPr dirty="0" sz="1300" spc="5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EC7C30"/>
                </a:solidFill>
                <a:latin typeface="Segoe UI"/>
                <a:cs typeface="Segoe UI"/>
              </a:rPr>
              <a:t>in</a:t>
            </a:r>
            <a:r>
              <a:rPr dirty="0" sz="1300" spc="-25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EC7C30"/>
                </a:solidFill>
                <a:latin typeface="Segoe UI"/>
                <a:cs typeface="Segoe UI"/>
              </a:rPr>
              <a:t>4</a:t>
            </a:r>
            <a:r>
              <a:rPr dirty="0" sz="1300" spc="5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EC7C30"/>
                </a:solidFill>
                <a:latin typeface="Segoe UI"/>
                <a:cs typeface="Segoe UI"/>
              </a:rPr>
              <a:t>EU</a:t>
            </a:r>
            <a:r>
              <a:rPr dirty="0" sz="1300" spc="-45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EC7C30"/>
                </a:solidFill>
                <a:latin typeface="Segoe UI"/>
                <a:cs typeface="Segoe UI"/>
              </a:rPr>
              <a:t>countries </a:t>
            </a:r>
            <a:r>
              <a:rPr dirty="0" sz="1300">
                <a:solidFill>
                  <a:srgbClr val="EC7C30"/>
                </a:solidFill>
                <a:latin typeface="Segoe UI"/>
                <a:cs typeface="Segoe UI"/>
              </a:rPr>
              <a:t>report</a:t>
            </a:r>
            <a:r>
              <a:rPr dirty="0" sz="1300" spc="-45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EC7C30"/>
                </a:solidFill>
                <a:latin typeface="Segoe UI"/>
                <a:cs typeface="Segoe UI"/>
              </a:rPr>
              <a:t>AI-assisted</a:t>
            </a:r>
            <a:r>
              <a:rPr dirty="0" sz="1300" spc="-75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EC7C30"/>
                </a:solidFill>
                <a:latin typeface="Segoe UI"/>
                <a:cs typeface="Segoe UI"/>
              </a:rPr>
              <a:t>diagnostics </a:t>
            </a:r>
            <a:r>
              <a:rPr dirty="0" sz="1300">
                <a:solidFill>
                  <a:srgbClr val="EC7C30"/>
                </a:solidFill>
                <a:latin typeface="Segoe UI"/>
                <a:cs typeface="Segoe UI"/>
              </a:rPr>
              <a:t>in</a:t>
            </a:r>
            <a:r>
              <a:rPr dirty="0" sz="1300" spc="-30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EC7C30"/>
                </a:solidFill>
                <a:latin typeface="Segoe UI"/>
                <a:cs typeface="Segoe UI"/>
              </a:rPr>
              <a:t>clinical</a:t>
            </a:r>
            <a:r>
              <a:rPr dirty="0" sz="1300" spc="-35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EC7C30"/>
                </a:solidFill>
                <a:latin typeface="Segoe UI"/>
                <a:cs typeface="Segoe UI"/>
              </a:rPr>
              <a:t>settings.</a:t>
            </a:r>
            <a:endParaRPr sz="13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6189" y="1876192"/>
            <a:ext cx="2041525" cy="122428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500" b="1">
                <a:solidFill>
                  <a:srgbClr val="EC7C30"/>
                </a:solidFill>
                <a:latin typeface="Segoe UI"/>
                <a:cs typeface="Segoe UI"/>
              </a:rPr>
              <a:t>Radiology</a:t>
            </a:r>
            <a:r>
              <a:rPr dirty="0" sz="1500" spc="-50" b="1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dirty="0" sz="1500" spc="-10" b="1">
                <a:solidFill>
                  <a:srgbClr val="EC7C30"/>
                </a:solidFill>
                <a:latin typeface="Segoe UI"/>
                <a:cs typeface="Segoe UI"/>
              </a:rPr>
              <a:t>reality</a:t>
            </a:r>
            <a:endParaRPr sz="1500">
              <a:latin typeface="Segoe UI"/>
              <a:cs typeface="Segoe UI"/>
            </a:endParaRPr>
          </a:p>
          <a:p>
            <a:pPr marL="12700" marR="5080">
              <a:lnSpc>
                <a:spcPct val="100099"/>
              </a:lnSpc>
              <a:spcBef>
                <a:spcPts val="635"/>
              </a:spcBef>
            </a:pPr>
            <a:r>
              <a:rPr dirty="0" sz="1300">
                <a:solidFill>
                  <a:srgbClr val="EC7C30"/>
                </a:solidFill>
                <a:latin typeface="Segoe UI"/>
                <a:cs typeface="Segoe UI"/>
              </a:rPr>
              <a:t>48%</a:t>
            </a:r>
            <a:r>
              <a:rPr dirty="0" sz="1300" spc="-40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EC7C30"/>
                </a:solidFill>
                <a:latin typeface="Segoe UI"/>
                <a:cs typeface="Segoe UI"/>
              </a:rPr>
              <a:t>of</a:t>
            </a:r>
            <a:r>
              <a:rPr dirty="0" sz="1300" spc="-25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EC7C30"/>
                </a:solidFill>
                <a:latin typeface="Segoe UI"/>
                <a:cs typeface="Segoe UI"/>
              </a:rPr>
              <a:t>572</a:t>
            </a:r>
            <a:r>
              <a:rPr dirty="0" sz="1300" spc="-30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EC7C30"/>
                </a:solidFill>
                <a:latin typeface="Segoe UI"/>
                <a:cs typeface="Segoe UI"/>
              </a:rPr>
              <a:t>European </a:t>
            </a:r>
            <a:r>
              <a:rPr dirty="0" sz="1300">
                <a:solidFill>
                  <a:srgbClr val="EC7C30"/>
                </a:solidFill>
                <a:latin typeface="Segoe UI"/>
                <a:cs typeface="Segoe UI"/>
              </a:rPr>
              <a:t>radiology</a:t>
            </a:r>
            <a:r>
              <a:rPr dirty="0" sz="1300" spc="-5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EC7C30"/>
                </a:solidFill>
                <a:latin typeface="Segoe UI"/>
                <a:cs typeface="Segoe UI"/>
              </a:rPr>
              <a:t>respondents</a:t>
            </a:r>
            <a:r>
              <a:rPr dirty="0" sz="1300" spc="-65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dirty="0" sz="1300" spc="-20">
                <a:solidFill>
                  <a:srgbClr val="EC7C30"/>
                </a:solidFill>
                <a:latin typeface="Segoe UI"/>
                <a:cs typeface="Segoe UI"/>
              </a:rPr>
              <a:t>used </a:t>
            </a:r>
            <a:r>
              <a:rPr dirty="0" sz="1300">
                <a:solidFill>
                  <a:srgbClr val="EC7C30"/>
                </a:solidFill>
                <a:latin typeface="Segoe UI"/>
                <a:cs typeface="Segoe UI"/>
              </a:rPr>
              <a:t>AI;</a:t>
            </a:r>
            <a:r>
              <a:rPr dirty="0" sz="1300" spc="-15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EC7C30"/>
                </a:solidFill>
                <a:latin typeface="Segoe UI"/>
                <a:cs typeface="Segoe UI"/>
              </a:rPr>
              <a:t>another</a:t>
            </a:r>
            <a:r>
              <a:rPr dirty="0" sz="1300" spc="-40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EC7C30"/>
                </a:solidFill>
                <a:latin typeface="Segoe UI"/>
                <a:cs typeface="Segoe UI"/>
              </a:rPr>
              <a:t>25%</a:t>
            </a:r>
            <a:r>
              <a:rPr dirty="0" sz="1300" spc="-70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EC7C30"/>
                </a:solidFill>
                <a:latin typeface="Segoe UI"/>
                <a:cs typeface="Segoe UI"/>
              </a:rPr>
              <a:t>planned adoption.</a:t>
            </a:r>
            <a:endParaRPr sz="1300">
              <a:latin typeface="Segoe UI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66189" y="5902518"/>
            <a:ext cx="791781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i="1">
                <a:solidFill>
                  <a:srgbClr val="4A4A4A"/>
                </a:solidFill>
                <a:latin typeface="Arial"/>
                <a:cs typeface="Arial"/>
              </a:rPr>
              <a:t>Measurement caveat: no</a:t>
            </a:r>
            <a:r>
              <a:rPr dirty="0" sz="900" spc="-45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A4A4A"/>
                </a:solidFill>
                <a:latin typeface="Arial"/>
                <a:cs typeface="Arial"/>
              </a:rPr>
              <a:t>harmonized</a:t>
            </a:r>
            <a:r>
              <a:rPr dirty="0" sz="900" spc="-45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A4A4A"/>
                </a:solidFill>
                <a:latin typeface="Arial"/>
                <a:cs typeface="Arial"/>
              </a:rPr>
              <a:t>EU</a:t>
            </a:r>
            <a:r>
              <a:rPr dirty="0" sz="900" spc="20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4A4A4A"/>
                </a:solidFill>
                <a:latin typeface="Arial"/>
                <a:cs typeface="Arial"/>
              </a:rPr>
              <a:t>hospital-</a:t>
            </a:r>
            <a:r>
              <a:rPr dirty="0" sz="900" i="1">
                <a:solidFill>
                  <a:srgbClr val="4A4A4A"/>
                </a:solidFill>
                <a:latin typeface="Arial"/>
                <a:cs typeface="Arial"/>
              </a:rPr>
              <a:t>level</a:t>
            </a:r>
            <a:r>
              <a:rPr dirty="0" sz="900" spc="-5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A4A4A"/>
                </a:solidFill>
                <a:latin typeface="Arial"/>
                <a:cs typeface="Arial"/>
              </a:rPr>
              <a:t>adoption</a:t>
            </a:r>
            <a:r>
              <a:rPr dirty="0" sz="900" spc="-15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A4A4A"/>
                </a:solidFill>
                <a:latin typeface="Arial"/>
                <a:cs typeface="Arial"/>
              </a:rPr>
              <a:t>ranking</a:t>
            </a:r>
            <a:r>
              <a:rPr dirty="0" sz="900" spc="-45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A4A4A"/>
                </a:solidFill>
                <a:latin typeface="Arial"/>
                <a:cs typeface="Arial"/>
              </a:rPr>
              <a:t>exists; these</a:t>
            </a:r>
            <a:r>
              <a:rPr dirty="0" sz="900" spc="-45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A4A4A"/>
                </a:solidFill>
                <a:latin typeface="Arial"/>
                <a:cs typeface="Arial"/>
              </a:rPr>
              <a:t>indicators</a:t>
            </a:r>
            <a:r>
              <a:rPr dirty="0" sz="900" spc="-65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A4A4A"/>
                </a:solidFill>
                <a:latin typeface="Arial"/>
                <a:cs typeface="Arial"/>
              </a:rPr>
              <a:t>use</a:t>
            </a:r>
            <a:r>
              <a:rPr dirty="0" sz="900" spc="30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A4A4A"/>
                </a:solidFill>
                <a:latin typeface="Arial"/>
                <a:cs typeface="Arial"/>
              </a:rPr>
              <a:t>different</a:t>
            </a:r>
            <a:r>
              <a:rPr dirty="0" sz="900" spc="-75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A4A4A"/>
                </a:solidFill>
                <a:latin typeface="Arial"/>
                <a:cs typeface="Arial"/>
              </a:rPr>
              <a:t>denominators</a:t>
            </a:r>
            <a:r>
              <a:rPr dirty="0" sz="900" spc="20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A4A4A"/>
                </a:solidFill>
                <a:latin typeface="Arial"/>
                <a:cs typeface="Arial"/>
              </a:rPr>
              <a:t>and</a:t>
            </a:r>
            <a:r>
              <a:rPr dirty="0" sz="900" spc="-20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A4A4A"/>
                </a:solidFill>
                <a:latin typeface="Arial"/>
                <a:cs typeface="Arial"/>
              </a:rPr>
              <a:t>are</a:t>
            </a:r>
            <a:r>
              <a:rPr dirty="0" sz="900" spc="30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4A4A4A"/>
                </a:solidFill>
                <a:latin typeface="Arial"/>
                <a:cs typeface="Arial"/>
              </a:rPr>
              <a:t>not</a:t>
            </a:r>
            <a:r>
              <a:rPr dirty="0" sz="900" i="1">
                <a:solidFill>
                  <a:srgbClr val="4A4A4A"/>
                </a:solidFill>
                <a:latin typeface="Arial"/>
                <a:cs typeface="Arial"/>
              </a:rPr>
              <a:t> directly</a:t>
            </a:r>
            <a:r>
              <a:rPr dirty="0" sz="900" spc="-65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4A4A4A"/>
                </a:solidFill>
                <a:latin typeface="Arial"/>
                <a:cs typeface="Arial"/>
              </a:rPr>
              <a:t>comparable.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700" spc="10">
                <a:solidFill>
                  <a:srgbClr val="5F5F5F"/>
                </a:solidFill>
                <a:latin typeface="Arial MT"/>
                <a:cs typeface="Arial MT"/>
              </a:rPr>
              <a:t>Sources:</a:t>
            </a:r>
            <a:r>
              <a:rPr dirty="0" sz="700" spc="75">
                <a:solidFill>
                  <a:srgbClr val="5F5F5F"/>
                </a:solidFill>
                <a:latin typeface="Arial MT"/>
                <a:cs typeface="Arial MT"/>
              </a:rPr>
              <a:t> </a:t>
            </a:r>
            <a:r>
              <a:rPr dirty="0" sz="700" spc="10">
                <a:solidFill>
                  <a:srgbClr val="5F5F5F"/>
                </a:solidFill>
                <a:latin typeface="Arial MT"/>
                <a:cs typeface="Arial MT"/>
              </a:rPr>
              <a:t>WHO/Europe</a:t>
            </a:r>
            <a:r>
              <a:rPr dirty="0" sz="700" spc="95">
                <a:solidFill>
                  <a:srgbClr val="5F5F5F"/>
                </a:solidFill>
                <a:latin typeface="Arial MT"/>
                <a:cs typeface="Arial MT"/>
              </a:rPr>
              <a:t> </a:t>
            </a:r>
            <a:r>
              <a:rPr dirty="0" sz="700" spc="10">
                <a:solidFill>
                  <a:srgbClr val="5F5F5F"/>
                </a:solidFill>
                <a:latin typeface="Arial MT"/>
                <a:cs typeface="Arial MT"/>
              </a:rPr>
              <a:t>EU</a:t>
            </a:r>
            <a:r>
              <a:rPr dirty="0" sz="700" spc="35">
                <a:solidFill>
                  <a:srgbClr val="5F5F5F"/>
                </a:solidFill>
                <a:latin typeface="Arial MT"/>
                <a:cs typeface="Arial MT"/>
              </a:rPr>
              <a:t> </a:t>
            </a:r>
            <a:r>
              <a:rPr dirty="0" sz="700" spc="10">
                <a:solidFill>
                  <a:srgbClr val="5F5F5F"/>
                </a:solidFill>
                <a:latin typeface="Arial MT"/>
                <a:cs typeface="Arial MT"/>
              </a:rPr>
              <a:t>readiness</a:t>
            </a:r>
            <a:r>
              <a:rPr dirty="0" sz="700" spc="50">
                <a:solidFill>
                  <a:srgbClr val="5F5F5F"/>
                </a:solidFill>
                <a:latin typeface="Arial MT"/>
                <a:cs typeface="Arial MT"/>
              </a:rPr>
              <a:t> </a:t>
            </a:r>
            <a:r>
              <a:rPr dirty="0" sz="700" spc="10">
                <a:solidFill>
                  <a:srgbClr val="5F5F5F"/>
                </a:solidFill>
                <a:latin typeface="Arial MT"/>
                <a:cs typeface="Arial MT"/>
              </a:rPr>
              <a:t>survey</a:t>
            </a:r>
            <a:r>
              <a:rPr dirty="0" sz="700" spc="105">
                <a:solidFill>
                  <a:srgbClr val="5F5F5F"/>
                </a:solidFill>
                <a:latin typeface="Arial MT"/>
                <a:cs typeface="Arial MT"/>
              </a:rPr>
              <a:t> </a:t>
            </a:r>
            <a:r>
              <a:rPr dirty="0" sz="700" spc="10">
                <a:solidFill>
                  <a:srgbClr val="5F5F5F"/>
                </a:solidFill>
                <a:latin typeface="Arial MT"/>
                <a:cs typeface="Arial MT"/>
              </a:rPr>
              <a:t>(2024–25);</a:t>
            </a:r>
            <a:r>
              <a:rPr dirty="0" sz="700" spc="105">
                <a:solidFill>
                  <a:srgbClr val="5F5F5F"/>
                </a:solidFill>
                <a:latin typeface="Arial MT"/>
                <a:cs typeface="Arial MT"/>
              </a:rPr>
              <a:t> </a:t>
            </a:r>
            <a:r>
              <a:rPr dirty="0" sz="700" spc="10">
                <a:solidFill>
                  <a:srgbClr val="5F5F5F"/>
                </a:solidFill>
                <a:latin typeface="Arial MT"/>
                <a:cs typeface="Arial MT"/>
              </a:rPr>
              <a:t>European</a:t>
            </a:r>
            <a:r>
              <a:rPr dirty="0" sz="700" spc="95">
                <a:solidFill>
                  <a:srgbClr val="5F5F5F"/>
                </a:solidFill>
                <a:latin typeface="Arial MT"/>
                <a:cs typeface="Arial MT"/>
              </a:rPr>
              <a:t> </a:t>
            </a:r>
            <a:r>
              <a:rPr dirty="0" sz="700" spc="10">
                <a:solidFill>
                  <a:srgbClr val="5F5F5F"/>
                </a:solidFill>
                <a:latin typeface="Arial MT"/>
                <a:cs typeface="Arial MT"/>
              </a:rPr>
              <a:t>Commission</a:t>
            </a:r>
            <a:r>
              <a:rPr dirty="0" sz="700" spc="95">
                <a:solidFill>
                  <a:srgbClr val="5F5F5F"/>
                </a:solidFill>
                <a:latin typeface="Arial MT"/>
                <a:cs typeface="Arial MT"/>
              </a:rPr>
              <a:t> </a:t>
            </a:r>
            <a:r>
              <a:rPr dirty="0" sz="700" spc="10">
                <a:solidFill>
                  <a:srgbClr val="5F5F5F"/>
                </a:solidFill>
                <a:latin typeface="Arial MT"/>
                <a:cs typeface="Arial MT"/>
              </a:rPr>
              <a:t>Digital</a:t>
            </a:r>
            <a:r>
              <a:rPr dirty="0" sz="700" spc="35">
                <a:solidFill>
                  <a:srgbClr val="5F5F5F"/>
                </a:solidFill>
                <a:latin typeface="Arial MT"/>
                <a:cs typeface="Arial MT"/>
              </a:rPr>
              <a:t> </a:t>
            </a:r>
            <a:r>
              <a:rPr dirty="0" sz="700" spc="10">
                <a:solidFill>
                  <a:srgbClr val="5F5F5F"/>
                </a:solidFill>
                <a:latin typeface="Arial MT"/>
                <a:cs typeface="Arial MT"/>
              </a:rPr>
              <a:t>Health</a:t>
            </a:r>
            <a:r>
              <a:rPr dirty="0" sz="700" spc="95">
                <a:solidFill>
                  <a:srgbClr val="5F5F5F"/>
                </a:solidFill>
                <a:latin typeface="Arial MT"/>
                <a:cs typeface="Arial MT"/>
              </a:rPr>
              <a:t> </a:t>
            </a:r>
            <a:r>
              <a:rPr dirty="0" sz="700" spc="10">
                <a:solidFill>
                  <a:srgbClr val="5F5F5F"/>
                </a:solidFill>
                <a:latin typeface="Arial MT"/>
                <a:cs typeface="Arial MT"/>
              </a:rPr>
              <a:t>Observ</a:t>
            </a:r>
            <a:r>
              <a:rPr dirty="0" sz="700" spc="-114">
                <a:solidFill>
                  <a:srgbClr val="5F5F5F"/>
                </a:solidFill>
                <a:latin typeface="Arial MT"/>
                <a:cs typeface="Arial MT"/>
              </a:rPr>
              <a:t> </a:t>
            </a:r>
            <a:r>
              <a:rPr dirty="0" sz="700" spc="10">
                <a:solidFill>
                  <a:srgbClr val="5F5F5F"/>
                </a:solidFill>
                <a:latin typeface="Arial MT"/>
                <a:cs typeface="Arial MT"/>
              </a:rPr>
              <a:t>atory</a:t>
            </a:r>
            <a:r>
              <a:rPr dirty="0" sz="700" spc="145">
                <a:solidFill>
                  <a:srgbClr val="5F5F5F"/>
                </a:solidFill>
                <a:latin typeface="Arial MT"/>
                <a:cs typeface="Arial MT"/>
              </a:rPr>
              <a:t> </a:t>
            </a:r>
            <a:r>
              <a:rPr dirty="0" sz="700" spc="10">
                <a:solidFill>
                  <a:srgbClr val="5F5F5F"/>
                </a:solidFill>
                <a:latin typeface="Arial MT"/>
                <a:cs typeface="Arial MT"/>
              </a:rPr>
              <a:t>(2026);</a:t>
            </a:r>
            <a:r>
              <a:rPr dirty="0" sz="700" spc="75">
                <a:solidFill>
                  <a:srgbClr val="5F5F5F"/>
                </a:solidFill>
                <a:latin typeface="Arial MT"/>
                <a:cs typeface="Arial MT"/>
              </a:rPr>
              <a:t> </a:t>
            </a:r>
            <a:r>
              <a:rPr dirty="0" sz="700" spc="10">
                <a:solidFill>
                  <a:srgbClr val="5F5F5F"/>
                </a:solidFill>
                <a:latin typeface="Arial MT"/>
                <a:cs typeface="Arial MT"/>
              </a:rPr>
              <a:t>Zanardo</a:t>
            </a:r>
            <a:r>
              <a:rPr dirty="0" sz="700" spc="95">
                <a:solidFill>
                  <a:srgbClr val="5F5F5F"/>
                </a:solidFill>
                <a:latin typeface="Arial MT"/>
                <a:cs typeface="Arial MT"/>
              </a:rPr>
              <a:t> </a:t>
            </a:r>
            <a:r>
              <a:rPr dirty="0" sz="700" spc="10">
                <a:solidFill>
                  <a:srgbClr val="5F5F5F"/>
                </a:solidFill>
                <a:latin typeface="Arial MT"/>
                <a:cs typeface="Arial MT"/>
              </a:rPr>
              <a:t>et</a:t>
            </a:r>
            <a:r>
              <a:rPr dirty="0" sz="700" spc="-15">
                <a:solidFill>
                  <a:srgbClr val="5F5F5F"/>
                </a:solidFill>
                <a:latin typeface="Arial MT"/>
                <a:cs typeface="Arial MT"/>
              </a:rPr>
              <a:t> </a:t>
            </a:r>
            <a:r>
              <a:rPr dirty="0" sz="700" spc="10">
                <a:solidFill>
                  <a:srgbClr val="5F5F5F"/>
                </a:solidFill>
                <a:latin typeface="Arial MT"/>
                <a:cs typeface="Arial MT"/>
              </a:rPr>
              <a:t>al.,</a:t>
            </a:r>
            <a:r>
              <a:rPr dirty="0" sz="700" spc="75">
                <a:solidFill>
                  <a:srgbClr val="5F5F5F"/>
                </a:solidFill>
                <a:latin typeface="Arial MT"/>
                <a:cs typeface="Arial MT"/>
              </a:rPr>
              <a:t> </a:t>
            </a:r>
            <a:r>
              <a:rPr dirty="0" sz="700" spc="10">
                <a:solidFill>
                  <a:srgbClr val="5F5F5F"/>
                </a:solidFill>
                <a:latin typeface="Arial MT"/>
                <a:cs typeface="Arial MT"/>
              </a:rPr>
              <a:t>Insights</a:t>
            </a:r>
            <a:r>
              <a:rPr dirty="0" sz="700" spc="60">
                <a:solidFill>
                  <a:srgbClr val="5F5F5F"/>
                </a:solidFill>
                <a:latin typeface="Arial MT"/>
                <a:cs typeface="Arial MT"/>
              </a:rPr>
              <a:t> </a:t>
            </a:r>
            <a:r>
              <a:rPr dirty="0" sz="700" spc="10">
                <a:solidFill>
                  <a:srgbClr val="5F5F5F"/>
                </a:solidFill>
                <a:latin typeface="Arial MT"/>
                <a:cs typeface="Arial MT"/>
              </a:rPr>
              <a:t>into</a:t>
            </a:r>
            <a:r>
              <a:rPr dirty="0" sz="700" spc="95">
                <a:solidFill>
                  <a:srgbClr val="5F5F5F"/>
                </a:solidFill>
                <a:latin typeface="Arial MT"/>
                <a:cs typeface="Arial MT"/>
              </a:rPr>
              <a:t> </a:t>
            </a:r>
            <a:r>
              <a:rPr dirty="0" sz="700" spc="10">
                <a:solidFill>
                  <a:srgbClr val="5F5F5F"/>
                </a:solidFill>
                <a:latin typeface="Arial MT"/>
                <a:cs typeface="Arial MT"/>
              </a:rPr>
              <a:t>Imaging </a:t>
            </a:r>
            <a:r>
              <a:rPr dirty="0" sz="700" spc="-10">
                <a:solidFill>
                  <a:srgbClr val="5F5F5F"/>
                </a:solidFill>
                <a:latin typeface="Arial MT"/>
                <a:cs typeface="Arial MT"/>
              </a:rPr>
              <a:t>(2024).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71067" y="272923"/>
            <a:ext cx="10433685" cy="948690"/>
          </a:xfrm>
          <a:prstGeom prst="rect"/>
        </p:spPr>
        <p:txBody>
          <a:bodyPr wrap="square" lIns="0" tIns="64135" rIns="0" bIns="0" rtlCol="0" vert="horz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05"/>
              </a:spcBef>
            </a:pPr>
            <a:r>
              <a:rPr dirty="0">
                <a:solidFill>
                  <a:srgbClr val="003E34"/>
                </a:solidFill>
              </a:rPr>
              <a:t>However,</a:t>
            </a:r>
            <a:r>
              <a:rPr dirty="0" spc="-30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EU</a:t>
            </a:r>
            <a:r>
              <a:rPr dirty="0" spc="20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rules</a:t>
            </a:r>
            <a:r>
              <a:rPr dirty="0" spc="45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turn</a:t>
            </a:r>
            <a:r>
              <a:rPr dirty="0" spc="5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healthcare</a:t>
            </a:r>
            <a:r>
              <a:rPr dirty="0" spc="35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ML</a:t>
            </a:r>
            <a:r>
              <a:rPr dirty="0" spc="10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into</a:t>
            </a:r>
            <a:r>
              <a:rPr dirty="0" spc="85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a</a:t>
            </a:r>
            <a:r>
              <a:rPr dirty="0" spc="45">
                <a:solidFill>
                  <a:srgbClr val="003E34"/>
                </a:solidFill>
              </a:rPr>
              <a:t> </a:t>
            </a:r>
            <a:r>
              <a:rPr dirty="0" spc="-10">
                <a:solidFill>
                  <a:srgbClr val="003E34"/>
                </a:solidFill>
              </a:rPr>
              <a:t>governed </a:t>
            </a:r>
            <a:r>
              <a:rPr dirty="0">
                <a:solidFill>
                  <a:srgbClr val="003E34"/>
                </a:solidFill>
              </a:rPr>
              <a:t>clinical</a:t>
            </a:r>
            <a:r>
              <a:rPr dirty="0" spc="80">
                <a:solidFill>
                  <a:srgbClr val="003E34"/>
                </a:solidFill>
              </a:rPr>
              <a:t> </a:t>
            </a:r>
            <a:r>
              <a:rPr dirty="0" spc="-10">
                <a:solidFill>
                  <a:srgbClr val="003E34"/>
                </a:solidFill>
              </a:rPr>
              <a:t>process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96696" y="1399413"/>
            <a:ext cx="7004684" cy="4399915"/>
            <a:chOff x="996696" y="1399413"/>
            <a:chExt cx="7004684" cy="4399915"/>
          </a:xfrm>
        </p:grpSpPr>
        <p:sp>
          <p:nvSpPr>
            <p:cNvPr id="4" name="object 4"/>
            <p:cNvSpPr/>
            <p:nvPr/>
          </p:nvSpPr>
          <p:spPr>
            <a:xfrm>
              <a:off x="4370831" y="1637157"/>
              <a:ext cx="320040" cy="3924300"/>
            </a:xfrm>
            <a:custGeom>
              <a:avLst/>
              <a:gdLst/>
              <a:ahLst/>
              <a:cxnLst/>
              <a:rect l="l" t="t" r="r" b="b"/>
              <a:pathLst>
                <a:path w="320039" h="3924300">
                  <a:moveTo>
                    <a:pt x="320039" y="0"/>
                  </a:moveTo>
                  <a:lnTo>
                    <a:pt x="0" y="211454"/>
                  </a:lnTo>
                  <a:lnTo>
                    <a:pt x="0" y="3712336"/>
                  </a:lnTo>
                  <a:lnTo>
                    <a:pt x="320039" y="3923791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00B8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498080" y="1399413"/>
              <a:ext cx="502920" cy="4399915"/>
            </a:xfrm>
            <a:custGeom>
              <a:avLst/>
              <a:gdLst/>
              <a:ahLst/>
              <a:cxnLst/>
              <a:rect l="l" t="t" r="r" b="b"/>
              <a:pathLst>
                <a:path w="502920" h="4399915">
                  <a:moveTo>
                    <a:pt x="502920" y="0"/>
                  </a:moveTo>
                  <a:lnTo>
                    <a:pt x="0" y="235076"/>
                  </a:lnTo>
                  <a:lnTo>
                    <a:pt x="0" y="4164329"/>
                  </a:lnTo>
                  <a:lnTo>
                    <a:pt x="502920" y="4399330"/>
                  </a:lnTo>
                  <a:lnTo>
                    <a:pt x="502920" y="0"/>
                  </a:lnTo>
                  <a:close/>
                </a:path>
              </a:pathLst>
            </a:custGeom>
            <a:solidFill>
              <a:srgbClr val="1F49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96696" y="1847596"/>
              <a:ext cx="3374390" cy="3512185"/>
            </a:xfrm>
            <a:custGeom>
              <a:avLst/>
              <a:gdLst/>
              <a:ahLst/>
              <a:cxnLst/>
              <a:rect l="l" t="t" r="r" b="b"/>
              <a:pathLst>
                <a:path w="3374390" h="3512185">
                  <a:moveTo>
                    <a:pt x="3374136" y="0"/>
                  </a:moveTo>
                  <a:lnTo>
                    <a:pt x="0" y="0"/>
                  </a:lnTo>
                  <a:lnTo>
                    <a:pt x="0" y="3512184"/>
                  </a:lnTo>
                  <a:lnTo>
                    <a:pt x="3374136" y="3512184"/>
                  </a:lnTo>
                  <a:lnTo>
                    <a:pt x="337413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736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80"/>
              </a:spcBef>
            </a:pPr>
          </a:p>
          <a:p>
            <a:pPr marL="700405">
              <a:lnSpc>
                <a:spcPct val="100000"/>
              </a:lnSpc>
            </a:pPr>
            <a:r>
              <a:rPr dirty="0"/>
              <a:t>EU</a:t>
            </a:r>
            <a:r>
              <a:rPr dirty="0" spc="5"/>
              <a:t> </a:t>
            </a:r>
            <a:r>
              <a:rPr dirty="0"/>
              <a:t>AI</a:t>
            </a:r>
            <a:r>
              <a:rPr dirty="0" spc="-30"/>
              <a:t> </a:t>
            </a:r>
            <a:r>
              <a:rPr dirty="0" spc="-25"/>
              <a:t>Act</a:t>
            </a:r>
          </a:p>
          <a:p>
            <a:pPr marL="700405" marR="290195">
              <a:lnSpc>
                <a:spcPct val="111200"/>
              </a:lnSpc>
              <a:spcBef>
                <a:spcPts val="295"/>
              </a:spcBef>
            </a:pPr>
            <a:r>
              <a:rPr dirty="0" sz="1000" spc="-10" b="0">
                <a:latin typeface="Segoe UI"/>
                <a:cs typeface="Segoe UI"/>
              </a:rPr>
              <a:t>High-</a:t>
            </a:r>
            <a:r>
              <a:rPr dirty="0" sz="1000" b="0">
                <a:latin typeface="Segoe UI"/>
                <a:cs typeface="Segoe UI"/>
              </a:rPr>
              <a:t>risk</a:t>
            </a:r>
            <a:r>
              <a:rPr dirty="0" sz="1000" spc="-5" b="0">
                <a:latin typeface="Segoe UI"/>
                <a:cs typeface="Segoe UI"/>
              </a:rPr>
              <a:t> </a:t>
            </a:r>
            <a:r>
              <a:rPr dirty="0" sz="1000" b="0">
                <a:latin typeface="Segoe UI"/>
                <a:cs typeface="Segoe UI"/>
              </a:rPr>
              <a:t>clinical</a:t>
            </a:r>
            <a:r>
              <a:rPr dirty="0" sz="1000" spc="35" b="0">
                <a:latin typeface="Segoe UI"/>
                <a:cs typeface="Segoe UI"/>
              </a:rPr>
              <a:t> </a:t>
            </a:r>
            <a:r>
              <a:rPr dirty="0" sz="1000" b="0">
                <a:latin typeface="Segoe UI"/>
                <a:cs typeface="Segoe UI"/>
              </a:rPr>
              <a:t>decision </a:t>
            </a:r>
            <a:r>
              <a:rPr dirty="0" sz="1000" spc="-10" b="0">
                <a:latin typeface="Segoe UI"/>
                <a:cs typeface="Segoe UI"/>
              </a:rPr>
              <a:t>support</a:t>
            </a:r>
            <a:r>
              <a:rPr dirty="0" sz="1000" spc="-60" b="0">
                <a:latin typeface="Segoe UI"/>
                <a:cs typeface="Segoe UI"/>
              </a:rPr>
              <a:t> </a:t>
            </a:r>
            <a:r>
              <a:rPr dirty="0" sz="1000" spc="-10" b="0">
                <a:latin typeface="Segoe UI"/>
                <a:cs typeface="Segoe UI"/>
              </a:rPr>
              <a:t>requires </a:t>
            </a:r>
            <a:r>
              <a:rPr dirty="0" sz="1000" b="0">
                <a:latin typeface="Segoe UI"/>
                <a:cs typeface="Segoe UI"/>
              </a:rPr>
              <a:t>risk</a:t>
            </a:r>
            <a:r>
              <a:rPr dirty="0" sz="1000" spc="15" b="0">
                <a:latin typeface="Segoe UI"/>
                <a:cs typeface="Segoe UI"/>
              </a:rPr>
              <a:t> </a:t>
            </a:r>
            <a:r>
              <a:rPr dirty="0" sz="1000" b="0">
                <a:latin typeface="Segoe UI"/>
                <a:cs typeface="Segoe UI"/>
              </a:rPr>
              <a:t>management,</a:t>
            </a:r>
            <a:r>
              <a:rPr dirty="0" sz="1000" spc="10" b="0">
                <a:latin typeface="Segoe UI"/>
                <a:cs typeface="Segoe UI"/>
              </a:rPr>
              <a:t> </a:t>
            </a:r>
            <a:r>
              <a:rPr dirty="0" sz="1000" spc="-10" b="0">
                <a:latin typeface="Segoe UI"/>
                <a:cs typeface="Segoe UI"/>
              </a:rPr>
              <a:t>transparency,</a:t>
            </a:r>
            <a:r>
              <a:rPr dirty="0" sz="1000" spc="-60" b="0">
                <a:latin typeface="Segoe UI"/>
                <a:cs typeface="Segoe UI"/>
              </a:rPr>
              <a:t> </a:t>
            </a:r>
            <a:r>
              <a:rPr dirty="0" sz="1000" spc="-20" b="0">
                <a:latin typeface="Segoe UI"/>
                <a:cs typeface="Segoe UI"/>
              </a:rPr>
              <a:t>human </a:t>
            </a:r>
            <a:r>
              <a:rPr dirty="0" sz="1000" b="0">
                <a:latin typeface="Segoe UI"/>
                <a:cs typeface="Segoe UI"/>
              </a:rPr>
              <a:t>oversight</a:t>
            </a:r>
            <a:r>
              <a:rPr dirty="0" sz="1000" spc="-15" b="0">
                <a:latin typeface="Segoe UI"/>
                <a:cs typeface="Segoe UI"/>
              </a:rPr>
              <a:t> </a:t>
            </a:r>
            <a:r>
              <a:rPr dirty="0" sz="1000" b="0">
                <a:latin typeface="Segoe UI"/>
                <a:cs typeface="Segoe UI"/>
              </a:rPr>
              <a:t>and</a:t>
            </a:r>
            <a:r>
              <a:rPr dirty="0" sz="1000" spc="-80" b="0">
                <a:latin typeface="Segoe UI"/>
                <a:cs typeface="Segoe UI"/>
              </a:rPr>
              <a:t> </a:t>
            </a:r>
            <a:r>
              <a:rPr dirty="0" sz="1000" b="0">
                <a:latin typeface="Segoe UI"/>
                <a:cs typeface="Segoe UI"/>
              </a:rPr>
              <a:t>record-</a:t>
            </a:r>
            <a:r>
              <a:rPr dirty="0" sz="1000" spc="-10" b="0">
                <a:latin typeface="Segoe UI"/>
                <a:cs typeface="Segoe UI"/>
              </a:rPr>
              <a:t>keeping.</a:t>
            </a:r>
            <a:endParaRPr sz="10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000">
              <a:latin typeface="Segoe UI"/>
              <a:cs typeface="Segoe UI"/>
            </a:endParaRPr>
          </a:p>
          <a:p>
            <a:pPr marL="700405">
              <a:lnSpc>
                <a:spcPct val="100000"/>
              </a:lnSpc>
            </a:pPr>
            <a:r>
              <a:rPr dirty="0"/>
              <a:t>GDPR</a:t>
            </a:r>
            <a:r>
              <a:rPr dirty="0" spc="-25"/>
              <a:t> </a:t>
            </a:r>
            <a:r>
              <a:rPr dirty="0"/>
              <a:t>Article</a:t>
            </a:r>
            <a:r>
              <a:rPr dirty="0" spc="5"/>
              <a:t> </a:t>
            </a:r>
            <a:r>
              <a:rPr dirty="0" spc="-25"/>
              <a:t>22</a:t>
            </a:r>
          </a:p>
          <a:p>
            <a:pPr marL="700405" marR="241300">
              <a:lnSpc>
                <a:spcPct val="111200"/>
              </a:lnSpc>
              <a:spcBef>
                <a:spcPts val="300"/>
              </a:spcBef>
            </a:pPr>
            <a:r>
              <a:rPr dirty="0" sz="1000" b="0">
                <a:latin typeface="Segoe UI"/>
                <a:cs typeface="Segoe UI"/>
              </a:rPr>
              <a:t>People</a:t>
            </a:r>
            <a:r>
              <a:rPr dirty="0" sz="1000" spc="-30" b="0">
                <a:latin typeface="Segoe UI"/>
                <a:cs typeface="Segoe UI"/>
              </a:rPr>
              <a:t> </a:t>
            </a:r>
            <a:r>
              <a:rPr dirty="0" sz="1000" b="0">
                <a:latin typeface="Segoe UI"/>
                <a:cs typeface="Segoe UI"/>
              </a:rPr>
              <a:t>affected</a:t>
            </a:r>
            <a:r>
              <a:rPr dirty="0" sz="1000" spc="-20" b="0">
                <a:latin typeface="Segoe UI"/>
                <a:cs typeface="Segoe UI"/>
              </a:rPr>
              <a:t> </a:t>
            </a:r>
            <a:r>
              <a:rPr dirty="0" sz="1000" b="0">
                <a:latin typeface="Segoe UI"/>
                <a:cs typeface="Segoe UI"/>
              </a:rPr>
              <a:t>by</a:t>
            </a:r>
            <a:r>
              <a:rPr dirty="0" sz="1000" spc="15" b="0">
                <a:latin typeface="Segoe UI"/>
                <a:cs typeface="Segoe UI"/>
              </a:rPr>
              <a:t> </a:t>
            </a:r>
            <a:r>
              <a:rPr dirty="0" sz="1000" spc="-10" b="0">
                <a:latin typeface="Segoe UI"/>
                <a:cs typeface="Segoe UI"/>
              </a:rPr>
              <a:t>semi-automated </a:t>
            </a:r>
            <a:r>
              <a:rPr dirty="0" sz="1000" b="0">
                <a:latin typeface="Segoe UI"/>
                <a:cs typeface="Segoe UI"/>
              </a:rPr>
              <a:t>decisions need</a:t>
            </a:r>
            <a:r>
              <a:rPr dirty="0" sz="1000" spc="-20" b="0">
                <a:latin typeface="Segoe UI"/>
                <a:cs typeface="Segoe UI"/>
              </a:rPr>
              <a:t> </a:t>
            </a:r>
            <a:r>
              <a:rPr dirty="0" sz="1000" b="0">
                <a:latin typeface="Segoe UI"/>
                <a:cs typeface="Segoe UI"/>
              </a:rPr>
              <a:t>meaningful</a:t>
            </a:r>
            <a:r>
              <a:rPr dirty="0" sz="1000" spc="-30" b="0">
                <a:latin typeface="Segoe UI"/>
                <a:cs typeface="Segoe UI"/>
              </a:rPr>
              <a:t> </a:t>
            </a:r>
            <a:r>
              <a:rPr dirty="0" sz="1000" spc="-10" b="0">
                <a:latin typeface="Segoe UI"/>
                <a:cs typeface="Segoe UI"/>
              </a:rPr>
              <a:t>information</a:t>
            </a:r>
            <a:r>
              <a:rPr dirty="0" sz="1000" spc="-60" b="0">
                <a:latin typeface="Segoe UI"/>
                <a:cs typeface="Segoe UI"/>
              </a:rPr>
              <a:t> </a:t>
            </a:r>
            <a:r>
              <a:rPr dirty="0" sz="1000" spc="-25" b="0">
                <a:latin typeface="Segoe UI"/>
                <a:cs typeface="Segoe UI"/>
              </a:rPr>
              <a:t>and </a:t>
            </a:r>
            <a:r>
              <a:rPr dirty="0" sz="1000" spc="-10" b="0">
                <a:latin typeface="Segoe UI"/>
                <a:cs typeface="Segoe UI"/>
              </a:rPr>
              <a:t>safeguards.</a:t>
            </a:r>
            <a:endParaRPr sz="10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000">
              <a:latin typeface="Segoe UI"/>
              <a:cs typeface="Segoe UI"/>
            </a:endParaRPr>
          </a:p>
          <a:p>
            <a:pPr marL="700405">
              <a:lnSpc>
                <a:spcPct val="100000"/>
              </a:lnSpc>
            </a:pPr>
            <a:r>
              <a:rPr dirty="0"/>
              <a:t>European </a:t>
            </a:r>
            <a:r>
              <a:rPr dirty="0" spc="-10"/>
              <a:t>Health</a:t>
            </a:r>
            <a:r>
              <a:rPr dirty="0" spc="-60"/>
              <a:t> </a:t>
            </a:r>
            <a:r>
              <a:rPr dirty="0"/>
              <a:t>Data</a:t>
            </a:r>
            <a:r>
              <a:rPr dirty="0" spc="-35"/>
              <a:t> </a:t>
            </a:r>
            <a:r>
              <a:rPr dirty="0" spc="-20"/>
              <a:t>Space</a:t>
            </a:r>
          </a:p>
          <a:p>
            <a:pPr marL="700405" marR="78740">
              <a:lnSpc>
                <a:spcPct val="111200"/>
              </a:lnSpc>
              <a:spcBef>
                <a:spcPts val="295"/>
              </a:spcBef>
            </a:pPr>
            <a:r>
              <a:rPr dirty="0" sz="1000" b="0">
                <a:latin typeface="Segoe UI"/>
                <a:cs typeface="Segoe UI"/>
              </a:rPr>
              <a:t>Registry</a:t>
            </a:r>
            <a:r>
              <a:rPr dirty="0" sz="1000" spc="-65" b="0">
                <a:latin typeface="Segoe UI"/>
                <a:cs typeface="Segoe UI"/>
              </a:rPr>
              <a:t> </a:t>
            </a:r>
            <a:r>
              <a:rPr dirty="0" sz="1000" b="0">
                <a:latin typeface="Segoe UI"/>
                <a:cs typeface="Segoe UI"/>
              </a:rPr>
              <a:t>data</a:t>
            </a:r>
            <a:r>
              <a:rPr dirty="0" sz="1000" spc="-20" b="0">
                <a:latin typeface="Segoe UI"/>
                <a:cs typeface="Segoe UI"/>
              </a:rPr>
              <a:t> </a:t>
            </a:r>
            <a:r>
              <a:rPr dirty="0" sz="1000" b="0">
                <a:latin typeface="Segoe UI"/>
                <a:cs typeface="Segoe UI"/>
              </a:rPr>
              <a:t>can</a:t>
            </a:r>
            <a:r>
              <a:rPr dirty="0" sz="1000" spc="-65" b="0">
                <a:latin typeface="Segoe UI"/>
                <a:cs typeface="Segoe UI"/>
              </a:rPr>
              <a:t> </a:t>
            </a:r>
            <a:r>
              <a:rPr dirty="0" sz="1000" b="0">
                <a:latin typeface="Segoe UI"/>
                <a:cs typeface="Segoe UI"/>
              </a:rPr>
              <a:t>support secondary</a:t>
            </a:r>
            <a:r>
              <a:rPr dirty="0" sz="1000" spc="5" b="0">
                <a:latin typeface="Segoe UI"/>
                <a:cs typeface="Segoe UI"/>
              </a:rPr>
              <a:t> </a:t>
            </a:r>
            <a:r>
              <a:rPr dirty="0" sz="1000" b="0">
                <a:latin typeface="Segoe UI"/>
                <a:cs typeface="Segoe UI"/>
              </a:rPr>
              <a:t>use—</a:t>
            </a:r>
            <a:r>
              <a:rPr dirty="0" sz="1000" spc="-25" b="0">
                <a:latin typeface="Segoe UI"/>
                <a:cs typeface="Segoe UI"/>
              </a:rPr>
              <a:t>but </a:t>
            </a:r>
            <a:r>
              <a:rPr dirty="0" sz="1000" b="0">
                <a:latin typeface="Segoe UI"/>
                <a:cs typeface="Segoe UI"/>
              </a:rPr>
              <a:t>only</a:t>
            </a:r>
            <a:r>
              <a:rPr dirty="0" sz="1000" spc="-15" b="0">
                <a:latin typeface="Segoe UI"/>
                <a:cs typeface="Segoe UI"/>
              </a:rPr>
              <a:t> </a:t>
            </a:r>
            <a:r>
              <a:rPr dirty="0" sz="1000" b="0">
                <a:latin typeface="Segoe UI"/>
                <a:cs typeface="Segoe UI"/>
              </a:rPr>
              <a:t>through</a:t>
            </a:r>
            <a:r>
              <a:rPr dirty="0" sz="1000" spc="-25" b="0">
                <a:latin typeface="Segoe UI"/>
                <a:cs typeface="Segoe UI"/>
              </a:rPr>
              <a:t> </a:t>
            </a:r>
            <a:r>
              <a:rPr dirty="0" sz="1000" b="0">
                <a:latin typeface="Segoe UI"/>
                <a:cs typeface="Segoe UI"/>
              </a:rPr>
              <a:t>governed</a:t>
            </a:r>
            <a:r>
              <a:rPr dirty="0" sz="1000" spc="-45" b="0">
                <a:latin typeface="Segoe UI"/>
                <a:cs typeface="Segoe UI"/>
              </a:rPr>
              <a:t> </a:t>
            </a:r>
            <a:r>
              <a:rPr dirty="0" sz="1000" b="0">
                <a:latin typeface="Segoe UI"/>
                <a:cs typeface="Segoe UI"/>
              </a:rPr>
              <a:t>access</a:t>
            </a:r>
            <a:r>
              <a:rPr dirty="0" sz="1000" spc="-20" b="0">
                <a:latin typeface="Segoe UI"/>
                <a:cs typeface="Segoe UI"/>
              </a:rPr>
              <a:t> </a:t>
            </a:r>
            <a:r>
              <a:rPr dirty="0" sz="1000" b="0">
                <a:latin typeface="Segoe UI"/>
                <a:cs typeface="Segoe UI"/>
              </a:rPr>
              <a:t>and</a:t>
            </a:r>
            <a:r>
              <a:rPr dirty="0" sz="1000" spc="-45" b="0">
                <a:latin typeface="Segoe UI"/>
                <a:cs typeface="Segoe UI"/>
              </a:rPr>
              <a:t> </a:t>
            </a:r>
            <a:r>
              <a:rPr dirty="0" sz="1000" spc="-10" b="0">
                <a:latin typeface="Segoe UI"/>
                <a:cs typeface="Segoe UI"/>
              </a:rPr>
              <a:t>permitted purposes.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90871" y="1637157"/>
            <a:ext cx="2807335" cy="3924300"/>
          </a:xfrm>
          <a:prstGeom prst="rect">
            <a:avLst/>
          </a:prstGeom>
          <a:solidFill>
            <a:srgbClr val="C55A11"/>
          </a:solidFill>
        </p:spPr>
        <p:txBody>
          <a:bodyPr wrap="square" lIns="0" tIns="1181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30"/>
              </a:spcBef>
            </a:pPr>
            <a:endParaRPr sz="1800">
              <a:latin typeface="Times New Roman"/>
              <a:cs typeface="Times New Roman"/>
            </a:endParaRPr>
          </a:p>
          <a:p>
            <a:pPr marL="451484" marR="752475">
              <a:lnSpc>
                <a:spcPct val="100000"/>
              </a:lnSpc>
              <a:spcBef>
                <a:spcPts val="5"/>
              </a:spcBef>
            </a:pPr>
            <a:r>
              <a:rPr dirty="0" sz="1800" b="1">
                <a:solidFill>
                  <a:srgbClr val="FFFFFF"/>
                </a:solidFill>
                <a:latin typeface="Segoe UI"/>
                <a:cs typeface="Segoe UI"/>
              </a:rPr>
              <a:t>Impact</a:t>
            </a:r>
            <a:r>
              <a:rPr dirty="0" sz="1800" spc="-45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Segoe UI"/>
                <a:cs typeface="Segoe UI"/>
              </a:rPr>
              <a:t>on</a:t>
            </a:r>
            <a:r>
              <a:rPr dirty="0" sz="1800" spc="-60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800" spc="-20" b="1">
                <a:solidFill>
                  <a:srgbClr val="FFFFFF"/>
                </a:solidFill>
                <a:latin typeface="Segoe UI"/>
                <a:cs typeface="Segoe UI"/>
              </a:rPr>
              <a:t>care </a:t>
            </a:r>
            <a:r>
              <a:rPr dirty="0" sz="1800" spc="-10" b="1">
                <a:solidFill>
                  <a:srgbClr val="FFFFFF"/>
                </a:solidFill>
                <a:latin typeface="Segoe UI"/>
                <a:cs typeface="Segoe UI"/>
              </a:rPr>
              <a:t>delivery</a:t>
            </a:r>
            <a:endParaRPr sz="1800">
              <a:latin typeface="Segoe UI"/>
              <a:cs typeface="Segoe UI"/>
            </a:endParaRPr>
          </a:p>
          <a:p>
            <a:pPr marL="451484" marR="182880">
              <a:lnSpc>
                <a:spcPct val="111200"/>
              </a:lnSpc>
              <a:spcBef>
                <a:spcPts val="525"/>
              </a:spcBef>
            </a:pP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Human</a:t>
            </a:r>
            <a:r>
              <a:rPr dirty="0" sz="1000" spc="-7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oversight,</a:t>
            </a:r>
            <a:r>
              <a:rPr dirty="0" sz="1000" spc="-3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transparency</a:t>
            </a:r>
            <a:r>
              <a:rPr dirty="0" sz="1000" spc="-10">
                <a:solidFill>
                  <a:srgbClr val="FFFFFF"/>
                </a:solidFill>
                <a:latin typeface="Segoe UI"/>
                <a:cs typeface="Segoe UI"/>
              </a:rPr>
              <a:t> and</a:t>
            </a:r>
            <a:r>
              <a:rPr dirty="0" sz="1000" spc="-4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Segoe UI"/>
                <a:cs typeface="Segoe UI"/>
              </a:rPr>
              <a:t>an 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auditable</a:t>
            </a:r>
            <a:r>
              <a:rPr dirty="0" sz="1000" spc="-4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decision</a:t>
            </a:r>
            <a:r>
              <a:rPr dirty="0" sz="1000" spc="-2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become</a:t>
            </a:r>
            <a:r>
              <a:rPr dirty="0" sz="1000" spc="-4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part</a:t>
            </a:r>
            <a:r>
              <a:rPr dirty="0" sz="1000" spc="-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of</a:t>
            </a:r>
            <a:r>
              <a:rPr dirty="0" sz="1000" spc="-4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Segoe UI"/>
                <a:cs typeface="Segoe UI"/>
              </a:rPr>
              <a:t>the 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clinical</a:t>
            </a:r>
            <a:r>
              <a:rPr dirty="0" sz="1000" spc="-3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Segoe UI"/>
                <a:cs typeface="Segoe UI"/>
              </a:rPr>
              <a:t>workflow.</a:t>
            </a:r>
            <a:endParaRPr sz="100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00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00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00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00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00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0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1000">
              <a:latin typeface="Segoe UI"/>
              <a:cs typeface="Segoe UI"/>
            </a:endParaRPr>
          </a:p>
          <a:p>
            <a:pPr marL="426720" marR="544195">
              <a:lnSpc>
                <a:spcPct val="100000"/>
              </a:lnSpc>
            </a:pPr>
            <a:r>
              <a:rPr dirty="0" sz="1800" b="1">
                <a:solidFill>
                  <a:srgbClr val="FFFFFF"/>
                </a:solidFill>
                <a:latin typeface="Segoe UI"/>
                <a:cs typeface="Segoe UI"/>
              </a:rPr>
              <a:t>Impact</a:t>
            </a:r>
            <a:r>
              <a:rPr dirty="0" sz="1800" spc="-45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Segoe UI"/>
                <a:cs typeface="Segoe UI"/>
              </a:rPr>
              <a:t>on</a:t>
            </a:r>
            <a:r>
              <a:rPr dirty="0" sz="1800" spc="-65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Segoe UI"/>
                <a:cs typeface="Segoe UI"/>
              </a:rPr>
              <a:t>model delivery</a:t>
            </a:r>
            <a:endParaRPr sz="1800">
              <a:latin typeface="Segoe UI"/>
              <a:cs typeface="Segoe UI"/>
            </a:endParaRPr>
          </a:p>
          <a:p>
            <a:pPr marL="426720" marR="116839">
              <a:lnSpc>
                <a:spcPct val="111200"/>
              </a:lnSpc>
              <a:spcBef>
                <a:spcPts val="525"/>
              </a:spcBef>
            </a:pP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Evidence,</a:t>
            </a:r>
            <a:r>
              <a:rPr dirty="0" sz="1000" spc="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Segoe UI"/>
                <a:cs typeface="Segoe UI"/>
              </a:rPr>
              <a:t>permissions</a:t>
            </a:r>
            <a:r>
              <a:rPr dirty="0" sz="1000" spc="1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and</a:t>
            </a:r>
            <a:r>
              <a:rPr dirty="0" sz="1000" spc="-1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data</a:t>
            </a:r>
            <a:r>
              <a:rPr dirty="0" sz="1000" spc="-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Segoe UI"/>
                <a:cs typeface="Segoe UI"/>
              </a:rPr>
              <a:t>lineage 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must</a:t>
            </a:r>
            <a:r>
              <a:rPr dirty="0" sz="1000" spc="-4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remain</a:t>
            </a:r>
            <a:r>
              <a:rPr dirty="0" sz="1000" spc="-5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clear</a:t>
            </a:r>
            <a:r>
              <a:rPr dirty="0" sz="1000" spc="2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from</a:t>
            </a:r>
            <a:r>
              <a:rPr dirty="0" sz="1000" spc="-7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training</a:t>
            </a:r>
            <a:r>
              <a:rPr dirty="0" sz="1000" spc="-10">
                <a:solidFill>
                  <a:srgbClr val="FFFFFF"/>
                </a:solidFill>
                <a:latin typeface="Segoe UI"/>
                <a:cs typeface="Segoe UI"/>
              </a:rPr>
              <a:t> through 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clinical</a:t>
            </a:r>
            <a:r>
              <a:rPr dirty="0" sz="1000" spc="-20">
                <a:solidFill>
                  <a:srgbClr val="FFFFFF"/>
                </a:solidFill>
                <a:latin typeface="Segoe UI"/>
                <a:cs typeface="Segoe UI"/>
              </a:rPr>
              <a:t> use.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79576" y="2185923"/>
            <a:ext cx="356870" cy="2479040"/>
          </a:xfrm>
          <a:custGeom>
            <a:avLst/>
            <a:gdLst/>
            <a:ahLst/>
            <a:cxnLst/>
            <a:rect l="l" t="t" r="r" b="b"/>
            <a:pathLst>
              <a:path w="356869" h="2479040">
                <a:moveTo>
                  <a:pt x="274320" y="1115822"/>
                </a:moveTo>
                <a:lnTo>
                  <a:pt x="230505" y="1115822"/>
                </a:lnTo>
                <a:lnTo>
                  <a:pt x="230505" y="1318006"/>
                </a:lnTo>
                <a:lnTo>
                  <a:pt x="230505" y="1358265"/>
                </a:lnTo>
                <a:lnTo>
                  <a:pt x="87858" y="1358265"/>
                </a:lnTo>
                <a:lnTo>
                  <a:pt x="87858" y="1318006"/>
                </a:lnTo>
                <a:lnTo>
                  <a:pt x="120357" y="1295755"/>
                </a:lnTo>
                <a:lnTo>
                  <a:pt x="159131" y="1288288"/>
                </a:lnTo>
                <a:lnTo>
                  <a:pt x="166484" y="1288834"/>
                </a:lnTo>
                <a:lnTo>
                  <a:pt x="206717" y="1299552"/>
                </a:lnTo>
                <a:lnTo>
                  <a:pt x="230505" y="1318006"/>
                </a:lnTo>
                <a:lnTo>
                  <a:pt x="230505" y="1115822"/>
                </a:lnTo>
                <a:lnTo>
                  <a:pt x="194564" y="1115822"/>
                </a:lnTo>
                <a:lnTo>
                  <a:pt x="194564" y="1244346"/>
                </a:lnTo>
                <a:lnTo>
                  <a:pt x="191820" y="1257935"/>
                </a:lnTo>
                <a:lnTo>
                  <a:pt x="191795" y="1258100"/>
                </a:lnTo>
                <a:lnTo>
                  <a:pt x="184315" y="1268984"/>
                </a:lnTo>
                <a:lnTo>
                  <a:pt x="184226" y="1269136"/>
                </a:lnTo>
                <a:lnTo>
                  <a:pt x="172961" y="1276477"/>
                </a:lnTo>
                <a:lnTo>
                  <a:pt x="159131" y="1279144"/>
                </a:lnTo>
                <a:lnTo>
                  <a:pt x="145605" y="1276477"/>
                </a:lnTo>
                <a:lnTo>
                  <a:pt x="145415" y="1276477"/>
                </a:lnTo>
                <a:lnTo>
                  <a:pt x="134073" y="1268984"/>
                </a:lnTo>
                <a:lnTo>
                  <a:pt x="126593" y="1258100"/>
                </a:lnTo>
                <a:lnTo>
                  <a:pt x="126479" y="1257935"/>
                </a:lnTo>
                <a:lnTo>
                  <a:pt x="123698" y="1244346"/>
                </a:lnTo>
                <a:lnTo>
                  <a:pt x="126479" y="1230845"/>
                </a:lnTo>
                <a:lnTo>
                  <a:pt x="134073" y="1219822"/>
                </a:lnTo>
                <a:lnTo>
                  <a:pt x="145338" y="1212405"/>
                </a:lnTo>
                <a:lnTo>
                  <a:pt x="159131" y="1209675"/>
                </a:lnTo>
                <a:lnTo>
                  <a:pt x="172961" y="1212405"/>
                </a:lnTo>
                <a:lnTo>
                  <a:pt x="184226" y="1219822"/>
                </a:lnTo>
                <a:lnTo>
                  <a:pt x="191795" y="1230845"/>
                </a:lnTo>
                <a:lnTo>
                  <a:pt x="194564" y="1244346"/>
                </a:lnTo>
                <a:lnTo>
                  <a:pt x="194564" y="1115822"/>
                </a:lnTo>
                <a:lnTo>
                  <a:pt x="55219" y="1115822"/>
                </a:lnTo>
                <a:lnTo>
                  <a:pt x="47980" y="1117282"/>
                </a:lnTo>
                <a:lnTo>
                  <a:pt x="42049" y="1121219"/>
                </a:lnTo>
                <a:lnTo>
                  <a:pt x="38036" y="1127074"/>
                </a:lnTo>
                <a:lnTo>
                  <a:pt x="36576" y="1134237"/>
                </a:lnTo>
                <a:lnTo>
                  <a:pt x="36576" y="1435989"/>
                </a:lnTo>
                <a:lnTo>
                  <a:pt x="38036" y="1443088"/>
                </a:lnTo>
                <a:lnTo>
                  <a:pt x="42049" y="1448904"/>
                </a:lnTo>
                <a:lnTo>
                  <a:pt x="47980" y="1452841"/>
                </a:lnTo>
                <a:lnTo>
                  <a:pt x="55219" y="1454277"/>
                </a:lnTo>
                <a:lnTo>
                  <a:pt x="274320" y="1454277"/>
                </a:lnTo>
                <a:lnTo>
                  <a:pt x="274320" y="1358265"/>
                </a:lnTo>
                <a:lnTo>
                  <a:pt x="274320" y="1288288"/>
                </a:lnTo>
                <a:lnTo>
                  <a:pt x="274320" y="1279144"/>
                </a:lnTo>
                <a:lnTo>
                  <a:pt x="274320" y="1209675"/>
                </a:lnTo>
                <a:lnTo>
                  <a:pt x="274320" y="1115822"/>
                </a:lnTo>
                <a:close/>
              </a:path>
              <a:path w="356869" h="2479040">
                <a:moveTo>
                  <a:pt x="320040" y="1115860"/>
                </a:moveTo>
                <a:lnTo>
                  <a:pt x="292608" y="1115860"/>
                </a:lnTo>
                <a:lnTo>
                  <a:pt x="292608" y="1454277"/>
                </a:lnTo>
                <a:lnTo>
                  <a:pt x="320040" y="1454277"/>
                </a:lnTo>
                <a:lnTo>
                  <a:pt x="320040" y="1115860"/>
                </a:lnTo>
                <a:close/>
              </a:path>
              <a:path w="356869" h="2479040">
                <a:moveTo>
                  <a:pt x="347472" y="2350643"/>
                </a:moveTo>
                <a:lnTo>
                  <a:pt x="203708" y="2350643"/>
                </a:lnTo>
                <a:lnTo>
                  <a:pt x="203708" y="2358644"/>
                </a:lnTo>
                <a:lnTo>
                  <a:pt x="203708" y="2367407"/>
                </a:lnTo>
                <a:lnTo>
                  <a:pt x="196088" y="2374646"/>
                </a:lnTo>
                <a:lnTo>
                  <a:pt x="160528" y="2374646"/>
                </a:lnTo>
                <a:lnTo>
                  <a:pt x="152908" y="2367407"/>
                </a:lnTo>
                <a:lnTo>
                  <a:pt x="152908" y="2350643"/>
                </a:lnTo>
                <a:lnTo>
                  <a:pt x="9144" y="2350643"/>
                </a:lnTo>
                <a:lnTo>
                  <a:pt x="9144" y="2471420"/>
                </a:lnTo>
                <a:lnTo>
                  <a:pt x="16751" y="2478659"/>
                </a:lnTo>
                <a:lnTo>
                  <a:pt x="339852" y="2478659"/>
                </a:lnTo>
                <a:lnTo>
                  <a:pt x="347472" y="2471420"/>
                </a:lnTo>
                <a:lnTo>
                  <a:pt x="347472" y="2350643"/>
                </a:lnTo>
                <a:close/>
              </a:path>
              <a:path w="356869" h="2479040">
                <a:moveTo>
                  <a:pt x="347472" y="2252853"/>
                </a:moveTo>
                <a:lnTo>
                  <a:pt x="339852" y="2244979"/>
                </a:lnTo>
                <a:lnTo>
                  <a:pt x="245999" y="2244979"/>
                </a:lnTo>
                <a:lnTo>
                  <a:pt x="245999" y="2216531"/>
                </a:lnTo>
                <a:lnTo>
                  <a:pt x="245160" y="2212213"/>
                </a:lnTo>
                <a:lnTo>
                  <a:pt x="243687" y="2204593"/>
                </a:lnTo>
                <a:lnTo>
                  <a:pt x="237388" y="2194915"/>
                </a:lnTo>
                <a:lnTo>
                  <a:pt x="227990" y="2188426"/>
                </a:lnTo>
                <a:lnTo>
                  <a:pt x="220599" y="2186914"/>
                </a:lnTo>
                <a:lnTo>
                  <a:pt x="220599" y="2213991"/>
                </a:lnTo>
                <a:lnTo>
                  <a:pt x="220599" y="2244979"/>
                </a:lnTo>
                <a:lnTo>
                  <a:pt x="136017" y="2244979"/>
                </a:lnTo>
                <a:lnTo>
                  <a:pt x="136017" y="2213991"/>
                </a:lnTo>
                <a:lnTo>
                  <a:pt x="137668" y="2212213"/>
                </a:lnTo>
                <a:lnTo>
                  <a:pt x="218948" y="2212213"/>
                </a:lnTo>
                <a:lnTo>
                  <a:pt x="220599" y="2213991"/>
                </a:lnTo>
                <a:lnTo>
                  <a:pt x="220599" y="2186914"/>
                </a:lnTo>
                <a:lnTo>
                  <a:pt x="216408" y="2186051"/>
                </a:lnTo>
                <a:lnTo>
                  <a:pt x="140208" y="2186051"/>
                </a:lnTo>
                <a:lnTo>
                  <a:pt x="128612" y="2188426"/>
                </a:lnTo>
                <a:lnTo>
                  <a:pt x="119214" y="2194915"/>
                </a:lnTo>
                <a:lnTo>
                  <a:pt x="112915" y="2204593"/>
                </a:lnTo>
                <a:lnTo>
                  <a:pt x="110617" y="2216531"/>
                </a:lnTo>
                <a:lnTo>
                  <a:pt x="110617" y="2244979"/>
                </a:lnTo>
                <a:lnTo>
                  <a:pt x="16751" y="2244979"/>
                </a:lnTo>
                <a:lnTo>
                  <a:pt x="9144" y="2252853"/>
                </a:lnTo>
                <a:lnTo>
                  <a:pt x="9144" y="2332355"/>
                </a:lnTo>
                <a:lnTo>
                  <a:pt x="152908" y="2332355"/>
                </a:lnTo>
                <a:lnTo>
                  <a:pt x="152908" y="2323592"/>
                </a:lnTo>
                <a:lnTo>
                  <a:pt x="203708" y="2323592"/>
                </a:lnTo>
                <a:lnTo>
                  <a:pt x="203708" y="2332355"/>
                </a:lnTo>
                <a:lnTo>
                  <a:pt x="347472" y="2332355"/>
                </a:lnTo>
                <a:lnTo>
                  <a:pt x="347472" y="2323592"/>
                </a:lnTo>
                <a:lnTo>
                  <a:pt x="347472" y="2252853"/>
                </a:lnTo>
                <a:close/>
              </a:path>
              <a:path w="356869" h="2479040">
                <a:moveTo>
                  <a:pt x="356616" y="319659"/>
                </a:moveTo>
                <a:lnTo>
                  <a:pt x="323723" y="296164"/>
                </a:lnTo>
                <a:lnTo>
                  <a:pt x="323723" y="286766"/>
                </a:lnTo>
                <a:lnTo>
                  <a:pt x="305054" y="286766"/>
                </a:lnTo>
                <a:lnTo>
                  <a:pt x="305054" y="127000"/>
                </a:lnTo>
                <a:lnTo>
                  <a:pt x="323723" y="127000"/>
                </a:lnTo>
                <a:lnTo>
                  <a:pt x="323723" y="117602"/>
                </a:lnTo>
                <a:lnTo>
                  <a:pt x="337820" y="117602"/>
                </a:lnTo>
                <a:lnTo>
                  <a:pt x="337820" y="89281"/>
                </a:lnTo>
                <a:lnTo>
                  <a:pt x="323723" y="89281"/>
                </a:lnTo>
                <a:lnTo>
                  <a:pt x="308406" y="79883"/>
                </a:lnTo>
                <a:lnTo>
                  <a:pt x="276860" y="60515"/>
                </a:lnTo>
                <a:lnTo>
                  <a:pt x="276860" y="127000"/>
                </a:lnTo>
                <a:lnTo>
                  <a:pt x="276860" y="286766"/>
                </a:lnTo>
                <a:lnTo>
                  <a:pt x="248666" y="286766"/>
                </a:lnTo>
                <a:lnTo>
                  <a:pt x="248666" y="127000"/>
                </a:lnTo>
                <a:lnTo>
                  <a:pt x="276860" y="127000"/>
                </a:lnTo>
                <a:lnTo>
                  <a:pt x="276860" y="60515"/>
                </a:lnTo>
                <a:lnTo>
                  <a:pt x="247180" y="42291"/>
                </a:lnTo>
                <a:lnTo>
                  <a:pt x="220599" y="25971"/>
                </a:lnTo>
                <a:lnTo>
                  <a:pt x="220599" y="127000"/>
                </a:lnTo>
                <a:lnTo>
                  <a:pt x="220599" y="286766"/>
                </a:lnTo>
                <a:lnTo>
                  <a:pt x="192405" y="286766"/>
                </a:lnTo>
                <a:lnTo>
                  <a:pt x="192405" y="127000"/>
                </a:lnTo>
                <a:lnTo>
                  <a:pt x="220599" y="127000"/>
                </a:lnTo>
                <a:lnTo>
                  <a:pt x="220599" y="25971"/>
                </a:lnTo>
                <a:lnTo>
                  <a:pt x="192405" y="8661"/>
                </a:lnTo>
                <a:lnTo>
                  <a:pt x="192405" y="61087"/>
                </a:lnTo>
                <a:lnTo>
                  <a:pt x="190906" y="68427"/>
                </a:lnTo>
                <a:lnTo>
                  <a:pt x="186855" y="74396"/>
                </a:lnTo>
                <a:lnTo>
                  <a:pt x="180873" y="78422"/>
                </a:lnTo>
                <a:lnTo>
                  <a:pt x="173609" y="79883"/>
                </a:lnTo>
                <a:lnTo>
                  <a:pt x="166331" y="78422"/>
                </a:lnTo>
                <a:lnTo>
                  <a:pt x="164211" y="77000"/>
                </a:lnTo>
                <a:lnTo>
                  <a:pt x="164211" y="127000"/>
                </a:lnTo>
                <a:lnTo>
                  <a:pt x="164211" y="286766"/>
                </a:lnTo>
                <a:lnTo>
                  <a:pt x="136017" y="286766"/>
                </a:lnTo>
                <a:lnTo>
                  <a:pt x="136017" y="127000"/>
                </a:lnTo>
                <a:lnTo>
                  <a:pt x="164211" y="127000"/>
                </a:lnTo>
                <a:lnTo>
                  <a:pt x="164211" y="77000"/>
                </a:lnTo>
                <a:lnTo>
                  <a:pt x="160350" y="74396"/>
                </a:lnTo>
                <a:lnTo>
                  <a:pt x="156298" y="68427"/>
                </a:lnTo>
                <a:lnTo>
                  <a:pt x="154813" y="61087"/>
                </a:lnTo>
                <a:lnTo>
                  <a:pt x="156298" y="53822"/>
                </a:lnTo>
                <a:lnTo>
                  <a:pt x="160350" y="47840"/>
                </a:lnTo>
                <a:lnTo>
                  <a:pt x="166331" y="43789"/>
                </a:lnTo>
                <a:lnTo>
                  <a:pt x="173609" y="42291"/>
                </a:lnTo>
                <a:lnTo>
                  <a:pt x="180873" y="43789"/>
                </a:lnTo>
                <a:lnTo>
                  <a:pt x="186855" y="47840"/>
                </a:lnTo>
                <a:lnTo>
                  <a:pt x="190906" y="53822"/>
                </a:lnTo>
                <a:lnTo>
                  <a:pt x="192405" y="61087"/>
                </a:lnTo>
                <a:lnTo>
                  <a:pt x="192405" y="8661"/>
                </a:lnTo>
                <a:lnTo>
                  <a:pt x="178308" y="0"/>
                </a:lnTo>
                <a:lnTo>
                  <a:pt x="107950" y="43192"/>
                </a:lnTo>
                <a:lnTo>
                  <a:pt x="107950" y="127000"/>
                </a:lnTo>
                <a:lnTo>
                  <a:pt x="107950" y="286766"/>
                </a:lnTo>
                <a:lnTo>
                  <a:pt x="79768" y="286766"/>
                </a:lnTo>
                <a:lnTo>
                  <a:pt x="79768" y="127000"/>
                </a:lnTo>
                <a:lnTo>
                  <a:pt x="107950" y="127000"/>
                </a:lnTo>
                <a:lnTo>
                  <a:pt x="107950" y="43192"/>
                </a:lnTo>
                <a:lnTo>
                  <a:pt x="32842" y="89281"/>
                </a:lnTo>
                <a:lnTo>
                  <a:pt x="18770" y="89281"/>
                </a:lnTo>
                <a:lnTo>
                  <a:pt x="18770" y="117602"/>
                </a:lnTo>
                <a:lnTo>
                  <a:pt x="32842" y="117602"/>
                </a:lnTo>
                <a:lnTo>
                  <a:pt x="32842" y="127000"/>
                </a:lnTo>
                <a:lnTo>
                  <a:pt x="51612" y="127000"/>
                </a:lnTo>
                <a:lnTo>
                  <a:pt x="51612" y="286766"/>
                </a:lnTo>
                <a:lnTo>
                  <a:pt x="32842" y="286766"/>
                </a:lnTo>
                <a:lnTo>
                  <a:pt x="32842" y="296164"/>
                </a:lnTo>
                <a:lnTo>
                  <a:pt x="0" y="319659"/>
                </a:lnTo>
                <a:lnTo>
                  <a:pt x="0" y="338455"/>
                </a:lnTo>
                <a:lnTo>
                  <a:pt x="356616" y="338455"/>
                </a:lnTo>
                <a:lnTo>
                  <a:pt x="356616" y="3196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001000" y="1399336"/>
            <a:ext cx="3200400" cy="4399915"/>
          </a:xfrm>
          <a:prstGeom prst="rect">
            <a:avLst/>
          </a:prstGeom>
          <a:solidFill>
            <a:srgbClr val="1F3863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Times New Roman"/>
              <a:cs typeface="Times New Roman"/>
            </a:endParaRPr>
          </a:p>
          <a:p>
            <a:pPr marL="345440">
              <a:lnSpc>
                <a:spcPct val="100000"/>
              </a:lnSpc>
              <a:spcBef>
                <a:spcPts val="5"/>
              </a:spcBef>
            </a:pPr>
            <a:r>
              <a:rPr dirty="0" sz="1200" spc="-10" b="1">
                <a:solidFill>
                  <a:srgbClr val="B7EBF9"/>
                </a:solidFill>
                <a:latin typeface="Segoe UI"/>
                <a:cs typeface="Segoe UI"/>
              </a:rPr>
              <a:t>REQUIRED</a:t>
            </a:r>
            <a:r>
              <a:rPr dirty="0" sz="1200" spc="-65" b="1">
                <a:solidFill>
                  <a:srgbClr val="B7EBF9"/>
                </a:solidFill>
                <a:latin typeface="Segoe UI"/>
                <a:cs typeface="Segoe UI"/>
              </a:rPr>
              <a:t> </a:t>
            </a:r>
            <a:r>
              <a:rPr dirty="0" sz="1200" b="1">
                <a:solidFill>
                  <a:srgbClr val="B7EBF9"/>
                </a:solidFill>
                <a:latin typeface="Segoe UI"/>
                <a:cs typeface="Segoe UI"/>
              </a:rPr>
              <a:t>DEVELOPMENT</a:t>
            </a:r>
            <a:r>
              <a:rPr dirty="0" sz="1200" spc="-25" b="1">
                <a:solidFill>
                  <a:srgbClr val="B7EBF9"/>
                </a:solidFill>
                <a:latin typeface="Segoe UI"/>
                <a:cs typeface="Segoe UI"/>
              </a:rPr>
              <a:t> </a:t>
            </a:r>
            <a:r>
              <a:rPr dirty="0" sz="1200" spc="-10" b="1">
                <a:solidFill>
                  <a:srgbClr val="B7EBF9"/>
                </a:solidFill>
                <a:latin typeface="Segoe UI"/>
                <a:cs typeface="Segoe UI"/>
              </a:rPr>
              <a:t>ACTIONS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200">
              <a:latin typeface="Segoe UI"/>
              <a:cs typeface="Segoe UI"/>
            </a:endParaRPr>
          </a:p>
          <a:p>
            <a:pPr marL="366395">
              <a:lnSpc>
                <a:spcPct val="100000"/>
              </a:lnSpc>
            </a:pPr>
            <a:r>
              <a:rPr dirty="0" sz="1350" b="1">
                <a:solidFill>
                  <a:srgbClr val="FFFFFF"/>
                </a:solidFill>
                <a:latin typeface="Segoe UI"/>
                <a:cs typeface="Segoe UI"/>
              </a:rPr>
              <a:t>Make</a:t>
            </a:r>
            <a:r>
              <a:rPr dirty="0" sz="1350" spc="-65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 b="1">
                <a:solidFill>
                  <a:srgbClr val="FFFFFF"/>
                </a:solidFill>
                <a:latin typeface="Segoe UI"/>
                <a:cs typeface="Segoe UI"/>
              </a:rPr>
              <a:t>decisions</a:t>
            </a:r>
            <a:r>
              <a:rPr dirty="0" sz="1350" spc="-65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 spc="-10" b="1">
                <a:solidFill>
                  <a:srgbClr val="FFFFFF"/>
                </a:solidFill>
                <a:latin typeface="Segoe UI"/>
                <a:cs typeface="Segoe UI"/>
              </a:rPr>
              <a:t>explainable</a:t>
            </a:r>
            <a:endParaRPr sz="1350">
              <a:latin typeface="Segoe UI"/>
              <a:cs typeface="Segoe UI"/>
            </a:endParaRPr>
          </a:p>
          <a:p>
            <a:pPr marL="366395" marR="271780">
              <a:lnSpc>
                <a:spcPct val="106900"/>
              </a:lnSpc>
              <a:spcBef>
                <a:spcPts val="489"/>
              </a:spcBef>
            </a:pP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Use</a:t>
            </a:r>
            <a:r>
              <a:rPr dirty="0" sz="900" spc="10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an</a:t>
            </a:r>
            <a:r>
              <a:rPr dirty="0" sz="900" spc="15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interpretable</a:t>
            </a:r>
            <a:r>
              <a:rPr dirty="0" sz="900" spc="22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model,</a:t>
            </a:r>
            <a:r>
              <a:rPr dirty="0" sz="900" spc="10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document</a:t>
            </a:r>
            <a:r>
              <a:rPr dirty="0" sz="900" spc="15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intended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use</a:t>
            </a:r>
            <a:r>
              <a:rPr dirty="0" sz="900" spc="17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and</a:t>
            </a:r>
            <a:r>
              <a:rPr dirty="0" sz="900" spc="9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limits,</a:t>
            </a:r>
            <a:r>
              <a:rPr dirty="0" sz="900" spc="8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and</a:t>
            </a:r>
            <a:r>
              <a:rPr dirty="0" sz="900" spc="9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provide</a:t>
            </a:r>
            <a:r>
              <a:rPr dirty="0" sz="900" spc="18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a</a:t>
            </a:r>
            <a:r>
              <a:rPr dirty="0" sz="900" spc="9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patient-</a:t>
            </a:r>
            <a:r>
              <a:rPr dirty="0" sz="900" spc="-20">
                <a:solidFill>
                  <a:srgbClr val="FFFFFF"/>
                </a:solidFill>
                <a:latin typeface="Segoe UI"/>
                <a:cs typeface="Segoe UI"/>
              </a:rPr>
              <a:t>level </a:t>
            </a: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explanation.</a:t>
            </a: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900">
              <a:latin typeface="Segoe UI"/>
              <a:cs typeface="Segoe UI"/>
            </a:endParaRPr>
          </a:p>
          <a:p>
            <a:pPr marL="366395">
              <a:lnSpc>
                <a:spcPct val="100000"/>
              </a:lnSpc>
            </a:pPr>
            <a:r>
              <a:rPr dirty="0" sz="1350" spc="-10" b="1">
                <a:solidFill>
                  <a:srgbClr val="FFFFFF"/>
                </a:solidFill>
                <a:latin typeface="Segoe UI"/>
                <a:cs typeface="Segoe UI"/>
              </a:rPr>
              <a:t>Validate</a:t>
            </a:r>
            <a:r>
              <a:rPr dirty="0" sz="1350" spc="-70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 b="1">
                <a:solidFill>
                  <a:srgbClr val="FFFFFF"/>
                </a:solidFill>
                <a:latin typeface="Segoe UI"/>
                <a:cs typeface="Segoe UI"/>
              </a:rPr>
              <a:t>and</a:t>
            </a:r>
            <a:r>
              <a:rPr dirty="0" sz="1350" spc="-35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 b="1">
                <a:solidFill>
                  <a:srgbClr val="FFFFFF"/>
                </a:solidFill>
                <a:latin typeface="Segoe UI"/>
                <a:cs typeface="Segoe UI"/>
              </a:rPr>
              <a:t>retain</a:t>
            </a:r>
            <a:r>
              <a:rPr dirty="0" sz="1350" spc="-15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 spc="-10" b="1">
                <a:solidFill>
                  <a:srgbClr val="FFFFFF"/>
                </a:solidFill>
                <a:latin typeface="Segoe UI"/>
                <a:cs typeface="Segoe UI"/>
              </a:rPr>
              <a:t>oversight</a:t>
            </a:r>
            <a:endParaRPr sz="1350">
              <a:latin typeface="Segoe UI"/>
              <a:cs typeface="Segoe UI"/>
            </a:endParaRPr>
          </a:p>
          <a:p>
            <a:pPr marL="366395">
              <a:lnSpc>
                <a:spcPct val="100000"/>
              </a:lnSpc>
              <a:spcBef>
                <a:spcPts val="560"/>
              </a:spcBef>
            </a:pP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Test</a:t>
            </a:r>
            <a:r>
              <a:rPr dirty="0" sz="900" spc="204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calibration</a:t>
            </a:r>
            <a:r>
              <a:rPr dirty="0" sz="900" spc="11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and</a:t>
            </a:r>
            <a:r>
              <a:rPr dirty="0" sz="900" spc="8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performance;</a:t>
            </a:r>
            <a:r>
              <a:rPr dirty="0" sz="900" spc="16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define</a:t>
            </a:r>
            <a:r>
              <a:rPr dirty="0" sz="900" spc="16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Segoe UI"/>
                <a:cs typeface="Segoe UI"/>
              </a:rPr>
              <a:t>human</a:t>
            </a:r>
            <a:endParaRPr sz="900">
              <a:latin typeface="Segoe UI"/>
              <a:cs typeface="Segoe UI"/>
            </a:endParaRPr>
          </a:p>
          <a:p>
            <a:pPr marL="366395">
              <a:lnSpc>
                <a:spcPct val="100000"/>
              </a:lnSpc>
              <a:spcBef>
                <a:spcPts val="70"/>
              </a:spcBef>
            </a:pP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review</a:t>
            </a:r>
            <a:r>
              <a:rPr dirty="0" sz="900" spc="9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and</a:t>
            </a:r>
            <a:r>
              <a:rPr dirty="0" sz="900" spc="16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record</a:t>
            </a:r>
            <a:r>
              <a:rPr dirty="0" sz="900" spc="6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the</a:t>
            </a:r>
            <a:r>
              <a:rPr dirty="0" sz="900" spc="14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final</a:t>
            </a:r>
            <a:r>
              <a:rPr dirty="0" sz="900" spc="114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clinical</a:t>
            </a:r>
            <a:r>
              <a:rPr dirty="0" sz="900" spc="2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decision.</a:t>
            </a: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900">
              <a:latin typeface="Segoe UI"/>
              <a:cs typeface="Segoe UI"/>
            </a:endParaRPr>
          </a:p>
          <a:p>
            <a:pPr marL="366395">
              <a:lnSpc>
                <a:spcPct val="100000"/>
              </a:lnSpc>
            </a:pPr>
            <a:r>
              <a:rPr dirty="0" sz="1350" b="1">
                <a:solidFill>
                  <a:srgbClr val="FFFFFF"/>
                </a:solidFill>
                <a:latin typeface="Segoe UI"/>
                <a:cs typeface="Segoe UI"/>
              </a:rPr>
              <a:t>Govern</a:t>
            </a:r>
            <a:r>
              <a:rPr dirty="0" sz="1350" spc="5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 b="1">
                <a:solidFill>
                  <a:srgbClr val="FFFFFF"/>
                </a:solidFill>
                <a:latin typeface="Segoe UI"/>
                <a:cs typeface="Segoe UI"/>
              </a:rPr>
              <a:t>data</a:t>
            </a:r>
            <a:r>
              <a:rPr dirty="0" sz="1350" spc="-40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 b="1">
                <a:solidFill>
                  <a:srgbClr val="FFFFFF"/>
                </a:solidFill>
                <a:latin typeface="Segoe UI"/>
                <a:cs typeface="Segoe UI"/>
              </a:rPr>
              <a:t>and</a:t>
            </a:r>
            <a:r>
              <a:rPr dirty="0" sz="1350" spc="-80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 spc="-10" b="1">
                <a:solidFill>
                  <a:srgbClr val="FFFFFF"/>
                </a:solidFill>
                <a:latin typeface="Segoe UI"/>
                <a:cs typeface="Segoe UI"/>
              </a:rPr>
              <a:t>traceability</a:t>
            </a:r>
            <a:endParaRPr sz="1350">
              <a:latin typeface="Segoe UI"/>
              <a:cs typeface="Segoe UI"/>
            </a:endParaRPr>
          </a:p>
          <a:p>
            <a:pPr marL="366395" marR="379730">
              <a:lnSpc>
                <a:spcPct val="106900"/>
              </a:lnSpc>
              <a:spcBef>
                <a:spcPts val="484"/>
              </a:spcBef>
            </a:pP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Enforce</a:t>
            </a:r>
            <a:r>
              <a:rPr dirty="0" sz="900" spc="9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permissions;</a:t>
            </a:r>
            <a:r>
              <a:rPr dirty="0" sz="900" spc="10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version</a:t>
            </a:r>
            <a:r>
              <a:rPr dirty="0" sz="900" spc="14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data</a:t>
            </a:r>
            <a:r>
              <a:rPr dirty="0" sz="900" spc="114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and</a:t>
            </a:r>
            <a:r>
              <a:rPr dirty="0" sz="900" spc="22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models;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retain</a:t>
            </a:r>
            <a:r>
              <a:rPr dirty="0" sz="900" spc="16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reconstructable</a:t>
            </a:r>
            <a:r>
              <a:rPr dirty="0" sz="900" spc="204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inputs,</a:t>
            </a:r>
            <a:r>
              <a:rPr dirty="0" sz="900" spc="11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logs</a:t>
            </a:r>
            <a:r>
              <a:rPr dirty="0" sz="900" spc="13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Segoe UI"/>
                <a:cs typeface="Segoe UI"/>
              </a:rPr>
              <a:t>and </a:t>
            </a: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monitoring.</a:t>
            </a:r>
            <a:endParaRPr sz="9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2"/>
            <a:ext cx="12188952" cy="685793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0027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003E34"/>
                </a:solidFill>
                <a:latin typeface="Segoe UI"/>
                <a:cs typeface="Segoe UI"/>
              </a:rPr>
              <a:t>Yet</a:t>
            </a:r>
            <a:r>
              <a:rPr dirty="0" spc="30">
                <a:solidFill>
                  <a:srgbClr val="003E34"/>
                </a:solidFill>
                <a:latin typeface="Segoe UI"/>
                <a:cs typeface="Segoe UI"/>
              </a:rPr>
              <a:t> </a:t>
            </a:r>
            <a:r>
              <a:rPr dirty="0">
                <a:solidFill>
                  <a:srgbClr val="003E34"/>
                </a:solidFill>
                <a:latin typeface="Segoe UI"/>
                <a:cs typeface="Segoe UI"/>
              </a:rPr>
              <a:t>not</a:t>
            </a:r>
            <a:r>
              <a:rPr dirty="0" spc="50">
                <a:solidFill>
                  <a:srgbClr val="003E34"/>
                </a:solidFill>
                <a:latin typeface="Segoe UI"/>
                <a:cs typeface="Segoe UI"/>
              </a:rPr>
              <a:t> </a:t>
            </a:r>
            <a:r>
              <a:rPr dirty="0">
                <a:solidFill>
                  <a:srgbClr val="003E34"/>
                </a:solidFill>
                <a:latin typeface="Segoe UI"/>
                <a:cs typeface="Segoe UI"/>
              </a:rPr>
              <a:t>all</a:t>
            </a:r>
            <a:r>
              <a:rPr dirty="0" spc="15">
                <a:solidFill>
                  <a:srgbClr val="003E34"/>
                </a:solidFill>
                <a:latin typeface="Segoe UI"/>
                <a:cs typeface="Segoe UI"/>
              </a:rPr>
              <a:t> </a:t>
            </a:r>
            <a:r>
              <a:rPr dirty="0">
                <a:solidFill>
                  <a:srgbClr val="003E34"/>
                </a:solidFill>
                <a:latin typeface="Segoe UI"/>
                <a:cs typeface="Segoe UI"/>
              </a:rPr>
              <a:t>institutions</a:t>
            </a:r>
            <a:r>
              <a:rPr dirty="0" spc="25">
                <a:solidFill>
                  <a:srgbClr val="003E34"/>
                </a:solidFill>
                <a:latin typeface="Segoe UI"/>
                <a:cs typeface="Segoe UI"/>
              </a:rPr>
              <a:t> </a:t>
            </a:r>
            <a:r>
              <a:rPr dirty="0">
                <a:solidFill>
                  <a:srgbClr val="003E34"/>
                </a:solidFill>
                <a:latin typeface="Segoe UI"/>
                <a:cs typeface="Segoe UI"/>
              </a:rPr>
              <a:t>are</a:t>
            </a:r>
            <a:r>
              <a:rPr dirty="0" spc="60">
                <a:solidFill>
                  <a:srgbClr val="003E34"/>
                </a:solidFill>
                <a:latin typeface="Segoe UI"/>
                <a:cs typeface="Segoe UI"/>
              </a:rPr>
              <a:t> </a:t>
            </a:r>
            <a:r>
              <a:rPr dirty="0" spc="-10">
                <a:solidFill>
                  <a:srgbClr val="003E34"/>
                </a:solidFill>
                <a:latin typeface="Segoe UI"/>
                <a:cs typeface="Segoe UI"/>
              </a:rPr>
              <a:t>prepared…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8447" y="1280541"/>
            <a:ext cx="10204704" cy="42986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5799" y="478282"/>
            <a:ext cx="4017010" cy="949325"/>
          </a:xfrm>
          <a:prstGeom prst="rect"/>
        </p:spPr>
        <p:txBody>
          <a:bodyPr wrap="square" lIns="0" tIns="64135" rIns="0" bIns="0" rtlCol="0" vert="horz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05"/>
              </a:spcBef>
            </a:pPr>
            <a:r>
              <a:rPr dirty="0">
                <a:solidFill>
                  <a:srgbClr val="003E34"/>
                </a:solidFill>
                <a:latin typeface="Segoe UI"/>
                <a:cs typeface="Segoe UI"/>
              </a:rPr>
              <a:t>Three</a:t>
            </a:r>
            <a:r>
              <a:rPr dirty="0" spc="125">
                <a:solidFill>
                  <a:srgbClr val="003E34"/>
                </a:solidFill>
                <a:latin typeface="Segoe UI"/>
                <a:cs typeface="Segoe UI"/>
              </a:rPr>
              <a:t> </a:t>
            </a:r>
            <a:r>
              <a:rPr dirty="0">
                <a:solidFill>
                  <a:srgbClr val="003E34"/>
                </a:solidFill>
                <a:latin typeface="Segoe UI"/>
                <a:cs typeface="Segoe UI"/>
              </a:rPr>
              <a:t>audiences</a:t>
            </a:r>
            <a:r>
              <a:rPr dirty="0" spc="170">
                <a:solidFill>
                  <a:srgbClr val="003E34"/>
                </a:solidFill>
                <a:latin typeface="Segoe UI"/>
                <a:cs typeface="Segoe UI"/>
              </a:rPr>
              <a:t> </a:t>
            </a:r>
            <a:r>
              <a:rPr dirty="0" spc="-20">
                <a:solidFill>
                  <a:srgbClr val="003E34"/>
                </a:solidFill>
                <a:latin typeface="Segoe UI"/>
                <a:cs typeface="Segoe UI"/>
              </a:rPr>
              <a:t>face </a:t>
            </a:r>
            <a:r>
              <a:rPr dirty="0">
                <a:solidFill>
                  <a:srgbClr val="003E34"/>
                </a:solidFill>
                <a:latin typeface="Segoe UI"/>
                <a:cs typeface="Segoe UI"/>
              </a:rPr>
              <a:t>different</a:t>
            </a:r>
            <a:r>
              <a:rPr dirty="0" spc="145">
                <a:solidFill>
                  <a:srgbClr val="003E34"/>
                </a:solidFill>
                <a:latin typeface="Segoe UI"/>
                <a:cs typeface="Segoe UI"/>
              </a:rPr>
              <a:t> </a:t>
            </a:r>
            <a:r>
              <a:rPr dirty="0" spc="-10">
                <a:solidFill>
                  <a:srgbClr val="003E34"/>
                </a:solidFill>
                <a:latin typeface="Segoe UI"/>
                <a:cs typeface="Segoe UI"/>
              </a:rPr>
              <a:t>obligations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94917" y="1745107"/>
            <a:ext cx="10226675" cy="3605529"/>
            <a:chOff x="994917" y="1745107"/>
            <a:chExt cx="10226675" cy="3605529"/>
          </a:xfrm>
        </p:grpSpPr>
        <p:sp>
          <p:nvSpPr>
            <p:cNvPr id="4" name="object 4"/>
            <p:cNvSpPr/>
            <p:nvPr/>
          </p:nvSpPr>
          <p:spPr>
            <a:xfrm>
              <a:off x="4864608" y="1820164"/>
              <a:ext cx="2432685" cy="2268220"/>
            </a:xfrm>
            <a:custGeom>
              <a:avLst/>
              <a:gdLst/>
              <a:ahLst/>
              <a:cxnLst/>
              <a:rect l="l" t="t" r="r" b="b"/>
              <a:pathLst>
                <a:path w="2432684" h="2268220">
                  <a:moveTo>
                    <a:pt x="1216278" y="0"/>
                  </a:moveTo>
                  <a:lnTo>
                    <a:pt x="1168522" y="916"/>
                  </a:lnTo>
                  <a:lnTo>
                    <a:pt x="1121231" y="3643"/>
                  </a:lnTo>
                  <a:lnTo>
                    <a:pt x="1074440" y="8147"/>
                  </a:lnTo>
                  <a:lnTo>
                    <a:pt x="1028183" y="14393"/>
                  </a:lnTo>
                  <a:lnTo>
                    <a:pt x="982494" y="22350"/>
                  </a:lnTo>
                  <a:lnTo>
                    <a:pt x="937406" y="31982"/>
                  </a:lnTo>
                  <a:lnTo>
                    <a:pt x="892954" y="43257"/>
                  </a:lnTo>
                  <a:lnTo>
                    <a:pt x="849170" y="56140"/>
                  </a:lnTo>
                  <a:lnTo>
                    <a:pt x="806089" y="70598"/>
                  </a:lnTo>
                  <a:lnTo>
                    <a:pt x="763745" y="86597"/>
                  </a:lnTo>
                  <a:lnTo>
                    <a:pt x="722172" y="104104"/>
                  </a:lnTo>
                  <a:lnTo>
                    <a:pt x="681403" y="123085"/>
                  </a:lnTo>
                  <a:lnTo>
                    <a:pt x="641471" y="143507"/>
                  </a:lnTo>
                  <a:lnTo>
                    <a:pt x="602412" y="165335"/>
                  </a:lnTo>
                  <a:lnTo>
                    <a:pt x="564259" y="188536"/>
                  </a:lnTo>
                  <a:lnTo>
                    <a:pt x="527045" y="213077"/>
                  </a:lnTo>
                  <a:lnTo>
                    <a:pt x="490804" y="238923"/>
                  </a:lnTo>
                  <a:lnTo>
                    <a:pt x="455570" y="266042"/>
                  </a:lnTo>
                  <a:lnTo>
                    <a:pt x="421378" y="294399"/>
                  </a:lnTo>
                  <a:lnTo>
                    <a:pt x="388260" y="323961"/>
                  </a:lnTo>
                  <a:lnTo>
                    <a:pt x="356250" y="354695"/>
                  </a:lnTo>
                  <a:lnTo>
                    <a:pt x="325383" y="386566"/>
                  </a:lnTo>
                  <a:lnTo>
                    <a:pt x="295692" y="419541"/>
                  </a:lnTo>
                  <a:lnTo>
                    <a:pt x="267212" y="453586"/>
                  </a:lnTo>
                  <a:lnTo>
                    <a:pt x="239974" y="488668"/>
                  </a:lnTo>
                  <a:lnTo>
                    <a:pt x="214015" y="524753"/>
                  </a:lnTo>
                  <a:lnTo>
                    <a:pt x="189367" y="561807"/>
                  </a:lnTo>
                  <a:lnTo>
                    <a:pt x="166064" y="599797"/>
                  </a:lnTo>
                  <a:lnTo>
                    <a:pt x="144140" y="638689"/>
                  </a:lnTo>
                  <a:lnTo>
                    <a:pt x="123629" y="678450"/>
                  </a:lnTo>
                  <a:lnTo>
                    <a:pt x="104564" y="719045"/>
                  </a:lnTo>
                  <a:lnTo>
                    <a:pt x="86980" y="760442"/>
                  </a:lnTo>
                  <a:lnTo>
                    <a:pt x="70910" y="802606"/>
                  </a:lnTo>
                  <a:lnTo>
                    <a:pt x="56388" y="845504"/>
                  </a:lnTo>
                  <a:lnTo>
                    <a:pt x="43448" y="889102"/>
                  </a:lnTo>
                  <a:lnTo>
                    <a:pt x="32124" y="933367"/>
                  </a:lnTo>
                  <a:lnTo>
                    <a:pt x="22449" y="978265"/>
                  </a:lnTo>
                  <a:lnTo>
                    <a:pt x="14457" y="1023762"/>
                  </a:lnTo>
                  <a:lnTo>
                    <a:pt x="8183" y="1069825"/>
                  </a:lnTo>
                  <a:lnTo>
                    <a:pt x="3659" y="1116420"/>
                  </a:lnTo>
                  <a:lnTo>
                    <a:pt x="920" y="1163513"/>
                  </a:lnTo>
                  <a:lnTo>
                    <a:pt x="0" y="1211072"/>
                  </a:lnTo>
                  <a:lnTo>
                    <a:pt x="396" y="1242726"/>
                  </a:lnTo>
                  <a:lnTo>
                    <a:pt x="5335" y="1325215"/>
                  </a:lnTo>
                  <a:lnTo>
                    <a:pt x="11117" y="1375635"/>
                  </a:lnTo>
                  <a:lnTo>
                    <a:pt x="18952" y="1425405"/>
                  </a:lnTo>
                  <a:lnTo>
                    <a:pt x="28797" y="1474483"/>
                  </a:lnTo>
                  <a:lnTo>
                    <a:pt x="40609" y="1522825"/>
                  </a:lnTo>
                  <a:lnTo>
                    <a:pt x="54343" y="1570388"/>
                  </a:lnTo>
                  <a:lnTo>
                    <a:pt x="69957" y="1617128"/>
                  </a:lnTo>
                  <a:lnTo>
                    <a:pt x="87405" y="1663002"/>
                  </a:lnTo>
                  <a:lnTo>
                    <a:pt x="106646" y="1707966"/>
                  </a:lnTo>
                  <a:lnTo>
                    <a:pt x="127634" y="1751977"/>
                  </a:lnTo>
                  <a:lnTo>
                    <a:pt x="150328" y="1794991"/>
                  </a:lnTo>
                  <a:lnTo>
                    <a:pt x="174681" y="1836966"/>
                  </a:lnTo>
                  <a:lnTo>
                    <a:pt x="200652" y="1877856"/>
                  </a:lnTo>
                  <a:lnTo>
                    <a:pt x="228197" y="1917620"/>
                  </a:lnTo>
                  <a:lnTo>
                    <a:pt x="257271" y="1956214"/>
                  </a:lnTo>
                  <a:lnTo>
                    <a:pt x="287832" y="1993594"/>
                  </a:lnTo>
                  <a:lnTo>
                    <a:pt x="319835" y="2029716"/>
                  </a:lnTo>
                  <a:lnTo>
                    <a:pt x="353237" y="2064538"/>
                  </a:lnTo>
                  <a:lnTo>
                    <a:pt x="387994" y="2098016"/>
                  </a:lnTo>
                  <a:lnTo>
                    <a:pt x="424063" y="2130105"/>
                  </a:lnTo>
                  <a:lnTo>
                    <a:pt x="461399" y="2160764"/>
                  </a:lnTo>
                  <a:lnTo>
                    <a:pt x="499961" y="2189949"/>
                  </a:lnTo>
                  <a:lnTo>
                    <a:pt x="539702" y="2217615"/>
                  </a:lnTo>
                  <a:lnTo>
                    <a:pt x="580581" y="2243720"/>
                  </a:lnTo>
                  <a:lnTo>
                    <a:pt x="622553" y="2268220"/>
                  </a:lnTo>
                  <a:lnTo>
                    <a:pt x="625600" y="2217126"/>
                  </a:lnTo>
                  <a:lnTo>
                    <a:pt x="630750" y="2166621"/>
                  </a:lnTo>
                  <a:lnTo>
                    <a:pt x="637958" y="2116750"/>
                  </a:lnTo>
                  <a:lnTo>
                    <a:pt x="647182" y="2067554"/>
                  </a:lnTo>
                  <a:lnTo>
                    <a:pt x="658379" y="2019078"/>
                  </a:lnTo>
                  <a:lnTo>
                    <a:pt x="671504" y="1971364"/>
                  </a:lnTo>
                  <a:lnTo>
                    <a:pt x="686515" y="1924456"/>
                  </a:lnTo>
                  <a:lnTo>
                    <a:pt x="703369" y="1878397"/>
                  </a:lnTo>
                  <a:lnTo>
                    <a:pt x="722021" y="1833230"/>
                  </a:lnTo>
                  <a:lnTo>
                    <a:pt x="742429" y="1788999"/>
                  </a:lnTo>
                  <a:lnTo>
                    <a:pt x="764550" y="1745746"/>
                  </a:lnTo>
                  <a:lnTo>
                    <a:pt x="788339" y="1703516"/>
                  </a:lnTo>
                  <a:lnTo>
                    <a:pt x="813753" y="1662350"/>
                  </a:lnTo>
                  <a:lnTo>
                    <a:pt x="840750" y="1622294"/>
                  </a:lnTo>
                  <a:lnTo>
                    <a:pt x="869286" y="1583389"/>
                  </a:lnTo>
                  <a:lnTo>
                    <a:pt x="899317" y="1545679"/>
                  </a:lnTo>
                  <a:lnTo>
                    <a:pt x="930801" y="1509207"/>
                  </a:lnTo>
                  <a:lnTo>
                    <a:pt x="963693" y="1474017"/>
                  </a:lnTo>
                  <a:lnTo>
                    <a:pt x="997950" y="1440152"/>
                  </a:lnTo>
                  <a:lnTo>
                    <a:pt x="1033530" y="1407655"/>
                  </a:lnTo>
                  <a:lnTo>
                    <a:pt x="1070388" y="1376570"/>
                  </a:lnTo>
                  <a:lnTo>
                    <a:pt x="1108481" y="1346939"/>
                  </a:lnTo>
                  <a:lnTo>
                    <a:pt x="1147767" y="1318805"/>
                  </a:lnTo>
                  <a:lnTo>
                    <a:pt x="1188201" y="1292213"/>
                  </a:lnTo>
                  <a:lnTo>
                    <a:pt x="1229740" y="1267206"/>
                  </a:lnTo>
                  <a:lnTo>
                    <a:pt x="1271536" y="1244197"/>
                  </a:lnTo>
                  <a:lnTo>
                    <a:pt x="1314306" y="1222794"/>
                  </a:lnTo>
                  <a:lnTo>
                    <a:pt x="1358011" y="1203037"/>
                  </a:lnTo>
                  <a:lnTo>
                    <a:pt x="1402613" y="1184967"/>
                  </a:lnTo>
                  <a:lnTo>
                    <a:pt x="1448071" y="1168626"/>
                  </a:lnTo>
                  <a:lnTo>
                    <a:pt x="1494345" y="1154054"/>
                  </a:lnTo>
                  <a:lnTo>
                    <a:pt x="1541397" y="1141292"/>
                  </a:lnTo>
                  <a:lnTo>
                    <a:pt x="1589187" y="1130382"/>
                  </a:lnTo>
                  <a:lnTo>
                    <a:pt x="1637674" y="1121363"/>
                  </a:lnTo>
                  <a:lnTo>
                    <a:pt x="1686821" y="1114277"/>
                  </a:lnTo>
                  <a:lnTo>
                    <a:pt x="1736586" y="1109165"/>
                  </a:lnTo>
                  <a:lnTo>
                    <a:pt x="1786931" y="1106068"/>
                  </a:lnTo>
                  <a:lnTo>
                    <a:pt x="1837816" y="1105027"/>
                  </a:lnTo>
                  <a:lnTo>
                    <a:pt x="1891418" y="1106180"/>
                  </a:lnTo>
                  <a:lnTo>
                    <a:pt x="1944431" y="1109611"/>
                  </a:lnTo>
                  <a:lnTo>
                    <a:pt x="1996807" y="1115272"/>
                  </a:lnTo>
                  <a:lnTo>
                    <a:pt x="2048495" y="1123117"/>
                  </a:lnTo>
                  <a:lnTo>
                    <a:pt x="2099449" y="1133100"/>
                  </a:lnTo>
                  <a:lnTo>
                    <a:pt x="2149617" y="1145174"/>
                  </a:lnTo>
                  <a:lnTo>
                    <a:pt x="2198953" y="1159294"/>
                  </a:lnTo>
                  <a:lnTo>
                    <a:pt x="2247406" y="1175413"/>
                  </a:lnTo>
                  <a:lnTo>
                    <a:pt x="2294927" y="1193484"/>
                  </a:lnTo>
                  <a:lnTo>
                    <a:pt x="2341469" y="1213462"/>
                  </a:lnTo>
                  <a:lnTo>
                    <a:pt x="2386981" y="1235299"/>
                  </a:lnTo>
                  <a:lnTo>
                    <a:pt x="2431415" y="1258951"/>
                  </a:lnTo>
                  <a:lnTo>
                    <a:pt x="2431768" y="1246967"/>
                  </a:lnTo>
                  <a:lnTo>
                    <a:pt x="2431383" y="1163395"/>
                  </a:lnTo>
                  <a:lnTo>
                    <a:pt x="2428646" y="1116309"/>
                  </a:lnTo>
                  <a:lnTo>
                    <a:pt x="2424124" y="1069720"/>
                  </a:lnTo>
                  <a:lnTo>
                    <a:pt x="2417852" y="1023662"/>
                  </a:lnTo>
                  <a:lnTo>
                    <a:pt x="2409864" y="978169"/>
                  </a:lnTo>
                  <a:lnTo>
                    <a:pt x="2400193" y="933274"/>
                  </a:lnTo>
                  <a:lnTo>
                    <a:pt x="2388874" y="889011"/>
                  </a:lnTo>
                  <a:lnTo>
                    <a:pt x="2375939" y="845414"/>
                  </a:lnTo>
                  <a:lnTo>
                    <a:pt x="2361423" y="802517"/>
                  </a:lnTo>
                  <a:lnTo>
                    <a:pt x="2345359" y="760353"/>
                  </a:lnTo>
                  <a:lnTo>
                    <a:pt x="2327782" y="718956"/>
                  </a:lnTo>
                  <a:lnTo>
                    <a:pt x="2308725" y="678359"/>
                  </a:lnTo>
                  <a:lnTo>
                    <a:pt x="2288221" y="638597"/>
                  </a:lnTo>
                  <a:lnTo>
                    <a:pt x="2266305" y="599703"/>
                  </a:lnTo>
                  <a:lnTo>
                    <a:pt x="2243010" y="561711"/>
                  </a:lnTo>
                  <a:lnTo>
                    <a:pt x="2218371" y="524654"/>
                  </a:lnTo>
                  <a:lnTo>
                    <a:pt x="2192420" y="488567"/>
                  </a:lnTo>
                  <a:lnTo>
                    <a:pt x="2165191" y="453482"/>
                  </a:lnTo>
                  <a:lnTo>
                    <a:pt x="2136719" y="419434"/>
                  </a:lnTo>
                  <a:lnTo>
                    <a:pt x="2107038" y="386457"/>
                  </a:lnTo>
                  <a:lnTo>
                    <a:pt x="2076180" y="354583"/>
                  </a:lnTo>
                  <a:lnTo>
                    <a:pt x="2044179" y="323848"/>
                  </a:lnTo>
                  <a:lnTo>
                    <a:pt x="2011070" y="294284"/>
                  </a:lnTo>
                  <a:lnTo>
                    <a:pt x="1976887" y="265925"/>
                  </a:lnTo>
                  <a:lnTo>
                    <a:pt x="1941662" y="238806"/>
                  </a:lnTo>
                  <a:lnTo>
                    <a:pt x="1905430" y="212958"/>
                  </a:lnTo>
                  <a:lnTo>
                    <a:pt x="1868224" y="188418"/>
                  </a:lnTo>
                  <a:lnTo>
                    <a:pt x="1830079" y="165217"/>
                  </a:lnTo>
                  <a:lnTo>
                    <a:pt x="1791028" y="143390"/>
                  </a:lnTo>
                  <a:lnTo>
                    <a:pt x="1751104" y="122971"/>
                  </a:lnTo>
                  <a:lnTo>
                    <a:pt x="1710342" y="103993"/>
                  </a:lnTo>
                  <a:lnTo>
                    <a:pt x="1668775" y="86490"/>
                  </a:lnTo>
                  <a:lnTo>
                    <a:pt x="1626438" y="70496"/>
                  </a:lnTo>
                  <a:lnTo>
                    <a:pt x="1583363" y="56044"/>
                  </a:lnTo>
                  <a:lnTo>
                    <a:pt x="1539585" y="43168"/>
                  </a:lnTo>
                  <a:lnTo>
                    <a:pt x="1495137" y="31902"/>
                  </a:lnTo>
                  <a:lnTo>
                    <a:pt x="1450053" y="22279"/>
                  </a:lnTo>
                  <a:lnTo>
                    <a:pt x="1404367" y="14334"/>
                  </a:lnTo>
                  <a:lnTo>
                    <a:pt x="1358113" y="8100"/>
                  </a:lnTo>
                  <a:lnTo>
                    <a:pt x="1311325" y="3610"/>
                  </a:lnTo>
                  <a:lnTo>
                    <a:pt x="1264035" y="899"/>
                  </a:lnTo>
                  <a:lnTo>
                    <a:pt x="121627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486400" y="3091434"/>
              <a:ext cx="1216660" cy="1152525"/>
            </a:xfrm>
            <a:custGeom>
              <a:avLst/>
              <a:gdLst/>
              <a:ahLst/>
              <a:cxnLst/>
              <a:rect l="l" t="t" r="r" b="b"/>
              <a:pathLst>
                <a:path w="1216659" h="1152525">
                  <a:moveTo>
                    <a:pt x="608457" y="0"/>
                  </a:moveTo>
                  <a:lnTo>
                    <a:pt x="566827" y="24959"/>
                  </a:lnTo>
                  <a:lnTo>
                    <a:pt x="526307" y="51498"/>
                  </a:lnTo>
                  <a:lnTo>
                    <a:pt x="486939" y="79574"/>
                  </a:lnTo>
                  <a:lnTo>
                    <a:pt x="448767" y="109144"/>
                  </a:lnTo>
                  <a:lnTo>
                    <a:pt x="411833" y="140164"/>
                  </a:lnTo>
                  <a:lnTo>
                    <a:pt x="376181" y="172591"/>
                  </a:lnTo>
                  <a:lnTo>
                    <a:pt x="341855" y="206383"/>
                  </a:lnTo>
                  <a:lnTo>
                    <a:pt x="308898" y="241496"/>
                  </a:lnTo>
                  <a:lnTo>
                    <a:pt x="277352" y="277888"/>
                  </a:lnTo>
                  <a:lnTo>
                    <a:pt x="247262" y="315514"/>
                  </a:lnTo>
                  <a:lnTo>
                    <a:pt x="218671" y="354333"/>
                  </a:lnTo>
                  <a:lnTo>
                    <a:pt x="191621" y="394301"/>
                  </a:lnTo>
                  <a:lnTo>
                    <a:pt x="166157" y="435375"/>
                  </a:lnTo>
                  <a:lnTo>
                    <a:pt x="142322" y="477511"/>
                  </a:lnTo>
                  <a:lnTo>
                    <a:pt x="120158" y="520668"/>
                  </a:lnTo>
                  <a:lnTo>
                    <a:pt x="99709" y="564801"/>
                  </a:lnTo>
                  <a:lnTo>
                    <a:pt x="81019" y="609869"/>
                  </a:lnTo>
                  <a:lnTo>
                    <a:pt x="64131" y="655827"/>
                  </a:lnTo>
                  <a:lnTo>
                    <a:pt x="49087" y="702632"/>
                  </a:lnTo>
                  <a:lnTo>
                    <a:pt x="35932" y="750242"/>
                  </a:lnTo>
                  <a:lnTo>
                    <a:pt x="24709" y="798614"/>
                  </a:lnTo>
                  <a:lnTo>
                    <a:pt x="15461" y="847704"/>
                  </a:lnTo>
                  <a:lnTo>
                    <a:pt x="8231" y="897470"/>
                  </a:lnTo>
                  <a:lnTo>
                    <a:pt x="3063" y="947867"/>
                  </a:lnTo>
                  <a:lnTo>
                    <a:pt x="0" y="998854"/>
                  </a:lnTo>
                  <a:lnTo>
                    <a:pt x="44529" y="1022418"/>
                  </a:lnTo>
                  <a:lnTo>
                    <a:pt x="90137" y="1044183"/>
                  </a:lnTo>
                  <a:lnTo>
                    <a:pt x="136775" y="1064101"/>
                  </a:lnTo>
                  <a:lnTo>
                    <a:pt x="184394" y="1082124"/>
                  </a:lnTo>
                  <a:lnTo>
                    <a:pt x="232947" y="1098206"/>
                  </a:lnTo>
                  <a:lnTo>
                    <a:pt x="282384" y="1112297"/>
                  </a:lnTo>
                  <a:lnTo>
                    <a:pt x="332657" y="1124352"/>
                  </a:lnTo>
                  <a:lnTo>
                    <a:pt x="383718" y="1134321"/>
                  </a:lnTo>
                  <a:lnTo>
                    <a:pt x="435518" y="1142158"/>
                  </a:lnTo>
                  <a:lnTo>
                    <a:pt x="488009" y="1147815"/>
                  </a:lnTo>
                  <a:lnTo>
                    <a:pt x="541141" y="1151244"/>
                  </a:lnTo>
                  <a:lnTo>
                    <a:pt x="594867" y="1152397"/>
                  </a:lnTo>
                  <a:lnTo>
                    <a:pt x="646949" y="1151313"/>
                  </a:lnTo>
                  <a:lnTo>
                    <a:pt x="698477" y="1148090"/>
                  </a:lnTo>
                  <a:lnTo>
                    <a:pt x="749407" y="1142769"/>
                  </a:lnTo>
                  <a:lnTo>
                    <a:pt x="799696" y="1135394"/>
                  </a:lnTo>
                  <a:lnTo>
                    <a:pt x="849299" y="1126008"/>
                  </a:lnTo>
                  <a:lnTo>
                    <a:pt x="898172" y="1114652"/>
                  </a:lnTo>
                  <a:lnTo>
                    <a:pt x="946271" y="1101370"/>
                  </a:lnTo>
                  <a:lnTo>
                    <a:pt x="993553" y="1086204"/>
                  </a:lnTo>
                  <a:lnTo>
                    <a:pt x="1039973" y="1069198"/>
                  </a:lnTo>
                  <a:lnTo>
                    <a:pt x="1085486" y="1050393"/>
                  </a:lnTo>
                  <a:lnTo>
                    <a:pt x="1130050" y="1029832"/>
                  </a:lnTo>
                  <a:lnTo>
                    <a:pt x="1173620" y="1007559"/>
                  </a:lnTo>
                  <a:lnTo>
                    <a:pt x="1216152" y="983614"/>
                  </a:lnTo>
                  <a:lnTo>
                    <a:pt x="1212481" y="933418"/>
                  </a:lnTo>
                  <a:lnTo>
                    <a:pt x="1206772" y="883805"/>
                  </a:lnTo>
                  <a:lnTo>
                    <a:pt x="1199064" y="834819"/>
                  </a:lnTo>
                  <a:lnTo>
                    <a:pt x="1189401" y="786501"/>
                  </a:lnTo>
                  <a:lnTo>
                    <a:pt x="1177823" y="738892"/>
                  </a:lnTo>
                  <a:lnTo>
                    <a:pt x="1164372" y="692034"/>
                  </a:lnTo>
                  <a:lnTo>
                    <a:pt x="1149091" y="645969"/>
                  </a:lnTo>
                  <a:lnTo>
                    <a:pt x="1132020" y="600739"/>
                  </a:lnTo>
                  <a:lnTo>
                    <a:pt x="1113201" y="556386"/>
                  </a:lnTo>
                  <a:lnTo>
                    <a:pt x="1092677" y="512950"/>
                  </a:lnTo>
                  <a:lnTo>
                    <a:pt x="1070488" y="470475"/>
                  </a:lnTo>
                  <a:lnTo>
                    <a:pt x="1046677" y="429002"/>
                  </a:lnTo>
                  <a:lnTo>
                    <a:pt x="1021285" y="388572"/>
                  </a:lnTo>
                  <a:lnTo>
                    <a:pt x="994354" y="349227"/>
                  </a:lnTo>
                  <a:lnTo>
                    <a:pt x="965926" y="311009"/>
                  </a:lnTo>
                  <a:lnTo>
                    <a:pt x="936042" y="273960"/>
                  </a:lnTo>
                  <a:lnTo>
                    <a:pt x="904744" y="238122"/>
                  </a:lnTo>
                  <a:lnTo>
                    <a:pt x="872073" y="203535"/>
                  </a:lnTo>
                  <a:lnTo>
                    <a:pt x="838072" y="170243"/>
                  </a:lnTo>
                  <a:lnTo>
                    <a:pt x="802782" y="138286"/>
                  </a:lnTo>
                  <a:lnTo>
                    <a:pt x="766244" y="107707"/>
                  </a:lnTo>
                  <a:lnTo>
                    <a:pt x="728501" y="78547"/>
                  </a:lnTo>
                  <a:lnTo>
                    <a:pt x="689595" y="50848"/>
                  </a:lnTo>
                  <a:lnTo>
                    <a:pt x="649566" y="24651"/>
                  </a:lnTo>
                  <a:lnTo>
                    <a:pt x="60845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099047" y="2926842"/>
              <a:ext cx="1811020" cy="2423795"/>
            </a:xfrm>
            <a:custGeom>
              <a:avLst/>
              <a:gdLst/>
              <a:ahLst/>
              <a:cxnLst/>
              <a:rect l="l" t="t" r="r" b="b"/>
              <a:pathLst>
                <a:path w="1811020" h="2423795">
                  <a:moveTo>
                    <a:pt x="603503" y="0"/>
                  </a:moveTo>
                  <a:lnTo>
                    <a:pt x="552995" y="1039"/>
                  </a:lnTo>
                  <a:lnTo>
                    <a:pt x="503019" y="4131"/>
                  </a:lnTo>
                  <a:lnTo>
                    <a:pt x="453615" y="9236"/>
                  </a:lnTo>
                  <a:lnTo>
                    <a:pt x="404824" y="16315"/>
                  </a:lnTo>
                  <a:lnTo>
                    <a:pt x="356688" y="25327"/>
                  </a:lnTo>
                  <a:lnTo>
                    <a:pt x="309245" y="36234"/>
                  </a:lnTo>
                  <a:lnTo>
                    <a:pt x="262538" y="48996"/>
                  </a:lnTo>
                  <a:lnTo>
                    <a:pt x="216606" y="63573"/>
                  </a:lnTo>
                  <a:lnTo>
                    <a:pt x="171490" y="79926"/>
                  </a:lnTo>
                  <a:lnTo>
                    <a:pt x="127231" y="98016"/>
                  </a:lnTo>
                  <a:lnTo>
                    <a:pt x="83869" y="117802"/>
                  </a:lnTo>
                  <a:lnTo>
                    <a:pt x="41445" y="139245"/>
                  </a:lnTo>
                  <a:lnTo>
                    <a:pt x="0" y="162306"/>
                  </a:lnTo>
                  <a:lnTo>
                    <a:pt x="40746" y="187020"/>
                  </a:lnTo>
                  <a:lnTo>
                    <a:pt x="80419" y="213283"/>
                  </a:lnTo>
                  <a:lnTo>
                    <a:pt x="118977" y="241053"/>
                  </a:lnTo>
                  <a:lnTo>
                    <a:pt x="156379" y="270287"/>
                  </a:lnTo>
                  <a:lnTo>
                    <a:pt x="192583" y="300944"/>
                  </a:lnTo>
                  <a:lnTo>
                    <a:pt x="227549" y="332982"/>
                  </a:lnTo>
                  <a:lnTo>
                    <a:pt x="261236" y="366360"/>
                  </a:lnTo>
                  <a:lnTo>
                    <a:pt x="293601" y="401037"/>
                  </a:lnTo>
                  <a:lnTo>
                    <a:pt x="324605" y="436969"/>
                  </a:lnTo>
                  <a:lnTo>
                    <a:pt x="354206" y="474116"/>
                  </a:lnTo>
                  <a:lnTo>
                    <a:pt x="382362" y="512436"/>
                  </a:lnTo>
                  <a:lnTo>
                    <a:pt x="409033" y="551887"/>
                  </a:lnTo>
                  <a:lnTo>
                    <a:pt x="434177" y="592427"/>
                  </a:lnTo>
                  <a:lnTo>
                    <a:pt x="457754" y="634015"/>
                  </a:lnTo>
                  <a:lnTo>
                    <a:pt x="479721" y="676610"/>
                  </a:lnTo>
                  <a:lnTo>
                    <a:pt x="500039" y="720169"/>
                  </a:lnTo>
                  <a:lnTo>
                    <a:pt x="518665" y="764650"/>
                  </a:lnTo>
                  <a:lnTo>
                    <a:pt x="535559" y="810012"/>
                  </a:lnTo>
                  <a:lnTo>
                    <a:pt x="550679" y="856214"/>
                  </a:lnTo>
                  <a:lnTo>
                    <a:pt x="563985" y="903213"/>
                  </a:lnTo>
                  <a:lnTo>
                    <a:pt x="575435" y="950969"/>
                  </a:lnTo>
                  <a:lnTo>
                    <a:pt x="584988" y="999438"/>
                  </a:lnTo>
                  <a:lnTo>
                    <a:pt x="592602" y="1048580"/>
                  </a:lnTo>
                  <a:lnTo>
                    <a:pt x="598238" y="1098353"/>
                  </a:lnTo>
                  <a:lnTo>
                    <a:pt x="601852" y="1148715"/>
                  </a:lnTo>
                  <a:lnTo>
                    <a:pt x="603503" y="1211834"/>
                  </a:lnTo>
                  <a:lnTo>
                    <a:pt x="602433" y="1263331"/>
                  </a:lnTo>
                  <a:lnTo>
                    <a:pt x="599250" y="1314281"/>
                  </a:lnTo>
                  <a:lnTo>
                    <a:pt x="593997" y="1364641"/>
                  </a:lnTo>
                  <a:lnTo>
                    <a:pt x="586717" y="1414367"/>
                  </a:lnTo>
                  <a:lnTo>
                    <a:pt x="577452" y="1463417"/>
                  </a:lnTo>
                  <a:lnTo>
                    <a:pt x="566245" y="1511747"/>
                  </a:lnTo>
                  <a:lnTo>
                    <a:pt x="553139" y="1559317"/>
                  </a:lnTo>
                  <a:lnTo>
                    <a:pt x="538176" y="1606081"/>
                  </a:lnTo>
                  <a:lnTo>
                    <a:pt x="521399" y="1651999"/>
                  </a:lnTo>
                  <a:lnTo>
                    <a:pt x="502852" y="1697026"/>
                  </a:lnTo>
                  <a:lnTo>
                    <a:pt x="482575" y="1741120"/>
                  </a:lnTo>
                  <a:lnTo>
                    <a:pt x="460612" y="1784239"/>
                  </a:lnTo>
                  <a:lnTo>
                    <a:pt x="437006" y="1826339"/>
                  </a:lnTo>
                  <a:lnTo>
                    <a:pt x="411800" y="1867378"/>
                  </a:lnTo>
                  <a:lnTo>
                    <a:pt x="385035" y="1907313"/>
                  </a:lnTo>
                  <a:lnTo>
                    <a:pt x="356756" y="1946100"/>
                  </a:lnTo>
                  <a:lnTo>
                    <a:pt x="327003" y="1983699"/>
                  </a:lnTo>
                  <a:lnTo>
                    <a:pt x="295821" y="2020065"/>
                  </a:lnTo>
                  <a:lnTo>
                    <a:pt x="263251" y="2055155"/>
                  </a:lnTo>
                  <a:lnTo>
                    <a:pt x="229336" y="2088928"/>
                  </a:lnTo>
                  <a:lnTo>
                    <a:pt x="194120" y="2121340"/>
                  </a:lnTo>
                  <a:lnTo>
                    <a:pt x="157644" y="2152348"/>
                  </a:lnTo>
                  <a:lnTo>
                    <a:pt x="119951" y="2181909"/>
                  </a:lnTo>
                  <a:lnTo>
                    <a:pt x="81084" y="2209982"/>
                  </a:lnTo>
                  <a:lnTo>
                    <a:pt x="41086" y="2236523"/>
                  </a:lnTo>
                  <a:lnTo>
                    <a:pt x="0" y="2261489"/>
                  </a:lnTo>
                  <a:lnTo>
                    <a:pt x="41470" y="2284524"/>
                  </a:lnTo>
                  <a:lnTo>
                    <a:pt x="83911" y="2305951"/>
                  </a:lnTo>
                  <a:lnTo>
                    <a:pt x="127283" y="2325726"/>
                  </a:lnTo>
                  <a:lnTo>
                    <a:pt x="171546" y="2343812"/>
                  </a:lnTo>
                  <a:lnTo>
                    <a:pt x="216661" y="2360165"/>
                  </a:lnTo>
                  <a:lnTo>
                    <a:pt x="262589" y="2374747"/>
                  </a:lnTo>
                  <a:lnTo>
                    <a:pt x="309289" y="2387516"/>
                  </a:lnTo>
                  <a:lnTo>
                    <a:pt x="356722" y="2398432"/>
                  </a:lnTo>
                  <a:lnTo>
                    <a:pt x="404849" y="2407454"/>
                  </a:lnTo>
                  <a:lnTo>
                    <a:pt x="453631" y="2414542"/>
                  </a:lnTo>
                  <a:lnTo>
                    <a:pt x="503026" y="2419655"/>
                  </a:lnTo>
                  <a:lnTo>
                    <a:pt x="552997" y="2422753"/>
                  </a:lnTo>
                  <a:lnTo>
                    <a:pt x="603503" y="2423795"/>
                  </a:lnTo>
                  <a:lnTo>
                    <a:pt x="652049" y="2422832"/>
                  </a:lnTo>
                  <a:lnTo>
                    <a:pt x="700109" y="2419969"/>
                  </a:lnTo>
                  <a:lnTo>
                    <a:pt x="747646" y="2415241"/>
                  </a:lnTo>
                  <a:lnTo>
                    <a:pt x="794623" y="2408685"/>
                  </a:lnTo>
                  <a:lnTo>
                    <a:pt x="841007" y="2400337"/>
                  </a:lnTo>
                  <a:lnTo>
                    <a:pt x="886759" y="2390233"/>
                  </a:lnTo>
                  <a:lnTo>
                    <a:pt x="931844" y="2378410"/>
                  </a:lnTo>
                  <a:lnTo>
                    <a:pt x="976227" y="2364903"/>
                  </a:lnTo>
                  <a:lnTo>
                    <a:pt x="1019870" y="2349748"/>
                  </a:lnTo>
                  <a:lnTo>
                    <a:pt x="1062738" y="2332983"/>
                  </a:lnTo>
                  <a:lnTo>
                    <a:pt x="1104796" y="2314643"/>
                  </a:lnTo>
                  <a:lnTo>
                    <a:pt x="1146006" y="2294765"/>
                  </a:lnTo>
                  <a:lnTo>
                    <a:pt x="1186332" y="2273384"/>
                  </a:lnTo>
                  <a:lnTo>
                    <a:pt x="1225740" y="2250537"/>
                  </a:lnTo>
                  <a:lnTo>
                    <a:pt x="1264192" y="2226260"/>
                  </a:lnTo>
                  <a:lnTo>
                    <a:pt x="1301653" y="2200590"/>
                  </a:lnTo>
                  <a:lnTo>
                    <a:pt x="1338086" y="2173562"/>
                  </a:lnTo>
                  <a:lnTo>
                    <a:pt x="1373456" y="2145213"/>
                  </a:lnTo>
                  <a:lnTo>
                    <a:pt x="1407726" y="2115579"/>
                  </a:lnTo>
                  <a:lnTo>
                    <a:pt x="1440861" y="2084696"/>
                  </a:lnTo>
                  <a:lnTo>
                    <a:pt x="1472824" y="2052601"/>
                  </a:lnTo>
                  <a:lnTo>
                    <a:pt x="1503579" y="2019329"/>
                  </a:lnTo>
                  <a:lnTo>
                    <a:pt x="1533091" y="1984917"/>
                  </a:lnTo>
                  <a:lnTo>
                    <a:pt x="1561322" y="1949401"/>
                  </a:lnTo>
                  <a:lnTo>
                    <a:pt x="1588238" y="1912818"/>
                  </a:lnTo>
                  <a:lnTo>
                    <a:pt x="1613802" y="1875203"/>
                  </a:lnTo>
                  <a:lnTo>
                    <a:pt x="1637978" y="1836593"/>
                  </a:lnTo>
                  <a:lnTo>
                    <a:pt x="1660730" y="1797024"/>
                  </a:lnTo>
                  <a:lnTo>
                    <a:pt x="1682022" y="1756532"/>
                  </a:lnTo>
                  <a:lnTo>
                    <a:pt x="1701817" y="1715153"/>
                  </a:lnTo>
                  <a:lnTo>
                    <a:pt x="1720081" y="1672924"/>
                  </a:lnTo>
                  <a:lnTo>
                    <a:pt x="1736776" y="1629881"/>
                  </a:lnTo>
                  <a:lnTo>
                    <a:pt x="1751867" y="1586060"/>
                  </a:lnTo>
                  <a:lnTo>
                    <a:pt x="1765317" y="1541497"/>
                  </a:lnTo>
                  <a:lnTo>
                    <a:pt x="1777091" y="1496229"/>
                  </a:lnTo>
                  <a:lnTo>
                    <a:pt x="1787153" y="1450292"/>
                  </a:lnTo>
                  <a:lnTo>
                    <a:pt x="1795466" y="1403721"/>
                  </a:lnTo>
                  <a:lnTo>
                    <a:pt x="1801994" y="1356554"/>
                  </a:lnTo>
                  <a:lnTo>
                    <a:pt x="1806702" y="1308826"/>
                  </a:lnTo>
                  <a:lnTo>
                    <a:pt x="1809553" y="1260574"/>
                  </a:lnTo>
                  <a:lnTo>
                    <a:pt x="1810511" y="1211834"/>
                  </a:lnTo>
                  <a:lnTo>
                    <a:pt x="1809413" y="1159654"/>
                  </a:lnTo>
                  <a:lnTo>
                    <a:pt x="1806147" y="1108038"/>
                  </a:lnTo>
                  <a:lnTo>
                    <a:pt x="1800758" y="1057029"/>
                  </a:lnTo>
                  <a:lnTo>
                    <a:pt x="1793290" y="1006672"/>
                  </a:lnTo>
                  <a:lnTo>
                    <a:pt x="1783788" y="957012"/>
                  </a:lnTo>
                  <a:lnTo>
                    <a:pt x="1772295" y="908093"/>
                  </a:lnTo>
                  <a:lnTo>
                    <a:pt x="1758855" y="859960"/>
                  </a:lnTo>
                  <a:lnTo>
                    <a:pt x="1743514" y="812657"/>
                  </a:lnTo>
                  <a:lnTo>
                    <a:pt x="1726314" y="766228"/>
                  </a:lnTo>
                  <a:lnTo>
                    <a:pt x="1707302" y="720719"/>
                  </a:lnTo>
                  <a:lnTo>
                    <a:pt x="1686519" y="676174"/>
                  </a:lnTo>
                  <a:lnTo>
                    <a:pt x="1664012" y="632637"/>
                  </a:lnTo>
                  <a:lnTo>
                    <a:pt x="1639824" y="590153"/>
                  </a:lnTo>
                  <a:lnTo>
                    <a:pt x="1613998" y="548766"/>
                  </a:lnTo>
                  <a:lnTo>
                    <a:pt x="1586581" y="508521"/>
                  </a:lnTo>
                  <a:lnTo>
                    <a:pt x="1557615" y="469462"/>
                  </a:lnTo>
                  <a:lnTo>
                    <a:pt x="1527145" y="431634"/>
                  </a:lnTo>
                  <a:lnTo>
                    <a:pt x="1495215" y="395082"/>
                  </a:lnTo>
                  <a:lnTo>
                    <a:pt x="1461870" y="359850"/>
                  </a:lnTo>
                  <a:lnTo>
                    <a:pt x="1427153" y="325982"/>
                  </a:lnTo>
                  <a:lnTo>
                    <a:pt x="1391109" y="293523"/>
                  </a:lnTo>
                  <a:lnTo>
                    <a:pt x="1353782" y="262518"/>
                  </a:lnTo>
                  <a:lnTo>
                    <a:pt x="1315217" y="233011"/>
                  </a:lnTo>
                  <a:lnTo>
                    <a:pt x="1275456" y="205047"/>
                  </a:lnTo>
                  <a:lnTo>
                    <a:pt x="1234546" y="178669"/>
                  </a:lnTo>
                  <a:lnTo>
                    <a:pt x="1192529" y="153924"/>
                  </a:lnTo>
                  <a:lnTo>
                    <a:pt x="1148421" y="130272"/>
                  </a:lnTo>
                  <a:lnTo>
                    <a:pt x="1103249" y="108435"/>
                  </a:lnTo>
                  <a:lnTo>
                    <a:pt x="1057060" y="88457"/>
                  </a:lnTo>
                  <a:lnTo>
                    <a:pt x="1009903" y="70386"/>
                  </a:lnTo>
                  <a:lnTo>
                    <a:pt x="961826" y="54267"/>
                  </a:lnTo>
                  <a:lnTo>
                    <a:pt x="912876" y="40147"/>
                  </a:lnTo>
                  <a:lnTo>
                    <a:pt x="863099" y="28073"/>
                  </a:lnTo>
                  <a:lnTo>
                    <a:pt x="812546" y="18090"/>
                  </a:lnTo>
                  <a:lnTo>
                    <a:pt x="761261" y="10245"/>
                  </a:lnTo>
                  <a:lnTo>
                    <a:pt x="709295" y="4584"/>
                  </a:lnTo>
                  <a:lnTo>
                    <a:pt x="656693" y="1153"/>
                  </a:lnTo>
                  <a:lnTo>
                    <a:pt x="603503" y="0"/>
                  </a:lnTo>
                  <a:close/>
                </a:path>
              </a:pathLst>
            </a:custGeom>
            <a:solidFill>
              <a:srgbClr val="00B8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279391" y="3100578"/>
              <a:ext cx="2423160" cy="2250440"/>
            </a:xfrm>
            <a:custGeom>
              <a:avLst/>
              <a:gdLst/>
              <a:ahLst/>
              <a:cxnLst/>
              <a:rect l="l" t="t" r="r" b="b"/>
              <a:pathLst>
                <a:path w="2423159" h="2250440">
                  <a:moveTo>
                    <a:pt x="593979" y="0"/>
                  </a:moveTo>
                  <a:lnTo>
                    <a:pt x="553448" y="25073"/>
                  </a:lnTo>
                  <a:lnTo>
                    <a:pt x="514003" y="51672"/>
                  </a:lnTo>
                  <a:lnTo>
                    <a:pt x="475685" y="79757"/>
                  </a:lnTo>
                  <a:lnTo>
                    <a:pt x="438536" y="109286"/>
                  </a:lnTo>
                  <a:lnTo>
                    <a:pt x="402596" y="140218"/>
                  </a:lnTo>
                  <a:lnTo>
                    <a:pt x="367906" y="172510"/>
                  </a:lnTo>
                  <a:lnTo>
                    <a:pt x="334508" y="206123"/>
                  </a:lnTo>
                  <a:lnTo>
                    <a:pt x="302443" y="241013"/>
                  </a:lnTo>
                  <a:lnTo>
                    <a:pt x="271751" y="277141"/>
                  </a:lnTo>
                  <a:lnTo>
                    <a:pt x="242474" y="314465"/>
                  </a:lnTo>
                  <a:lnTo>
                    <a:pt x="214653" y="352943"/>
                  </a:lnTo>
                  <a:lnTo>
                    <a:pt x="188330" y="392534"/>
                  </a:lnTo>
                  <a:lnTo>
                    <a:pt x="163544" y="433197"/>
                  </a:lnTo>
                  <a:lnTo>
                    <a:pt x="140337" y="474889"/>
                  </a:lnTo>
                  <a:lnTo>
                    <a:pt x="118751" y="517571"/>
                  </a:lnTo>
                  <a:lnTo>
                    <a:pt x="98826" y="561201"/>
                  </a:lnTo>
                  <a:lnTo>
                    <a:pt x="80604" y="605736"/>
                  </a:lnTo>
                  <a:lnTo>
                    <a:pt x="64125" y="651136"/>
                  </a:lnTo>
                  <a:lnTo>
                    <a:pt x="49432" y="697360"/>
                  </a:lnTo>
                  <a:lnTo>
                    <a:pt x="36564" y="744366"/>
                  </a:lnTo>
                  <a:lnTo>
                    <a:pt x="25562" y="792113"/>
                  </a:lnTo>
                  <a:lnTo>
                    <a:pt x="16469" y="840559"/>
                  </a:lnTo>
                  <a:lnTo>
                    <a:pt x="9325" y="889663"/>
                  </a:lnTo>
                  <a:lnTo>
                    <a:pt x="4172" y="939384"/>
                  </a:lnTo>
                  <a:lnTo>
                    <a:pt x="1049" y="989680"/>
                  </a:lnTo>
                  <a:lnTo>
                    <a:pt x="0" y="1040511"/>
                  </a:lnTo>
                  <a:lnTo>
                    <a:pt x="961" y="1089158"/>
                  </a:lnTo>
                  <a:lnTo>
                    <a:pt x="3823" y="1137318"/>
                  </a:lnTo>
                  <a:lnTo>
                    <a:pt x="8549" y="1184955"/>
                  </a:lnTo>
                  <a:lnTo>
                    <a:pt x="15102" y="1232031"/>
                  </a:lnTo>
                  <a:lnTo>
                    <a:pt x="23446" y="1278512"/>
                  </a:lnTo>
                  <a:lnTo>
                    <a:pt x="33546" y="1324360"/>
                  </a:lnTo>
                  <a:lnTo>
                    <a:pt x="45364" y="1369540"/>
                  </a:lnTo>
                  <a:lnTo>
                    <a:pt x="58865" y="1414016"/>
                  </a:lnTo>
                  <a:lnTo>
                    <a:pt x="74013" y="1457751"/>
                  </a:lnTo>
                  <a:lnTo>
                    <a:pt x="90771" y="1500709"/>
                  </a:lnTo>
                  <a:lnTo>
                    <a:pt x="109103" y="1542855"/>
                  </a:lnTo>
                  <a:lnTo>
                    <a:pt x="128973" y="1584152"/>
                  </a:lnTo>
                  <a:lnTo>
                    <a:pt x="150345" y="1624563"/>
                  </a:lnTo>
                  <a:lnTo>
                    <a:pt x="173183" y="1664054"/>
                  </a:lnTo>
                  <a:lnTo>
                    <a:pt x="197450" y="1702587"/>
                  </a:lnTo>
                  <a:lnTo>
                    <a:pt x="223111" y="1740126"/>
                  </a:lnTo>
                  <a:lnTo>
                    <a:pt x="250128" y="1776636"/>
                  </a:lnTo>
                  <a:lnTo>
                    <a:pt x="278466" y="1812081"/>
                  </a:lnTo>
                  <a:lnTo>
                    <a:pt x="308089" y="1846423"/>
                  </a:lnTo>
                  <a:lnTo>
                    <a:pt x="338961" y="1879628"/>
                  </a:lnTo>
                  <a:lnTo>
                    <a:pt x="371045" y="1911658"/>
                  </a:lnTo>
                  <a:lnTo>
                    <a:pt x="404304" y="1942478"/>
                  </a:lnTo>
                  <a:lnTo>
                    <a:pt x="438704" y="1972052"/>
                  </a:lnTo>
                  <a:lnTo>
                    <a:pt x="474208" y="2000343"/>
                  </a:lnTo>
                  <a:lnTo>
                    <a:pt x="510779" y="2027316"/>
                  </a:lnTo>
                  <a:lnTo>
                    <a:pt x="548382" y="2052934"/>
                  </a:lnTo>
                  <a:lnTo>
                    <a:pt x="586980" y="2077161"/>
                  </a:lnTo>
                  <a:lnTo>
                    <a:pt x="626536" y="2099960"/>
                  </a:lnTo>
                  <a:lnTo>
                    <a:pt x="667016" y="2121297"/>
                  </a:lnTo>
                  <a:lnTo>
                    <a:pt x="708382" y="2141135"/>
                  </a:lnTo>
                  <a:lnTo>
                    <a:pt x="750599" y="2159437"/>
                  </a:lnTo>
                  <a:lnTo>
                    <a:pt x="793630" y="2176167"/>
                  </a:lnTo>
                  <a:lnTo>
                    <a:pt x="837439" y="2191290"/>
                  </a:lnTo>
                  <a:lnTo>
                    <a:pt x="881990" y="2204769"/>
                  </a:lnTo>
                  <a:lnTo>
                    <a:pt x="927246" y="2216567"/>
                  </a:lnTo>
                  <a:lnTo>
                    <a:pt x="973173" y="2226650"/>
                  </a:lnTo>
                  <a:lnTo>
                    <a:pt x="1019732" y="2234981"/>
                  </a:lnTo>
                  <a:lnTo>
                    <a:pt x="1066889" y="2241523"/>
                  </a:lnTo>
                  <a:lnTo>
                    <a:pt x="1114606" y="2246241"/>
                  </a:lnTo>
                  <a:lnTo>
                    <a:pt x="1162849" y="2249098"/>
                  </a:lnTo>
                  <a:lnTo>
                    <a:pt x="1211580" y="2250059"/>
                  </a:lnTo>
                  <a:lnTo>
                    <a:pt x="1262264" y="2249019"/>
                  </a:lnTo>
                  <a:lnTo>
                    <a:pt x="1312416" y="2245928"/>
                  </a:lnTo>
                  <a:lnTo>
                    <a:pt x="1361997" y="2240825"/>
                  </a:lnTo>
                  <a:lnTo>
                    <a:pt x="1410966" y="2233751"/>
                  </a:lnTo>
                  <a:lnTo>
                    <a:pt x="1459282" y="2224745"/>
                  </a:lnTo>
                  <a:lnTo>
                    <a:pt x="1506905" y="2213849"/>
                  </a:lnTo>
                  <a:lnTo>
                    <a:pt x="1553796" y="2201102"/>
                  </a:lnTo>
                  <a:lnTo>
                    <a:pt x="1599913" y="2186544"/>
                  </a:lnTo>
                  <a:lnTo>
                    <a:pt x="1645218" y="2170216"/>
                  </a:lnTo>
                  <a:lnTo>
                    <a:pt x="1689668" y="2152158"/>
                  </a:lnTo>
                  <a:lnTo>
                    <a:pt x="1733225" y="2132410"/>
                  </a:lnTo>
                  <a:lnTo>
                    <a:pt x="1775848" y="2111013"/>
                  </a:lnTo>
                  <a:lnTo>
                    <a:pt x="1817497" y="2088007"/>
                  </a:lnTo>
                  <a:lnTo>
                    <a:pt x="1858755" y="2063087"/>
                  </a:lnTo>
                  <a:lnTo>
                    <a:pt x="1898917" y="2036597"/>
                  </a:lnTo>
                  <a:lnTo>
                    <a:pt x="1937940" y="2008579"/>
                  </a:lnTo>
                  <a:lnTo>
                    <a:pt x="1975782" y="1979076"/>
                  </a:lnTo>
                  <a:lnTo>
                    <a:pt x="2012399" y="1948130"/>
                  </a:lnTo>
                  <a:lnTo>
                    <a:pt x="2047749" y="1915784"/>
                  </a:lnTo>
                  <a:lnTo>
                    <a:pt x="2081790" y="1882081"/>
                  </a:lnTo>
                  <a:lnTo>
                    <a:pt x="2114479" y="1847064"/>
                  </a:lnTo>
                  <a:lnTo>
                    <a:pt x="2145774" y="1810774"/>
                  </a:lnTo>
                  <a:lnTo>
                    <a:pt x="2175631" y="1773255"/>
                  </a:lnTo>
                  <a:lnTo>
                    <a:pt x="2204009" y="1734548"/>
                  </a:lnTo>
                  <a:lnTo>
                    <a:pt x="2230864" y="1694698"/>
                  </a:lnTo>
                  <a:lnTo>
                    <a:pt x="2256154" y="1653746"/>
                  </a:lnTo>
                  <a:lnTo>
                    <a:pt x="2279838" y="1611735"/>
                  </a:lnTo>
                  <a:lnTo>
                    <a:pt x="2301871" y="1568707"/>
                  </a:lnTo>
                  <a:lnTo>
                    <a:pt x="2322211" y="1524706"/>
                  </a:lnTo>
                  <a:lnTo>
                    <a:pt x="2340817" y="1479773"/>
                  </a:lnTo>
                  <a:lnTo>
                    <a:pt x="2357644" y="1433952"/>
                  </a:lnTo>
                  <a:lnTo>
                    <a:pt x="2372652" y="1387285"/>
                  </a:lnTo>
                  <a:lnTo>
                    <a:pt x="2385796" y="1339815"/>
                  </a:lnTo>
                  <a:lnTo>
                    <a:pt x="2397035" y="1291584"/>
                  </a:lnTo>
                  <a:lnTo>
                    <a:pt x="2406327" y="1242635"/>
                  </a:lnTo>
                  <a:lnTo>
                    <a:pt x="2413627" y="1193011"/>
                  </a:lnTo>
                  <a:lnTo>
                    <a:pt x="2418895" y="1142753"/>
                  </a:lnTo>
                  <a:lnTo>
                    <a:pt x="2422086" y="1091906"/>
                  </a:lnTo>
                  <a:lnTo>
                    <a:pt x="2423160" y="1040511"/>
                  </a:lnTo>
                  <a:lnTo>
                    <a:pt x="2423060" y="1024647"/>
                  </a:lnTo>
                  <a:lnTo>
                    <a:pt x="2422195" y="993112"/>
                  </a:lnTo>
                  <a:lnTo>
                    <a:pt x="2421382" y="977392"/>
                  </a:lnTo>
                  <a:lnTo>
                    <a:pt x="2379091" y="1001338"/>
                  </a:lnTo>
                  <a:lnTo>
                    <a:pt x="2335774" y="1023617"/>
                  </a:lnTo>
                  <a:lnTo>
                    <a:pt x="2291474" y="1044187"/>
                  </a:lnTo>
                  <a:lnTo>
                    <a:pt x="2246234" y="1063003"/>
                  </a:lnTo>
                  <a:lnTo>
                    <a:pt x="2200095" y="1080023"/>
                  </a:lnTo>
                  <a:lnTo>
                    <a:pt x="2153102" y="1095203"/>
                  </a:lnTo>
                  <a:lnTo>
                    <a:pt x="2105295" y="1108500"/>
                  </a:lnTo>
                  <a:lnTo>
                    <a:pt x="2056719" y="1119870"/>
                  </a:lnTo>
                  <a:lnTo>
                    <a:pt x="2007415" y="1129270"/>
                  </a:lnTo>
                  <a:lnTo>
                    <a:pt x="1957427" y="1136656"/>
                  </a:lnTo>
                  <a:lnTo>
                    <a:pt x="1906797" y="1141986"/>
                  </a:lnTo>
                  <a:lnTo>
                    <a:pt x="1855567" y="1145215"/>
                  </a:lnTo>
                  <a:lnTo>
                    <a:pt x="1803781" y="1146302"/>
                  </a:lnTo>
                  <a:lnTo>
                    <a:pt x="1750372" y="1145148"/>
                  </a:lnTo>
                  <a:lnTo>
                    <a:pt x="1697556" y="1141718"/>
                  </a:lnTo>
                  <a:lnTo>
                    <a:pt x="1645380" y="1136060"/>
                  </a:lnTo>
                  <a:lnTo>
                    <a:pt x="1593892" y="1128220"/>
                  </a:lnTo>
                  <a:lnTo>
                    <a:pt x="1543139" y="1118246"/>
                  </a:lnTo>
                  <a:lnTo>
                    <a:pt x="1493170" y="1106185"/>
                  </a:lnTo>
                  <a:lnTo>
                    <a:pt x="1444032" y="1092084"/>
                  </a:lnTo>
                  <a:lnTo>
                    <a:pt x="1395772" y="1075991"/>
                  </a:lnTo>
                  <a:lnTo>
                    <a:pt x="1348438" y="1057951"/>
                  </a:lnTo>
                  <a:lnTo>
                    <a:pt x="1302078" y="1038013"/>
                  </a:lnTo>
                  <a:lnTo>
                    <a:pt x="1256739" y="1016224"/>
                  </a:lnTo>
                  <a:lnTo>
                    <a:pt x="1212469" y="992632"/>
                  </a:lnTo>
                  <a:lnTo>
                    <a:pt x="1170662" y="968163"/>
                  </a:lnTo>
                  <a:lnTo>
                    <a:pt x="1129945" y="942090"/>
                  </a:lnTo>
                  <a:lnTo>
                    <a:pt x="1090361" y="914458"/>
                  </a:lnTo>
                  <a:lnTo>
                    <a:pt x="1051953" y="885309"/>
                  </a:lnTo>
                  <a:lnTo>
                    <a:pt x="1014765" y="854687"/>
                  </a:lnTo>
                  <a:lnTo>
                    <a:pt x="978840" y="822636"/>
                  </a:lnTo>
                  <a:lnTo>
                    <a:pt x="944221" y="789199"/>
                  </a:lnTo>
                  <a:lnTo>
                    <a:pt x="910953" y="754419"/>
                  </a:lnTo>
                  <a:lnTo>
                    <a:pt x="879078" y="718341"/>
                  </a:lnTo>
                  <a:lnTo>
                    <a:pt x="848639" y="681008"/>
                  </a:lnTo>
                  <a:lnTo>
                    <a:pt x="819680" y="642463"/>
                  </a:lnTo>
                  <a:lnTo>
                    <a:pt x="792245" y="602750"/>
                  </a:lnTo>
                  <a:lnTo>
                    <a:pt x="766377" y="561912"/>
                  </a:lnTo>
                  <a:lnTo>
                    <a:pt x="742120" y="519994"/>
                  </a:lnTo>
                  <a:lnTo>
                    <a:pt x="719515" y="477038"/>
                  </a:lnTo>
                  <a:lnTo>
                    <a:pt x="698609" y="433088"/>
                  </a:lnTo>
                  <a:lnTo>
                    <a:pt x="679442" y="388188"/>
                  </a:lnTo>
                  <a:lnTo>
                    <a:pt x="662060" y="342381"/>
                  </a:lnTo>
                  <a:lnTo>
                    <a:pt x="646505" y="295710"/>
                  </a:lnTo>
                  <a:lnTo>
                    <a:pt x="632820" y="248220"/>
                  </a:lnTo>
                  <a:lnTo>
                    <a:pt x="621050" y="199954"/>
                  </a:lnTo>
                  <a:lnTo>
                    <a:pt x="611237" y="150956"/>
                  </a:lnTo>
                  <a:lnTo>
                    <a:pt x="603426" y="101268"/>
                  </a:lnTo>
                  <a:lnTo>
                    <a:pt x="597658" y="50935"/>
                  </a:lnTo>
                  <a:lnTo>
                    <a:pt x="593979" y="0"/>
                  </a:lnTo>
                  <a:close/>
                </a:path>
              </a:pathLst>
            </a:custGeom>
            <a:solidFill>
              <a:srgbClr val="ACE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01267" y="1751457"/>
              <a:ext cx="10213975" cy="2762250"/>
            </a:xfrm>
            <a:custGeom>
              <a:avLst/>
              <a:gdLst/>
              <a:ahLst/>
              <a:cxnLst/>
              <a:rect l="l" t="t" r="r" b="b"/>
              <a:pathLst>
                <a:path w="10213975" h="2762250">
                  <a:moveTo>
                    <a:pt x="7013448" y="1600707"/>
                  </a:moveTo>
                  <a:lnTo>
                    <a:pt x="7579740" y="1033526"/>
                  </a:lnTo>
                  <a:lnTo>
                    <a:pt x="10213848" y="1033526"/>
                  </a:lnTo>
                </a:path>
                <a:path w="10213975" h="2762250">
                  <a:moveTo>
                    <a:pt x="3639311" y="567181"/>
                  </a:moveTo>
                  <a:lnTo>
                    <a:pt x="3073019" y="0"/>
                  </a:lnTo>
                  <a:lnTo>
                    <a:pt x="438912" y="0"/>
                  </a:lnTo>
                </a:path>
                <a:path w="10213975" h="2762250">
                  <a:moveTo>
                    <a:pt x="3200399" y="2762249"/>
                  </a:moveTo>
                  <a:lnTo>
                    <a:pt x="2634107" y="2195194"/>
                  </a:lnTo>
                  <a:lnTo>
                    <a:pt x="0" y="2195194"/>
                  </a:lnTo>
                </a:path>
              </a:pathLst>
            </a:custGeom>
            <a:ln w="12700">
              <a:solidFill>
                <a:srgbClr val="B1B1B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420749" y="1832434"/>
            <a:ext cx="2303780" cy="882015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1500" spc="-10" b="1">
                <a:solidFill>
                  <a:srgbClr val="44536A"/>
                </a:solidFill>
                <a:latin typeface="Segoe UI"/>
                <a:cs typeface="Segoe UI"/>
              </a:rPr>
              <a:t>Regulators</a:t>
            </a:r>
            <a:r>
              <a:rPr dirty="0" sz="1500" spc="-20" b="1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500" b="1">
                <a:solidFill>
                  <a:srgbClr val="44536A"/>
                </a:solidFill>
                <a:latin typeface="Segoe UI"/>
                <a:cs typeface="Segoe UI"/>
              </a:rPr>
              <a:t>&amp;</a:t>
            </a:r>
            <a:r>
              <a:rPr dirty="0" sz="1500" spc="10" b="1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500" spc="-10" b="1">
                <a:solidFill>
                  <a:srgbClr val="44536A"/>
                </a:solidFill>
                <a:latin typeface="Segoe UI"/>
                <a:cs typeface="Segoe UI"/>
              </a:rPr>
              <a:t>governance</a:t>
            </a:r>
            <a:endParaRPr sz="1500">
              <a:latin typeface="Segoe UI"/>
              <a:cs typeface="Segoe UI"/>
            </a:endParaRPr>
          </a:p>
          <a:p>
            <a:pPr algn="just" marL="12700" marR="318135">
              <a:lnSpc>
                <a:spcPct val="111200"/>
              </a:lnSpc>
              <a:spcBef>
                <a:spcPts val="295"/>
              </a:spcBef>
            </a:pPr>
            <a:r>
              <a:rPr dirty="0" sz="1000">
                <a:solidFill>
                  <a:srgbClr val="44536A"/>
                </a:solidFill>
                <a:latin typeface="Segoe UI"/>
                <a:cs typeface="Segoe UI"/>
              </a:rPr>
              <a:t>Need</a:t>
            </a:r>
            <a:r>
              <a:rPr dirty="0" sz="1000" spc="-3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44536A"/>
                </a:solidFill>
                <a:latin typeface="Segoe UI"/>
                <a:cs typeface="Segoe UI"/>
              </a:rPr>
              <a:t>auditable</a:t>
            </a:r>
            <a:r>
              <a:rPr dirty="0" sz="1000" spc="-3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44536A"/>
                </a:solidFill>
                <a:latin typeface="Segoe UI"/>
                <a:cs typeface="Segoe UI"/>
              </a:rPr>
              <a:t>lineage,</a:t>
            </a:r>
            <a:r>
              <a:rPr dirty="0" sz="1000" spc="-10">
                <a:solidFill>
                  <a:srgbClr val="44536A"/>
                </a:solidFill>
                <a:latin typeface="Segoe UI"/>
                <a:cs typeface="Segoe UI"/>
              </a:rPr>
              <a:t> versioning, </a:t>
            </a:r>
            <a:r>
              <a:rPr dirty="0" sz="1000">
                <a:solidFill>
                  <a:srgbClr val="44536A"/>
                </a:solidFill>
                <a:latin typeface="Segoe UI"/>
                <a:cs typeface="Segoe UI"/>
              </a:rPr>
              <a:t>monitoring</a:t>
            </a:r>
            <a:r>
              <a:rPr dirty="0" sz="1000" spc="-35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44536A"/>
                </a:solidFill>
                <a:latin typeface="Segoe UI"/>
                <a:cs typeface="Segoe UI"/>
              </a:rPr>
              <a:t>and</a:t>
            </a:r>
            <a:r>
              <a:rPr dirty="0" sz="1000" spc="-3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44536A"/>
                </a:solidFill>
                <a:latin typeface="Segoe UI"/>
                <a:cs typeface="Segoe UI"/>
              </a:rPr>
              <a:t>a</a:t>
            </a:r>
            <a:r>
              <a:rPr dirty="0" sz="1000" spc="-25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44536A"/>
                </a:solidFill>
                <a:latin typeface="Segoe UI"/>
                <a:cs typeface="Segoe UI"/>
              </a:rPr>
              <a:t>recorded</a:t>
            </a:r>
            <a:r>
              <a:rPr dirty="0" sz="1000" spc="-3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000" spc="-20">
                <a:solidFill>
                  <a:srgbClr val="44536A"/>
                </a:solidFill>
                <a:latin typeface="Segoe UI"/>
                <a:cs typeface="Segoe UI"/>
              </a:rPr>
              <a:t>human </a:t>
            </a:r>
            <a:r>
              <a:rPr dirty="0" sz="1000">
                <a:solidFill>
                  <a:srgbClr val="44536A"/>
                </a:solidFill>
                <a:latin typeface="Segoe UI"/>
                <a:cs typeface="Segoe UI"/>
              </a:rPr>
              <a:t>decision</a:t>
            </a:r>
            <a:r>
              <a:rPr dirty="0" sz="1000" spc="-55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44536A"/>
                </a:solidFill>
                <a:latin typeface="Segoe UI"/>
                <a:cs typeface="Segoe UI"/>
              </a:rPr>
              <a:t>for</a:t>
            </a:r>
            <a:r>
              <a:rPr dirty="0" sz="1000" spc="-55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44536A"/>
                </a:solidFill>
                <a:latin typeface="Segoe UI"/>
                <a:cs typeface="Segoe UI"/>
              </a:rPr>
              <a:t>every</a:t>
            </a:r>
            <a:r>
              <a:rPr dirty="0" sz="1000" spc="25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000" spc="-20">
                <a:solidFill>
                  <a:srgbClr val="44536A"/>
                </a:solidFill>
                <a:latin typeface="Segoe UI"/>
                <a:cs typeface="Segoe UI"/>
              </a:rPr>
              <a:t>use.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3056" y="4005110"/>
            <a:ext cx="2345055" cy="88328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500" spc="-10" b="1">
                <a:solidFill>
                  <a:srgbClr val="44536A"/>
                </a:solidFill>
                <a:latin typeface="Segoe UI"/>
                <a:cs typeface="Segoe UI"/>
              </a:rPr>
              <a:t>Clinicians</a:t>
            </a:r>
            <a:endParaRPr sz="1500">
              <a:latin typeface="Segoe UI"/>
              <a:cs typeface="Segoe UI"/>
            </a:endParaRPr>
          </a:p>
          <a:p>
            <a:pPr marL="12700" marR="5080">
              <a:lnSpc>
                <a:spcPct val="111100"/>
              </a:lnSpc>
              <a:spcBef>
                <a:spcPts val="300"/>
              </a:spcBef>
            </a:pPr>
            <a:r>
              <a:rPr dirty="0" sz="1000">
                <a:solidFill>
                  <a:srgbClr val="44536A"/>
                </a:solidFill>
                <a:latin typeface="Segoe UI"/>
                <a:cs typeface="Segoe UI"/>
              </a:rPr>
              <a:t>Need</a:t>
            </a:r>
            <a:r>
              <a:rPr dirty="0" sz="1000" spc="15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44536A"/>
                </a:solidFill>
                <a:latin typeface="Segoe UI"/>
                <a:cs typeface="Segoe UI"/>
              </a:rPr>
              <a:t>an</a:t>
            </a:r>
            <a:r>
              <a:rPr dirty="0" sz="1000" spc="5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000" spc="-10">
                <a:solidFill>
                  <a:srgbClr val="44536A"/>
                </a:solidFill>
                <a:latin typeface="Segoe UI"/>
                <a:cs typeface="Segoe UI"/>
              </a:rPr>
              <a:t>interpretable,</a:t>
            </a:r>
            <a:r>
              <a:rPr dirty="0" sz="1000" spc="-5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44536A"/>
                </a:solidFill>
                <a:latin typeface="Segoe UI"/>
                <a:cs typeface="Segoe UI"/>
              </a:rPr>
              <a:t>calibrated</a:t>
            </a:r>
            <a:r>
              <a:rPr dirty="0" sz="1000" spc="2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44536A"/>
                </a:solidFill>
                <a:latin typeface="Segoe UI"/>
                <a:cs typeface="Segoe UI"/>
              </a:rPr>
              <a:t>score</a:t>
            </a:r>
            <a:r>
              <a:rPr dirty="0" sz="1000" spc="15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000" spc="-25">
                <a:solidFill>
                  <a:srgbClr val="44536A"/>
                </a:solidFill>
                <a:latin typeface="Segoe UI"/>
                <a:cs typeface="Segoe UI"/>
              </a:rPr>
              <a:t>in </a:t>
            </a:r>
            <a:r>
              <a:rPr dirty="0" sz="1000">
                <a:solidFill>
                  <a:srgbClr val="44536A"/>
                </a:solidFill>
                <a:latin typeface="Segoe UI"/>
                <a:cs typeface="Segoe UI"/>
              </a:rPr>
              <a:t>an</a:t>
            </a:r>
            <a:r>
              <a:rPr dirty="0" sz="1000" spc="-5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44536A"/>
                </a:solidFill>
                <a:latin typeface="Segoe UI"/>
                <a:cs typeface="Segoe UI"/>
              </a:rPr>
              <a:t>approved</a:t>
            </a:r>
            <a:r>
              <a:rPr dirty="0" sz="1000" spc="-2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000" spc="-10">
                <a:solidFill>
                  <a:srgbClr val="44536A"/>
                </a:solidFill>
                <a:latin typeface="Segoe UI"/>
                <a:cs typeface="Segoe UI"/>
              </a:rPr>
              <a:t>workflow—</a:t>
            </a:r>
            <a:r>
              <a:rPr dirty="0" sz="1000">
                <a:solidFill>
                  <a:srgbClr val="44536A"/>
                </a:solidFill>
                <a:latin typeface="Segoe UI"/>
                <a:cs typeface="Segoe UI"/>
              </a:rPr>
              <a:t>while</a:t>
            </a:r>
            <a:r>
              <a:rPr dirty="0" sz="1000" spc="35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000" spc="-10">
                <a:solidFill>
                  <a:srgbClr val="44536A"/>
                </a:solidFill>
                <a:latin typeface="Segoe UI"/>
                <a:cs typeface="Segoe UI"/>
              </a:rPr>
              <a:t>retaining </a:t>
            </a:r>
            <a:r>
              <a:rPr dirty="0" sz="1000">
                <a:solidFill>
                  <a:srgbClr val="44536A"/>
                </a:solidFill>
                <a:latin typeface="Segoe UI"/>
                <a:cs typeface="Segoe UI"/>
              </a:rPr>
              <a:t>final </a:t>
            </a:r>
            <a:r>
              <a:rPr dirty="0" sz="1000" spc="-10">
                <a:solidFill>
                  <a:srgbClr val="44536A"/>
                </a:solidFill>
                <a:latin typeface="Segoe UI"/>
                <a:cs typeface="Segoe UI"/>
              </a:rPr>
              <a:t>accountability.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22308" y="2806968"/>
            <a:ext cx="2370455" cy="88138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1500" spc="-10" b="1">
                <a:solidFill>
                  <a:srgbClr val="44536A"/>
                </a:solidFill>
                <a:latin typeface="Segoe UI"/>
                <a:cs typeface="Segoe UI"/>
              </a:rPr>
              <a:t>Patients</a:t>
            </a:r>
            <a:endParaRPr sz="1500">
              <a:latin typeface="Segoe UI"/>
              <a:cs typeface="Segoe UI"/>
            </a:endParaRPr>
          </a:p>
          <a:p>
            <a:pPr marL="12700" marR="5080">
              <a:lnSpc>
                <a:spcPct val="111200"/>
              </a:lnSpc>
              <a:spcBef>
                <a:spcPts val="300"/>
              </a:spcBef>
            </a:pPr>
            <a:r>
              <a:rPr dirty="0" sz="1000">
                <a:solidFill>
                  <a:srgbClr val="44536A"/>
                </a:solidFill>
                <a:latin typeface="Segoe UI"/>
                <a:cs typeface="Segoe UI"/>
              </a:rPr>
              <a:t>Need</a:t>
            </a:r>
            <a:r>
              <a:rPr dirty="0" sz="1000" spc="-35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44536A"/>
                </a:solidFill>
                <a:latin typeface="Segoe UI"/>
                <a:cs typeface="Segoe UI"/>
              </a:rPr>
              <a:t>a</a:t>
            </a:r>
            <a:r>
              <a:rPr dirty="0" sz="1000" spc="-2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44536A"/>
                </a:solidFill>
                <a:latin typeface="Segoe UI"/>
                <a:cs typeface="Segoe UI"/>
              </a:rPr>
              <a:t>clear</a:t>
            </a:r>
            <a:r>
              <a:rPr dirty="0" sz="1000" spc="-5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44536A"/>
                </a:solidFill>
                <a:latin typeface="Segoe UI"/>
                <a:cs typeface="Segoe UI"/>
              </a:rPr>
              <a:t>explanation</a:t>
            </a:r>
            <a:r>
              <a:rPr dirty="0" sz="1000" spc="-1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44536A"/>
                </a:solidFill>
                <a:latin typeface="Segoe UI"/>
                <a:cs typeface="Segoe UI"/>
              </a:rPr>
              <a:t>of</a:t>
            </a:r>
            <a:r>
              <a:rPr dirty="0" sz="1000" spc="-4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44536A"/>
                </a:solidFill>
                <a:latin typeface="Segoe UI"/>
                <a:cs typeface="Segoe UI"/>
              </a:rPr>
              <a:t>the</a:t>
            </a:r>
            <a:r>
              <a:rPr dirty="0" sz="1000" spc="-4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44536A"/>
                </a:solidFill>
                <a:latin typeface="Segoe UI"/>
                <a:cs typeface="Segoe UI"/>
              </a:rPr>
              <a:t>score,</a:t>
            </a:r>
            <a:r>
              <a:rPr dirty="0" sz="1000" spc="-1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000" spc="-25">
                <a:solidFill>
                  <a:srgbClr val="44536A"/>
                </a:solidFill>
                <a:latin typeface="Segoe UI"/>
                <a:cs typeface="Segoe UI"/>
              </a:rPr>
              <a:t>its </a:t>
            </a:r>
            <a:r>
              <a:rPr dirty="0" sz="1000" spc="-10">
                <a:solidFill>
                  <a:srgbClr val="44536A"/>
                </a:solidFill>
                <a:latin typeface="Segoe UI"/>
                <a:cs typeface="Segoe UI"/>
              </a:rPr>
              <a:t>uncertainty</a:t>
            </a:r>
            <a:r>
              <a:rPr dirty="0" sz="1000" spc="-3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44536A"/>
                </a:solidFill>
                <a:latin typeface="Segoe UI"/>
                <a:cs typeface="Segoe UI"/>
              </a:rPr>
              <a:t>and</a:t>
            </a:r>
            <a:r>
              <a:rPr dirty="0" sz="1000" spc="1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44536A"/>
                </a:solidFill>
                <a:latin typeface="Segoe UI"/>
                <a:cs typeface="Segoe UI"/>
              </a:rPr>
              <a:t>how</a:t>
            </a:r>
            <a:r>
              <a:rPr dirty="0" sz="1000" spc="2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44536A"/>
                </a:solidFill>
                <a:latin typeface="Segoe UI"/>
                <a:cs typeface="Segoe UI"/>
              </a:rPr>
              <a:t>it</a:t>
            </a:r>
            <a:r>
              <a:rPr dirty="0" sz="1000" spc="5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000" spc="-10">
                <a:solidFill>
                  <a:srgbClr val="44536A"/>
                </a:solidFill>
                <a:latin typeface="Segoe UI"/>
                <a:cs typeface="Segoe UI"/>
              </a:rPr>
              <a:t>influenced—</a:t>
            </a:r>
            <a:r>
              <a:rPr dirty="0" sz="1000">
                <a:solidFill>
                  <a:srgbClr val="44536A"/>
                </a:solidFill>
                <a:latin typeface="Segoe UI"/>
                <a:cs typeface="Segoe UI"/>
              </a:rPr>
              <a:t>or</a:t>
            </a:r>
            <a:r>
              <a:rPr dirty="0" sz="1000" spc="4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000" spc="-25">
                <a:solidFill>
                  <a:srgbClr val="44536A"/>
                </a:solidFill>
                <a:latin typeface="Segoe UI"/>
                <a:cs typeface="Segoe UI"/>
              </a:rPr>
              <a:t>can </a:t>
            </a:r>
            <a:r>
              <a:rPr dirty="0" sz="1000">
                <a:solidFill>
                  <a:srgbClr val="44536A"/>
                </a:solidFill>
                <a:latin typeface="Segoe UI"/>
                <a:cs typeface="Segoe UI"/>
              </a:rPr>
              <a:t>be</a:t>
            </a:r>
            <a:r>
              <a:rPr dirty="0" sz="1000" spc="-15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44536A"/>
                </a:solidFill>
                <a:latin typeface="Segoe UI"/>
                <a:cs typeface="Segoe UI"/>
              </a:rPr>
              <a:t>challenged</a:t>
            </a:r>
            <a:r>
              <a:rPr dirty="0" sz="1000" spc="-10">
                <a:solidFill>
                  <a:srgbClr val="44536A"/>
                </a:solidFill>
                <a:latin typeface="Segoe UI"/>
                <a:cs typeface="Segoe UI"/>
              </a:rPr>
              <a:t> in—</a:t>
            </a:r>
            <a:r>
              <a:rPr dirty="0" sz="1000" spc="-20">
                <a:solidFill>
                  <a:srgbClr val="44536A"/>
                </a:solidFill>
                <a:latin typeface="Segoe UI"/>
                <a:cs typeface="Segoe UI"/>
              </a:rPr>
              <a:t>care.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63490" y="4460303"/>
            <a:ext cx="69723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-10" b="1">
                <a:solidFill>
                  <a:srgbClr val="44536A"/>
                </a:solidFill>
                <a:latin typeface="Segoe UI"/>
                <a:cs typeface="Segoe UI"/>
              </a:rPr>
              <a:t>Clinicians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02704" y="3586607"/>
            <a:ext cx="598805" cy="2120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-10" b="1">
                <a:solidFill>
                  <a:srgbClr val="FFFFFF"/>
                </a:solidFill>
                <a:latin typeface="Segoe UI"/>
                <a:cs typeface="Segoe UI"/>
              </a:rPr>
              <a:t>Patients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55615" y="2603690"/>
            <a:ext cx="76771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10" b="1">
                <a:solidFill>
                  <a:srgbClr val="FFFFFF"/>
                </a:solidFill>
                <a:latin typeface="Segoe UI"/>
                <a:cs typeface="Segoe UI"/>
              </a:rPr>
              <a:t>Governance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20536" y="3465972"/>
            <a:ext cx="560705" cy="501650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25"/>
              </a:spcBef>
            </a:pPr>
            <a:r>
              <a:rPr dirty="0" sz="1200" spc="-10" b="1">
                <a:solidFill>
                  <a:srgbClr val="FFFFFF"/>
                </a:solidFill>
                <a:latin typeface="Segoe UI"/>
                <a:cs typeface="Segoe UI"/>
              </a:rPr>
              <a:t>Trusted</a:t>
            </a:r>
            <a:endParaRPr sz="12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434"/>
              </a:spcBef>
            </a:pPr>
            <a:r>
              <a:rPr dirty="0" sz="1200" spc="-25" b="1">
                <a:solidFill>
                  <a:srgbClr val="FFFFFF"/>
                </a:solidFill>
                <a:latin typeface="Segoe UI"/>
                <a:cs typeface="Segoe UI"/>
              </a:rPr>
              <a:t>use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347334" y="1552828"/>
            <a:ext cx="2245995" cy="1465580"/>
            <a:chOff x="5347334" y="1552828"/>
            <a:chExt cx="2245995" cy="1465580"/>
          </a:xfrm>
        </p:grpSpPr>
        <p:sp>
          <p:nvSpPr>
            <p:cNvPr id="17" name="object 17"/>
            <p:cNvSpPr/>
            <p:nvPr/>
          </p:nvSpPr>
          <p:spPr>
            <a:xfrm>
              <a:off x="5347334" y="1552828"/>
              <a:ext cx="2245995" cy="1465580"/>
            </a:xfrm>
            <a:custGeom>
              <a:avLst/>
              <a:gdLst/>
              <a:ahLst/>
              <a:cxnLst/>
              <a:rect l="l" t="t" r="r" b="b"/>
              <a:pathLst>
                <a:path w="2245995" h="1465580">
                  <a:moveTo>
                    <a:pt x="2201463" y="1389500"/>
                  </a:moveTo>
                  <a:lnTo>
                    <a:pt x="2169921" y="1390396"/>
                  </a:lnTo>
                  <a:lnTo>
                    <a:pt x="2210181" y="1465453"/>
                  </a:lnTo>
                  <a:lnTo>
                    <a:pt x="2239515" y="1402207"/>
                  </a:lnTo>
                  <a:lnTo>
                    <a:pt x="2202053" y="1402207"/>
                  </a:lnTo>
                  <a:lnTo>
                    <a:pt x="2201505" y="1390396"/>
                  </a:lnTo>
                  <a:lnTo>
                    <a:pt x="2201463" y="1389500"/>
                  </a:lnTo>
                  <a:close/>
                </a:path>
                <a:path w="2245995" h="1465580">
                  <a:moveTo>
                    <a:pt x="2214099" y="1389142"/>
                  </a:moveTo>
                  <a:lnTo>
                    <a:pt x="2201463" y="1389500"/>
                  </a:lnTo>
                  <a:lnTo>
                    <a:pt x="2202029" y="1401699"/>
                  </a:lnTo>
                  <a:lnTo>
                    <a:pt x="2202053" y="1402207"/>
                  </a:lnTo>
                  <a:lnTo>
                    <a:pt x="2214625" y="1401699"/>
                  </a:lnTo>
                  <a:lnTo>
                    <a:pt x="2214151" y="1390396"/>
                  </a:lnTo>
                  <a:lnTo>
                    <a:pt x="2214099" y="1389142"/>
                  </a:lnTo>
                  <a:close/>
                </a:path>
                <a:path w="2245995" h="1465580">
                  <a:moveTo>
                    <a:pt x="2245994" y="1388237"/>
                  </a:moveTo>
                  <a:lnTo>
                    <a:pt x="2214099" y="1389142"/>
                  </a:lnTo>
                  <a:lnTo>
                    <a:pt x="2214625" y="1401699"/>
                  </a:lnTo>
                  <a:lnTo>
                    <a:pt x="2202053" y="1402207"/>
                  </a:lnTo>
                  <a:lnTo>
                    <a:pt x="2239515" y="1402207"/>
                  </a:lnTo>
                  <a:lnTo>
                    <a:pt x="2245994" y="1388237"/>
                  </a:lnTo>
                  <a:close/>
                </a:path>
                <a:path w="2245995" h="1465580">
                  <a:moveTo>
                    <a:pt x="1864539" y="530688"/>
                  </a:moveTo>
                  <a:lnTo>
                    <a:pt x="1910886" y="589136"/>
                  </a:lnTo>
                  <a:lnTo>
                    <a:pt x="1949353" y="643001"/>
                  </a:lnTo>
                  <a:lnTo>
                    <a:pt x="1954180" y="649927"/>
                  </a:lnTo>
                  <a:lnTo>
                    <a:pt x="1954468" y="650187"/>
                  </a:lnTo>
                  <a:lnTo>
                    <a:pt x="1994535" y="712978"/>
                  </a:lnTo>
                  <a:lnTo>
                    <a:pt x="2018833" y="754790"/>
                  </a:lnTo>
                  <a:lnTo>
                    <a:pt x="2039721" y="793750"/>
                  </a:lnTo>
                  <a:lnTo>
                    <a:pt x="2042689" y="799521"/>
                  </a:lnTo>
                  <a:lnTo>
                    <a:pt x="2042887" y="799669"/>
                  </a:lnTo>
                  <a:lnTo>
                    <a:pt x="2064639" y="843915"/>
                  </a:lnTo>
                  <a:lnTo>
                    <a:pt x="2084959" y="889000"/>
                  </a:lnTo>
                  <a:lnTo>
                    <a:pt x="2103755" y="934593"/>
                  </a:lnTo>
                  <a:lnTo>
                    <a:pt x="2120632" y="979888"/>
                  </a:lnTo>
                  <a:lnTo>
                    <a:pt x="2135281" y="1023747"/>
                  </a:lnTo>
                  <a:lnTo>
                    <a:pt x="2136445" y="1027456"/>
                  </a:lnTo>
                  <a:lnTo>
                    <a:pt x="2136583" y="1027663"/>
                  </a:lnTo>
                  <a:lnTo>
                    <a:pt x="2150134" y="1073298"/>
                  </a:lnTo>
                  <a:lnTo>
                    <a:pt x="2162166" y="1119505"/>
                  </a:lnTo>
                  <a:lnTo>
                    <a:pt x="2162885" y="1122462"/>
                  </a:lnTo>
                  <a:lnTo>
                    <a:pt x="2162983" y="1122668"/>
                  </a:lnTo>
                  <a:lnTo>
                    <a:pt x="2173605" y="1170559"/>
                  </a:lnTo>
                  <a:lnTo>
                    <a:pt x="2182477" y="1216914"/>
                  </a:lnTo>
                  <a:lnTo>
                    <a:pt x="2182843" y="1218995"/>
                  </a:lnTo>
                  <a:lnTo>
                    <a:pt x="2182907" y="1219194"/>
                  </a:lnTo>
                  <a:lnTo>
                    <a:pt x="2190368" y="1267841"/>
                  </a:lnTo>
                  <a:lnTo>
                    <a:pt x="2196196" y="1316864"/>
                  </a:lnTo>
                  <a:lnTo>
                    <a:pt x="2200316" y="1365377"/>
                  </a:lnTo>
                  <a:lnTo>
                    <a:pt x="2201463" y="1389500"/>
                  </a:lnTo>
                  <a:lnTo>
                    <a:pt x="2214099" y="1389142"/>
                  </a:lnTo>
                  <a:lnTo>
                    <a:pt x="2213157" y="1366692"/>
                  </a:lnTo>
                  <a:lnTo>
                    <a:pt x="2213101" y="1365377"/>
                  </a:lnTo>
                  <a:lnTo>
                    <a:pt x="2209055" y="1317306"/>
                  </a:lnTo>
                  <a:lnTo>
                    <a:pt x="2202941" y="1266190"/>
                  </a:lnTo>
                  <a:lnTo>
                    <a:pt x="2195448" y="1216914"/>
                  </a:lnTo>
                  <a:lnTo>
                    <a:pt x="2186050" y="1168019"/>
                  </a:lnTo>
                  <a:lnTo>
                    <a:pt x="2175256" y="1119505"/>
                  </a:lnTo>
                  <a:lnTo>
                    <a:pt x="2162810" y="1071372"/>
                  </a:lnTo>
                  <a:lnTo>
                    <a:pt x="2148586" y="1023747"/>
                  </a:lnTo>
                  <a:lnTo>
                    <a:pt x="2132965" y="976630"/>
                  </a:lnTo>
                  <a:lnTo>
                    <a:pt x="2115566" y="930021"/>
                  </a:lnTo>
                  <a:lnTo>
                    <a:pt x="2096642" y="884047"/>
                  </a:lnTo>
                  <a:lnTo>
                    <a:pt x="2076195" y="838581"/>
                  </a:lnTo>
                  <a:lnTo>
                    <a:pt x="2054097" y="793750"/>
                  </a:lnTo>
                  <a:lnTo>
                    <a:pt x="2030603" y="749808"/>
                  </a:lnTo>
                  <a:lnTo>
                    <a:pt x="2005330" y="706374"/>
                  </a:lnTo>
                  <a:lnTo>
                    <a:pt x="1964816" y="643001"/>
                  </a:lnTo>
                  <a:lnTo>
                    <a:pt x="1921637" y="582295"/>
                  </a:lnTo>
                  <a:lnTo>
                    <a:pt x="1882199" y="532369"/>
                  </a:lnTo>
                  <a:lnTo>
                    <a:pt x="1866013" y="532369"/>
                  </a:lnTo>
                  <a:lnTo>
                    <a:pt x="1864539" y="530688"/>
                  </a:lnTo>
                  <a:close/>
                </a:path>
                <a:path w="2245995" h="1465580">
                  <a:moveTo>
                    <a:pt x="1233013" y="94029"/>
                  </a:moveTo>
                  <a:lnTo>
                    <a:pt x="1300257" y="119360"/>
                  </a:lnTo>
                  <a:lnTo>
                    <a:pt x="1362910" y="146600"/>
                  </a:lnTo>
                  <a:lnTo>
                    <a:pt x="1363501" y="146906"/>
                  </a:lnTo>
                  <a:lnTo>
                    <a:pt x="1363853" y="147063"/>
                  </a:lnTo>
                  <a:lnTo>
                    <a:pt x="1426439" y="177800"/>
                  </a:lnTo>
                  <a:lnTo>
                    <a:pt x="1487534" y="211571"/>
                  </a:lnTo>
                  <a:lnTo>
                    <a:pt x="1546669" y="248232"/>
                  </a:lnTo>
                  <a:lnTo>
                    <a:pt x="1606209" y="289223"/>
                  </a:lnTo>
                  <a:lnTo>
                    <a:pt x="1661475" y="331438"/>
                  </a:lnTo>
                  <a:lnTo>
                    <a:pt x="1661674" y="331574"/>
                  </a:lnTo>
                  <a:lnTo>
                    <a:pt x="1714623" y="376366"/>
                  </a:lnTo>
                  <a:lnTo>
                    <a:pt x="1768213" y="426338"/>
                  </a:lnTo>
                  <a:lnTo>
                    <a:pt x="1818139" y="477774"/>
                  </a:lnTo>
                  <a:lnTo>
                    <a:pt x="1866013" y="532369"/>
                  </a:lnTo>
                  <a:lnTo>
                    <a:pt x="1882199" y="532369"/>
                  </a:lnTo>
                  <a:lnTo>
                    <a:pt x="1827530" y="469265"/>
                  </a:lnTo>
                  <a:lnTo>
                    <a:pt x="1776984" y="417195"/>
                  </a:lnTo>
                  <a:lnTo>
                    <a:pt x="1724279" y="367919"/>
                  </a:lnTo>
                  <a:lnTo>
                    <a:pt x="1669541" y="321563"/>
                  </a:lnTo>
                  <a:lnTo>
                    <a:pt x="1612772" y="278257"/>
                  </a:lnTo>
                  <a:lnTo>
                    <a:pt x="1554225" y="237998"/>
                  </a:lnTo>
                  <a:lnTo>
                    <a:pt x="1494028" y="200660"/>
                  </a:lnTo>
                  <a:lnTo>
                    <a:pt x="1432306" y="166497"/>
                  </a:lnTo>
                  <a:lnTo>
                    <a:pt x="1369187" y="135382"/>
                  </a:lnTo>
                  <a:lnTo>
                    <a:pt x="1304670" y="107442"/>
                  </a:lnTo>
                  <a:lnTo>
                    <a:pt x="1270819" y="94698"/>
                  </a:lnTo>
                  <a:lnTo>
                    <a:pt x="1235079" y="94698"/>
                  </a:lnTo>
                  <a:lnTo>
                    <a:pt x="1233013" y="94029"/>
                  </a:lnTo>
                  <a:close/>
                </a:path>
                <a:path w="2245995" h="1465580">
                  <a:moveTo>
                    <a:pt x="757047" y="0"/>
                  </a:moveTo>
                  <a:lnTo>
                    <a:pt x="686562" y="1650"/>
                  </a:lnTo>
                  <a:lnTo>
                    <a:pt x="615950" y="6731"/>
                  </a:lnTo>
                  <a:lnTo>
                    <a:pt x="545591" y="15240"/>
                  </a:lnTo>
                  <a:lnTo>
                    <a:pt x="474493" y="27432"/>
                  </a:lnTo>
                  <a:lnTo>
                    <a:pt x="474665" y="27432"/>
                  </a:lnTo>
                  <a:lnTo>
                    <a:pt x="405256" y="42925"/>
                  </a:lnTo>
                  <a:lnTo>
                    <a:pt x="335788" y="62103"/>
                  </a:lnTo>
                  <a:lnTo>
                    <a:pt x="266953" y="84709"/>
                  </a:lnTo>
                  <a:lnTo>
                    <a:pt x="198754" y="111125"/>
                  </a:lnTo>
                  <a:lnTo>
                    <a:pt x="131444" y="141097"/>
                  </a:lnTo>
                  <a:lnTo>
                    <a:pt x="65024" y="174879"/>
                  </a:lnTo>
                  <a:lnTo>
                    <a:pt x="0" y="212217"/>
                  </a:lnTo>
                  <a:lnTo>
                    <a:pt x="6350" y="223138"/>
                  </a:lnTo>
                  <a:lnTo>
                    <a:pt x="71025" y="186055"/>
                  </a:lnTo>
                  <a:lnTo>
                    <a:pt x="136782" y="152654"/>
                  </a:lnTo>
                  <a:lnTo>
                    <a:pt x="203221" y="123026"/>
                  </a:lnTo>
                  <a:lnTo>
                    <a:pt x="271070" y="96774"/>
                  </a:lnTo>
                  <a:lnTo>
                    <a:pt x="338529" y="74520"/>
                  </a:lnTo>
                  <a:lnTo>
                    <a:pt x="339259" y="74337"/>
                  </a:lnTo>
                  <a:lnTo>
                    <a:pt x="407896" y="55342"/>
                  </a:lnTo>
                  <a:lnTo>
                    <a:pt x="407751" y="55342"/>
                  </a:lnTo>
                  <a:lnTo>
                    <a:pt x="476962" y="39931"/>
                  </a:lnTo>
                  <a:lnTo>
                    <a:pt x="477209" y="39931"/>
                  </a:lnTo>
                  <a:lnTo>
                    <a:pt x="547074" y="27855"/>
                  </a:lnTo>
                  <a:lnTo>
                    <a:pt x="546888" y="27855"/>
                  </a:lnTo>
                  <a:lnTo>
                    <a:pt x="616742" y="19475"/>
                  </a:lnTo>
                  <a:lnTo>
                    <a:pt x="616342" y="19475"/>
                  </a:lnTo>
                  <a:lnTo>
                    <a:pt x="686944" y="14378"/>
                  </a:lnTo>
                  <a:lnTo>
                    <a:pt x="685778" y="14378"/>
                  </a:lnTo>
                  <a:lnTo>
                    <a:pt x="757037" y="12703"/>
                  </a:lnTo>
                  <a:lnTo>
                    <a:pt x="943590" y="12703"/>
                  </a:lnTo>
                  <a:lnTo>
                    <a:pt x="897509" y="6985"/>
                  </a:lnTo>
                  <a:lnTo>
                    <a:pt x="827404" y="1905"/>
                  </a:lnTo>
                  <a:lnTo>
                    <a:pt x="757047" y="0"/>
                  </a:lnTo>
                  <a:close/>
                </a:path>
                <a:path w="2245995" h="1465580">
                  <a:moveTo>
                    <a:pt x="943590" y="12703"/>
                  </a:moveTo>
                  <a:lnTo>
                    <a:pt x="757037" y="12703"/>
                  </a:lnTo>
                  <a:lnTo>
                    <a:pt x="827573" y="14623"/>
                  </a:lnTo>
                  <a:lnTo>
                    <a:pt x="826896" y="14623"/>
                  </a:lnTo>
                  <a:lnTo>
                    <a:pt x="896787" y="19715"/>
                  </a:lnTo>
                  <a:lnTo>
                    <a:pt x="896364" y="19715"/>
                  </a:lnTo>
                  <a:lnTo>
                    <a:pt x="965796" y="28235"/>
                  </a:lnTo>
                  <a:lnTo>
                    <a:pt x="965449" y="28235"/>
                  </a:lnTo>
                  <a:lnTo>
                    <a:pt x="1034222" y="39931"/>
                  </a:lnTo>
                  <a:lnTo>
                    <a:pt x="1033898" y="39931"/>
                  </a:lnTo>
                  <a:lnTo>
                    <a:pt x="1103307" y="55342"/>
                  </a:lnTo>
                  <a:lnTo>
                    <a:pt x="1102767" y="55342"/>
                  </a:lnTo>
                  <a:lnTo>
                    <a:pt x="1168766" y="73238"/>
                  </a:lnTo>
                  <a:lnTo>
                    <a:pt x="1235079" y="94698"/>
                  </a:lnTo>
                  <a:lnTo>
                    <a:pt x="1270819" y="94698"/>
                  </a:lnTo>
                  <a:lnTo>
                    <a:pt x="1172210" y="60960"/>
                  </a:lnTo>
                  <a:lnTo>
                    <a:pt x="1104645" y="42672"/>
                  </a:lnTo>
                  <a:lnTo>
                    <a:pt x="1036192" y="27432"/>
                  </a:lnTo>
                  <a:lnTo>
                    <a:pt x="967104" y="15621"/>
                  </a:lnTo>
                  <a:lnTo>
                    <a:pt x="943590" y="12703"/>
                  </a:lnTo>
                  <a:close/>
                </a:path>
                <a:path w="2245995" h="1465580">
                  <a:moveTo>
                    <a:pt x="1168794" y="73238"/>
                  </a:moveTo>
                  <a:lnTo>
                    <a:pt x="1168631" y="73238"/>
                  </a:lnTo>
                  <a:lnTo>
                    <a:pt x="1169640" y="73512"/>
                  </a:lnTo>
                  <a:lnTo>
                    <a:pt x="1168794" y="73238"/>
                  </a:lnTo>
                  <a:close/>
                </a:path>
                <a:path w="2245995" h="1465580">
                  <a:moveTo>
                    <a:pt x="477285" y="39931"/>
                  </a:moveTo>
                  <a:lnTo>
                    <a:pt x="476962" y="39931"/>
                  </a:lnTo>
                  <a:lnTo>
                    <a:pt x="476104" y="40122"/>
                  </a:lnTo>
                  <a:lnTo>
                    <a:pt x="477285" y="39931"/>
                  </a:lnTo>
                  <a:close/>
                </a:path>
              </a:pathLst>
            </a:custGeom>
            <a:solidFill>
              <a:srgbClr val="0031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071615" y="2350642"/>
              <a:ext cx="356870" cy="338455"/>
            </a:xfrm>
            <a:custGeom>
              <a:avLst/>
              <a:gdLst/>
              <a:ahLst/>
              <a:cxnLst/>
              <a:rect l="l" t="t" r="r" b="b"/>
              <a:pathLst>
                <a:path w="356870" h="338455">
                  <a:moveTo>
                    <a:pt x="323723" y="286639"/>
                  </a:moveTo>
                  <a:lnTo>
                    <a:pt x="32893" y="286639"/>
                  </a:lnTo>
                  <a:lnTo>
                    <a:pt x="32893" y="296037"/>
                  </a:lnTo>
                  <a:lnTo>
                    <a:pt x="0" y="319532"/>
                  </a:lnTo>
                  <a:lnTo>
                    <a:pt x="0" y="338328"/>
                  </a:lnTo>
                  <a:lnTo>
                    <a:pt x="356616" y="338328"/>
                  </a:lnTo>
                  <a:lnTo>
                    <a:pt x="356616" y="319532"/>
                  </a:lnTo>
                  <a:lnTo>
                    <a:pt x="323723" y="296037"/>
                  </a:lnTo>
                  <a:lnTo>
                    <a:pt x="323723" y="286639"/>
                  </a:lnTo>
                  <a:close/>
                </a:path>
                <a:path w="356870" h="338455">
                  <a:moveTo>
                    <a:pt x="79756" y="126873"/>
                  </a:moveTo>
                  <a:lnTo>
                    <a:pt x="51562" y="126873"/>
                  </a:lnTo>
                  <a:lnTo>
                    <a:pt x="51562" y="286639"/>
                  </a:lnTo>
                  <a:lnTo>
                    <a:pt x="79756" y="286639"/>
                  </a:lnTo>
                  <a:lnTo>
                    <a:pt x="79756" y="126873"/>
                  </a:lnTo>
                  <a:close/>
                </a:path>
                <a:path w="356870" h="338455">
                  <a:moveTo>
                    <a:pt x="136017" y="126873"/>
                  </a:moveTo>
                  <a:lnTo>
                    <a:pt x="107950" y="126873"/>
                  </a:lnTo>
                  <a:lnTo>
                    <a:pt x="107950" y="286639"/>
                  </a:lnTo>
                  <a:lnTo>
                    <a:pt x="136017" y="286639"/>
                  </a:lnTo>
                  <a:lnTo>
                    <a:pt x="136017" y="126873"/>
                  </a:lnTo>
                  <a:close/>
                </a:path>
                <a:path w="356870" h="338455">
                  <a:moveTo>
                    <a:pt x="192405" y="126873"/>
                  </a:moveTo>
                  <a:lnTo>
                    <a:pt x="164211" y="126873"/>
                  </a:lnTo>
                  <a:lnTo>
                    <a:pt x="164211" y="286639"/>
                  </a:lnTo>
                  <a:lnTo>
                    <a:pt x="192405" y="286639"/>
                  </a:lnTo>
                  <a:lnTo>
                    <a:pt x="192405" y="126873"/>
                  </a:lnTo>
                  <a:close/>
                </a:path>
                <a:path w="356870" h="338455">
                  <a:moveTo>
                    <a:pt x="248666" y="126873"/>
                  </a:moveTo>
                  <a:lnTo>
                    <a:pt x="220599" y="126873"/>
                  </a:lnTo>
                  <a:lnTo>
                    <a:pt x="220599" y="286639"/>
                  </a:lnTo>
                  <a:lnTo>
                    <a:pt x="248666" y="286639"/>
                  </a:lnTo>
                  <a:lnTo>
                    <a:pt x="248666" y="126873"/>
                  </a:lnTo>
                  <a:close/>
                </a:path>
                <a:path w="356870" h="338455">
                  <a:moveTo>
                    <a:pt x="305054" y="126873"/>
                  </a:moveTo>
                  <a:lnTo>
                    <a:pt x="276860" y="126873"/>
                  </a:lnTo>
                  <a:lnTo>
                    <a:pt x="276860" y="286639"/>
                  </a:lnTo>
                  <a:lnTo>
                    <a:pt x="305054" y="286639"/>
                  </a:lnTo>
                  <a:lnTo>
                    <a:pt x="305054" y="126873"/>
                  </a:lnTo>
                  <a:close/>
                </a:path>
                <a:path w="356870" h="338455">
                  <a:moveTo>
                    <a:pt x="323723" y="117475"/>
                  </a:moveTo>
                  <a:lnTo>
                    <a:pt x="32893" y="117475"/>
                  </a:lnTo>
                  <a:lnTo>
                    <a:pt x="32893" y="126873"/>
                  </a:lnTo>
                  <a:lnTo>
                    <a:pt x="323723" y="126873"/>
                  </a:lnTo>
                  <a:lnTo>
                    <a:pt x="323723" y="117475"/>
                  </a:lnTo>
                  <a:close/>
                </a:path>
                <a:path w="356870" h="338455">
                  <a:moveTo>
                    <a:pt x="337820" y="89281"/>
                  </a:moveTo>
                  <a:lnTo>
                    <a:pt x="18796" y="89281"/>
                  </a:lnTo>
                  <a:lnTo>
                    <a:pt x="18796" y="117475"/>
                  </a:lnTo>
                  <a:lnTo>
                    <a:pt x="337820" y="117475"/>
                  </a:lnTo>
                  <a:lnTo>
                    <a:pt x="337820" y="89281"/>
                  </a:lnTo>
                  <a:close/>
                </a:path>
                <a:path w="356870" h="338455">
                  <a:moveTo>
                    <a:pt x="178308" y="0"/>
                  </a:moveTo>
                  <a:lnTo>
                    <a:pt x="32893" y="89281"/>
                  </a:lnTo>
                  <a:lnTo>
                    <a:pt x="323723" y="89281"/>
                  </a:lnTo>
                  <a:lnTo>
                    <a:pt x="308416" y="79883"/>
                  </a:lnTo>
                  <a:lnTo>
                    <a:pt x="173609" y="79883"/>
                  </a:lnTo>
                  <a:lnTo>
                    <a:pt x="166332" y="78392"/>
                  </a:lnTo>
                  <a:lnTo>
                    <a:pt x="160353" y="74342"/>
                  </a:lnTo>
                  <a:lnTo>
                    <a:pt x="156303" y="68363"/>
                  </a:lnTo>
                  <a:lnTo>
                    <a:pt x="154812" y="61087"/>
                  </a:lnTo>
                  <a:lnTo>
                    <a:pt x="156303" y="53756"/>
                  </a:lnTo>
                  <a:lnTo>
                    <a:pt x="160353" y="47783"/>
                  </a:lnTo>
                  <a:lnTo>
                    <a:pt x="166332" y="43763"/>
                  </a:lnTo>
                  <a:lnTo>
                    <a:pt x="173609" y="42291"/>
                  </a:lnTo>
                  <a:lnTo>
                    <a:pt x="247188" y="42291"/>
                  </a:lnTo>
                  <a:lnTo>
                    <a:pt x="178308" y="0"/>
                  </a:lnTo>
                  <a:close/>
                </a:path>
                <a:path w="356870" h="338455">
                  <a:moveTo>
                    <a:pt x="247188" y="42291"/>
                  </a:moveTo>
                  <a:lnTo>
                    <a:pt x="173609" y="42291"/>
                  </a:lnTo>
                  <a:lnTo>
                    <a:pt x="180885" y="43763"/>
                  </a:lnTo>
                  <a:lnTo>
                    <a:pt x="186864" y="47783"/>
                  </a:lnTo>
                  <a:lnTo>
                    <a:pt x="190914" y="53756"/>
                  </a:lnTo>
                  <a:lnTo>
                    <a:pt x="192405" y="61087"/>
                  </a:lnTo>
                  <a:lnTo>
                    <a:pt x="190914" y="68363"/>
                  </a:lnTo>
                  <a:lnTo>
                    <a:pt x="186864" y="74342"/>
                  </a:lnTo>
                  <a:lnTo>
                    <a:pt x="180885" y="78392"/>
                  </a:lnTo>
                  <a:lnTo>
                    <a:pt x="173609" y="79883"/>
                  </a:lnTo>
                  <a:lnTo>
                    <a:pt x="308416" y="79883"/>
                  </a:lnTo>
                  <a:lnTo>
                    <a:pt x="247188" y="422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6160386" y="3880865"/>
            <a:ext cx="2025650" cy="1737360"/>
            <a:chOff x="6160386" y="3880865"/>
            <a:chExt cx="2025650" cy="1737360"/>
          </a:xfrm>
        </p:grpSpPr>
        <p:sp>
          <p:nvSpPr>
            <p:cNvPr id="20" name="object 20"/>
            <p:cNvSpPr/>
            <p:nvPr/>
          </p:nvSpPr>
          <p:spPr>
            <a:xfrm>
              <a:off x="6160386" y="3880865"/>
              <a:ext cx="2025650" cy="1737360"/>
            </a:xfrm>
            <a:custGeom>
              <a:avLst/>
              <a:gdLst/>
              <a:ahLst/>
              <a:cxnLst/>
              <a:rect l="l" t="t" r="r" b="b"/>
              <a:pathLst>
                <a:path w="2025650" h="1737360">
                  <a:moveTo>
                    <a:pt x="74599" y="1637672"/>
                  </a:moveTo>
                  <a:lnTo>
                    <a:pt x="73087" y="1641474"/>
                  </a:lnTo>
                  <a:lnTo>
                    <a:pt x="69978" y="1649499"/>
                  </a:lnTo>
                  <a:lnTo>
                    <a:pt x="98935" y="1660143"/>
                  </a:lnTo>
                  <a:lnTo>
                    <a:pt x="149862" y="1676272"/>
                  </a:lnTo>
                  <a:lnTo>
                    <a:pt x="201297" y="1690623"/>
                  </a:lnTo>
                  <a:lnTo>
                    <a:pt x="253113" y="1702942"/>
                  </a:lnTo>
                  <a:lnTo>
                    <a:pt x="305437" y="1713420"/>
                  </a:lnTo>
                  <a:lnTo>
                    <a:pt x="357888" y="1721929"/>
                  </a:lnTo>
                  <a:lnTo>
                    <a:pt x="410720" y="1728533"/>
                  </a:lnTo>
                  <a:lnTo>
                    <a:pt x="463679" y="1733219"/>
                  </a:lnTo>
                  <a:lnTo>
                    <a:pt x="516765" y="1735988"/>
                  </a:lnTo>
                  <a:lnTo>
                    <a:pt x="570105" y="1736750"/>
                  </a:lnTo>
                  <a:lnTo>
                    <a:pt x="623445" y="1735607"/>
                  </a:lnTo>
                  <a:lnTo>
                    <a:pt x="676658" y="1732457"/>
                  </a:lnTo>
                  <a:lnTo>
                    <a:pt x="729871" y="1727377"/>
                  </a:lnTo>
                  <a:lnTo>
                    <a:pt x="754841" y="1724050"/>
                  </a:lnTo>
                  <a:lnTo>
                    <a:pt x="570105" y="1724050"/>
                  </a:lnTo>
                  <a:lnTo>
                    <a:pt x="518029" y="1723301"/>
                  </a:lnTo>
                  <a:lnTo>
                    <a:pt x="517400" y="1723301"/>
                  </a:lnTo>
                  <a:lnTo>
                    <a:pt x="464709" y="1720559"/>
                  </a:lnTo>
                  <a:lnTo>
                    <a:pt x="412117" y="1715909"/>
                  </a:lnTo>
                  <a:lnTo>
                    <a:pt x="359965" y="1709396"/>
                  </a:lnTo>
                  <a:lnTo>
                    <a:pt x="307716" y="1700951"/>
                  </a:lnTo>
                  <a:lnTo>
                    <a:pt x="307924" y="1700951"/>
                  </a:lnTo>
                  <a:lnTo>
                    <a:pt x="256087" y="1690623"/>
                  </a:lnTo>
                  <a:lnTo>
                    <a:pt x="204555" y="1678409"/>
                  </a:lnTo>
                  <a:lnTo>
                    <a:pt x="153626" y="1664184"/>
                  </a:lnTo>
                  <a:lnTo>
                    <a:pt x="103051" y="1648168"/>
                  </a:lnTo>
                  <a:lnTo>
                    <a:pt x="74599" y="1637672"/>
                  </a:lnTo>
                  <a:close/>
                </a:path>
                <a:path w="2025650" h="1737360">
                  <a:moveTo>
                    <a:pt x="835187" y="1698486"/>
                  </a:moveTo>
                  <a:lnTo>
                    <a:pt x="780698" y="1707795"/>
                  </a:lnTo>
                  <a:lnTo>
                    <a:pt x="728334" y="1714779"/>
                  </a:lnTo>
                  <a:lnTo>
                    <a:pt x="675769" y="1719783"/>
                  </a:lnTo>
                  <a:lnTo>
                    <a:pt x="622937" y="1722920"/>
                  </a:lnTo>
                  <a:lnTo>
                    <a:pt x="570105" y="1724050"/>
                  </a:lnTo>
                  <a:lnTo>
                    <a:pt x="754841" y="1724050"/>
                  </a:lnTo>
                  <a:lnTo>
                    <a:pt x="782957" y="1720303"/>
                  </a:lnTo>
                  <a:lnTo>
                    <a:pt x="835916" y="1711299"/>
                  </a:lnTo>
                  <a:lnTo>
                    <a:pt x="893711" y="1698820"/>
                  </a:lnTo>
                  <a:lnTo>
                    <a:pt x="833645" y="1698820"/>
                  </a:lnTo>
                  <a:lnTo>
                    <a:pt x="835187" y="1698486"/>
                  </a:lnTo>
                  <a:close/>
                </a:path>
                <a:path w="2025650" h="1737360">
                  <a:moveTo>
                    <a:pt x="307969" y="1700951"/>
                  </a:moveTo>
                  <a:lnTo>
                    <a:pt x="307716" y="1700951"/>
                  </a:lnTo>
                  <a:lnTo>
                    <a:pt x="308816" y="1701128"/>
                  </a:lnTo>
                  <a:lnTo>
                    <a:pt x="307969" y="1700951"/>
                  </a:lnTo>
                  <a:close/>
                </a:path>
                <a:path w="2025650" h="1737360">
                  <a:moveTo>
                    <a:pt x="1999998" y="0"/>
                  </a:moveTo>
                  <a:lnTo>
                    <a:pt x="1987552" y="2031"/>
                  </a:lnTo>
                  <a:lnTo>
                    <a:pt x="1999224" y="74294"/>
                  </a:lnTo>
                  <a:lnTo>
                    <a:pt x="1999623" y="77029"/>
                  </a:lnTo>
                  <a:lnTo>
                    <a:pt x="2007501" y="148462"/>
                  </a:lnTo>
                  <a:lnTo>
                    <a:pt x="2012024" y="222249"/>
                  </a:lnTo>
                  <a:lnTo>
                    <a:pt x="2012822" y="295223"/>
                  </a:lnTo>
                  <a:lnTo>
                    <a:pt x="2009797" y="367062"/>
                  </a:lnTo>
                  <a:lnTo>
                    <a:pt x="2003334" y="438690"/>
                  </a:lnTo>
                  <a:lnTo>
                    <a:pt x="2003390" y="438924"/>
                  </a:lnTo>
                  <a:lnTo>
                    <a:pt x="2003185" y="440181"/>
                  </a:lnTo>
                  <a:lnTo>
                    <a:pt x="2003132" y="440765"/>
                  </a:lnTo>
                  <a:lnTo>
                    <a:pt x="1993592" y="509013"/>
                  </a:lnTo>
                  <a:lnTo>
                    <a:pt x="1993521" y="509150"/>
                  </a:lnTo>
                  <a:lnTo>
                    <a:pt x="1980294" y="578728"/>
                  </a:lnTo>
                  <a:lnTo>
                    <a:pt x="1980184" y="579127"/>
                  </a:lnTo>
                  <a:lnTo>
                    <a:pt x="1963296" y="648741"/>
                  </a:lnTo>
                  <a:lnTo>
                    <a:pt x="1943525" y="715985"/>
                  </a:lnTo>
                  <a:lnTo>
                    <a:pt x="1920593" y="781882"/>
                  </a:lnTo>
                  <a:lnTo>
                    <a:pt x="1894933" y="845597"/>
                  </a:lnTo>
                  <a:lnTo>
                    <a:pt x="1865621" y="909573"/>
                  </a:lnTo>
                  <a:lnTo>
                    <a:pt x="1833506" y="971549"/>
                  </a:lnTo>
                  <a:lnTo>
                    <a:pt x="1798663" y="1031415"/>
                  </a:lnTo>
                  <a:lnTo>
                    <a:pt x="1760839" y="1090182"/>
                  </a:lnTo>
                  <a:lnTo>
                    <a:pt x="1760718" y="1090311"/>
                  </a:lnTo>
                  <a:lnTo>
                    <a:pt x="1720236" y="1146885"/>
                  </a:lnTo>
                  <a:lnTo>
                    <a:pt x="1719567" y="1147794"/>
                  </a:lnTo>
                  <a:lnTo>
                    <a:pt x="1677044" y="1201560"/>
                  </a:lnTo>
                  <a:lnTo>
                    <a:pt x="1676977" y="1201744"/>
                  </a:lnTo>
                  <a:lnTo>
                    <a:pt x="1632381" y="1252886"/>
                  </a:lnTo>
                  <a:lnTo>
                    <a:pt x="1582940" y="1304527"/>
                  </a:lnTo>
                  <a:lnTo>
                    <a:pt x="1532275" y="1352571"/>
                  </a:lnTo>
                  <a:lnTo>
                    <a:pt x="1532075" y="1352729"/>
                  </a:lnTo>
                  <a:lnTo>
                    <a:pt x="1531108" y="1353645"/>
                  </a:lnTo>
                  <a:lnTo>
                    <a:pt x="1479193" y="1398167"/>
                  </a:lnTo>
                  <a:lnTo>
                    <a:pt x="1478992" y="1398314"/>
                  </a:lnTo>
                  <a:lnTo>
                    <a:pt x="1478130" y="1399053"/>
                  </a:lnTo>
                  <a:lnTo>
                    <a:pt x="1423819" y="1441354"/>
                  </a:lnTo>
                  <a:lnTo>
                    <a:pt x="1423681" y="1441484"/>
                  </a:lnTo>
                  <a:lnTo>
                    <a:pt x="1366303" y="1481759"/>
                  </a:lnTo>
                  <a:lnTo>
                    <a:pt x="1365971" y="1481896"/>
                  </a:lnTo>
                  <a:lnTo>
                    <a:pt x="1305956" y="1519834"/>
                  </a:lnTo>
                  <a:lnTo>
                    <a:pt x="1244437" y="1554511"/>
                  </a:lnTo>
                  <a:lnTo>
                    <a:pt x="1180305" y="1586737"/>
                  </a:lnTo>
                  <a:lnTo>
                    <a:pt x="1114560" y="1615651"/>
                  </a:lnTo>
                  <a:lnTo>
                    <a:pt x="1046851" y="1641474"/>
                  </a:lnTo>
                  <a:lnTo>
                    <a:pt x="977304" y="1663953"/>
                  </a:lnTo>
                  <a:lnTo>
                    <a:pt x="906152" y="1683129"/>
                  </a:lnTo>
                  <a:lnTo>
                    <a:pt x="905952" y="1683129"/>
                  </a:lnTo>
                  <a:lnTo>
                    <a:pt x="833645" y="1698820"/>
                  </a:lnTo>
                  <a:lnTo>
                    <a:pt x="893711" y="1698820"/>
                  </a:lnTo>
                  <a:lnTo>
                    <a:pt x="909322" y="1695449"/>
                  </a:lnTo>
                  <a:lnTo>
                    <a:pt x="980731" y="1676272"/>
                  </a:lnTo>
                  <a:lnTo>
                    <a:pt x="1051308" y="1653285"/>
                  </a:lnTo>
                  <a:lnTo>
                    <a:pt x="1119507" y="1627377"/>
                  </a:lnTo>
                  <a:lnTo>
                    <a:pt x="1185928" y="1598167"/>
                  </a:lnTo>
                  <a:lnTo>
                    <a:pt x="1250317" y="1565782"/>
                  </a:lnTo>
                  <a:lnTo>
                    <a:pt x="1312801" y="1530476"/>
                  </a:lnTo>
                  <a:lnTo>
                    <a:pt x="1373126" y="1492376"/>
                  </a:lnTo>
                  <a:lnTo>
                    <a:pt x="1431292" y="1451609"/>
                  </a:lnTo>
                  <a:lnTo>
                    <a:pt x="1487172" y="1408048"/>
                  </a:lnTo>
                  <a:lnTo>
                    <a:pt x="1540766" y="1362074"/>
                  </a:lnTo>
                  <a:lnTo>
                    <a:pt x="1591947" y="1313560"/>
                  </a:lnTo>
                  <a:lnTo>
                    <a:pt x="1640588" y="1262760"/>
                  </a:lnTo>
                  <a:lnTo>
                    <a:pt x="1686816" y="1209674"/>
                  </a:lnTo>
                  <a:lnTo>
                    <a:pt x="1730377" y="1154683"/>
                  </a:lnTo>
                  <a:lnTo>
                    <a:pt x="1771144" y="1097533"/>
                  </a:lnTo>
                  <a:lnTo>
                    <a:pt x="1809244" y="1038478"/>
                  </a:lnTo>
                  <a:lnTo>
                    <a:pt x="1844550" y="977772"/>
                  </a:lnTo>
                  <a:lnTo>
                    <a:pt x="1876935" y="915288"/>
                  </a:lnTo>
                  <a:lnTo>
                    <a:pt x="1906399" y="851280"/>
                  </a:lnTo>
                  <a:lnTo>
                    <a:pt x="1932688" y="785748"/>
                  </a:lnTo>
                  <a:lnTo>
                    <a:pt x="1955929" y="718946"/>
                  </a:lnTo>
                  <a:lnTo>
                    <a:pt x="1975868" y="650874"/>
                  </a:lnTo>
                  <a:lnTo>
                    <a:pt x="1992632" y="581659"/>
                  </a:lnTo>
                  <a:lnTo>
                    <a:pt x="2006094" y="511428"/>
                  </a:lnTo>
                  <a:lnTo>
                    <a:pt x="2015919" y="440765"/>
                  </a:lnTo>
                  <a:lnTo>
                    <a:pt x="2016000" y="440181"/>
                  </a:lnTo>
                  <a:lnTo>
                    <a:pt x="2022477" y="368299"/>
                  </a:lnTo>
                  <a:lnTo>
                    <a:pt x="2025398" y="295528"/>
                  </a:lnTo>
                  <a:lnTo>
                    <a:pt x="2024643" y="222938"/>
                  </a:lnTo>
                  <a:lnTo>
                    <a:pt x="2024636" y="222249"/>
                  </a:lnTo>
                  <a:lnTo>
                    <a:pt x="2020419" y="150198"/>
                  </a:lnTo>
                  <a:lnTo>
                    <a:pt x="2020318" y="148462"/>
                  </a:lnTo>
                  <a:lnTo>
                    <a:pt x="2012063" y="74294"/>
                  </a:lnTo>
                  <a:lnTo>
                    <a:pt x="1999998" y="0"/>
                  </a:lnTo>
                  <a:close/>
                </a:path>
                <a:path w="2025650" h="1737360">
                  <a:moveTo>
                    <a:pt x="254023" y="1690144"/>
                  </a:moveTo>
                  <a:lnTo>
                    <a:pt x="256074" y="1690623"/>
                  </a:lnTo>
                  <a:lnTo>
                    <a:pt x="256413" y="1690623"/>
                  </a:lnTo>
                  <a:lnTo>
                    <a:pt x="254023" y="1690144"/>
                  </a:lnTo>
                  <a:close/>
                </a:path>
                <a:path w="2025650" h="1737360">
                  <a:moveTo>
                    <a:pt x="85981" y="1608200"/>
                  </a:moveTo>
                  <a:lnTo>
                    <a:pt x="0" y="1616310"/>
                  </a:lnTo>
                  <a:lnTo>
                    <a:pt x="1243" y="1616310"/>
                  </a:lnTo>
                  <a:lnTo>
                    <a:pt x="58422" y="1679320"/>
                  </a:lnTo>
                  <a:lnTo>
                    <a:pt x="69978" y="1649499"/>
                  </a:lnTo>
                  <a:lnTo>
                    <a:pt x="58168" y="1645157"/>
                  </a:lnTo>
                  <a:lnTo>
                    <a:pt x="62486" y="1633219"/>
                  </a:lnTo>
                  <a:lnTo>
                    <a:pt x="76286" y="1633219"/>
                  </a:lnTo>
                  <a:lnTo>
                    <a:pt x="85981" y="1608200"/>
                  </a:lnTo>
                  <a:close/>
                </a:path>
                <a:path w="2025650" h="1737360">
                  <a:moveTo>
                    <a:pt x="203019" y="1677988"/>
                  </a:moveTo>
                  <a:lnTo>
                    <a:pt x="204555" y="1678409"/>
                  </a:lnTo>
                  <a:lnTo>
                    <a:pt x="204785" y="1678409"/>
                  </a:lnTo>
                  <a:lnTo>
                    <a:pt x="203019" y="1677988"/>
                  </a:lnTo>
                  <a:close/>
                </a:path>
                <a:path w="2025650" h="1737360">
                  <a:moveTo>
                    <a:pt x="152965" y="1663953"/>
                  </a:moveTo>
                  <a:lnTo>
                    <a:pt x="153626" y="1664184"/>
                  </a:lnTo>
                  <a:lnTo>
                    <a:pt x="153789" y="1664184"/>
                  </a:lnTo>
                  <a:lnTo>
                    <a:pt x="152965" y="1663953"/>
                  </a:lnTo>
                  <a:close/>
                </a:path>
                <a:path w="2025650" h="1737360">
                  <a:moveTo>
                    <a:pt x="62486" y="1633219"/>
                  </a:moveTo>
                  <a:lnTo>
                    <a:pt x="58168" y="1645157"/>
                  </a:lnTo>
                  <a:lnTo>
                    <a:pt x="69978" y="1649499"/>
                  </a:lnTo>
                  <a:lnTo>
                    <a:pt x="74561" y="1637672"/>
                  </a:lnTo>
                  <a:lnTo>
                    <a:pt x="62486" y="1633219"/>
                  </a:lnTo>
                  <a:close/>
                </a:path>
                <a:path w="2025650" h="1737360">
                  <a:moveTo>
                    <a:pt x="76286" y="1633219"/>
                  </a:moveTo>
                  <a:lnTo>
                    <a:pt x="62486" y="1633219"/>
                  </a:lnTo>
                  <a:lnTo>
                    <a:pt x="74599" y="1637672"/>
                  </a:lnTo>
                  <a:lnTo>
                    <a:pt x="76286" y="1633219"/>
                  </a:lnTo>
                  <a:close/>
                </a:path>
                <a:path w="2025650" h="1737360">
                  <a:moveTo>
                    <a:pt x="1114586" y="1615651"/>
                  </a:moveTo>
                  <a:lnTo>
                    <a:pt x="1114361" y="1615651"/>
                  </a:lnTo>
                  <a:lnTo>
                    <a:pt x="1112859" y="1616310"/>
                  </a:lnTo>
                  <a:lnTo>
                    <a:pt x="1114586" y="1615651"/>
                  </a:lnTo>
                  <a:close/>
                </a:path>
                <a:path w="2025650" h="1737360">
                  <a:moveTo>
                    <a:pt x="1367356" y="1481021"/>
                  </a:moveTo>
                  <a:lnTo>
                    <a:pt x="1365972" y="1481896"/>
                  </a:lnTo>
                  <a:lnTo>
                    <a:pt x="1366303" y="1481759"/>
                  </a:lnTo>
                  <a:lnTo>
                    <a:pt x="1367356" y="1481021"/>
                  </a:lnTo>
                  <a:close/>
                </a:path>
                <a:path w="2025650" h="1737360">
                  <a:moveTo>
                    <a:pt x="1677137" y="1201560"/>
                  </a:moveTo>
                  <a:lnTo>
                    <a:pt x="1677000" y="1201560"/>
                  </a:lnTo>
                  <a:lnTo>
                    <a:pt x="1675504" y="1203450"/>
                  </a:lnTo>
                  <a:lnTo>
                    <a:pt x="1677137" y="1201560"/>
                  </a:lnTo>
                  <a:close/>
                </a:path>
              </a:pathLst>
            </a:custGeom>
            <a:solidFill>
              <a:srgbClr val="0031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903720" y="4381042"/>
              <a:ext cx="283845" cy="338455"/>
            </a:xfrm>
            <a:custGeom>
              <a:avLst/>
              <a:gdLst/>
              <a:ahLst/>
              <a:cxnLst/>
              <a:rect l="l" t="t" r="r" b="b"/>
              <a:pathLst>
                <a:path w="283845" h="338454">
                  <a:moveTo>
                    <a:pt x="237744" y="76"/>
                  </a:moveTo>
                  <a:lnTo>
                    <a:pt x="193929" y="76"/>
                  </a:lnTo>
                  <a:lnTo>
                    <a:pt x="193929" y="202133"/>
                  </a:lnTo>
                  <a:lnTo>
                    <a:pt x="193929" y="242392"/>
                  </a:lnTo>
                  <a:lnTo>
                    <a:pt x="51308" y="242392"/>
                  </a:lnTo>
                  <a:lnTo>
                    <a:pt x="51308" y="202133"/>
                  </a:lnTo>
                  <a:lnTo>
                    <a:pt x="83820" y="179882"/>
                  </a:lnTo>
                  <a:lnTo>
                    <a:pt x="122555" y="172415"/>
                  </a:lnTo>
                  <a:lnTo>
                    <a:pt x="129908" y="172974"/>
                  </a:lnTo>
                  <a:lnTo>
                    <a:pt x="170141" y="183680"/>
                  </a:lnTo>
                  <a:lnTo>
                    <a:pt x="193929" y="202133"/>
                  </a:lnTo>
                  <a:lnTo>
                    <a:pt x="193929" y="76"/>
                  </a:lnTo>
                  <a:lnTo>
                    <a:pt x="157988" y="76"/>
                  </a:lnTo>
                  <a:lnTo>
                    <a:pt x="157988" y="128473"/>
                  </a:lnTo>
                  <a:lnTo>
                    <a:pt x="155244" y="142062"/>
                  </a:lnTo>
                  <a:lnTo>
                    <a:pt x="155219" y="142227"/>
                  </a:lnTo>
                  <a:lnTo>
                    <a:pt x="147739" y="153111"/>
                  </a:lnTo>
                  <a:lnTo>
                    <a:pt x="147650" y="153263"/>
                  </a:lnTo>
                  <a:lnTo>
                    <a:pt x="136385" y="160604"/>
                  </a:lnTo>
                  <a:lnTo>
                    <a:pt x="122555" y="163271"/>
                  </a:lnTo>
                  <a:lnTo>
                    <a:pt x="109029" y="160604"/>
                  </a:lnTo>
                  <a:lnTo>
                    <a:pt x="108839" y="160604"/>
                  </a:lnTo>
                  <a:lnTo>
                    <a:pt x="97497" y="153111"/>
                  </a:lnTo>
                  <a:lnTo>
                    <a:pt x="90017" y="142227"/>
                  </a:lnTo>
                  <a:lnTo>
                    <a:pt x="89903" y="142062"/>
                  </a:lnTo>
                  <a:lnTo>
                    <a:pt x="87122" y="128473"/>
                  </a:lnTo>
                  <a:lnTo>
                    <a:pt x="89903" y="114973"/>
                  </a:lnTo>
                  <a:lnTo>
                    <a:pt x="97497" y="103949"/>
                  </a:lnTo>
                  <a:lnTo>
                    <a:pt x="108762" y="96532"/>
                  </a:lnTo>
                  <a:lnTo>
                    <a:pt x="122555" y="93802"/>
                  </a:lnTo>
                  <a:lnTo>
                    <a:pt x="136385" y="96532"/>
                  </a:lnTo>
                  <a:lnTo>
                    <a:pt x="147650" y="103949"/>
                  </a:lnTo>
                  <a:lnTo>
                    <a:pt x="155219" y="114973"/>
                  </a:lnTo>
                  <a:lnTo>
                    <a:pt x="157988" y="128473"/>
                  </a:lnTo>
                  <a:lnTo>
                    <a:pt x="157988" y="76"/>
                  </a:lnTo>
                  <a:lnTo>
                    <a:pt x="18669" y="76"/>
                  </a:lnTo>
                  <a:lnTo>
                    <a:pt x="11404" y="1511"/>
                  </a:lnTo>
                  <a:lnTo>
                    <a:pt x="5473" y="5422"/>
                  </a:lnTo>
                  <a:lnTo>
                    <a:pt x="1460" y="11226"/>
                  </a:lnTo>
                  <a:lnTo>
                    <a:pt x="0" y="18364"/>
                  </a:lnTo>
                  <a:lnTo>
                    <a:pt x="0" y="320116"/>
                  </a:lnTo>
                  <a:lnTo>
                    <a:pt x="1460" y="327215"/>
                  </a:lnTo>
                  <a:lnTo>
                    <a:pt x="5473" y="333032"/>
                  </a:lnTo>
                  <a:lnTo>
                    <a:pt x="11404" y="336969"/>
                  </a:lnTo>
                  <a:lnTo>
                    <a:pt x="18669" y="338404"/>
                  </a:lnTo>
                  <a:lnTo>
                    <a:pt x="237744" y="338404"/>
                  </a:lnTo>
                  <a:lnTo>
                    <a:pt x="237744" y="242392"/>
                  </a:lnTo>
                  <a:lnTo>
                    <a:pt x="237744" y="172415"/>
                  </a:lnTo>
                  <a:lnTo>
                    <a:pt x="237744" y="163271"/>
                  </a:lnTo>
                  <a:lnTo>
                    <a:pt x="237744" y="93802"/>
                  </a:lnTo>
                  <a:lnTo>
                    <a:pt x="237744" y="76"/>
                  </a:lnTo>
                  <a:close/>
                </a:path>
                <a:path w="283845" h="338454">
                  <a:moveTo>
                    <a:pt x="283464" y="0"/>
                  </a:moveTo>
                  <a:lnTo>
                    <a:pt x="256032" y="0"/>
                  </a:lnTo>
                  <a:lnTo>
                    <a:pt x="256032" y="338404"/>
                  </a:lnTo>
                  <a:lnTo>
                    <a:pt x="283464" y="338404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3984757" y="2901695"/>
            <a:ext cx="1035685" cy="2573020"/>
            <a:chOff x="3984757" y="2901695"/>
            <a:chExt cx="1035685" cy="2573020"/>
          </a:xfrm>
        </p:grpSpPr>
        <p:sp>
          <p:nvSpPr>
            <p:cNvPr id="23" name="object 23"/>
            <p:cNvSpPr/>
            <p:nvPr/>
          </p:nvSpPr>
          <p:spPr>
            <a:xfrm>
              <a:off x="3984757" y="2901695"/>
              <a:ext cx="839469" cy="2573020"/>
            </a:xfrm>
            <a:custGeom>
              <a:avLst/>
              <a:gdLst/>
              <a:ahLst/>
              <a:cxnLst/>
              <a:rect l="l" t="t" r="r" b="b"/>
              <a:pathLst>
                <a:path w="839470" h="2573020">
                  <a:moveTo>
                    <a:pt x="646974" y="36003"/>
                  </a:moveTo>
                  <a:lnTo>
                    <a:pt x="577844" y="84962"/>
                  </a:lnTo>
                  <a:lnTo>
                    <a:pt x="535934" y="118109"/>
                  </a:lnTo>
                  <a:lnTo>
                    <a:pt x="495167" y="152780"/>
                  </a:lnTo>
                  <a:lnTo>
                    <a:pt x="455924" y="188849"/>
                  </a:lnTo>
                  <a:lnTo>
                    <a:pt x="417951" y="226313"/>
                  </a:lnTo>
                  <a:lnTo>
                    <a:pt x="381248" y="265049"/>
                  </a:lnTo>
                  <a:lnTo>
                    <a:pt x="346196" y="305180"/>
                  </a:lnTo>
                  <a:lnTo>
                    <a:pt x="312541" y="346582"/>
                  </a:lnTo>
                  <a:lnTo>
                    <a:pt x="280410" y="389127"/>
                  </a:lnTo>
                  <a:lnTo>
                    <a:pt x="249676" y="432942"/>
                  </a:lnTo>
                  <a:lnTo>
                    <a:pt x="220720" y="477900"/>
                  </a:lnTo>
                  <a:lnTo>
                    <a:pt x="193161" y="524001"/>
                  </a:lnTo>
                  <a:lnTo>
                    <a:pt x="167507" y="571118"/>
                  </a:lnTo>
                  <a:lnTo>
                    <a:pt x="143377" y="619251"/>
                  </a:lnTo>
                  <a:lnTo>
                    <a:pt x="112516" y="688086"/>
                  </a:lnTo>
                  <a:lnTo>
                    <a:pt x="85719" y="757681"/>
                  </a:lnTo>
                  <a:lnTo>
                    <a:pt x="62478" y="827912"/>
                  </a:lnTo>
                  <a:lnTo>
                    <a:pt x="43047" y="898524"/>
                  </a:lnTo>
                  <a:lnTo>
                    <a:pt x="27172" y="969517"/>
                  </a:lnTo>
                  <a:lnTo>
                    <a:pt x="15107" y="1040891"/>
                  </a:lnTo>
                  <a:lnTo>
                    <a:pt x="6570" y="1111449"/>
                  </a:lnTo>
                  <a:lnTo>
                    <a:pt x="6471" y="1112265"/>
                  </a:lnTo>
                  <a:lnTo>
                    <a:pt x="1518" y="1183512"/>
                  </a:lnTo>
                  <a:lnTo>
                    <a:pt x="0" y="1254505"/>
                  </a:lnTo>
                  <a:lnTo>
                    <a:pt x="2000" y="1324724"/>
                  </a:lnTo>
                  <a:lnTo>
                    <a:pt x="2026" y="1325626"/>
                  </a:lnTo>
                  <a:lnTo>
                    <a:pt x="7225" y="1394451"/>
                  </a:lnTo>
                  <a:lnTo>
                    <a:pt x="7255" y="1394842"/>
                  </a:lnTo>
                  <a:lnTo>
                    <a:pt x="16123" y="1466341"/>
                  </a:lnTo>
                  <a:lnTo>
                    <a:pt x="28188" y="1535810"/>
                  </a:lnTo>
                  <a:lnTo>
                    <a:pt x="43555" y="1604517"/>
                  </a:lnTo>
                  <a:lnTo>
                    <a:pt x="62224" y="1672335"/>
                  </a:lnTo>
                  <a:lnTo>
                    <a:pt x="84068" y="1739137"/>
                  </a:lnTo>
                  <a:lnTo>
                    <a:pt x="108960" y="1804796"/>
                  </a:lnTo>
                  <a:lnTo>
                    <a:pt x="137154" y="1869312"/>
                  </a:lnTo>
                  <a:lnTo>
                    <a:pt x="168269" y="1932431"/>
                  </a:lnTo>
                  <a:lnTo>
                    <a:pt x="202559" y="1994027"/>
                  </a:lnTo>
                  <a:lnTo>
                    <a:pt x="239770" y="2053970"/>
                  </a:lnTo>
                  <a:lnTo>
                    <a:pt x="280029" y="2112264"/>
                  </a:lnTo>
                  <a:lnTo>
                    <a:pt x="322955" y="2168779"/>
                  </a:lnTo>
                  <a:lnTo>
                    <a:pt x="368802" y="2223135"/>
                  </a:lnTo>
                  <a:lnTo>
                    <a:pt x="417570" y="2275585"/>
                  </a:lnTo>
                  <a:lnTo>
                    <a:pt x="469132" y="2325751"/>
                  </a:lnTo>
                  <a:lnTo>
                    <a:pt x="523361" y="2373503"/>
                  </a:lnTo>
                  <a:lnTo>
                    <a:pt x="580130" y="2418841"/>
                  </a:lnTo>
                  <a:lnTo>
                    <a:pt x="639820" y="2461514"/>
                  </a:lnTo>
                  <a:lnTo>
                    <a:pt x="701796" y="2501518"/>
                  </a:lnTo>
                  <a:lnTo>
                    <a:pt x="766566" y="2538603"/>
                  </a:lnTo>
                  <a:lnTo>
                    <a:pt x="833622" y="2572892"/>
                  </a:lnTo>
                  <a:lnTo>
                    <a:pt x="839337" y="2561463"/>
                  </a:lnTo>
                  <a:lnTo>
                    <a:pt x="772827" y="2527575"/>
                  </a:lnTo>
                  <a:lnTo>
                    <a:pt x="708615" y="2490792"/>
                  </a:lnTo>
                  <a:lnTo>
                    <a:pt x="708327" y="2490513"/>
                  </a:lnTo>
                  <a:lnTo>
                    <a:pt x="647000" y="2451040"/>
                  </a:lnTo>
                  <a:lnTo>
                    <a:pt x="587741" y="2408586"/>
                  </a:lnTo>
                  <a:lnTo>
                    <a:pt x="531605" y="2363819"/>
                  </a:lnTo>
                  <a:lnTo>
                    <a:pt x="477634" y="2316226"/>
                  </a:lnTo>
                  <a:lnTo>
                    <a:pt x="426604" y="2266568"/>
                  </a:lnTo>
                  <a:lnTo>
                    <a:pt x="378616" y="2215072"/>
                  </a:lnTo>
                  <a:lnTo>
                    <a:pt x="332970" y="2160862"/>
                  </a:lnTo>
                  <a:lnTo>
                    <a:pt x="290166" y="2104666"/>
                  </a:lnTo>
                  <a:lnTo>
                    <a:pt x="250297" y="2046999"/>
                  </a:lnTo>
                  <a:lnTo>
                    <a:pt x="213334" y="1987185"/>
                  </a:lnTo>
                  <a:lnTo>
                    <a:pt x="180033" y="1927391"/>
                  </a:lnTo>
                  <a:lnTo>
                    <a:pt x="179810" y="1926940"/>
                  </a:lnTo>
                  <a:lnTo>
                    <a:pt x="179667" y="1926734"/>
                  </a:lnTo>
                  <a:lnTo>
                    <a:pt x="148584" y="1863852"/>
                  </a:lnTo>
                  <a:lnTo>
                    <a:pt x="120771" y="1800068"/>
                  </a:lnTo>
                  <a:lnTo>
                    <a:pt x="96333" y="1735555"/>
                  </a:lnTo>
                  <a:lnTo>
                    <a:pt x="96189" y="1735058"/>
                  </a:lnTo>
                  <a:lnTo>
                    <a:pt x="96046" y="1734680"/>
                  </a:lnTo>
                  <a:lnTo>
                    <a:pt x="74421" y="1668755"/>
                  </a:lnTo>
                  <a:lnTo>
                    <a:pt x="56104" y="1602055"/>
                  </a:lnTo>
                  <a:lnTo>
                    <a:pt x="40650" y="1533506"/>
                  </a:lnTo>
                  <a:lnTo>
                    <a:pt x="28712" y="1464679"/>
                  </a:lnTo>
                  <a:lnTo>
                    <a:pt x="19945" y="1395091"/>
                  </a:lnTo>
                  <a:lnTo>
                    <a:pt x="14657" y="1325626"/>
                  </a:lnTo>
                  <a:lnTo>
                    <a:pt x="12704" y="1254886"/>
                  </a:lnTo>
                  <a:lnTo>
                    <a:pt x="14210" y="1184260"/>
                  </a:lnTo>
                  <a:lnTo>
                    <a:pt x="19058" y="1113543"/>
                  </a:lnTo>
                  <a:lnTo>
                    <a:pt x="27570" y="1043444"/>
                  </a:lnTo>
                  <a:lnTo>
                    <a:pt x="27680" y="1042893"/>
                  </a:lnTo>
                  <a:lnTo>
                    <a:pt x="27722" y="1042550"/>
                  </a:lnTo>
                  <a:lnTo>
                    <a:pt x="39637" y="972195"/>
                  </a:lnTo>
                  <a:lnTo>
                    <a:pt x="55250" y="901714"/>
                  </a:lnTo>
                  <a:lnTo>
                    <a:pt x="74554" y="831737"/>
                  </a:lnTo>
                  <a:lnTo>
                    <a:pt x="97531" y="762126"/>
                  </a:lnTo>
                  <a:lnTo>
                    <a:pt x="124225" y="693175"/>
                  </a:lnTo>
                  <a:lnTo>
                    <a:pt x="154820" y="624839"/>
                  </a:lnTo>
                  <a:lnTo>
                    <a:pt x="178683" y="577088"/>
                  </a:lnTo>
                  <a:lnTo>
                    <a:pt x="204070" y="530587"/>
                  </a:lnTo>
                  <a:lnTo>
                    <a:pt x="231059" y="485270"/>
                  </a:lnTo>
                  <a:lnTo>
                    <a:pt x="259648" y="440813"/>
                  </a:lnTo>
                  <a:lnTo>
                    <a:pt x="289857" y="397693"/>
                  </a:lnTo>
                  <a:lnTo>
                    <a:pt x="321533" y="355709"/>
                  </a:lnTo>
                  <a:lnTo>
                    <a:pt x="356179" y="313058"/>
                  </a:lnTo>
                  <a:lnTo>
                    <a:pt x="390646" y="273684"/>
                  </a:lnTo>
                  <a:lnTo>
                    <a:pt x="426968" y="235203"/>
                  </a:lnTo>
                  <a:lnTo>
                    <a:pt x="464535" y="198143"/>
                  </a:lnTo>
                  <a:lnTo>
                    <a:pt x="503375" y="162455"/>
                  </a:lnTo>
                  <a:lnTo>
                    <a:pt x="503522" y="162455"/>
                  </a:lnTo>
                  <a:lnTo>
                    <a:pt x="544039" y="127843"/>
                  </a:lnTo>
                  <a:lnTo>
                    <a:pt x="585002" y="95461"/>
                  </a:lnTo>
                  <a:lnTo>
                    <a:pt x="628231" y="63792"/>
                  </a:lnTo>
                  <a:lnTo>
                    <a:pt x="629221" y="63111"/>
                  </a:lnTo>
                  <a:lnTo>
                    <a:pt x="653806" y="46652"/>
                  </a:lnTo>
                  <a:lnTo>
                    <a:pt x="646974" y="36003"/>
                  </a:lnTo>
                  <a:close/>
                </a:path>
                <a:path w="839470" h="2573020">
                  <a:moveTo>
                    <a:pt x="708327" y="2490513"/>
                  </a:moveTo>
                  <a:lnTo>
                    <a:pt x="708615" y="2490792"/>
                  </a:lnTo>
                  <a:lnTo>
                    <a:pt x="709943" y="2491553"/>
                  </a:lnTo>
                  <a:lnTo>
                    <a:pt x="708804" y="2490792"/>
                  </a:lnTo>
                  <a:lnTo>
                    <a:pt x="708327" y="2490513"/>
                  </a:lnTo>
                  <a:close/>
                </a:path>
                <a:path w="839470" h="2573020">
                  <a:moveTo>
                    <a:pt x="503538" y="162455"/>
                  </a:moveTo>
                  <a:lnTo>
                    <a:pt x="503375" y="162455"/>
                  </a:lnTo>
                  <a:lnTo>
                    <a:pt x="501413" y="164258"/>
                  </a:lnTo>
                  <a:lnTo>
                    <a:pt x="503538" y="162455"/>
                  </a:lnTo>
                  <a:close/>
                </a:path>
                <a:path w="839470" h="2573020">
                  <a:moveTo>
                    <a:pt x="697126" y="28955"/>
                  </a:moveTo>
                  <a:lnTo>
                    <a:pt x="657473" y="28955"/>
                  </a:lnTo>
                  <a:lnTo>
                    <a:pt x="664458" y="39496"/>
                  </a:lnTo>
                  <a:lnTo>
                    <a:pt x="653806" y="46652"/>
                  </a:lnTo>
                  <a:lnTo>
                    <a:pt x="670808" y="73151"/>
                  </a:lnTo>
                  <a:lnTo>
                    <a:pt x="697126" y="28955"/>
                  </a:lnTo>
                  <a:close/>
                </a:path>
                <a:path w="839470" h="2573020">
                  <a:moveTo>
                    <a:pt x="657473" y="28955"/>
                  </a:moveTo>
                  <a:lnTo>
                    <a:pt x="646974" y="36003"/>
                  </a:lnTo>
                  <a:lnTo>
                    <a:pt x="653806" y="46652"/>
                  </a:lnTo>
                  <a:lnTo>
                    <a:pt x="664458" y="39496"/>
                  </a:lnTo>
                  <a:lnTo>
                    <a:pt x="657473" y="28955"/>
                  </a:lnTo>
                  <a:close/>
                </a:path>
                <a:path w="839470" h="2573020">
                  <a:moveTo>
                    <a:pt x="714369" y="0"/>
                  </a:moveTo>
                  <a:lnTo>
                    <a:pt x="629660" y="9016"/>
                  </a:lnTo>
                  <a:lnTo>
                    <a:pt x="646974" y="36003"/>
                  </a:lnTo>
                  <a:lnTo>
                    <a:pt x="657473" y="28955"/>
                  </a:lnTo>
                  <a:lnTo>
                    <a:pt x="697126" y="28955"/>
                  </a:lnTo>
                  <a:lnTo>
                    <a:pt x="714369" y="0"/>
                  </a:lnTo>
                  <a:close/>
                </a:path>
              </a:pathLst>
            </a:custGeom>
            <a:solidFill>
              <a:srgbClr val="0031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681728" y="4024375"/>
              <a:ext cx="338455" cy="292735"/>
            </a:xfrm>
            <a:custGeom>
              <a:avLst/>
              <a:gdLst/>
              <a:ahLst/>
              <a:cxnLst/>
              <a:rect l="l" t="t" r="r" b="b"/>
              <a:pathLst>
                <a:path w="338454" h="292735">
                  <a:moveTo>
                    <a:pt x="338328" y="155448"/>
                  </a:moveTo>
                  <a:lnTo>
                    <a:pt x="194564" y="155448"/>
                  </a:lnTo>
                  <a:lnTo>
                    <a:pt x="194564" y="164084"/>
                  </a:lnTo>
                  <a:lnTo>
                    <a:pt x="194564" y="173482"/>
                  </a:lnTo>
                  <a:lnTo>
                    <a:pt x="186944" y="181229"/>
                  </a:lnTo>
                  <a:lnTo>
                    <a:pt x="151384" y="181229"/>
                  </a:lnTo>
                  <a:lnTo>
                    <a:pt x="143764" y="173482"/>
                  </a:lnTo>
                  <a:lnTo>
                    <a:pt x="143764" y="155448"/>
                  </a:lnTo>
                  <a:lnTo>
                    <a:pt x="0" y="155448"/>
                  </a:lnTo>
                  <a:lnTo>
                    <a:pt x="0" y="284988"/>
                  </a:lnTo>
                  <a:lnTo>
                    <a:pt x="7620" y="292608"/>
                  </a:lnTo>
                  <a:lnTo>
                    <a:pt x="330708" y="292608"/>
                  </a:lnTo>
                  <a:lnTo>
                    <a:pt x="338328" y="284988"/>
                  </a:lnTo>
                  <a:lnTo>
                    <a:pt x="338328" y="155448"/>
                  </a:lnTo>
                  <a:close/>
                </a:path>
                <a:path w="338454" h="292735">
                  <a:moveTo>
                    <a:pt x="338328" y="62611"/>
                  </a:moveTo>
                  <a:lnTo>
                    <a:pt x="330708" y="55245"/>
                  </a:lnTo>
                  <a:lnTo>
                    <a:pt x="236855" y="55245"/>
                  </a:lnTo>
                  <a:lnTo>
                    <a:pt x="236855" y="28702"/>
                  </a:lnTo>
                  <a:lnTo>
                    <a:pt x="235991" y="24511"/>
                  </a:lnTo>
                  <a:lnTo>
                    <a:pt x="234543" y="17475"/>
                  </a:lnTo>
                  <a:lnTo>
                    <a:pt x="228244" y="8356"/>
                  </a:lnTo>
                  <a:lnTo>
                    <a:pt x="218846" y="2235"/>
                  </a:lnTo>
                  <a:lnTo>
                    <a:pt x="211455" y="812"/>
                  </a:lnTo>
                  <a:lnTo>
                    <a:pt x="211455" y="26162"/>
                  </a:lnTo>
                  <a:lnTo>
                    <a:pt x="211455" y="55245"/>
                  </a:lnTo>
                  <a:lnTo>
                    <a:pt x="126873" y="55245"/>
                  </a:lnTo>
                  <a:lnTo>
                    <a:pt x="126873" y="26162"/>
                  </a:lnTo>
                  <a:lnTo>
                    <a:pt x="128524" y="24511"/>
                  </a:lnTo>
                  <a:lnTo>
                    <a:pt x="209804" y="24511"/>
                  </a:lnTo>
                  <a:lnTo>
                    <a:pt x="211455" y="26162"/>
                  </a:lnTo>
                  <a:lnTo>
                    <a:pt x="211455" y="812"/>
                  </a:lnTo>
                  <a:lnTo>
                    <a:pt x="207264" y="0"/>
                  </a:lnTo>
                  <a:lnTo>
                    <a:pt x="131064" y="0"/>
                  </a:lnTo>
                  <a:lnTo>
                    <a:pt x="119468" y="2235"/>
                  </a:lnTo>
                  <a:lnTo>
                    <a:pt x="110070" y="8356"/>
                  </a:lnTo>
                  <a:lnTo>
                    <a:pt x="103771" y="17475"/>
                  </a:lnTo>
                  <a:lnTo>
                    <a:pt x="101473" y="28702"/>
                  </a:lnTo>
                  <a:lnTo>
                    <a:pt x="101473" y="55245"/>
                  </a:lnTo>
                  <a:lnTo>
                    <a:pt x="7620" y="55245"/>
                  </a:lnTo>
                  <a:lnTo>
                    <a:pt x="0" y="62611"/>
                  </a:lnTo>
                  <a:lnTo>
                    <a:pt x="0" y="137160"/>
                  </a:lnTo>
                  <a:lnTo>
                    <a:pt x="143764" y="137160"/>
                  </a:lnTo>
                  <a:lnTo>
                    <a:pt x="143764" y="129032"/>
                  </a:lnTo>
                  <a:lnTo>
                    <a:pt x="194564" y="129032"/>
                  </a:lnTo>
                  <a:lnTo>
                    <a:pt x="194564" y="137160"/>
                  </a:lnTo>
                  <a:lnTo>
                    <a:pt x="338328" y="137160"/>
                  </a:lnTo>
                  <a:lnTo>
                    <a:pt x="338328" y="129032"/>
                  </a:lnTo>
                  <a:lnTo>
                    <a:pt x="338328" y="62611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2"/>
            <a:ext cx="12188952" cy="685793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69492" y="380492"/>
            <a:ext cx="4415790" cy="948690"/>
          </a:xfrm>
          <a:prstGeom prst="rect"/>
        </p:spPr>
        <p:txBody>
          <a:bodyPr wrap="square" lIns="0" tIns="64135" rIns="0" bIns="0" rtlCol="0" vert="horz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05"/>
              </a:spcBef>
            </a:pPr>
            <a:r>
              <a:rPr dirty="0">
                <a:solidFill>
                  <a:srgbClr val="003E34"/>
                </a:solidFill>
              </a:rPr>
              <a:t>Fabric</a:t>
            </a:r>
            <a:r>
              <a:rPr dirty="0" spc="75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Healthcare</a:t>
            </a:r>
            <a:r>
              <a:rPr dirty="0" spc="80">
                <a:solidFill>
                  <a:srgbClr val="003E34"/>
                </a:solidFill>
              </a:rPr>
              <a:t> </a:t>
            </a:r>
            <a:r>
              <a:rPr dirty="0" spc="-20">
                <a:solidFill>
                  <a:srgbClr val="003E34"/>
                </a:solidFill>
              </a:rPr>
              <a:t>Data </a:t>
            </a:r>
            <a:r>
              <a:rPr dirty="0" spc="-10">
                <a:solidFill>
                  <a:srgbClr val="003E34"/>
                </a:solidFill>
              </a:rPr>
              <a:t>Solutions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4983" y="1609763"/>
            <a:ext cx="9966960" cy="46645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17194" y="1572971"/>
            <a:ext cx="10543540" cy="1421130"/>
          </a:xfrm>
          <a:prstGeom prst="rect"/>
        </p:spPr>
        <p:txBody>
          <a:bodyPr wrap="square" lIns="0" tIns="99060" rIns="0" bIns="0" rtlCol="0" vert="horz">
            <a:spAutoFit/>
          </a:bodyPr>
          <a:lstStyle/>
          <a:p>
            <a:pPr marL="12700" marR="5080">
              <a:lnSpc>
                <a:spcPts val="5190"/>
              </a:lnSpc>
              <a:spcBef>
                <a:spcPts val="780"/>
              </a:spcBef>
            </a:pPr>
            <a:r>
              <a:rPr dirty="0" sz="4800"/>
              <a:t>The</a:t>
            </a:r>
            <a:r>
              <a:rPr dirty="0" sz="4800" spc="-114"/>
              <a:t> </a:t>
            </a:r>
            <a:r>
              <a:rPr dirty="0" sz="4800"/>
              <a:t>case:</a:t>
            </a:r>
            <a:r>
              <a:rPr dirty="0" sz="4800" spc="-55"/>
              <a:t> </a:t>
            </a:r>
            <a:r>
              <a:rPr dirty="0" sz="4800"/>
              <a:t>knee</a:t>
            </a:r>
            <a:r>
              <a:rPr dirty="0" sz="4800" spc="-105"/>
              <a:t> </a:t>
            </a:r>
            <a:r>
              <a:rPr dirty="0" sz="4800"/>
              <a:t>replacement</a:t>
            </a:r>
            <a:r>
              <a:rPr dirty="0" sz="4800" spc="-55"/>
              <a:t> </a:t>
            </a:r>
            <a:r>
              <a:rPr dirty="0" sz="4800"/>
              <a:t>on</a:t>
            </a:r>
            <a:r>
              <a:rPr dirty="0" sz="4800" spc="-80"/>
              <a:t> </a:t>
            </a:r>
            <a:r>
              <a:rPr dirty="0" sz="4800" spc="-25"/>
              <a:t>NHS </a:t>
            </a:r>
            <a:r>
              <a:rPr dirty="0" sz="4800" spc="-10"/>
              <a:t>PROMs</a:t>
            </a:r>
            <a:endParaRPr sz="4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4852" rIns="0" bIns="0" rtlCol="0" vert="horz">
            <a:spAutoFit/>
          </a:bodyPr>
          <a:lstStyle/>
          <a:p>
            <a:pPr marL="31750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003E34"/>
                </a:solidFill>
              </a:rPr>
              <a:t>NHS</a:t>
            </a:r>
            <a:r>
              <a:rPr dirty="0" spc="60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PROMs:</a:t>
            </a:r>
            <a:r>
              <a:rPr dirty="0" spc="45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what</a:t>
            </a:r>
            <a:r>
              <a:rPr dirty="0" spc="50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is</a:t>
            </a:r>
            <a:r>
              <a:rPr dirty="0" spc="60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actually</a:t>
            </a:r>
            <a:r>
              <a:rPr dirty="0" spc="60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in</a:t>
            </a:r>
            <a:r>
              <a:rPr dirty="0" spc="40">
                <a:solidFill>
                  <a:srgbClr val="003E34"/>
                </a:solidFill>
              </a:rPr>
              <a:t> </a:t>
            </a:r>
            <a:r>
              <a:rPr dirty="0" spc="-35">
                <a:solidFill>
                  <a:srgbClr val="003E34"/>
                </a:solidFill>
              </a:rPr>
              <a:t>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7511" y="1708911"/>
            <a:ext cx="4722495" cy="32435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5"/>
              </a:spcBef>
              <a:buChar char="•"/>
              <a:tabLst>
                <a:tab pos="240665" algn="l"/>
              </a:tabLst>
            </a:pP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DATA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9"/>
              </a:spcBef>
              <a:buFont typeface="Arial MT"/>
              <a:buChar char="•"/>
            </a:pPr>
            <a:endParaRPr sz="1200">
              <a:latin typeface="Arial MT"/>
              <a:cs typeface="Arial MT"/>
            </a:endParaRPr>
          </a:p>
          <a:p>
            <a:pPr marL="240665" indent="-227965">
              <a:lnSpc>
                <a:spcPts val="1370"/>
              </a:lnSpc>
              <a:spcBef>
                <a:spcPts val="5"/>
              </a:spcBef>
              <a:buChar char="•"/>
              <a:tabLst>
                <a:tab pos="240665" algn="l"/>
              </a:tabLst>
            </a:pPr>
            <a:r>
              <a:rPr dirty="0" sz="1200">
                <a:latin typeface="Arial MT"/>
                <a:cs typeface="Arial MT"/>
              </a:rPr>
              <a:t>NHS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PROMs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national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data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pack,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knee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replacement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cohort,</a:t>
            </a:r>
            <a:endParaRPr sz="1200">
              <a:latin typeface="Arial MT"/>
              <a:cs typeface="Arial MT"/>
            </a:endParaRPr>
          </a:p>
          <a:p>
            <a:pPr marL="241300">
              <a:lnSpc>
                <a:spcPts val="1370"/>
              </a:lnSpc>
            </a:pPr>
            <a:r>
              <a:rPr dirty="0" sz="1200">
                <a:latin typeface="Arial MT"/>
                <a:cs typeface="Arial MT"/>
              </a:rPr>
              <a:t>anonymised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source</a:t>
            </a:r>
            <a:endParaRPr sz="1200">
              <a:latin typeface="Arial MT"/>
              <a:cs typeface="Arial MT"/>
            </a:endParaRPr>
          </a:p>
          <a:p>
            <a:pPr marL="240665" indent="-227965">
              <a:lnSpc>
                <a:spcPts val="1370"/>
              </a:lnSpc>
              <a:spcBef>
                <a:spcPts val="865"/>
              </a:spcBef>
              <a:buChar char="•"/>
              <a:tabLst>
                <a:tab pos="240665" algn="l"/>
              </a:tabLst>
            </a:pPr>
            <a:r>
              <a:rPr dirty="0" sz="1200">
                <a:latin typeface="Arial MT"/>
                <a:cs typeface="Arial MT"/>
              </a:rPr>
              <a:t>One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row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per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patient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episode;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roughly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46,000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procedures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year</a:t>
            </a:r>
            <a:endParaRPr sz="1200">
              <a:latin typeface="Arial MT"/>
              <a:cs typeface="Arial MT"/>
            </a:endParaRPr>
          </a:p>
          <a:p>
            <a:pPr marL="241300">
              <a:lnSpc>
                <a:spcPts val="1370"/>
              </a:lnSpc>
            </a:pPr>
            <a:r>
              <a:rPr dirty="0" sz="1200">
                <a:latin typeface="Arial MT"/>
                <a:cs typeface="Arial MT"/>
              </a:rPr>
              <a:t>across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collection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window</a:t>
            </a:r>
            <a:endParaRPr sz="1200">
              <a:latin typeface="Arial MT"/>
              <a:cs typeface="Arial MT"/>
            </a:endParaRPr>
          </a:p>
          <a:p>
            <a:pPr marL="241300" marR="5080" indent="-228600">
              <a:lnSpc>
                <a:spcPts val="1300"/>
              </a:lnSpc>
              <a:spcBef>
                <a:spcPts val="1030"/>
              </a:spcBef>
              <a:buChar char="•"/>
              <a:tabLst>
                <a:tab pos="241300" algn="l"/>
              </a:tabLst>
            </a:pPr>
            <a:r>
              <a:rPr dirty="0" sz="1200" spc="-10">
                <a:latin typeface="Arial MT"/>
                <a:cs typeface="Arial MT"/>
              </a:rPr>
              <a:t>Pre-</a:t>
            </a:r>
            <a:r>
              <a:rPr dirty="0" sz="1200">
                <a:latin typeface="Arial MT"/>
                <a:cs typeface="Arial MT"/>
              </a:rPr>
              <a:t>operative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questionnaire: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Oxford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Knee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Score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0–48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with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pain, </a:t>
            </a:r>
            <a:r>
              <a:rPr dirty="0" sz="1200">
                <a:latin typeface="Arial MT"/>
                <a:cs typeface="Arial MT"/>
              </a:rPr>
              <a:t>function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and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ADL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subscales; </a:t>
            </a:r>
            <a:r>
              <a:rPr dirty="0" sz="1200" spc="-10">
                <a:latin typeface="Arial MT"/>
                <a:cs typeface="Arial MT"/>
              </a:rPr>
              <a:t>EQ-5D-</a:t>
            </a:r>
            <a:r>
              <a:rPr dirty="0" sz="1200">
                <a:latin typeface="Arial MT"/>
                <a:cs typeface="Arial MT"/>
              </a:rPr>
              <a:t>3L; symptom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period;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previous </a:t>
            </a:r>
            <a:r>
              <a:rPr dirty="0" sz="1200">
                <a:latin typeface="Arial MT"/>
                <a:cs typeface="Arial MT"/>
              </a:rPr>
              <a:t>surgery;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living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arrangements;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mobility</a:t>
            </a:r>
            <a:endParaRPr sz="1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840"/>
              </a:spcBef>
              <a:buChar char="•"/>
              <a:tabLst>
                <a:tab pos="240665" algn="l"/>
              </a:tabLst>
            </a:pPr>
            <a:r>
              <a:rPr dirty="0" sz="1200" spc="-10">
                <a:latin typeface="Arial MT"/>
                <a:cs typeface="Arial MT"/>
              </a:rPr>
              <a:t>Twelve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comorbidity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flags</a:t>
            </a:r>
            <a:endParaRPr sz="1200">
              <a:latin typeface="Arial MT"/>
              <a:cs typeface="Arial MT"/>
            </a:endParaRPr>
          </a:p>
          <a:p>
            <a:pPr marL="240665" indent="-227965">
              <a:lnSpc>
                <a:spcPts val="1370"/>
              </a:lnSpc>
              <a:spcBef>
                <a:spcPts val="869"/>
              </a:spcBef>
              <a:buChar char="•"/>
              <a:tabLst>
                <a:tab pos="240665" algn="l"/>
              </a:tabLst>
            </a:pPr>
            <a:r>
              <a:rPr dirty="0" sz="1200">
                <a:latin typeface="Arial MT"/>
                <a:cs typeface="Arial MT"/>
              </a:rPr>
              <a:t>Provider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dimension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joined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in: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ODS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code,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university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/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independent</a:t>
            </a:r>
            <a:endParaRPr sz="1200">
              <a:latin typeface="Arial MT"/>
              <a:cs typeface="Arial MT"/>
            </a:endParaRPr>
          </a:p>
          <a:p>
            <a:pPr marL="241300">
              <a:lnSpc>
                <a:spcPts val="1370"/>
              </a:lnSpc>
            </a:pPr>
            <a:r>
              <a:rPr dirty="0" sz="1200" spc="-10">
                <a:latin typeface="Arial MT"/>
                <a:cs typeface="Arial MT"/>
              </a:rPr>
              <a:t>status</a:t>
            </a:r>
            <a:endParaRPr sz="1200">
              <a:latin typeface="Arial MT"/>
              <a:cs typeface="Arial MT"/>
            </a:endParaRPr>
          </a:p>
          <a:p>
            <a:pPr marL="240665" indent="-227965">
              <a:lnSpc>
                <a:spcPts val="137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dirty="0" sz="1200" spc="-10">
                <a:latin typeface="Arial MT"/>
                <a:cs typeface="Arial MT"/>
              </a:rPr>
              <a:t>Post-</a:t>
            </a:r>
            <a:r>
              <a:rPr dirty="0" sz="1200">
                <a:latin typeface="Arial MT"/>
                <a:cs typeface="Arial MT"/>
              </a:rPr>
              <a:t>operative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OKS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six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months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—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when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patient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returns</a:t>
            </a:r>
            <a:r>
              <a:rPr dirty="0" sz="1200" spc="-25">
                <a:latin typeface="Arial MT"/>
                <a:cs typeface="Arial MT"/>
              </a:rPr>
              <a:t> the</a:t>
            </a:r>
            <a:endParaRPr sz="1200">
              <a:latin typeface="Arial MT"/>
              <a:cs typeface="Arial MT"/>
            </a:endParaRPr>
          </a:p>
          <a:p>
            <a:pPr marL="241300">
              <a:lnSpc>
                <a:spcPts val="1370"/>
              </a:lnSpc>
            </a:pPr>
            <a:r>
              <a:rPr dirty="0" sz="1200" spc="-10">
                <a:latin typeface="Arial MT"/>
                <a:cs typeface="Arial MT"/>
              </a:rPr>
              <a:t>questionnaire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54647" y="1708911"/>
            <a:ext cx="1548765" cy="2120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5"/>
              </a:spcBef>
              <a:buChar char="•"/>
              <a:tabLst>
                <a:tab pos="240665" algn="l"/>
              </a:tabLst>
            </a:pP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PREDICTION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54647" y="2295017"/>
            <a:ext cx="4740910" cy="27489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40665" indent="-227965">
              <a:lnSpc>
                <a:spcPts val="1370"/>
              </a:lnSpc>
              <a:spcBef>
                <a:spcPts val="125"/>
              </a:spcBef>
              <a:buChar char="•"/>
              <a:tabLst>
                <a:tab pos="240665" algn="l"/>
              </a:tabLst>
            </a:pPr>
            <a:r>
              <a:rPr dirty="0" sz="1200">
                <a:latin typeface="Arial MT"/>
                <a:cs typeface="Arial MT"/>
              </a:rPr>
              <a:t>Inputs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pre-</a:t>
            </a:r>
            <a:r>
              <a:rPr dirty="0" sz="1200">
                <a:latin typeface="Arial MT"/>
                <a:cs typeface="Arial MT"/>
              </a:rPr>
              <a:t>operative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only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—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everything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knowable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before</a:t>
            </a:r>
            <a:r>
              <a:rPr dirty="0" sz="1200" spc="-25">
                <a:latin typeface="Arial MT"/>
                <a:cs typeface="Arial MT"/>
              </a:rPr>
              <a:t> the</a:t>
            </a:r>
            <a:endParaRPr sz="1200">
              <a:latin typeface="Arial MT"/>
              <a:cs typeface="Arial MT"/>
            </a:endParaRPr>
          </a:p>
          <a:p>
            <a:pPr marL="241300">
              <a:lnSpc>
                <a:spcPts val="1370"/>
              </a:lnSpc>
            </a:pPr>
            <a:r>
              <a:rPr dirty="0" sz="1200">
                <a:latin typeface="Arial MT"/>
                <a:cs typeface="Arial MT"/>
              </a:rPr>
              <a:t>decision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operate</a:t>
            </a:r>
            <a:endParaRPr sz="1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865"/>
              </a:spcBef>
              <a:buChar char="•"/>
              <a:tabLst>
                <a:tab pos="240665" algn="l"/>
              </a:tabLst>
            </a:pPr>
            <a:r>
              <a:rPr dirty="0" sz="1200" spc="-20">
                <a:latin typeface="Arial MT"/>
                <a:cs typeface="Arial MT"/>
              </a:rPr>
              <a:t>Target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derived: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oks_delta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=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oks_t1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495">
                <a:latin typeface="Arial MT"/>
                <a:cs typeface="Arial MT"/>
              </a:rPr>
              <a:t>−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oks_t0</a:t>
            </a:r>
            <a:endParaRPr sz="1200">
              <a:latin typeface="Arial MT"/>
              <a:cs typeface="Arial MT"/>
            </a:endParaRPr>
          </a:p>
          <a:p>
            <a:pPr marL="241300" marR="5080" indent="-228600">
              <a:lnSpc>
                <a:spcPts val="1300"/>
              </a:lnSpc>
              <a:spcBef>
                <a:spcPts val="1030"/>
              </a:spcBef>
              <a:buChar char="•"/>
              <a:tabLst>
                <a:tab pos="241300" algn="l"/>
              </a:tabLst>
            </a:pP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positive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class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BAD outcome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—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patient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does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not </a:t>
            </a:r>
            <a:r>
              <a:rPr dirty="0" sz="1200">
                <a:latin typeface="Arial MT"/>
                <a:cs typeface="Arial MT"/>
              </a:rPr>
              <a:t>meaningfully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improve,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because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class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worth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detecting</a:t>
            </a:r>
            <a:endParaRPr sz="1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844"/>
              </a:spcBef>
              <a:buChar char="•"/>
              <a:tabLst>
                <a:tab pos="240665" algn="l"/>
              </a:tabLst>
            </a:pPr>
            <a:r>
              <a:rPr dirty="0" sz="1200">
                <a:latin typeface="Arial MT"/>
                <a:cs typeface="Arial MT"/>
              </a:rPr>
              <a:t>~45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features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after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encoding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Font typeface="Arial MT"/>
              <a:buChar char="•"/>
            </a:pPr>
            <a:endParaRPr sz="1200">
              <a:latin typeface="Arial MT"/>
              <a:cs typeface="Arial MT"/>
            </a:endParaRPr>
          </a:p>
          <a:p>
            <a:pPr marL="241300" marR="400050" indent="-228600">
              <a:lnSpc>
                <a:spcPts val="1300"/>
              </a:lnSpc>
              <a:buChar char="•"/>
              <a:tabLst>
                <a:tab pos="241300" algn="l"/>
              </a:tabLst>
            </a:pPr>
            <a:r>
              <a:rPr dirty="0" sz="1200" spc="-10">
                <a:latin typeface="Arial MT"/>
                <a:cs typeface="Arial MT"/>
              </a:rPr>
              <a:t>Anonymised,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national,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already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public-</a:t>
            </a:r>
            <a:r>
              <a:rPr dirty="0" sz="1200">
                <a:latin typeface="Arial MT"/>
                <a:cs typeface="Arial MT"/>
              </a:rPr>
              <a:t>sector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governed.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Every </a:t>
            </a:r>
            <a:r>
              <a:rPr dirty="0" sz="1200">
                <a:latin typeface="Arial MT"/>
                <a:cs typeface="Arial MT"/>
              </a:rPr>
              <a:t>interesting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problem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downstream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that.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5"/>
              </a:spcBef>
              <a:buFont typeface="Arial MT"/>
              <a:buChar char="•"/>
            </a:pPr>
            <a:endParaRPr sz="1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buChar char="•"/>
              <a:tabLst>
                <a:tab pos="240665" algn="l"/>
              </a:tabLst>
            </a:pPr>
            <a:r>
              <a:rPr dirty="0" sz="1200">
                <a:latin typeface="Arial MT"/>
                <a:cs typeface="Arial MT"/>
              </a:rPr>
              <a:t>[TODO: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settle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target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definition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prevalence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—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see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notes]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10751" y="6292875"/>
            <a:ext cx="1539875" cy="11366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50">
                <a:solidFill>
                  <a:srgbClr val="A6A6A6"/>
                </a:solidFill>
                <a:latin typeface="Arial MT"/>
                <a:cs typeface="Arial MT"/>
              </a:rPr>
              <a:t>Document</a:t>
            </a:r>
            <a:r>
              <a:rPr dirty="0" sz="550" spc="65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A6A6A6"/>
                </a:solidFill>
                <a:latin typeface="Arial MT"/>
                <a:cs typeface="Arial MT"/>
              </a:rPr>
              <a:t>C</a:t>
            </a:r>
            <a:r>
              <a:rPr dirty="0" sz="550" spc="-15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A6A6A6"/>
                </a:solidFill>
                <a:latin typeface="Arial MT"/>
                <a:cs typeface="Arial MT"/>
              </a:rPr>
              <a:t>lassif</a:t>
            </a:r>
            <a:r>
              <a:rPr dirty="0" sz="550" spc="-6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A6A6A6"/>
                </a:solidFill>
                <a:latin typeface="Arial MT"/>
                <a:cs typeface="Arial MT"/>
              </a:rPr>
              <a:t>icat</a:t>
            </a:r>
            <a:r>
              <a:rPr dirty="0" sz="550" spc="-65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A6A6A6"/>
                </a:solidFill>
                <a:latin typeface="Arial MT"/>
                <a:cs typeface="Arial MT"/>
              </a:rPr>
              <a:t>ion:</a:t>
            </a:r>
            <a:r>
              <a:rPr dirty="0" sz="550" spc="65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A6A6A6"/>
                </a:solidFill>
                <a:latin typeface="Arial MT"/>
                <a:cs typeface="Arial MT"/>
              </a:rPr>
              <a:t>KPMG</a:t>
            </a:r>
            <a:r>
              <a:rPr dirty="0" sz="550" spc="19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A6A6A6"/>
                </a:solidFill>
                <a:latin typeface="Arial MT"/>
                <a:cs typeface="Arial MT"/>
              </a:rPr>
              <a:t>Confidential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41126" y="6261023"/>
            <a:ext cx="172085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-25">
                <a:solidFill>
                  <a:srgbClr val="00338D"/>
                </a:solidFill>
                <a:latin typeface="Arial MT"/>
                <a:cs typeface="Arial MT"/>
              </a:rPr>
              <a:t>17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31652" y="6269774"/>
            <a:ext cx="0" cy="149860"/>
          </a:xfrm>
          <a:custGeom>
            <a:avLst/>
            <a:gdLst/>
            <a:ahLst/>
            <a:cxnLst/>
            <a:rect l="l" t="t" r="r" b="b"/>
            <a:pathLst>
              <a:path w="0" h="149860">
                <a:moveTo>
                  <a:pt x="0" y="0"/>
                </a:moveTo>
                <a:lnTo>
                  <a:pt x="0" y="149415"/>
                </a:lnTo>
              </a:path>
            </a:pathLst>
          </a:custGeom>
          <a:ln w="6350">
            <a:solidFill>
              <a:srgbClr val="1E48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05764" y="6265113"/>
            <a:ext cx="485140" cy="192405"/>
          </a:xfrm>
          <a:custGeom>
            <a:avLst/>
            <a:gdLst/>
            <a:ahLst/>
            <a:cxnLst/>
            <a:rect l="l" t="t" r="r" b="b"/>
            <a:pathLst>
              <a:path w="485140" h="192404">
                <a:moveTo>
                  <a:pt x="380341" y="150088"/>
                </a:moveTo>
                <a:lnTo>
                  <a:pt x="348822" y="150088"/>
                </a:lnTo>
                <a:lnTo>
                  <a:pt x="349149" y="158988"/>
                </a:lnTo>
                <a:lnTo>
                  <a:pt x="377885" y="190049"/>
                </a:lnTo>
                <a:lnTo>
                  <a:pt x="397077" y="192074"/>
                </a:lnTo>
                <a:lnTo>
                  <a:pt x="407795" y="191657"/>
                </a:lnTo>
                <a:lnTo>
                  <a:pt x="408697" y="191657"/>
                </a:lnTo>
                <a:lnTo>
                  <a:pt x="421541" y="190453"/>
                </a:lnTo>
                <a:lnTo>
                  <a:pt x="433671" y="188651"/>
                </a:lnTo>
                <a:lnTo>
                  <a:pt x="445718" y="186194"/>
                </a:lnTo>
                <a:lnTo>
                  <a:pt x="449255" y="171983"/>
                </a:lnTo>
                <a:lnTo>
                  <a:pt x="404951" y="171983"/>
                </a:lnTo>
                <a:lnTo>
                  <a:pt x="395083" y="170708"/>
                </a:lnTo>
                <a:lnTo>
                  <a:pt x="387346" y="166747"/>
                </a:lnTo>
                <a:lnTo>
                  <a:pt x="382252" y="159896"/>
                </a:lnTo>
                <a:lnTo>
                  <a:pt x="380341" y="150088"/>
                </a:lnTo>
                <a:close/>
              </a:path>
              <a:path w="485140" h="192404">
                <a:moveTo>
                  <a:pt x="135089" y="0"/>
                </a:moveTo>
                <a:lnTo>
                  <a:pt x="27520" y="0"/>
                </a:lnTo>
                <a:lnTo>
                  <a:pt x="27443" y="99885"/>
                </a:lnTo>
                <a:lnTo>
                  <a:pt x="0" y="190049"/>
                </a:lnTo>
                <a:lnTo>
                  <a:pt x="24155" y="190049"/>
                </a:lnTo>
                <a:lnTo>
                  <a:pt x="36270" y="150088"/>
                </a:lnTo>
                <a:lnTo>
                  <a:pt x="484707" y="150088"/>
                </a:lnTo>
                <a:lnTo>
                  <a:pt x="484707" y="146265"/>
                </a:lnTo>
                <a:lnTo>
                  <a:pt x="67728" y="146265"/>
                </a:lnTo>
                <a:lnTo>
                  <a:pt x="64058" y="138556"/>
                </a:lnTo>
                <a:lnTo>
                  <a:pt x="72925" y="129603"/>
                </a:lnTo>
                <a:lnTo>
                  <a:pt x="42570" y="129603"/>
                </a:lnTo>
                <a:lnTo>
                  <a:pt x="55409" y="87414"/>
                </a:lnTo>
                <a:lnTo>
                  <a:pt x="31330" y="87414"/>
                </a:lnTo>
                <a:lnTo>
                  <a:pt x="31330" y="3797"/>
                </a:lnTo>
                <a:lnTo>
                  <a:pt x="135089" y="3797"/>
                </a:lnTo>
                <a:lnTo>
                  <a:pt x="135089" y="0"/>
                </a:lnTo>
                <a:close/>
              </a:path>
              <a:path w="485140" h="192404">
                <a:moveTo>
                  <a:pt x="69619" y="150088"/>
                </a:moveTo>
                <a:lnTo>
                  <a:pt x="39788" y="150088"/>
                </a:lnTo>
                <a:lnTo>
                  <a:pt x="59794" y="190049"/>
                </a:lnTo>
                <a:lnTo>
                  <a:pt x="89105" y="190049"/>
                </a:lnTo>
                <a:lnTo>
                  <a:pt x="69619" y="150088"/>
                </a:lnTo>
                <a:close/>
              </a:path>
              <a:path w="485140" h="192404">
                <a:moveTo>
                  <a:pt x="139877" y="150088"/>
                </a:moveTo>
                <a:lnTo>
                  <a:pt x="113613" y="150088"/>
                </a:lnTo>
                <a:lnTo>
                  <a:pt x="101383" y="190049"/>
                </a:lnTo>
                <a:lnTo>
                  <a:pt x="127787" y="190049"/>
                </a:lnTo>
                <a:lnTo>
                  <a:pt x="139877" y="150088"/>
                </a:lnTo>
                <a:close/>
              </a:path>
              <a:path w="485140" h="192404">
                <a:moveTo>
                  <a:pt x="230608" y="150088"/>
                </a:moveTo>
                <a:lnTo>
                  <a:pt x="204369" y="150088"/>
                </a:lnTo>
                <a:lnTo>
                  <a:pt x="192702" y="190049"/>
                </a:lnTo>
                <a:lnTo>
                  <a:pt x="219298" y="190049"/>
                </a:lnTo>
                <a:lnTo>
                  <a:pt x="230608" y="150088"/>
                </a:lnTo>
                <a:close/>
              </a:path>
              <a:path w="485140" h="192404">
                <a:moveTo>
                  <a:pt x="290824" y="150088"/>
                </a:moveTo>
                <a:lnTo>
                  <a:pt x="242608" y="150088"/>
                </a:lnTo>
                <a:lnTo>
                  <a:pt x="242690" y="159896"/>
                </a:lnTo>
                <a:lnTo>
                  <a:pt x="242813" y="174814"/>
                </a:lnTo>
                <a:lnTo>
                  <a:pt x="242939" y="190049"/>
                </a:lnTo>
                <a:lnTo>
                  <a:pt x="265125" y="190049"/>
                </a:lnTo>
                <a:lnTo>
                  <a:pt x="290824" y="150088"/>
                </a:lnTo>
                <a:close/>
              </a:path>
              <a:path w="485140" h="192404">
                <a:moveTo>
                  <a:pt x="333677" y="150088"/>
                </a:moveTo>
                <a:lnTo>
                  <a:pt x="307642" y="150088"/>
                </a:lnTo>
                <a:lnTo>
                  <a:pt x="298991" y="190049"/>
                </a:lnTo>
                <a:lnTo>
                  <a:pt x="325153" y="190049"/>
                </a:lnTo>
                <a:lnTo>
                  <a:pt x="333677" y="150088"/>
                </a:lnTo>
                <a:close/>
              </a:path>
              <a:path w="485140" h="192404">
                <a:moveTo>
                  <a:pt x="454704" y="150088"/>
                </a:moveTo>
                <a:lnTo>
                  <a:pt x="426888" y="150088"/>
                </a:lnTo>
                <a:lnTo>
                  <a:pt x="421842" y="170294"/>
                </a:lnTo>
                <a:lnTo>
                  <a:pt x="416254" y="171348"/>
                </a:lnTo>
                <a:lnTo>
                  <a:pt x="410046" y="171983"/>
                </a:lnTo>
                <a:lnTo>
                  <a:pt x="449255" y="171983"/>
                </a:lnTo>
                <a:lnTo>
                  <a:pt x="454704" y="150088"/>
                </a:lnTo>
                <a:close/>
              </a:path>
              <a:path w="485140" h="192404">
                <a:moveTo>
                  <a:pt x="135089" y="3797"/>
                </a:moveTo>
                <a:lnTo>
                  <a:pt x="131216" y="3797"/>
                </a:lnTo>
                <a:lnTo>
                  <a:pt x="131317" y="92570"/>
                </a:lnTo>
                <a:lnTo>
                  <a:pt x="115442" y="144576"/>
                </a:lnTo>
                <a:lnTo>
                  <a:pt x="114883" y="146265"/>
                </a:lnTo>
                <a:lnTo>
                  <a:pt x="178929" y="146265"/>
                </a:lnTo>
                <a:lnTo>
                  <a:pt x="188161" y="141677"/>
                </a:lnTo>
                <a:lnTo>
                  <a:pt x="195276" y="135450"/>
                </a:lnTo>
                <a:lnTo>
                  <a:pt x="197266" y="132333"/>
                </a:lnTo>
                <a:lnTo>
                  <a:pt x="145859" y="132333"/>
                </a:lnTo>
                <a:lnTo>
                  <a:pt x="148818" y="121551"/>
                </a:lnTo>
                <a:lnTo>
                  <a:pt x="150215" y="116192"/>
                </a:lnTo>
                <a:lnTo>
                  <a:pt x="153644" y="103631"/>
                </a:lnTo>
                <a:lnTo>
                  <a:pt x="204926" y="103631"/>
                </a:lnTo>
                <a:lnTo>
                  <a:pt x="204406" y="99885"/>
                </a:lnTo>
                <a:lnTo>
                  <a:pt x="199885" y="94526"/>
                </a:lnTo>
                <a:lnTo>
                  <a:pt x="193695" y="90029"/>
                </a:lnTo>
                <a:lnTo>
                  <a:pt x="185741" y="87901"/>
                </a:lnTo>
                <a:lnTo>
                  <a:pt x="178885" y="87414"/>
                </a:lnTo>
                <a:lnTo>
                  <a:pt x="135089" y="87414"/>
                </a:lnTo>
                <a:lnTo>
                  <a:pt x="135089" y="3797"/>
                </a:lnTo>
                <a:close/>
              </a:path>
              <a:path w="485140" h="192404">
                <a:moveTo>
                  <a:pt x="368121" y="0"/>
                </a:moveTo>
                <a:lnTo>
                  <a:pt x="260489" y="0"/>
                </a:lnTo>
                <a:lnTo>
                  <a:pt x="260489" y="87414"/>
                </a:lnTo>
                <a:lnTo>
                  <a:pt x="222657" y="87414"/>
                </a:lnTo>
                <a:lnTo>
                  <a:pt x="205585" y="146265"/>
                </a:lnTo>
                <a:lnTo>
                  <a:pt x="231709" y="146265"/>
                </a:lnTo>
                <a:lnTo>
                  <a:pt x="242239" y="109359"/>
                </a:lnTo>
                <a:lnTo>
                  <a:pt x="264362" y="109359"/>
                </a:lnTo>
                <a:lnTo>
                  <a:pt x="264362" y="3797"/>
                </a:lnTo>
                <a:lnTo>
                  <a:pt x="368121" y="3797"/>
                </a:lnTo>
                <a:lnTo>
                  <a:pt x="368121" y="0"/>
                </a:lnTo>
                <a:close/>
              </a:path>
              <a:path w="485140" h="192404">
                <a:moveTo>
                  <a:pt x="264362" y="109359"/>
                </a:moveTo>
                <a:lnTo>
                  <a:pt x="242239" y="109359"/>
                </a:lnTo>
                <a:lnTo>
                  <a:pt x="242253" y="110731"/>
                </a:lnTo>
                <a:lnTo>
                  <a:pt x="242374" y="122847"/>
                </a:lnTo>
                <a:lnTo>
                  <a:pt x="242500" y="135450"/>
                </a:lnTo>
                <a:lnTo>
                  <a:pt x="242608" y="146265"/>
                </a:lnTo>
                <a:lnTo>
                  <a:pt x="264362" y="146265"/>
                </a:lnTo>
                <a:lnTo>
                  <a:pt x="264362" y="109359"/>
                </a:lnTo>
                <a:close/>
              </a:path>
              <a:path w="485140" h="192404">
                <a:moveTo>
                  <a:pt x="347166" y="87414"/>
                </a:moveTo>
                <a:lnTo>
                  <a:pt x="304875" y="87414"/>
                </a:lnTo>
                <a:lnTo>
                  <a:pt x="267021" y="146265"/>
                </a:lnTo>
                <a:lnTo>
                  <a:pt x="293286" y="146265"/>
                </a:lnTo>
                <a:lnTo>
                  <a:pt x="316051" y="110883"/>
                </a:lnTo>
                <a:lnTo>
                  <a:pt x="342148" y="110883"/>
                </a:lnTo>
                <a:lnTo>
                  <a:pt x="346985" y="88264"/>
                </a:lnTo>
                <a:lnTo>
                  <a:pt x="347062" y="87901"/>
                </a:lnTo>
                <a:lnTo>
                  <a:pt x="347166" y="87414"/>
                </a:lnTo>
                <a:close/>
              </a:path>
              <a:path w="485140" h="192404">
                <a:moveTo>
                  <a:pt x="342148" y="110883"/>
                </a:moveTo>
                <a:lnTo>
                  <a:pt x="316051" y="110883"/>
                </a:lnTo>
                <a:lnTo>
                  <a:pt x="308420" y="146265"/>
                </a:lnTo>
                <a:lnTo>
                  <a:pt x="334583" y="146265"/>
                </a:lnTo>
                <a:lnTo>
                  <a:pt x="342148" y="110883"/>
                </a:lnTo>
                <a:close/>
              </a:path>
              <a:path w="485140" h="192404">
                <a:moveTo>
                  <a:pt x="368121" y="3797"/>
                </a:moveTo>
                <a:lnTo>
                  <a:pt x="364311" y="3797"/>
                </a:lnTo>
                <a:lnTo>
                  <a:pt x="364184" y="109359"/>
                </a:lnTo>
                <a:lnTo>
                  <a:pt x="359833" y="115921"/>
                </a:lnTo>
                <a:lnTo>
                  <a:pt x="356136" y="122847"/>
                </a:lnTo>
                <a:lnTo>
                  <a:pt x="353330" y="129603"/>
                </a:lnTo>
                <a:lnTo>
                  <a:pt x="353246" y="129806"/>
                </a:lnTo>
                <a:lnTo>
                  <a:pt x="349321" y="146265"/>
                </a:lnTo>
                <a:lnTo>
                  <a:pt x="380821" y="146265"/>
                </a:lnTo>
                <a:lnTo>
                  <a:pt x="380821" y="142849"/>
                </a:lnTo>
                <a:lnTo>
                  <a:pt x="381583" y="139064"/>
                </a:lnTo>
                <a:lnTo>
                  <a:pt x="381855" y="137591"/>
                </a:lnTo>
                <a:lnTo>
                  <a:pt x="381964" y="136994"/>
                </a:lnTo>
                <a:lnTo>
                  <a:pt x="386699" y="124016"/>
                </a:lnTo>
                <a:lnTo>
                  <a:pt x="394315" y="112736"/>
                </a:lnTo>
                <a:lnTo>
                  <a:pt x="404902" y="104800"/>
                </a:lnTo>
                <a:lnTo>
                  <a:pt x="406742" y="104381"/>
                </a:lnTo>
                <a:lnTo>
                  <a:pt x="368121" y="104381"/>
                </a:lnTo>
                <a:lnTo>
                  <a:pt x="368121" y="3797"/>
                </a:lnTo>
                <a:close/>
              </a:path>
              <a:path w="485140" h="192404">
                <a:moveTo>
                  <a:pt x="459815" y="129806"/>
                </a:moveTo>
                <a:lnTo>
                  <a:pt x="409396" y="129806"/>
                </a:lnTo>
                <a:lnTo>
                  <a:pt x="405192" y="146265"/>
                </a:lnTo>
                <a:lnTo>
                  <a:pt x="455611" y="146265"/>
                </a:lnTo>
                <a:lnTo>
                  <a:pt x="459744" y="130087"/>
                </a:lnTo>
                <a:lnTo>
                  <a:pt x="459815" y="129806"/>
                </a:lnTo>
                <a:close/>
              </a:path>
              <a:path w="485140" h="192404">
                <a:moveTo>
                  <a:pt x="484707" y="3797"/>
                </a:moveTo>
                <a:lnTo>
                  <a:pt x="480770" y="3797"/>
                </a:lnTo>
                <a:lnTo>
                  <a:pt x="480770" y="146265"/>
                </a:lnTo>
                <a:lnTo>
                  <a:pt x="484707" y="146265"/>
                </a:lnTo>
                <a:lnTo>
                  <a:pt x="484707" y="3797"/>
                </a:lnTo>
                <a:close/>
              </a:path>
              <a:path w="485140" h="192404">
                <a:moveTo>
                  <a:pt x="204926" y="103631"/>
                </a:moveTo>
                <a:lnTo>
                  <a:pt x="171475" y="103631"/>
                </a:lnTo>
                <a:lnTo>
                  <a:pt x="176720" y="104101"/>
                </a:lnTo>
                <a:lnTo>
                  <a:pt x="180161" y="108813"/>
                </a:lnTo>
                <a:lnTo>
                  <a:pt x="180056" y="110731"/>
                </a:lnTo>
                <a:lnTo>
                  <a:pt x="179971" y="112293"/>
                </a:lnTo>
                <a:lnTo>
                  <a:pt x="175196" y="126695"/>
                </a:lnTo>
                <a:lnTo>
                  <a:pt x="171373" y="131343"/>
                </a:lnTo>
                <a:lnTo>
                  <a:pt x="158251" y="132333"/>
                </a:lnTo>
                <a:lnTo>
                  <a:pt x="197266" y="132333"/>
                </a:lnTo>
                <a:lnTo>
                  <a:pt x="200336" y="127525"/>
                </a:lnTo>
                <a:lnTo>
                  <a:pt x="203301" y="117894"/>
                </a:lnTo>
                <a:lnTo>
                  <a:pt x="205396" y="107022"/>
                </a:lnTo>
                <a:lnTo>
                  <a:pt x="205088" y="104800"/>
                </a:lnTo>
                <a:lnTo>
                  <a:pt x="204991" y="104101"/>
                </a:lnTo>
                <a:lnTo>
                  <a:pt x="204926" y="103631"/>
                </a:lnTo>
                <a:close/>
              </a:path>
              <a:path w="485140" h="192404">
                <a:moveTo>
                  <a:pt x="114706" y="87414"/>
                </a:moveTo>
                <a:lnTo>
                  <a:pt x="82232" y="87414"/>
                </a:lnTo>
                <a:lnTo>
                  <a:pt x="42570" y="129603"/>
                </a:lnTo>
                <a:lnTo>
                  <a:pt x="72925" y="129603"/>
                </a:lnTo>
                <a:lnTo>
                  <a:pt x="114706" y="87414"/>
                </a:lnTo>
                <a:close/>
              </a:path>
              <a:path w="485140" h="192404">
                <a:moveTo>
                  <a:pt x="466692" y="101765"/>
                </a:moveTo>
                <a:lnTo>
                  <a:pt x="426668" y="101765"/>
                </a:lnTo>
                <a:lnTo>
                  <a:pt x="434669" y="104800"/>
                </a:lnTo>
                <a:lnTo>
                  <a:pt x="433642" y="115921"/>
                </a:lnTo>
                <a:lnTo>
                  <a:pt x="463598" y="115921"/>
                </a:lnTo>
                <a:lnTo>
                  <a:pt x="466800" y="101917"/>
                </a:lnTo>
                <a:lnTo>
                  <a:pt x="466692" y="101765"/>
                </a:lnTo>
                <a:close/>
              </a:path>
              <a:path w="485140" h="192404">
                <a:moveTo>
                  <a:pt x="484707" y="0"/>
                </a:moveTo>
                <a:lnTo>
                  <a:pt x="377011" y="0"/>
                </a:lnTo>
                <a:lnTo>
                  <a:pt x="377011" y="95859"/>
                </a:lnTo>
                <a:lnTo>
                  <a:pt x="373836" y="98412"/>
                </a:lnTo>
                <a:lnTo>
                  <a:pt x="370788" y="101269"/>
                </a:lnTo>
                <a:lnTo>
                  <a:pt x="368121" y="104381"/>
                </a:lnTo>
                <a:lnTo>
                  <a:pt x="406742" y="104381"/>
                </a:lnTo>
                <a:lnTo>
                  <a:pt x="418667" y="101765"/>
                </a:lnTo>
                <a:lnTo>
                  <a:pt x="466692" y="101765"/>
                </a:lnTo>
                <a:lnTo>
                  <a:pt x="461085" y="93865"/>
                </a:lnTo>
                <a:lnTo>
                  <a:pt x="460343" y="93167"/>
                </a:lnTo>
                <a:lnTo>
                  <a:pt x="380821" y="93167"/>
                </a:lnTo>
                <a:lnTo>
                  <a:pt x="380821" y="3797"/>
                </a:lnTo>
                <a:lnTo>
                  <a:pt x="484707" y="3797"/>
                </a:lnTo>
                <a:lnTo>
                  <a:pt x="484707" y="0"/>
                </a:lnTo>
                <a:close/>
              </a:path>
              <a:path w="485140" h="192404">
                <a:moveTo>
                  <a:pt x="425144" y="81610"/>
                </a:moveTo>
                <a:lnTo>
                  <a:pt x="415290" y="82055"/>
                </a:lnTo>
                <a:lnTo>
                  <a:pt x="404126" y="83759"/>
                </a:lnTo>
                <a:lnTo>
                  <a:pt x="391939" y="87414"/>
                </a:lnTo>
                <a:lnTo>
                  <a:pt x="392124" y="87414"/>
                </a:lnTo>
                <a:lnTo>
                  <a:pt x="380821" y="93167"/>
                </a:lnTo>
                <a:lnTo>
                  <a:pt x="460343" y="93167"/>
                </a:lnTo>
                <a:lnTo>
                  <a:pt x="455130" y="88264"/>
                </a:lnTo>
                <a:lnTo>
                  <a:pt x="446973" y="84461"/>
                </a:lnTo>
                <a:lnTo>
                  <a:pt x="436886" y="82296"/>
                </a:lnTo>
                <a:lnTo>
                  <a:pt x="425144" y="81610"/>
                </a:lnTo>
                <a:close/>
              </a:path>
              <a:path w="485140" h="192404">
                <a:moveTo>
                  <a:pt x="251586" y="0"/>
                </a:moveTo>
                <a:lnTo>
                  <a:pt x="143979" y="0"/>
                </a:lnTo>
                <a:lnTo>
                  <a:pt x="143979" y="87414"/>
                </a:lnTo>
                <a:lnTo>
                  <a:pt x="147815" y="87414"/>
                </a:lnTo>
                <a:lnTo>
                  <a:pt x="147815" y="3797"/>
                </a:lnTo>
                <a:lnTo>
                  <a:pt x="251586" y="3797"/>
                </a:lnTo>
                <a:lnTo>
                  <a:pt x="251586" y="0"/>
                </a:lnTo>
                <a:close/>
              </a:path>
              <a:path w="485140" h="192404">
                <a:moveTo>
                  <a:pt x="251586" y="3797"/>
                </a:moveTo>
                <a:lnTo>
                  <a:pt x="247675" y="3797"/>
                </a:lnTo>
                <a:lnTo>
                  <a:pt x="247700" y="87414"/>
                </a:lnTo>
                <a:lnTo>
                  <a:pt x="251586" y="87414"/>
                </a:lnTo>
                <a:lnTo>
                  <a:pt x="251586" y="3797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873757" y="6263871"/>
            <a:ext cx="4543425" cy="2057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50">
                <a:solidFill>
                  <a:srgbClr val="FC349C"/>
                </a:solidFill>
                <a:latin typeface="Arial MT"/>
                <a:cs typeface="Arial MT"/>
              </a:rPr>
              <a:t>©</a:t>
            </a:r>
            <a:r>
              <a:rPr dirty="0" sz="550" spc="90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C349C"/>
                </a:solidFill>
                <a:latin typeface="Arial MT"/>
                <a:cs typeface="Arial MT"/>
              </a:rPr>
              <a:t>[</a:t>
            </a:r>
            <a:r>
              <a:rPr dirty="0" sz="550" spc="-70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C349C"/>
                </a:solidFill>
                <a:latin typeface="Arial MT"/>
                <a:cs typeface="Arial MT"/>
              </a:rPr>
              <a:t>year]</a:t>
            </a:r>
            <a:r>
              <a:rPr dirty="0" sz="550" spc="50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C349C"/>
                </a:solidFill>
                <a:latin typeface="Arial MT"/>
                <a:cs typeface="Arial MT"/>
              </a:rPr>
              <a:t>[</a:t>
            </a:r>
            <a:r>
              <a:rPr dirty="0" sz="550" spc="-70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C349C"/>
                </a:solidFill>
                <a:latin typeface="Arial MT"/>
                <a:cs typeface="Arial MT"/>
              </a:rPr>
              <a:t>legal</a:t>
            </a:r>
            <a:r>
              <a:rPr dirty="0" sz="550" spc="110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C349C"/>
                </a:solidFill>
                <a:latin typeface="Arial MT"/>
                <a:cs typeface="Arial MT"/>
              </a:rPr>
              <a:t>member</a:t>
            </a:r>
            <a:r>
              <a:rPr dirty="0" sz="550" spc="114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C349C"/>
                </a:solidFill>
                <a:latin typeface="Arial MT"/>
                <a:cs typeface="Arial MT"/>
              </a:rPr>
              <a:t>firm</a:t>
            </a:r>
            <a:r>
              <a:rPr dirty="0" sz="550" spc="120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C349C"/>
                </a:solidFill>
                <a:latin typeface="Arial MT"/>
                <a:cs typeface="Arial MT"/>
              </a:rPr>
              <a:t>name],</a:t>
            </a:r>
            <a:r>
              <a:rPr dirty="0" sz="550" spc="170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C349C"/>
                </a:solidFill>
                <a:latin typeface="Arial MT"/>
                <a:cs typeface="Arial MT"/>
              </a:rPr>
              <a:t>a</a:t>
            </a:r>
            <a:r>
              <a:rPr dirty="0" sz="550" spc="140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C349C"/>
                </a:solidFill>
                <a:latin typeface="Arial MT"/>
                <a:cs typeface="Arial MT"/>
              </a:rPr>
              <a:t>[jurisdiction]</a:t>
            </a:r>
            <a:r>
              <a:rPr dirty="0" sz="550" spc="55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C349C"/>
                </a:solidFill>
                <a:latin typeface="Arial MT"/>
                <a:cs typeface="Arial MT"/>
              </a:rPr>
              <a:t>[legal</a:t>
            </a:r>
            <a:r>
              <a:rPr dirty="0" sz="550" spc="210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C349C"/>
                </a:solidFill>
                <a:latin typeface="Arial MT"/>
                <a:cs typeface="Arial MT"/>
              </a:rPr>
              <a:t>struc</a:t>
            </a:r>
            <a:r>
              <a:rPr dirty="0" sz="550" spc="-35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C349C"/>
                </a:solidFill>
                <a:latin typeface="Arial MT"/>
                <a:cs typeface="Arial MT"/>
              </a:rPr>
              <a:t>ture]</a:t>
            </a:r>
            <a:r>
              <a:rPr dirty="0" sz="550" spc="170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C349C"/>
                </a:solidFill>
                <a:latin typeface="Arial MT"/>
                <a:cs typeface="Arial MT"/>
              </a:rPr>
              <a:t>and</a:t>
            </a:r>
            <a:r>
              <a:rPr dirty="0" sz="550" spc="140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C349C"/>
                </a:solidFill>
                <a:latin typeface="Arial MT"/>
                <a:cs typeface="Arial MT"/>
              </a:rPr>
              <a:t>a</a:t>
            </a:r>
            <a:r>
              <a:rPr dirty="0" sz="550" spc="140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C349C"/>
                </a:solidFill>
                <a:latin typeface="Arial MT"/>
                <a:cs typeface="Arial MT"/>
              </a:rPr>
              <a:t>member</a:t>
            </a:r>
            <a:r>
              <a:rPr dirty="0" sz="550" spc="120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C349C"/>
                </a:solidFill>
                <a:latin typeface="Arial MT"/>
                <a:cs typeface="Arial MT"/>
              </a:rPr>
              <a:t>firm</a:t>
            </a:r>
            <a:r>
              <a:rPr dirty="0" sz="550" spc="114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C349C"/>
                </a:solidFill>
                <a:latin typeface="Arial MT"/>
                <a:cs typeface="Arial MT"/>
              </a:rPr>
              <a:t>of</a:t>
            </a:r>
            <a:r>
              <a:rPr dirty="0" sz="550" spc="50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C349C"/>
                </a:solidFill>
                <a:latin typeface="Arial MT"/>
                <a:cs typeface="Arial MT"/>
              </a:rPr>
              <a:t>the</a:t>
            </a:r>
            <a:r>
              <a:rPr dirty="0" sz="550" spc="140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C349C"/>
                </a:solidFill>
                <a:latin typeface="Arial MT"/>
                <a:cs typeface="Arial MT"/>
              </a:rPr>
              <a:t>KPMG</a:t>
            </a:r>
            <a:r>
              <a:rPr dirty="0" sz="550" spc="165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C349C"/>
                </a:solidFill>
                <a:latin typeface="Arial MT"/>
                <a:cs typeface="Arial MT"/>
              </a:rPr>
              <a:t>global</a:t>
            </a:r>
            <a:r>
              <a:rPr dirty="0" sz="550" spc="215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C349C"/>
                </a:solidFill>
                <a:latin typeface="Arial MT"/>
                <a:cs typeface="Arial MT"/>
              </a:rPr>
              <a:t>organization</a:t>
            </a:r>
            <a:r>
              <a:rPr dirty="0" sz="550" spc="140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C349C"/>
                </a:solidFill>
                <a:latin typeface="Arial MT"/>
                <a:cs typeface="Arial MT"/>
              </a:rPr>
              <a:t>of</a:t>
            </a:r>
            <a:r>
              <a:rPr dirty="0" sz="550" spc="170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FC349C"/>
                </a:solidFill>
                <a:latin typeface="Arial MT"/>
                <a:cs typeface="Arial MT"/>
              </a:rPr>
              <a:t>independent</a:t>
            </a:r>
            <a:endParaRPr sz="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550" spc="20">
                <a:solidFill>
                  <a:srgbClr val="FC349C"/>
                </a:solidFill>
                <a:latin typeface="Arial MT"/>
                <a:cs typeface="Arial MT"/>
              </a:rPr>
              <a:t>member</a:t>
            </a:r>
            <a:r>
              <a:rPr dirty="0" sz="550" spc="30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 spc="20">
                <a:solidFill>
                  <a:srgbClr val="FC349C"/>
                </a:solidFill>
                <a:latin typeface="Arial MT"/>
                <a:cs typeface="Arial MT"/>
              </a:rPr>
              <a:t>firms</a:t>
            </a:r>
            <a:r>
              <a:rPr dirty="0" sz="550" spc="10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 spc="20">
                <a:solidFill>
                  <a:srgbClr val="FC349C"/>
                </a:solidFill>
                <a:latin typeface="Arial MT"/>
                <a:cs typeface="Arial MT"/>
              </a:rPr>
              <a:t>affiliated</a:t>
            </a:r>
            <a:r>
              <a:rPr dirty="0" sz="550" spc="55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 spc="20">
                <a:solidFill>
                  <a:srgbClr val="FC349C"/>
                </a:solidFill>
                <a:latin typeface="Arial MT"/>
                <a:cs typeface="Arial MT"/>
              </a:rPr>
              <a:t>with</a:t>
            </a:r>
            <a:r>
              <a:rPr dirty="0" sz="550" spc="50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 spc="20">
                <a:solidFill>
                  <a:srgbClr val="FC349C"/>
                </a:solidFill>
                <a:latin typeface="Arial MT"/>
                <a:cs typeface="Arial MT"/>
              </a:rPr>
              <a:t>KPMG</a:t>
            </a:r>
            <a:r>
              <a:rPr dirty="0" sz="550" spc="70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 spc="20">
                <a:solidFill>
                  <a:srgbClr val="FC349C"/>
                </a:solidFill>
                <a:latin typeface="Arial MT"/>
                <a:cs typeface="Arial MT"/>
              </a:rPr>
              <a:t>International</a:t>
            </a:r>
            <a:r>
              <a:rPr dirty="0" sz="550" spc="30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 spc="20">
                <a:solidFill>
                  <a:srgbClr val="FC349C"/>
                </a:solidFill>
                <a:latin typeface="Arial MT"/>
                <a:cs typeface="Arial MT"/>
              </a:rPr>
              <a:t>Limited,</a:t>
            </a:r>
            <a:r>
              <a:rPr dirty="0" sz="550" spc="70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 spc="20">
                <a:solidFill>
                  <a:srgbClr val="FC349C"/>
                </a:solidFill>
                <a:latin typeface="Arial MT"/>
                <a:cs typeface="Arial MT"/>
              </a:rPr>
              <a:t>a</a:t>
            </a:r>
            <a:r>
              <a:rPr dirty="0" sz="550" spc="50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 spc="20">
                <a:solidFill>
                  <a:srgbClr val="FC349C"/>
                </a:solidFill>
                <a:latin typeface="Arial MT"/>
                <a:cs typeface="Arial MT"/>
              </a:rPr>
              <a:t>private</a:t>
            </a:r>
            <a:r>
              <a:rPr dirty="0" sz="550" spc="50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 spc="20">
                <a:solidFill>
                  <a:srgbClr val="FC349C"/>
                </a:solidFill>
                <a:latin typeface="Arial MT"/>
                <a:cs typeface="Arial MT"/>
              </a:rPr>
              <a:t>English</a:t>
            </a:r>
            <a:r>
              <a:rPr dirty="0" sz="550" spc="50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 spc="20">
                <a:solidFill>
                  <a:srgbClr val="FC349C"/>
                </a:solidFill>
                <a:latin typeface="Arial MT"/>
                <a:cs typeface="Arial MT"/>
              </a:rPr>
              <a:t>company</a:t>
            </a:r>
            <a:r>
              <a:rPr dirty="0" sz="550" spc="10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 spc="20">
                <a:solidFill>
                  <a:srgbClr val="FC349C"/>
                </a:solidFill>
                <a:latin typeface="Arial MT"/>
                <a:cs typeface="Arial MT"/>
              </a:rPr>
              <a:t>limited</a:t>
            </a:r>
            <a:r>
              <a:rPr dirty="0" sz="550" spc="55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 spc="20">
                <a:solidFill>
                  <a:srgbClr val="FC349C"/>
                </a:solidFill>
                <a:latin typeface="Arial MT"/>
                <a:cs typeface="Arial MT"/>
              </a:rPr>
              <a:t>by</a:t>
            </a:r>
            <a:r>
              <a:rPr dirty="0" sz="550" spc="85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 spc="20">
                <a:solidFill>
                  <a:srgbClr val="FC349C"/>
                </a:solidFill>
                <a:latin typeface="Arial MT"/>
                <a:cs typeface="Arial MT"/>
              </a:rPr>
              <a:t>guarantee.</a:t>
            </a:r>
            <a:r>
              <a:rPr dirty="0" sz="550" spc="-10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 spc="20">
                <a:solidFill>
                  <a:srgbClr val="FC349C"/>
                </a:solidFill>
                <a:latin typeface="Arial MT"/>
                <a:cs typeface="Arial MT"/>
              </a:rPr>
              <a:t>All</a:t>
            </a:r>
            <a:r>
              <a:rPr dirty="0" sz="550" spc="30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 spc="20">
                <a:solidFill>
                  <a:srgbClr val="FC349C"/>
                </a:solidFill>
                <a:latin typeface="Arial MT"/>
                <a:cs typeface="Arial MT"/>
              </a:rPr>
              <a:t>rights</a:t>
            </a:r>
            <a:r>
              <a:rPr dirty="0" sz="550" spc="90">
                <a:solidFill>
                  <a:srgbClr val="FC349C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FC349C"/>
                </a:solidFill>
                <a:latin typeface="Arial MT"/>
                <a:cs typeface="Arial MT"/>
              </a:rPr>
              <a:t>reserved.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983056" y="218135"/>
            <a:ext cx="171577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10">
                <a:solidFill>
                  <a:srgbClr val="00338D"/>
                </a:solidFill>
                <a:latin typeface="Segoe UI"/>
                <a:cs typeface="Segoe UI"/>
              </a:rPr>
              <a:t>Charts</a:t>
            </a:r>
            <a:endParaRPr sz="4400">
              <a:latin typeface="Segoe UI"/>
              <a:cs typeface="Segoe U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96696" y="4756060"/>
            <a:ext cx="4471670" cy="1052195"/>
          </a:xfrm>
          <a:custGeom>
            <a:avLst/>
            <a:gdLst/>
            <a:ahLst/>
            <a:cxnLst/>
            <a:rect l="l" t="t" r="r" b="b"/>
            <a:pathLst>
              <a:path w="4471670" h="1052195">
                <a:moveTo>
                  <a:pt x="4471416" y="525868"/>
                </a:moveTo>
                <a:lnTo>
                  <a:pt x="4169664" y="349135"/>
                </a:lnTo>
                <a:lnTo>
                  <a:pt x="4169664" y="0"/>
                </a:lnTo>
                <a:lnTo>
                  <a:pt x="0" y="0"/>
                </a:lnTo>
                <a:lnTo>
                  <a:pt x="0" y="1051826"/>
                </a:lnTo>
                <a:lnTo>
                  <a:pt x="4169664" y="1051826"/>
                </a:lnTo>
                <a:lnTo>
                  <a:pt x="4169664" y="702729"/>
                </a:lnTo>
                <a:lnTo>
                  <a:pt x="4471416" y="525868"/>
                </a:lnTo>
                <a:close/>
              </a:path>
            </a:pathLst>
          </a:custGeom>
          <a:solidFill>
            <a:srgbClr val="00B8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96696" y="4756061"/>
            <a:ext cx="4170045" cy="1052195"/>
          </a:xfrm>
          <a:prstGeom prst="rect">
            <a:avLst/>
          </a:prstGeom>
        </p:spPr>
        <p:txBody>
          <a:bodyPr wrap="square" lIns="0" tIns="142875" rIns="0" bIns="0" rtlCol="0" vert="horz">
            <a:spAutoFit/>
          </a:bodyPr>
          <a:lstStyle/>
          <a:p>
            <a:pPr marL="178435">
              <a:lnSpc>
                <a:spcPct val="100000"/>
              </a:lnSpc>
              <a:spcBef>
                <a:spcPts val="1125"/>
              </a:spcBef>
            </a:pPr>
            <a:r>
              <a:rPr dirty="0" sz="1550" spc="-10" b="1">
                <a:solidFill>
                  <a:srgbClr val="FFFFFF"/>
                </a:solidFill>
                <a:latin typeface="Segoe UI"/>
                <a:cs typeface="Segoe UI"/>
              </a:rPr>
              <a:t>Target</a:t>
            </a:r>
            <a:endParaRPr sz="1550">
              <a:latin typeface="Segoe UI"/>
              <a:cs typeface="Segoe UI"/>
            </a:endParaRPr>
          </a:p>
          <a:p>
            <a:pPr marL="178435">
              <a:lnSpc>
                <a:spcPct val="100000"/>
              </a:lnSpc>
              <a:spcBef>
                <a:spcPts val="484"/>
              </a:spcBef>
            </a:pPr>
            <a:r>
              <a:rPr dirty="0" sz="1350">
                <a:solidFill>
                  <a:srgbClr val="FFFFFF"/>
                </a:solidFill>
                <a:latin typeface="Segoe UI"/>
                <a:cs typeface="Segoe UI"/>
              </a:rPr>
              <a:t>Ed</a:t>
            </a:r>
            <a:r>
              <a:rPr dirty="0" sz="1350" spc="10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FFFFFF"/>
                </a:solidFill>
                <a:latin typeface="Segoe UI"/>
                <a:cs typeface="Segoe UI"/>
              </a:rPr>
              <a:t>ut</a:t>
            </a:r>
            <a:r>
              <a:rPr dirty="0" sz="1350" spc="10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FFFFFF"/>
                </a:solidFill>
                <a:latin typeface="Segoe UI"/>
                <a:cs typeface="Segoe UI"/>
              </a:rPr>
              <a:t>perspiciatis</a:t>
            </a:r>
            <a:r>
              <a:rPr dirty="0" sz="1350" spc="13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FFFFFF"/>
                </a:solidFill>
                <a:latin typeface="Segoe UI"/>
                <a:cs typeface="Segoe UI"/>
              </a:rPr>
              <a:t>unde</a:t>
            </a:r>
            <a:r>
              <a:rPr dirty="0" sz="1350" spc="14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FFFFFF"/>
                </a:solidFill>
                <a:latin typeface="Segoe UI"/>
                <a:cs typeface="Segoe UI"/>
              </a:rPr>
              <a:t>omnis</a:t>
            </a:r>
            <a:r>
              <a:rPr dirty="0" sz="1350" spc="9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 spc="-20">
                <a:solidFill>
                  <a:srgbClr val="FFFFFF"/>
                </a:solidFill>
                <a:latin typeface="Segoe UI"/>
                <a:cs typeface="Segoe UI"/>
              </a:rPr>
              <a:t>iste</a:t>
            </a:r>
            <a:endParaRPr sz="1350">
              <a:latin typeface="Segoe UI"/>
              <a:cs typeface="Segoe UI"/>
            </a:endParaRPr>
          </a:p>
          <a:p>
            <a:pPr marL="178435">
              <a:lnSpc>
                <a:spcPct val="100000"/>
              </a:lnSpc>
              <a:spcBef>
                <a:spcPts val="254"/>
              </a:spcBef>
            </a:pPr>
            <a:r>
              <a:rPr dirty="0" sz="1350">
                <a:solidFill>
                  <a:srgbClr val="FFFFFF"/>
                </a:solidFill>
                <a:latin typeface="Segoe UI"/>
                <a:cs typeface="Segoe UI"/>
              </a:rPr>
              <a:t>natus</a:t>
            </a:r>
            <a:r>
              <a:rPr dirty="0" sz="1350" spc="11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FFFFFF"/>
                </a:solidFill>
                <a:latin typeface="Segoe UI"/>
                <a:cs typeface="Segoe UI"/>
              </a:rPr>
              <a:t>error</a:t>
            </a:r>
            <a:r>
              <a:rPr dirty="0" sz="1350" spc="5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FFFFFF"/>
                </a:solidFill>
                <a:latin typeface="Segoe UI"/>
                <a:cs typeface="Segoe UI"/>
              </a:rPr>
              <a:t>sit</a:t>
            </a:r>
            <a:r>
              <a:rPr dirty="0" sz="1350" spc="8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Segoe UI"/>
                <a:cs typeface="Segoe UI"/>
              </a:rPr>
              <a:t>voluptatem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63532" y="1195273"/>
            <a:ext cx="1621790" cy="575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>
                <a:solidFill>
                  <a:srgbClr val="1E48E1"/>
                </a:solidFill>
                <a:latin typeface="Segoe UI"/>
                <a:cs typeface="Segoe UI"/>
              </a:rPr>
              <a:t>80%</a:t>
            </a:r>
            <a:r>
              <a:rPr dirty="0" sz="3600" spc="-20">
                <a:solidFill>
                  <a:srgbClr val="1E48E1"/>
                </a:solidFill>
                <a:latin typeface="Segoe UI"/>
                <a:cs typeface="Segoe UI"/>
              </a:rPr>
              <a:t> </a:t>
            </a:r>
            <a:r>
              <a:rPr dirty="0" sz="1500" spc="-10">
                <a:solidFill>
                  <a:srgbClr val="00338D"/>
                </a:solidFill>
                <a:latin typeface="Segoe UI"/>
                <a:cs typeface="Segoe UI"/>
              </a:rPr>
              <a:t>growth</a:t>
            </a:r>
            <a:endParaRPr sz="1500">
              <a:latin typeface="Segoe UI"/>
              <a:cs typeface="Segoe UI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8970264" y="1792693"/>
          <a:ext cx="2152015" cy="2018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770"/>
                <a:gridCol w="210184"/>
                <a:gridCol w="210185"/>
                <a:gridCol w="210184"/>
                <a:gridCol w="214630"/>
                <a:gridCol w="210184"/>
                <a:gridCol w="210184"/>
                <a:gridCol w="210185"/>
                <a:gridCol w="214630"/>
                <a:gridCol w="191769"/>
              </a:tblGrid>
              <a:tr h="187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00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B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B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B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B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B8F5"/>
                    </a:solidFill>
                  </a:tcPr>
                </a:tc>
              </a:tr>
              <a:tr h="200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</a:tr>
              <a:tr h="200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</a:tr>
              <a:tr h="200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996696" y="3045701"/>
            <a:ext cx="4471670" cy="1052195"/>
          </a:xfrm>
          <a:custGeom>
            <a:avLst/>
            <a:gdLst/>
            <a:ahLst/>
            <a:cxnLst/>
            <a:rect l="l" t="t" r="r" b="b"/>
            <a:pathLst>
              <a:path w="4471670" h="1052195">
                <a:moveTo>
                  <a:pt x="4471416" y="525932"/>
                </a:moveTo>
                <a:lnTo>
                  <a:pt x="4169664" y="349186"/>
                </a:lnTo>
                <a:lnTo>
                  <a:pt x="4169664" y="0"/>
                </a:lnTo>
                <a:lnTo>
                  <a:pt x="0" y="0"/>
                </a:lnTo>
                <a:lnTo>
                  <a:pt x="0" y="1051826"/>
                </a:lnTo>
                <a:lnTo>
                  <a:pt x="4169664" y="1051826"/>
                </a:lnTo>
                <a:lnTo>
                  <a:pt x="4169664" y="702665"/>
                </a:lnTo>
                <a:lnTo>
                  <a:pt x="4471416" y="525932"/>
                </a:lnTo>
                <a:close/>
              </a:path>
            </a:pathLst>
          </a:custGeom>
          <a:solidFill>
            <a:srgbClr val="1E48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996696" y="3045701"/>
            <a:ext cx="4170045" cy="1052195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marL="207010">
              <a:lnSpc>
                <a:spcPct val="100000"/>
              </a:lnSpc>
              <a:spcBef>
                <a:spcPts val="1085"/>
              </a:spcBef>
            </a:pPr>
            <a:r>
              <a:rPr dirty="0" sz="1550" spc="-10" b="1">
                <a:solidFill>
                  <a:srgbClr val="FFFFFF"/>
                </a:solidFill>
                <a:latin typeface="Segoe UI"/>
                <a:cs typeface="Segoe UI"/>
              </a:rPr>
              <a:t>Process</a:t>
            </a:r>
            <a:endParaRPr sz="1550">
              <a:latin typeface="Segoe UI"/>
              <a:cs typeface="Segoe UI"/>
            </a:endParaRPr>
          </a:p>
          <a:p>
            <a:pPr marL="207010" marR="1331595">
              <a:lnSpc>
                <a:spcPct val="115700"/>
              </a:lnSpc>
              <a:spcBef>
                <a:spcPts val="229"/>
              </a:spcBef>
            </a:pPr>
            <a:r>
              <a:rPr dirty="0" sz="1350">
                <a:solidFill>
                  <a:srgbClr val="FFFFFF"/>
                </a:solidFill>
                <a:latin typeface="Segoe UI"/>
                <a:cs typeface="Segoe UI"/>
              </a:rPr>
              <a:t>Ed</a:t>
            </a:r>
            <a:r>
              <a:rPr dirty="0" sz="1350" spc="114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FFFFFF"/>
                </a:solidFill>
                <a:latin typeface="Segoe UI"/>
                <a:cs typeface="Segoe UI"/>
              </a:rPr>
              <a:t>ut</a:t>
            </a:r>
            <a:r>
              <a:rPr dirty="0" sz="1350" spc="10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FFFFFF"/>
                </a:solidFill>
                <a:latin typeface="Segoe UI"/>
                <a:cs typeface="Segoe UI"/>
              </a:rPr>
              <a:t>perspiciatis</a:t>
            </a:r>
            <a:r>
              <a:rPr dirty="0" sz="1350" spc="10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FFFFFF"/>
                </a:solidFill>
                <a:latin typeface="Segoe UI"/>
                <a:cs typeface="Segoe UI"/>
              </a:rPr>
              <a:t>unde</a:t>
            </a:r>
            <a:r>
              <a:rPr dirty="0" sz="1350" spc="15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FFFFFF"/>
                </a:solidFill>
                <a:latin typeface="Segoe UI"/>
                <a:cs typeface="Segoe UI"/>
              </a:rPr>
              <a:t>omnis</a:t>
            </a:r>
            <a:r>
              <a:rPr dirty="0" sz="1350" spc="10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 spc="-20">
                <a:solidFill>
                  <a:srgbClr val="FFFFFF"/>
                </a:solidFill>
                <a:latin typeface="Segoe UI"/>
                <a:cs typeface="Segoe UI"/>
              </a:rPr>
              <a:t>iste </a:t>
            </a:r>
            <a:r>
              <a:rPr dirty="0" sz="1350">
                <a:solidFill>
                  <a:srgbClr val="FFFFFF"/>
                </a:solidFill>
                <a:latin typeface="Segoe UI"/>
                <a:cs typeface="Segoe UI"/>
              </a:rPr>
              <a:t>natus</a:t>
            </a:r>
            <a:r>
              <a:rPr dirty="0" sz="1350" spc="10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FFFFFF"/>
                </a:solidFill>
                <a:latin typeface="Segoe UI"/>
                <a:cs typeface="Segoe UI"/>
              </a:rPr>
              <a:t>error</a:t>
            </a:r>
            <a:r>
              <a:rPr dirty="0" sz="1350" spc="5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FFFFFF"/>
                </a:solidFill>
                <a:latin typeface="Segoe UI"/>
                <a:cs typeface="Segoe UI"/>
              </a:rPr>
              <a:t>sit</a:t>
            </a:r>
            <a:r>
              <a:rPr dirty="0" sz="1350" spc="8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Segoe UI"/>
                <a:cs typeface="Segoe UI"/>
              </a:rPr>
              <a:t>voluptatem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96696" y="1326260"/>
            <a:ext cx="4471670" cy="1061085"/>
          </a:xfrm>
          <a:custGeom>
            <a:avLst/>
            <a:gdLst/>
            <a:ahLst/>
            <a:cxnLst/>
            <a:rect l="l" t="t" r="r" b="b"/>
            <a:pathLst>
              <a:path w="4471670" h="1061085">
                <a:moveTo>
                  <a:pt x="4471416" y="530479"/>
                </a:moveTo>
                <a:lnTo>
                  <a:pt x="4169664" y="357936"/>
                </a:lnTo>
                <a:lnTo>
                  <a:pt x="4169664" y="0"/>
                </a:lnTo>
                <a:lnTo>
                  <a:pt x="0" y="0"/>
                </a:lnTo>
                <a:lnTo>
                  <a:pt x="0" y="1060958"/>
                </a:lnTo>
                <a:lnTo>
                  <a:pt x="4169664" y="1060958"/>
                </a:lnTo>
                <a:lnTo>
                  <a:pt x="4169664" y="702919"/>
                </a:lnTo>
                <a:lnTo>
                  <a:pt x="4471416" y="530479"/>
                </a:lnTo>
                <a:close/>
              </a:path>
            </a:pathLst>
          </a:custGeom>
          <a:solidFill>
            <a:srgbClr val="1E48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996696" y="1326248"/>
            <a:ext cx="4170045" cy="1061085"/>
          </a:xfrm>
          <a:prstGeom prst="rect">
            <a:avLst/>
          </a:prstGeom>
        </p:spPr>
        <p:txBody>
          <a:bodyPr wrap="square" lIns="0" tIns="142240" rIns="0" bIns="0" rtlCol="0" vert="horz">
            <a:spAutoFit/>
          </a:bodyPr>
          <a:lstStyle/>
          <a:p>
            <a:pPr marL="207010">
              <a:lnSpc>
                <a:spcPct val="100000"/>
              </a:lnSpc>
              <a:spcBef>
                <a:spcPts val="1120"/>
              </a:spcBef>
            </a:pPr>
            <a:r>
              <a:rPr dirty="0" sz="1550" b="1">
                <a:solidFill>
                  <a:srgbClr val="FFFFFF"/>
                </a:solidFill>
                <a:latin typeface="Segoe UI"/>
                <a:cs typeface="Segoe UI"/>
              </a:rPr>
              <a:t>Our</a:t>
            </a:r>
            <a:r>
              <a:rPr dirty="0" sz="1550" spc="70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Segoe UI"/>
                <a:cs typeface="Segoe UI"/>
              </a:rPr>
              <a:t>Support</a:t>
            </a:r>
            <a:endParaRPr sz="1550">
              <a:latin typeface="Segoe UI"/>
              <a:cs typeface="Segoe UI"/>
            </a:endParaRPr>
          </a:p>
          <a:p>
            <a:pPr marL="207010">
              <a:lnSpc>
                <a:spcPct val="100000"/>
              </a:lnSpc>
              <a:spcBef>
                <a:spcPts val="484"/>
              </a:spcBef>
            </a:pPr>
            <a:r>
              <a:rPr dirty="0" sz="1350">
                <a:solidFill>
                  <a:srgbClr val="FFFFFF"/>
                </a:solidFill>
                <a:latin typeface="Segoe UI"/>
                <a:cs typeface="Segoe UI"/>
              </a:rPr>
              <a:t>Ed</a:t>
            </a:r>
            <a:r>
              <a:rPr dirty="0" sz="1350" spc="114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FFFFFF"/>
                </a:solidFill>
                <a:latin typeface="Segoe UI"/>
                <a:cs typeface="Segoe UI"/>
              </a:rPr>
              <a:t>ut</a:t>
            </a:r>
            <a:r>
              <a:rPr dirty="0" sz="1350" spc="10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FFFFFF"/>
                </a:solidFill>
                <a:latin typeface="Segoe UI"/>
                <a:cs typeface="Segoe UI"/>
              </a:rPr>
              <a:t>perspiciatis</a:t>
            </a:r>
            <a:r>
              <a:rPr dirty="0" sz="1350" spc="10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FFFFFF"/>
                </a:solidFill>
                <a:latin typeface="Segoe UI"/>
                <a:cs typeface="Segoe UI"/>
              </a:rPr>
              <a:t>unde</a:t>
            </a:r>
            <a:r>
              <a:rPr dirty="0" sz="1350" spc="15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FFFFFF"/>
                </a:solidFill>
                <a:latin typeface="Segoe UI"/>
                <a:cs typeface="Segoe UI"/>
              </a:rPr>
              <a:t>omnis</a:t>
            </a:r>
            <a:r>
              <a:rPr dirty="0" sz="1350" spc="10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 spc="-20">
                <a:solidFill>
                  <a:srgbClr val="FFFFFF"/>
                </a:solidFill>
                <a:latin typeface="Segoe UI"/>
                <a:cs typeface="Segoe UI"/>
              </a:rPr>
              <a:t>iste</a:t>
            </a:r>
            <a:endParaRPr sz="1350">
              <a:latin typeface="Segoe UI"/>
              <a:cs typeface="Segoe UI"/>
            </a:endParaRPr>
          </a:p>
          <a:p>
            <a:pPr marL="207010">
              <a:lnSpc>
                <a:spcPct val="100000"/>
              </a:lnSpc>
              <a:spcBef>
                <a:spcPts val="254"/>
              </a:spcBef>
            </a:pPr>
            <a:r>
              <a:rPr dirty="0" sz="1350">
                <a:solidFill>
                  <a:srgbClr val="FFFFFF"/>
                </a:solidFill>
                <a:latin typeface="Segoe UI"/>
                <a:cs typeface="Segoe UI"/>
              </a:rPr>
              <a:t>natus</a:t>
            </a:r>
            <a:r>
              <a:rPr dirty="0" sz="1350" spc="10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FFFFFF"/>
                </a:solidFill>
                <a:latin typeface="Segoe UI"/>
                <a:cs typeface="Segoe UI"/>
              </a:rPr>
              <a:t>error</a:t>
            </a:r>
            <a:r>
              <a:rPr dirty="0" sz="1350" spc="5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FFFFFF"/>
                </a:solidFill>
                <a:latin typeface="Segoe UI"/>
                <a:cs typeface="Segoe UI"/>
              </a:rPr>
              <a:t>sit</a:t>
            </a:r>
            <a:r>
              <a:rPr dirty="0" sz="1350" spc="9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Segoe UI"/>
                <a:cs typeface="Segoe UI"/>
              </a:rPr>
              <a:t>voluptatem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77685" y="5019510"/>
            <a:ext cx="4658360" cy="831215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500" b="1">
                <a:solidFill>
                  <a:srgbClr val="00B8F5"/>
                </a:solidFill>
                <a:latin typeface="Segoe UI"/>
                <a:cs typeface="Segoe UI"/>
              </a:rPr>
              <a:t>Lorem</a:t>
            </a:r>
            <a:r>
              <a:rPr dirty="0" sz="1500" spc="-30" b="1">
                <a:solidFill>
                  <a:srgbClr val="00B8F5"/>
                </a:solidFill>
                <a:latin typeface="Segoe UI"/>
                <a:cs typeface="Segoe UI"/>
              </a:rPr>
              <a:t> </a:t>
            </a:r>
            <a:r>
              <a:rPr dirty="0" sz="1500" spc="-20" b="1">
                <a:solidFill>
                  <a:srgbClr val="00B8F5"/>
                </a:solidFill>
                <a:latin typeface="Segoe UI"/>
                <a:cs typeface="Segoe UI"/>
              </a:rPr>
              <a:t>ipsum</a:t>
            </a:r>
            <a:endParaRPr sz="1500">
              <a:latin typeface="Segoe UI"/>
              <a:cs typeface="Segoe UI"/>
            </a:endParaRPr>
          </a:p>
          <a:p>
            <a:pPr marL="12700" marR="5080">
              <a:lnSpc>
                <a:spcPct val="101699"/>
              </a:lnSpc>
              <a:spcBef>
                <a:spcPts val="610"/>
              </a:spcBef>
            </a:pPr>
            <a:r>
              <a:rPr dirty="0" sz="1300">
                <a:solidFill>
                  <a:srgbClr val="00338D"/>
                </a:solidFill>
                <a:latin typeface="Segoe UI"/>
                <a:cs typeface="Segoe UI"/>
              </a:rPr>
              <a:t>Dolor</a:t>
            </a:r>
            <a:r>
              <a:rPr dirty="0" sz="1300" spc="-30">
                <a:solidFill>
                  <a:srgbClr val="00338D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00338D"/>
                </a:solidFill>
                <a:latin typeface="Segoe UI"/>
                <a:cs typeface="Segoe UI"/>
              </a:rPr>
              <a:t>sit</a:t>
            </a:r>
            <a:r>
              <a:rPr dirty="0" sz="1300" spc="-40">
                <a:solidFill>
                  <a:srgbClr val="00338D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00338D"/>
                </a:solidFill>
                <a:latin typeface="Segoe UI"/>
                <a:cs typeface="Segoe UI"/>
              </a:rPr>
              <a:t>amet,</a:t>
            </a:r>
            <a:r>
              <a:rPr dirty="0" sz="1300" spc="-35">
                <a:solidFill>
                  <a:srgbClr val="00338D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00338D"/>
                </a:solidFill>
                <a:latin typeface="Segoe UI"/>
                <a:cs typeface="Segoe UI"/>
              </a:rPr>
              <a:t>consectetur</a:t>
            </a:r>
            <a:r>
              <a:rPr dirty="0" sz="1300" spc="-25">
                <a:solidFill>
                  <a:srgbClr val="00338D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00338D"/>
                </a:solidFill>
                <a:latin typeface="Segoe UI"/>
                <a:cs typeface="Segoe UI"/>
              </a:rPr>
              <a:t>adipiscing</a:t>
            </a:r>
            <a:r>
              <a:rPr dirty="0" sz="1300" spc="-60">
                <a:solidFill>
                  <a:srgbClr val="00338D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00338D"/>
                </a:solidFill>
                <a:latin typeface="Segoe UI"/>
                <a:cs typeface="Segoe UI"/>
              </a:rPr>
              <a:t>elit.</a:t>
            </a:r>
            <a:r>
              <a:rPr dirty="0" sz="1300" spc="-35">
                <a:solidFill>
                  <a:srgbClr val="00338D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00338D"/>
                </a:solidFill>
                <a:latin typeface="Segoe UI"/>
                <a:cs typeface="Segoe UI"/>
              </a:rPr>
              <a:t>Praesent</a:t>
            </a:r>
            <a:r>
              <a:rPr dirty="0" sz="1300" spc="-35">
                <a:solidFill>
                  <a:srgbClr val="00338D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00338D"/>
                </a:solidFill>
                <a:latin typeface="Segoe UI"/>
                <a:cs typeface="Segoe UI"/>
              </a:rPr>
              <a:t>sed</a:t>
            </a:r>
            <a:r>
              <a:rPr dirty="0" sz="1300" spc="-40">
                <a:solidFill>
                  <a:srgbClr val="00338D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00338D"/>
                </a:solidFill>
                <a:latin typeface="Segoe UI"/>
                <a:cs typeface="Segoe UI"/>
              </a:rPr>
              <a:t>pulvinar tortor,</a:t>
            </a:r>
            <a:r>
              <a:rPr dirty="0" sz="1300" spc="-35">
                <a:solidFill>
                  <a:srgbClr val="00338D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00338D"/>
                </a:solidFill>
                <a:latin typeface="Segoe UI"/>
                <a:cs typeface="Segoe UI"/>
              </a:rPr>
              <a:t>sit</a:t>
            </a:r>
            <a:r>
              <a:rPr dirty="0" sz="1300" spc="-60">
                <a:solidFill>
                  <a:srgbClr val="00338D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00338D"/>
                </a:solidFill>
                <a:latin typeface="Segoe UI"/>
                <a:cs typeface="Segoe UI"/>
              </a:rPr>
              <a:t>amet</a:t>
            </a:r>
            <a:r>
              <a:rPr dirty="0" sz="1300" spc="-35">
                <a:solidFill>
                  <a:srgbClr val="00338D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00338D"/>
                </a:solidFill>
                <a:latin typeface="Segoe UI"/>
                <a:cs typeface="Segoe UI"/>
              </a:rPr>
              <a:t>vulputate</a:t>
            </a:r>
            <a:r>
              <a:rPr dirty="0" sz="1300" spc="-25">
                <a:solidFill>
                  <a:srgbClr val="00338D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00338D"/>
                </a:solidFill>
                <a:latin typeface="Segoe UI"/>
                <a:cs typeface="Segoe UI"/>
              </a:rPr>
              <a:t>tellus.</a:t>
            </a:r>
            <a:endParaRPr sz="1300">
              <a:latin typeface="Segoe UI"/>
              <a:cs typeface="Segoe U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201732" y="1525901"/>
            <a:ext cx="540385" cy="607060"/>
            <a:chOff x="4201732" y="1525901"/>
            <a:chExt cx="540385" cy="607060"/>
          </a:xfrm>
        </p:grpSpPr>
        <p:sp>
          <p:nvSpPr>
            <p:cNvPr id="18" name="object 18"/>
            <p:cNvSpPr/>
            <p:nvPr/>
          </p:nvSpPr>
          <p:spPr>
            <a:xfrm>
              <a:off x="4291623" y="1619833"/>
              <a:ext cx="358775" cy="377825"/>
            </a:xfrm>
            <a:custGeom>
              <a:avLst/>
              <a:gdLst/>
              <a:ahLst/>
              <a:cxnLst/>
              <a:rect l="l" t="t" r="r" b="b"/>
              <a:pathLst>
                <a:path w="358775" h="377825">
                  <a:moveTo>
                    <a:pt x="181982" y="0"/>
                  </a:moveTo>
                  <a:lnTo>
                    <a:pt x="135655" y="5701"/>
                  </a:lnTo>
                  <a:lnTo>
                    <a:pt x="92887" y="23009"/>
                  </a:lnTo>
                  <a:lnTo>
                    <a:pt x="55804" y="50726"/>
                  </a:lnTo>
                  <a:lnTo>
                    <a:pt x="26533" y="87657"/>
                  </a:lnTo>
                  <a:lnTo>
                    <a:pt x="7201" y="132606"/>
                  </a:lnTo>
                  <a:lnTo>
                    <a:pt x="0" y="176124"/>
                  </a:lnTo>
                  <a:lnTo>
                    <a:pt x="3801" y="218998"/>
                  </a:lnTo>
                  <a:lnTo>
                    <a:pt x="18108" y="259665"/>
                  </a:lnTo>
                  <a:lnTo>
                    <a:pt x="42423" y="296566"/>
                  </a:lnTo>
                  <a:lnTo>
                    <a:pt x="76249" y="328139"/>
                  </a:lnTo>
                  <a:lnTo>
                    <a:pt x="82670" y="333279"/>
                  </a:lnTo>
                  <a:lnTo>
                    <a:pt x="87332" y="339912"/>
                  </a:lnTo>
                  <a:lnTo>
                    <a:pt x="90011" y="347599"/>
                  </a:lnTo>
                  <a:lnTo>
                    <a:pt x="90483" y="355899"/>
                  </a:lnTo>
                  <a:lnTo>
                    <a:pt x="91117" y="365020"/>
                  </a:lnTo>
                  <a:lnTo>
                    <a:pt x="91191" y="366085"/>
                  </a:lnTo>
                  <a:lnTo>
                    <a:pt x="94661" y="372503"/>
                  </a:lnTo>
                  <a:lnTo>
                    <a:pt x="94732" y="372634"/>
                  </a:lnTo>
                  <a:lnTo>
                    <a:pt x="101589" y="376133"/>
                  </a:lnTo>
                  <a:lnTo>
                    <a:pt x="112241" y="377169"/>
                  </a:lnTo>
                  <a:lnTo>
                    <a:pt x="246801" y="377591"/>
                  </a:lnTo>
                  <a:lnTo>
                    <a:pt x="258579" y="376417"/>
                  </a:lnTo>
                  <a:lnTo>
                    <a:pt x="266032" y="372503"/>
                  </a:lnTo>
                  <a:lnTo>
                    <a:pt x="269935" y="365020"/>
                  </a:lnTo>
                  <a:lnTo>
                    <a:pt x="271063" y="353140"/>
                  </a:lnTo>
                  <a:lnTo>
                    <a:pt x="271628" y="345965"/>
                  </a:lnTo>
                  <a:lnTo>
                    <a:pt x="273998" y="339316"/>
                  </a:lnTo>
                  <a:lnTo>
                    <a:pt x="278016" y="333543"/>
                  </a:lnTo>
                  <a:lnTo>
                    <a:pt x="283525" y="328997"/>
                  </a:lnTo>
                  <a:lnTo>
                    <a:pt x="320472" y="294175"/>
                  </a:lnTo>
                  <a:lnTo>
                    <a:pt x="345834" y="254008"/>
                  </a:lnTo>
                  <a:lnTo>
                    <a:pt x="358742" y="208299"/>
                  </a:lnTo>
                  <a:lnTo>
                    <a:pt x="358497" y="178219"/>
                  </a:lnTo>
                  <a:lnTo>
                    <a:pt x="65785" y="178219"/>
                  </a:lnTo>
                  <a:lnTo>
                    <a:pt x="48217" y="177576"/>
                  </a:lnTo>
                  <a:lnTo>
                    <a:pt x="44971" y="171201"/>
                  </a:lnTo>
                  <a:lnTo>
                    <a:pt x="44238" y="163753"/>
                  </a:lnTo>
                  <a:lnTo>
                    <a:pt x="44030" y="163753"/>
                  </a:lnTo>
                  <a:lnTo>
                    <a:pt x="70920" y="95115"/>
                  </a:lnTo>
                  <a:lnTo>
                    <a:pt x="128880" y="50513"/>
                  </a:lnTo>
                  <a:lnTo>
                    <a:pt x="157370" y="42008"/>
                  </a:lnTo>
                  <a:lnTo>
                    <a:pt x="157193" y="42008"/>
                  </a:lnTo>
                  <a:lnTo>
                    <a:pt x="166645" y="40407"/>
                  </a:lnTo>
                  <a:lnTo>
                    <a:pt x="290352" y="40407"/>
                  </a:lnTo>
                  <a:lnTo>
                    <a:pt x="277142" y="28837"/>
                  </a:lnTo>
                  <a:lnTo>
                    <a:pt x="229740" y="7101"/>
                  </a:lnTo>
                  <a:lnTo>
                    <a:pt x="181982" y="0"/>
                  </a:lnTo>
                  <a:close/>
                </a:path>
                <a:path w="358775" h="377825">
                  <a:moveTo>
                    <a:pt x="290352" y="40407"/>
                  </a:moveTo>
                  <a:lnTo>
                    <a:pt x="166645" y="40407"/>
                  </a:lnTo>
                  <a:lnTo>
                    <a:pt x="175027" y="42008"/>
                  </a:lnTo>
                  <a:lnTo>
                    <a:pt x="179127" y="62672"/>
                  </a:lnTo>
                  <a:lnTo>
                    <a:pt x="179205" y="63063"/>
                  </a:lnTo>
                  <a:lnTo>
                    <a:pt x="171877" y="67523"/>
                  </a:lnTo>
                  <a:lnTo>
                    <a:pt x="163100" y="69124"/>
                  </a:lnTo>
                  <a:lnTo>
                    <a:pt x="145491" y="73542"/>
                  </a:lnTo>
                  <a:lnTo>
                    <a:pt x="100314" y="102931"/>
                  </a:lnTo>
                  <a:lnTo>
                    <a:pt x="75262" y="146155"/>
                  </a:lnTo>
                  <a:lnTo>
                    <a:pt x="69765" y="170886"/>
                  </a:lnTo>
                  <a:lnTo>
                    <a:pt x="65785" y="178219"/>
                  </a:lnTo>
                  <a:lnTo>
                    <a:pt x="358497" y="178219"/>
                  </a:lnTo>
                  <a:lnTo>
                    <a:pt x="358379" y="163753"/>
                  </a:lnTo>
                  <a:lnTo>
                    <a:pt x="358322" y="156849"/>
                  </a:lnTo>
                  <a:lnTo>
                    <a:pt x="343532" y="106159"/>
                  </a:lnTo>
                  <a:lnTo>
                    <a:pt x="315772" y="62672"/>
                  </a:lnTo>
                  <a:lnTo>
                    <a:pt x="290352" y="404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1277" y="2009864"/>
              <a:ext cx="180791" cy="12252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75074" y="1600132"/>
              <a:ext cx="65497" cy="6756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201731" y="1525904"/>
              <a:ext cx="540385" cy="291465"/>
            </a:xfrm>
            <a:custGeom>
              <a:avLst/>
              <a:gdLst/>
              <a:ahLst/>
              <a:cxnLst/>
              <a:rect l="l" t="t" r="r" b="b"/>
              <a:pathLst>
                <a:path w="540385" h="291464">
                  <a:moveTo>
                    <a:pt x="78359" y="280885"/>
                  </a:moveTo>
                  <a:lnTo>
                    <a:pt x="77343" y="273037"/>
                  </a:lnTo>
                  <a:lnTo>
                    <a:pt x="77317" y="272122"/>
                  </a:lnTo>
                  <a:lnTo>
                    <a:pt x="76835" y="264198"/>
                  </a:lnTo>
                  <a:lnTo>
                    <a:pt x="76784" y="263499"/>
                  </a:lnTo>
                  <a:lnTo>
                    <a:pt x="70421" y="257797"/>
                  </a:lnTo>
                  <a:lnTo>
                    <a:pt x="69469" y="256946"/>
                  </a:lnTo>
                  <a:lnTo>
                    <a:pt x="60998" y="257479"/>
                  </a:lnTo>
                  <a:lnTo>
                    <a:pt x="39331" y="257479"/>
                  </a:lnTo>
                  <a:lnTo>
                    <a:pt x="39331" y="257797"/>
                  </a:lnTo>
                  <a:lnTo>
                    <a:pt x="31597" y="257797"/>
                  </a:lnTo>
                  <a:lnTo>
                    <a:pt x="23850" y="257263"/>
                  </a:lnTo>
                  <a:lnTo>
                    <a:pt x="16319" y="257797"/>
                  </a:lnTo>
                  <a:lnTo>
                    <a:pt x="7835" y="257619"/>
                  </a:lnTo>
                  <a:lnTo>
                    <a:pt x="1143" y="264198"/>
                  </a:lnTo>
                  <a:lnTo>
                    <a:pt x="939" y="272122"/>
                  </a:lnTo>
                  <a:lnTo>
                    <a:pt x="838" y="273037"/>
                  </a:lnTo>
                  <a:lnTo>
                    <a:pt x="25" y="280885"/>
                  </a:lnTo>
                  <a:lnTo>
                    <a:pt x="0" y="281165"/>
                  </a:lnTo>
                  <a:lnTo>
                    <a:pt x="5753" y="288480"/>
                  </a:lnTo>
                  <a:lnTo>
                    <a:pt x="13703" y="289382"/>
                  </a:lnTo>
                  <a:lnTo>
                    <a:pt x="26238" y="290931"/>
                  </a:lnTo>
                  <a:lnTo>
                    <a:pt x="38862" y="291452"/>
                  </a:lnTo>
                  <a:lnTo>
                    <a:pt x="51485" y="290931"/>
                  </a:lnTo>
                  <a:lnTo>
                    <a:pt x="64020" y="289382"/>
                  </a:lnTo>
                  <a:lnTo>
                    <a:pt x="64211" y="289382"/>
                  </a:lnTo>
                  <a:lnTo>
                    <a:pt x="72707" y="288277"/>
                  </a:lnTo>
                  <a:lnTo>
                    <a:pt x="78359" y="280885"/>
                  </a:lnTo>
                  <a:close/>
                </a:path>
                <a:path w="540385" h="291464">
                  <a:moveTo>
                    <a:pt x="286562" y="23977"/>
                  </a:moveTo>
                  <a:lnTo>
                    <a:pt x="286156" y="16217"/>
                  </a:lnTo>
                  <a:lnTo>
                    <a:pt x="285940" y="7048"/>
                  </a:lnTo>
                  <a:lnTo>
                    <a:pt x="278828" y="241"/>
                  </a:lnTo>
                  <a:lnTo>
                    <a:pt x="270344" y="469"/>
                  </a:lnTo>
                  <a:lnTo>
                    <a:pt x="261874" y="0"/>
                  </a:lnTo>
                  <a:lnTo>
                    <a:pt x="254965" y="6311"/>
                  </a:lnTo>
                  <a:lnTo>
                    <a:pt x="254546" y="14516"/>
                  </a:lnTo>
                  <a:lnTo>
                    <a:pt x="253365" y="26885"/>
                  </a:lnTo>
                  <a:lnTo>
                    <a:pt x="252971" y="39281"/>
                  </a:lnTo>
                  <a:lnTo>
                    <a:pt x="253365" y="51689"/>
                  </a:lnTo>
                  <a:lnTo>
                    <a:pt x="255485" y="72720"/>
                  </a:lnTo>
                  <a:lnTo>
                    <a:pt x="262699" y="78574"/>
                  </a:lnTo>
                  <a:lnTo>
                    <a:pt x="270662" y="77660"/>
                  </a:lnTo>
                  <a:lnTo>
                    <a:pt x="279552" y="77495"/>
                  </a:lnTo>
                  <a:lnTo>
                    <a:pt x="286346" y="70307"/>
                  </a:lnTo>
                  <a:lnTo>
                    <a:pt x="286156" y="61607"/>
                  </a:lnTo>
                  <a:lnTo>
                    <a:pt x="286156" y="39598"/>
                  </a:lnTo>
                  <a:lnTo>
                    <a:pt x="286156" y="31838"/>
                  </a:lnTo>
                  <a:lnTo>
                    <a:pt x="286562" y="23977"/>
                  </a:lnTo>
                  <a:close/>
                </a:path>
                <a:path w="540385" h="291464">
                  <a:moveTo>
                    <a:pt x="539965" y="280162"/>
                  </a:moveTo>
                  <a:lnTo>
                    <a:pt x="538924" y="271945"/>
                  </a:lnTo>
                  <a:lnTo>
                    <a:pt x="538505" y="263080"/>
                  </a:lnTo>
                  <a:lnTo>
                    <a:pt x="531698" y="256844"/>
                  </a:lnTo>
                  <a:lnTo>
                    <a:pt x="523748" y="257263"/>
                  </a:lnTo>
                  <a:lnTo>
                    <a:pt x="468922" y="257263"/>
                  </a:lnTo>
                  <a:lnTo>
                    <a:pt x="462330" y="263931"/>
                  </a:lnTo>
                  <a:lnTo>
                    <a:pt x="462330" y="272148"/>
                  </a:lnTo>
                  <a:lnTo>
                    <a:pt x="461403" y="280492"/>
                  </a:lnTo>
                  <a:lnTo>
                    <a:pt x="467360" y="288010"/>
                  </a:lnTo>
                  <a:lnTo>
                    <a:pt x="475526" y="288950"/>
                  </a:lnTo>
                  <a:lnTo>
                    <a:pt x="483679" y="290068"/>
                  </a:lnTo>
                  <a:lnTo>
                    <a:pt x="491947" y="290741"/>
                  </a:lnTo>
                  <a:lnTo>
                    <a:pt x="500202" y="290969"/>
                  </a:lnTo>
                  <a:lnTo>
                    <a:pt x="506552" y="290931"/>
                  </a:lnTo>
                  <a:lnTo>
                    <a:pt x="512991" y="290690"/>
                  </a:lnTo>
                  <a:lnTo>
                    <a:pt x="519442" y="290029"/>
                  </a:lnTo>
                  <a:lnTo>
                    <a:pt x="525843" y="288734"/>
                  </a:lnTo>
                  <a:lnTo>
                    <a:pt x="534212" y="287655"/>
                  </a:lnTo>
                  <a:lnTo>
                    <a:pt x="539965" y="2801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01197" y="1600160"/>
              <a:ext cx="65908" cy="67898"/>
            </a:xfrm>
            <a:prstGeom prst="rect">
              <a:avLst/>
            </a:prstGeom>
          </p:spPr>
        </p:pic>
      </p:grp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6382511" y="1792693"/>
          <a:ext cx="2152015" cy="2018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850"/>
                <a:gridCol w="210820"/>
                <a:gridCol w="215264"/>
                <a:gridCol w="210820"/>
                <a:gridCol w="210819"/>
                <a:gridCol w="210819"/>
                <a:gridCol w="210819"/>
                <a:gridCol w="210819"/>
                <a:gridCol w="210819"/>
                <a:gridCol w="192405"/>
              </a:tblGrid>
              <a:tr h="187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00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B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B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B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B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B8F5"/>
                    </a:solidFill>
                  </a:tcPr>
                </a:tc>
              </a:tr>
              <a:tr h="200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</a:tr>
              <a:tr h="200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</a:tr>
              <a:tr h="200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</a:tr>
            </a:tbl>
          </a:graphicData>
        </a:graphic>
      </p:graphicFrame>
      <p:sp>
        <p:nvSpPr>
          <p:cNvPr id="24" name="object 24"/>
          <p:cNvSpPr txBox="1"/>
          <p:nvPr/>
        </p:nvSpPr>
        <p:spPr>
          <a:xfrm>
            <a:off x="6377685" y="1195273"/>
            <a:ext cx="1621790" cy="575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>
                <a:solidFill>
                  <a:srgbClr val="1E48E1"/>
                </a:solidFill>
                <a:latin typeface="Segoe UI"/>
                <a:cs typeface="Segoe UI"/>
              </a:rPr>
              <a:t>65%</a:t>
            </a:r>
            <a:r>
              <a:rPr dirty="0" sz="3600" spc="-20">
                <a:solidFill>
                  <a:srgbClr val="1E48E1"/>
                </a:solidFill>
                <a:latin typeface="Segoe UI"/>
                <a:cs typeface="Segoe UI"/>
              </a:rPr>
              <a:t> </a:t>
            </a:r>
            <a:r>
              <a:rPr dirty="0" sz="1500" spc="-10">
                <a:solidFill>
                  <a:srgbClr val="00338D"/>
                </a:solidFill>
                <a:latin typeface="Segoe UI"/>
                <a:cs typeface="Segoe UI"/>
              </a:rPr>
              <a:t>growth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77685" y="3849391"/>
            <a:ext cx="2007235" cy="102298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500" spc="-10" b="1">
                <a:solidFill>
                  <a:srgbClr val="1E48E1"/>
                </a:solidFill>
                <a:latin typeface="Segoe UI"/>
                <a:cs typeface="Segoe UI"/>
              </a:rPr>
              <a:t>Subtitle</a:t>
            </a:r>
            <a:endParaRPr sz="1500">
              <a:latin typeface="Segoe UI"/>
              <a:cs typeface="Segoe UI"/>
            </a:endParaRPr>
          </a:p>
          <a:p>
            <a:pPr marL="12700" marR="5080">
              <a:lnSpc>
                <a:spcPct val="99400"/>
              </a:lnSpc>
              <a:spcBef>
                <a:spcPts val="645"/>
              </a:spcBef>
            </a:pPr>
            <a:r>
              <a:rPr dirty="0" sz="1300">
                <a:solidFill>
                  <a:srgbClr val="00338D"/>
                </a:solidFill>
                <a:latin typeface="Segoe UI"/>
                <a:cs typeface="Segoe UI"/>
              </a:rPr>
              <a:t>Dolor</a:t>
            </a:r>
            <a:r>
              <a:rPr dirty="0" sz="1300" spc="-25">
                <a:solidFill>
                  <a:srgbClr val="00338D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00338D"/>
                </a:solidFill>
                <a:latin typeface="Segoe UI"/>
                <a:cs typeface="Segoe UI"/>
              </a:rPr>
              <a:t>sit</a:t>
            </a:r>
            <a:r>
              <a:rPr dirty="0" sz="1300" spc="-45">
                <a:solidFill>
                  <a:srgbClr val="00338D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00338D"/>
                </a:solidFill>
                <a:latin typeface="Segoe UI"/>
                <a:cs typeface="Segoe UI"/>
              </a:rPr>
              <a:t>amet,</a:t>
            </a:r>
            <a:r>
              <a:rPr dirty="0" sz="1300" spc="-35">
                <a:solidFill>
                  <a:srgbClr val="00338D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00338D"/>
                </a:solidFill>
                <a:latin typeface="Segoe UI"/>
                <a:cs typeface="Segoe UI"/>
              </a:rPr>
              <a:t>consectetur </a:t>
            </a:r>
            <a:r>
              <a:rPr dirty="0" sz="1300">
                <a:solidFill>
                  <a:srgbClr val="00338D"/>
                </a:solidFill>
                <a:latin typeface="Segoe UI"/>
                <a:cs typeface="Segoe UI"/>
              </a:rPr>
              <a:t>adipiscing</a:t>
            </a:r>
            <a:r>
              <a:rPr dirty="0" sz="1300" spc="-70">
                <a:solidFill>
                  <a:srgbClr val="00338D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00338D"/>
                </a:solidFill>
                <a:latin typeface="Segoe UI"/>
                <a:cs typeface="Segoe UI"/>
              </a:rPr>
              <a:t>elitsed</a:t>
            </a:r>
            <a:r>
              <a:rPr dirty="0" sz="1300" spc="-30">
                <a:solidFill>
                  <a:srgbClr val="00338D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00338D"/>
                </a:solidFill>
                <a:latin typeface="Segoe UI"/>
                <a:cs typeface="Segoe UI"/>
              </a:rPr>
              <a:t>pulvinar </a:t>
            </a:r>
            <a:r>
              <a:rPr dirty="0" sz="1300">
                <a:solidFill>
                  <a:srgbClr val="00338D"/>
                </a:solidFill>
                <a:latin typeface="Segoe UI"/>
                <a:cs typeface="Segoe UI"/>
              </a:rPr>
              <a:t>tortoramet</a:t>
            </a:r>
            <a:r>
              <a:rPr dirty="0" sz="1300" spc="-65">
                <a:solidFill>
                  <a:srgbClr val="00338D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00338D"/>
                </a:solidFill>
                <a:latin typeface="Segoe UI"/>
                <a:cs typeface="Segoe UI"/>
              </a:rPr>
              <a:t>vulputate</a:t>
            </a:r>
            <a:r>
              <a:rPr dirty="0" sz="1300" spc="-60">
                <a:solidFill>
                  <a:srgbClr val="00338D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00338D"/>
                </a:solidFill>
                <a:latin typeface="Segoe UI"/>
                <a:cs typeface="Segoe UI"/>
              </a:rPr>
              <a:t>tellus.</a:t>
            </a:r>
            <a:endParaRPr sz="1300">
              <a:latin typeface="Segoe UI"/>
              <a:cs typeface="Segoe U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961373" y="3849391"/>
            <a:ext cx="2006600" cy="102298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500" spc="-10" b="1">
                <a:solidFill>
                  <a:srgbClr val="1E48E1"/>
                </a:solidFill>
                <a:latin typeface="Segoe UI"/>
                <a:cs typeface="Segoe UI"/>
              </a:rPr>
              <a:t>Subtitle</a:t>
            </a:r>
            <a:endParaRPr sz="1500">
              <a:latin typeface="Segoe UI"/>
              <a:cs typeface="Segoe UI"/>
            </a:endParaRPr>
          </a:p>
          <a:p>
            <a:pPr marL="12700" marR="5080">
              <a:lnSpc>
                <a:spcPct val="99400"/>
              </a:lnSpc>
              <a:spcBef>
                <a:spcPts val="645"/>
              </a:spcBef>
            </a:pPr>
            <a:r>
              <a:rPr dirty="0" sz="1300">
                <a:solidFill>
                  <a:srgbClr val="00338D"/>
                </a:solidFill>
                <a:latin typeface="Segoe UI"/>
                <a:cs typeface="Segoe UI"/>
              </a:rPr>
              <a:t>Dolor</a:t>
            </a:r>
            <a:r>
              <a:rPr dirty="0" sz="1300" spc="-25">
                <a:solidFill>
                  <a:srgbClr val="00338D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00338D"/>
                </a:solidFill>
                <a:latin typeface="Segoe UI"/>
                <a:cs typeface="Segoe UI"/>
              </a:rPr>
              <a:t>sit</a:t>
            </a:r>
            <a:r>
              <a:rPr dirty="0" sz="1300" spc="-50">
                <a:solidFill>
                  <a:srgbClr val="00338D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00338D"/>
                </a:solidFill>
                <a:latin typeface="Segoe UI"/>
                <a:cs typeface="Segoe UI"/>
              </a:rPr>
              <a:t>amet,</a:t>
            </a:r>
            <a:r>
              <a:rPr dirty="0" sz="1300" spc="-35">
                <a:solidFill>
                  <a:srgbClr val="00338D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00338D"/>
                </a:solidFill>
                <a:latin typeface="Segoe UI"/>
                <a:cs typeface="Segoe UI"/>
              </a:rPr>
              <a:t>consectetur </a:t>
            </a:r>
            <a:r>
              <a:rPr dirty="0" sz="1300">
                <a:solidFill>
                  <a:srgbClr val="00338D"/>
                </a:solidFill>
                <a:latin typeface="Segoe UI"/>
                <a:cs typeface="Segoe UI"/>
              </a:rPr>
              <a:t>adipiscing</a:t>
            </a:r>
            <a:r>
              <a:rPr dirty="0" sz="1300" spc="-75">
                <a:solidFill>
                  <a:srgbClr val="00338D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00338D"/>
                </a:solidFill>
                <a:latin typeface="Segoe UI"/>
                <a:cs typeface="Segoe UI"/>
              </a:rPr>
              <a:t>elitsed</a:t>
            </a:r>
            <a:r>
              <a:rPr dirty="0" sz="1300" spc="-30">
                <a:solidFill>
                  <a:srgbClr val="00338D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00338D"/>
                </a:solidFill>
                <a:latin typeface="Segoe UI"/>
                <a:cs typeface="Segoe UI"/>
              </a:rPr>
              <a:t>pulvinar </a:t>
            </a:r>
            <a:r>
              <a:rPr dirty="0" sz="1300">
                <a:solidFill>
                  <a:srgbClr val="00338D"/>
                </a:solidFill>
                <a:latin typeface="Segoe UI"/>
                <a:cs typeface="Segoe UI"/>
              </a:rPr>
              <a:t>tortoramet</a:t>
            </a:r>
            <a:r>
              <a:rPr dirty="0" sz="1300" spc="-65">
                <a:solidFill>
                  <a:srgbClr val="00338D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00338D"/>
                </a:solidFill>
                <a:latin typeface="Segoe UI"/>
                <a:cs typeface="Segoe UI"/>
              </a:rPr>
              <a:t>vulputate</a:t>
            </a:r>
            <a:r>
              <a:rPr dirty="0" sz="1300" spc="-60">
                <a:solidFill>
                  <a:srgbClr val="00338D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00338D"/>
                </a:solidFill>
                <a:latin typeface="Segoe UI"/>
                <a:cs typeface="Segoe UI"/>
              </a:rPr>
              <a:t>tellus.</a:t>
            </a:r>
            <a:endParaRPr sz="1300">
              <a:latin typeface="Segoe UI"/>
              <a:cs typeface="Segoe U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129290" y="3253549"/>
            <a:ext cx="631190" cy="626745"/>
          </a:xfrm>
          <a:custGeom>
            <a:avLst/>
            <a:gdLst/>
            <a:ahLst/>
            <a:cxnLst/>
            <a:rect l="l" t="t" r="r" b="b"/>
            <a:pathLst>
              <a:path w="631189" h="626745">
                <a:moveTo>
                  <a:pt x="233845" y="44094"/>
                </a:moveTo>
                <a:lnTo>
                  <a:pt x="185572" y="65125"/>
                </a:lnTo>
                <a:lnTo>
                  <a:pt x="146710" y="89865"/>
                </a:lnTo>
                <a:lnTo>
                  <a:pt x="112471" y="119494"/>
                </a:lnTo>
                <a:lnTo>
                  <a:pt x="83185" y="153377"/>
                </a:lnTo>
                <a:lnTo>
                  <a:pt x="59194" y="190881"/>
                </a:lnTo>
                <a:lnTo>
                  <a:pt x="40868" y="231355"/>
                </a:lnTo>
                <a:lnTo>
                  <a:pt x="28549" y="274167"/>
                </a:lnTo>
                <a:lnTo>
                  <a:pt x="22567" y="318693"/>
                </a:lnTo>
                <a:lnTo>
                  <a:pt x="23291" y="364274"/>
                </a:lnTo>
                <a:lnTo>
                  <a:pt x="31051" y="410273"/>
                </a:lnTo>
                <a:lnTo>
                  <a:pt x="32270" y="414985"/>
                </a:lnTo>
                <a:lnTo>
                  <a:pt x="31330" y="416826"/>
                </a:lnTo>
                <a:lnTo>
                  <a:pt x="20231" y="420776"/>
                </a:lnTo>
                <a:lnTo>
                  <a:pt x="0" y="428663"/>
                </a:lnTo>
                <a:lnTo>
                  <a:pt x="98209" y="523024"/>
                </a:lnTo>
                <a:lnTo>
                  <a:pt x="108902" y="386803"/>
                </a:lnTo>
                <a:lnTo>
                  <a:pt x="71386" y="400837"/>
                </a:lnTo>
                <a:lnTo>
                  <a:pt x="62941" y="357416"/>
                </a:lnTo>
                <a:lnTo>
                  <a:pt x="60947" y="313474"/>
                </a:lnTo>
                <a:lnTo>
                  <a:pt x="65392" y="269709"/>
                </a:lnTo>
                <a:lnTo>
                  <a:pt x="76263" y="226809"/>
                </a:lnTo>
                <a:lnTo>
                  <a:pt x="95338" y="181051"/>
                </a:lnTo>
                <a:lnTo>
                  <a:pt x="121234" y="139204"/>
                </a:lnTo>
                <a:lnTo>
                  <a:pt x="153352" y="101968"/>
                </a:lnTo>
                <a:lnTo>
                  <a:pt x="191084" y="70027"/>
                </a:lnTo>
                <a:lnTo>
                  <a:pt x="233845" y="44094"/>
                </a:lnTo>
                <a:close/>
              </a:path>
              <a:path w="631189" h="626745">
                <a:moveTo>
                  <a:pt x="522668" y="293357"/>
                </a:moveTo>
                <a:lnTo>
                  <a:pt x="509358" y="252412"/>
                </a:lnTo>
                <a:lnTo>
                  <a:pt x="504837" y="248539"/>
                </a:lnTo>
                <a:lnTo>
                  <a:pt x="502970" y="248539"/>
                </a:lnTo>
                <a:lnTo>
                  <a:pt x="495566" y="249542"/>
                </a:lnTo>
                <a:lnTo>
                  <a:pt x="488149" y="251206"/>
                </a:lnTo>
                <a:lnTo>
                  <a:pt x="481584" y="252412"/>
                </a:lnTo>
                <a:lnTo>
                  <a:pt x="471106" y="236994"/>
                </a:lnTo>
                <a:lnTo>
                  <a:pt x="466051" y="229438"/>
                </a:lnTo>
                <a:lnTo>
                  <a:pt x="461137" y="221907"/>
                </a:lnTo>
                <a:lnTo>
                  <a:pt x="460298" y="220192"/>
                </a:lnTo>
                <a:lnTo>
                  <a:pt x="460298" y="218186"/>
                </a:lnTo>
                <a:lnTo>
                  <a:pt x="461137" y="216458"/>
                </a:lnTo>
                <a:lnTo>
                  <a:pt x="463207" y="213423"/>
                </a:lnTo>
                <a:lnTo>
                  <a:pt x="465353" y="210273"/>
                </a:lnTo>
                <a:lnTo>
                  <a:pt x="469950" y="204343"/>
                </a:lnTo>
                <a:lnTo>
                  <a:pt x="475297" y="197142"/>
                </a:lnTo>
                <a:lnTo>
                  <a:pt x="459778" y="184111"/>
                </a:lnTo>
                <a:lnTo>
                  <a:pt x="442175" y="169316"/>
                </a:lnTo>
                <a:lnTo>
                  <a:pt x="442175" y="325424"/>
                </a:lnTo>
                <a:lnTo>
                  <a:pt x="432993" y="368236"/>
                </a:lnTo>
                <a:lnTo>
                  <a:pt x="408800" y="403136"/>
                </a:lnTo>
                <a:lnTo>
                  <a:pt x="373151" y="426618"/>
                </a:lnTo>
                <a:lnTo>
                  <a:pt x="329615" y="435229"/>
                </a:lnTo>
                <a:lnTo>
                  <a:pt x="327253" y="434759"/>
                </a:lnTo>
                <a:lnTo>
                  <a:pt x="286359" y="426618"/>
                </a:lnTo>
                <a:lnTo>
                  <a:pt x="285965" y="426618"/>
                </a:lnTo>
                <a:lnTo>
                  <a:pt x="250024" y="402742"/>
                </a:lnTo>
                <a:lnTo>
                  <a:pt x="225907" y="367487"/>
                </a:lnTo>
                <a:lnTo>
                  <a:pt x="217068" y="324319"/>
                </a:lnTo>
                <a:lnTo>
                  <a:pt x="225907" y="281152"/>
                </a:lnTo>
                <a:lnTo>
                  <a:pt x="250024" y="245897"/>
                </a:lnTo>
                <a:lnTo>
                  <a:pt x="285800" y="222123"/>
                </a:lnTo>
                <a:lnTo>
                  <a:pt x="328244" y="213677"/>
                </a:lnTo>
                <a:lnTo>
                  <a:pt x="329552" y="213423"/>
                </a:lnTo>
                <a:lnTo>
                  <a:pt x="330746" y="213423"/>
                </a:lnTo>
                <a:lnTo>
                  <a:pt x="374484" y="222567"/>
                </a:lnTo>
                <a:lnTo>
                  <a:pt x="410032" y="246684"/>
                </a:lnTo>
                <a:lnTo>
                  <a:pt x="433793" y="282168"/>
                </a:lnTo>
                <a:lnTo>
                  <a:pt x="442175" y="325424"/>
                </a:lnTo>
                <a:lnTo>
                  <a:pt x="442175" y="169316"/>
                </a:lnTo>
                <a:lnTo>
                  <a:pt x="437781" y="165620"/>
                </a:lnTo>
                <a:lnTo>
                  <a:pt x="418172" y="184111"/>
                </a:lnTo>
                <a:lnTo>
                  <a:pt x="392582" y="172986"/>
                </a:lnTo>
                <a:lnTo>
                  <a:pt x="381368" y="165620"/>
                </a:lnTo>
                <a:lnTo>
                  <a:pt x="381254" y="164884"/>
                </a:lnTo>
                <a:lnTo>
                  <a:pt x="381215" y="158699"/>
                </a:lnTo>
                <a:lnTo>
                  <a:pt x="381952" y="152400"/>
                </a:lnTo>
                <a:lnTo>
                  <a:pt x="381952" y="144653"/>
                </a:lnTo>
                <a:lnTo>
                  <a:pt x="380555" y="141871"/>
                </a:lnTo>
                <a:lnTo>
                  <a:pt x="379437" y="141871"/>
                </a:lnTo>
                <a:lnTo>
                  <a:pt x="333844" y="134302"/>
                </a:lnTo>
                <a:lnTo>
                  <a:pt x="331774" y="142709"/>
                </a:lnTo>
                <a:lnTo>
                  <a:pt x="329996" y="149542"/>
                </a:lnTo>
                <a:lnTo>
                  <a:pt x="327837" y="159423"/>
                </a:lnTo>
                <a:lnTo>
                  <a:pt x="326428" y="160642"/>
                </a:lnTo>
                <a:lnTo>
                  <a:pt x="323342" y="160642"/>
                </a:lnTo>
                <a:lnTo>
                  <a:pt x="315315" y="161518"/>
                </a:lnTo>
                <a:lnTo>
                  <a:pt x="307314" y="162509"/>
                </a:lnTo>
                <a:lnTo>
                  <a:pt x="299313" y="163626"/>
                </a:lnTo>
                <a:lnTo>
                  <a:pt x="291350" y="164884"/>
                </a:lnTo>
                <a:lnTo>
                  <a:pt x="288442" y="165836"/>
                </a:lnTo>
                <a:lnTo>
                  <a:pt x="285343" y="164414"/>
                </a:lnTo>
                <a:lnTo>
                  <a:pt x="284213" y="161658"/>
                </a:lnTo>
                <a:lnTo>
                  <a:pt x="281025" y="155829"/>
                </a:lnTo>
                <a:lnTo>
                  <a:pt x="277380" y="150101"/>
                </a:lnTo>
                <a:lnTo>
                  <a:pt x="273329" y="143167"/>
                </a:lnTo>
                <a:lnTo>
                  <a:pt x="229438" y="163410"/>
                </a:lnTo>
                <a:lnTo>
                  <a:pt x="237705" y="186880"/>
                </a:lnTo>
                <a:lnTo>
                  <a:pt x="205803" y="213677"/>
                </a:lnTo>
                <a:lnTo>
                  <a:pt x="183286" y="202399"/>
                </a:lnTo>
                <a:lnTo>
                  <a:pt x="156845" y="242709"/>
                </a:lnTo>
                <a:lnTo>
                  <a:pt x="175590" y="257771"/>
                </a:lnTo>
                <a:lnTo>
                  <a:pt x="170383" y="276059"/>
                </a:lnTo>
                <a:lnTo>
                  <a:pt x="167894" y="284924"/>
                </a:lnTo>
                <a:lnTo>
                  <a:pt x="164642" y="296773"/>
                </a:lnTo>
                <a:lnTo>
                  <a:pt x="163588" y="298157"/>
                </a:lnTo>
                <a:lnTo>
                  <a:pt x="160401" y="298157"/>
                </a:lnTo>
                <a:lnTo>
                  <a:pt x="153746" y="298538"/>
                </a:lnTo>
                <a:lnTo>
                  <a:pt x="146989" y="299453"/>
                </a:lnTo>
                <a:lnTo>
                  <a:pt x="139585" y="300189"/>
                </a:lnTo>
                <a:lnTo>
                  <a:pt x="139674" y="346036"/>
                </a:lnTo>
                <a:lnTo>
                  <a:pt x="142100" y="348348"/>
                </a:lnTo>
                <a:lnTo>
                  <a:pt x="143611" y="348348"/>
                </a:lnTo>
                <a:lnTo>
                  <a:pt x="150469" y="349364"/>
                </a:lnTo>
                <a:lnTo>
                  <a:pt x="157403" y="349923"/>
                </a:lnTo>
                <a:lnTo>
                  <a:pt x="163499" y="350481"/>
                </a:lnTo>
                <a:lnTo>
                  <a:pt x="175399" y="390309"/>
                </a:lnTo>
                <a:lnTo>
                  <a:pt x="156171" y="405460"/>
                </a:lnTo>
                <a:lnTo>
                  <a:pt x="182727" y="445846"/>
                </a:lnTo>
                <a:lnTo>
                  <a:pt x="227609" y="453047"/>
                </a:lnTo>
                <a:lnTo>
                  <a:pt x="236359" y="462673"/>
                </a:lnTo>
                <a:lnTo>
                  <a:pt x="235915" y="464426"/>
                </a:lnTo>
                <a:lnTo>
                  <a:pt x="233845" y="470992"/>
                </a:lnTo>
                <a:lnTo>
                  <a:pt x="231381" y="477456"/>
                </a:lnTo>
                <a:lnTo>
                  <a:pt x="228688" y="485038"/>
                </a:lnTo>
                <a:lnTo>
                  <a:pt x="273240" y="505091"/>
                </a:lnTo>
                <a:lnTo>
                  <a:pt x="277469" y="497878"/>
                </a:lnTo>
                <a:lnTo>
                  <a:pt x="280936" y="491693"/>
                </a:lnTo>
                <a:lnTo>
                  <a:pt x="284721" y="485876"/>
                </a:lnTo>
                <a:lnTo>
                  <a:pt x="285915" y="484212"/>
                </a:lnTo>
                <a:lnTo>
                  <a:pt x="287782" y="483260"/>
                </a:lnTo>
                <a:lnTo>
                  <a:pt x="290271" y="483260"/>
                </a:lnTo>
                <a:lnTo>
                  <a:pt x="298945" y="484492"/>
                </a:lnTo>
                <a:lnTo>
                  <a:pt x="327279" y="488823"/>
                </a:lnTo>
                <a:lnTo>
                  <a:pt x="328777" y="494741"/>
                </a:lnTo>
                <a:lnTo>
                  <a:pt x="330657" y="501396"/>
                </a:lnTo>
                <a:lnTo>
                  <a:pt x="332714" y="511848"/>
                </a:lnTo>
                <a:lnTo>
                  <a:pt x="334505" y="513041"/>
                </a:lnTo>
                <a:lnTo>
                  <a:pt x="338061" y="512483"/>
                </a:lnTo>
                <a:lnTo>
                  <a:pt x="381025" y="506476"/>
                </a:lnTo>
                <a:lnTo>
                  <a:pt x="381660" y="505091"/>
                </a:lnTo>
                <a:lnTo>
                  <a:pt x="381787" y="483260"/>
                </a:lnTo>
                <a:lnTo>
                  <a:pt x="381787" y="479679"/>
                </a:lnTo>
                <a:lnTo>
                  <a:pt x="387299" y="477456"/>
                </a:lnTo>
                <a:lnTo>
                  <a:pt x="393319" y="475234"/>
                </a:lnTo>
                <a:lnTo>
                  <a:pt x="405511" y="469696"/>
                </a:lnTo>
                <a:lnTo>
                  <a:pt x="411416" y="466471"/>
                </a:lnTo>
                <a:lnTo>
                  <a:pt x="418820" y="462673"/>
                </a:lnTo>
                <a:lnTo>
                  <a:pt x="421462" y="465353"/>
                </a:lnTo>
                <a:lnTo>
                  <a:pt x="424167" y="469239"/>
                </a:lnTo>
                <a:lnTo>
                  <a:pt x="430187" y="474599"/>
                </a:lnTo>
                <a:lnTo>
                  <a:pt x="433565" y="477456"/>
                </a:lnTo>
                <a:lnTo>
                  <a:pt x="437591" y="481164"/>
                </a:lnTo>
                <a:lnTo>
                  <a:pt x="459727" y="462673"/>
                </a:lnTo>
                <a:lnTo>
                  <a:pt x="475107" y="449821"/>
                </a:lnTo>
                <a:lnTo>
                  <a:pt x="464604" y="435229"/>
                </a:lnTo>
                <a:lnTo>
                  <a:pt x="459346" y="427913"/>
                </a:lnTo>
                <a:lnTo>
                  <a:pt x="469138" y="412229"/>
                </a:lnTo>
                <a:lnTo>
                  <a:pt x="473976" y="404558"/>
                </a:lnTo>
                <a:lnTo>
                  <a:pt x="478739" y="397154"/>
                </a:lnTo>
                <a:lnTo>
                  <a:pt x="478853" y="396963"/>
                </a:lnTo>
                <a:lnTo>
                  <a:pt x="480263" y="395579"/>
                </a:lnTo>
                <a:lnTo>
                  <a:pt x="482142" y="394893"/>
                </a:lnTo>
                <a:lnTo>
                  <a:pt x="484111" y="395109"/>
                </a:lnTo>
                <a:lnTo>
                  <a:pt x="490410" y="395935"/>
                </a:lnTo>
                <a:lnTo>
                  <a:pt x="496684" y="397154"/>
                </a:lnTo>
                <a:lnTo>
                  <a:pt x="502869" y="398716"/>
                </a:lnTo>
                <a:lnTo>
                  <a:pt x="506437" y="399554"/>
                </a:lnTo>
                <a:lnTo>
                  <a:pt x="508025" y="398437"/>
                </a:lnTo>
                <a:lnTo>
                  <a:pt x="509016" y="395109"/>
                </a:lnTo>
                <a:lnTo>
                  <a:pt x="509079" y="394893"/>
                </a:lnTo>
                <a:lnTo>
                  <a:pt x="514616" y="376364"/>
                </a:lnTo>
                <a:lnTo>
                  <a:pt x="517486" y="366928"/>
                </a:lnTo>
                <a:lnTo>
                  <a:pt x="520420" y="357505"/>
                </a:lnTo>
                <a:lnTo>
                  <a:pt x="521449" y="353987"/>
                </a:lnTo>
                <a:lnTo>
                  <a:pt x="520039" y="352501"/>
                </a:lnTo>
                <a:lnTo>
                  <a:pt x="511136" y="349364"/>
                </a:lnTo>
                <a:lnTo>
                  <a:pt x="504837" y="347052"/>
                </a:lnTo>
                <a:lnTo>
                  <a:pt x="499110" y="344373"/>
                </a:lnTo>
                <a:lnTo>
                  <a:pt x="497243" y="343306"/>
                </a:lnTo>
                <a:lnTo>
                  <a:pt x="496112" y="341464"/>
                </a:lnTo>
                <a:lnTo>
                  <a:pt x="495846" y="339382"/>
                </a:lnTo>
                <a:lnTo>
                  <a:pt x="495846" y="308229"/>
                </a:lnTo>
                <a:lnTo>
                  <a:pt x="495465" y="305676"/>
                </a:lnTo>
                <a:lnTo>
                  <a:pt x="497052" y="303237"/>
                </a:lnTo>
                <a:lnTo>
                  <a:pt x="499592" y="302590"/>
                </a:lnTo>
                <a:lnTo>
                  <a:pt x="506806" y="299732"/>
                </a:lnTo>
                <a:lnTo>
                  <a:pt x="513943" y="296773"/>
                </a:lnTo>
                <a:lnTo>
                  <a:pt x="522668" y="293357"/>
                </a:lnTo>
                <a:close/>
              </a:path>
              <a:path w="631189" h="626745">
                <a:moveTo>
                  <a:pt x="617029" y="432447"/>
                </a:moveTo>
                <a:lnTo>
                  <a:pt x="490956" y="489470"/>
                </a:lnTo>
                <a:lnTo>
                  <a:pt x="521258" y="514146"/>
                </a:lnTo>
                <a:lnTo>
                  <a:pt x="488226" y="542137"/>
                </a:lnTo>
                <a:lnTo>
                  <a:pt x="450494" y="565340"/>
                </a:lnTo>
                <a:lnTo>
                  <a:pt x="408901" y="583222"/>
                </a:lnTo>
                <a:lnTo>
                  <a:pt x="364312" y="595210"/>
                </a:lnTo>
                <a:lnTo>
                  <a:pt x="317576" y="600786"/>
                </a:lnTo>
                <a:lnTo>
                  <a:pt x="269532" y="599376"/>
                </a:lnTo>
                <a:lnTo>
                  <a:pt x="221056" y="590435"/>
                </a:lnTo>
                <a:lnTo>
                  <a:pt x="172974" y="573430"/>
                </a:lnTo>
                <a:lnTo>
                  <a:pt x="126161" y="547789"/>
                </a:lnTo>
                <a:lnTo>
                  <a:pt x="166916" y="578954"/>
                </a:lnTo>
                <a:lnTo>
                  <a:pt x="212115" y="602754"/>
                </a:lnTo>
                <a:lnTo>
                  <a:pt x="260705" y="618756"/>
                </a:lnTo>
                <a:lnTo>
                  <a:pt x="311708" y="626541"/>
                </a:lnTo>
                <a:lnTo>
                  <a:pt x="365150" y="626414"/>
                </a:lnTo>
                <a:lnTo>
                  <a:pt x="417245" y="617435"/>
                </a:lnTo>
                <a:lnTo>
                  <a:pt x="466890" y="599986"/>
                </a:lnTo>
                <a:lnTo>
                  <a:pt x="513003" y="574459"/>
                </a:lnTo>
                <a:lnTo>
                  <a:pt x="554469" y="541235"/>
                </a:lnTo>
                <a:lnTo>
                  <a:pt x="581291" y="562864"/>
                </a:lnTo>
                <a:lnTo>
                  <a:pt x="617029" y="432447"/>
                </a:lnTo>
                <a:close/>
              </a:path>
              <a:path w="631189" h="626745">
                <a:moveTo>
                  <a:pt x="630593" y="333692"/>
                </a:moveTo>
                <a:lnTo>
                  <a:pt x="625195" y="276440"/>
                </a:lnTo>
                <a:lnTo>
                  <a:pt x="611378" y="227114"/>
                </a:lnTo>
                <a:lnTo>
                  <a:pt x="591870" y="182740"/>
                </a:lnTo>
                <a:lnTo>
                  <a:pt x="566674" y="143332"/>
                </a:lnTo>
                <a:lnTo>
                  <a:pt x="535774" y="108889"/>
                </a:lnTo>
                <a:lnTo>
                  <a:pt x="499173" y="79425"/>
                </a:lnTo>
                <a:lnTo>
                  <a:pt x="456882" y="54914"/>
                </a:lnTo>
                <a:lnTo>
                  <a:pt x="408876" y="35394"/>
                </a:lnTo>
                <a:lnTo>
                  <a:pt x="404393" y="33820"/>
                </a:lnTo>
                <a:lnTo>
                  <a:pt x="403631" y="31800"/>
                </a:lnTo>
                <a:lnTo>
                  <a:pt x="409359" y="0"/>
                </a:lnTo>
                <a:lnTo>
                  <a:pt x="276809" y="34378"/>
                </a:lnTo>
                <a:lnTo>
                  <a:pt x="389382" y="113588"/>
                </a:lnTo>
                <a:lnTo>
                  <a:pt x="396024" y="75704"/>
                </a:lnTo>
                <a:lnTo>
                  <a:pt x="425958" y="84328"/>
                </a:lnTo>
                <a:lnTo>
                  <a:pt x="462648" y="102539"/>
                </a:lnTo>
                <a:lnTo>
                  <a:pt x="499910" y="126796"/>
                </a:lnTo>
                <a:lnTo>
                  <a:pt x="531571" y="153517"/>
                </a:lnTo>
                <a:lnTo>
                  <a:pt x="566521" y="194627"/>
                </a:lnTo>
                <a:lnTo>
                  <a:pt x="593534" y="240512"/>
                </a:lnTo>
                <a:lnTo>
                  <a:pt x="612203" y="290080"/>
                </a:lnTo>
                <a:lnTo>
                  <a:pt x="622122" y="342226"/>
                </a:lnTo>
                <a:lnTo>
                  <a:pt x="622846" y="395846"/>
                </a:lnTo>
                <a:lnTo>
                  <a:pt x="624065" y="392557"/>
                </a:lnTo>
                <a:lnTo>
                  <a:pt x="628967" y="362381"/>
                </a:lnTo>
                <a:lnTo>
                  <a:pt x="630593" y="3336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8" name="object 28"/>
          <p:cNvGrpSpPr/>
          <p:nvPr/>
        </p:nvGrpSpPr>
        <p:grpSpPr>
          <a:xfrm>
            <a:off x="4171044" y="4958494"/>
            <a:ext cx="637540" cy="647700"/>
            <a:chOff x="4171044" y="4958494"/>
            <a:chExt cx="637540" cy="647700"/>
          </a:xfrm>
        </p:grpSpPr>
        <p:sp>
          <p:nvSpPr>
            <p:cNvPr id="29" name="object 29"/>
            <p:cNvSpPr/>
            <p:nvPr/>
          </p:nvSpPr>
          <p:spPr>
            <a:xfrm>
              <a:off x="4171035" y="4958499"/>
              <a:ext cx="637540" cy="647700"/>
            </a:xfrm>
            <a:custGeom>
              <a:avLst/>
              <a:gdLst/>
              <a:ahLst/>
              <a:cxnLst/>
              <a:rect l="l" t="t" r="r" b="b"/>
              <a:pathLst>
                <a:path w="637539" h="647700">
                  <a:moveTo>
                    <a:pt x="473798" y="331216"/>
                  </a:moveTo>
                  <a:lnTo>
                    <a:pt x="463550" y="286359"/>
                  </a:lnTo>
                  <a:lnTo>
                    <a:pt x="443801" y="251244"/>
                  </a:lnTo>
                  <a:lnTo>
                    <a:pt x="401840" y="292938"/>
                  </a:lnTo>
                  <a:lnTo>
                    <a:pt x="405269" y="301218"/>
                  </a:lnTo>
                  <a:lnTo>
                    <a:pt x="407149" y="306095"/>
                  </a:lnTo>
                  <a:lnTo>
                    <a:pt x="412775" y="325272"/>
                  </a:lnTo>
                  <a:lnTo>
                    <a:pt x="415251" y="344995"/>
                  </a:lnTo>
                  <a:lnTo>
                    <a:pt x="414566" y="364858"/>
                  </a:lnTo>
                  <a:lnTo>
                    <a:pt x="410692" y="384479"/>
                  </a:lnTo>
                  <a:lnTo>
                    <a:pt x="388442" y="427888"/>
                  </a:lnTo>
                  <a:lnTo>
                    <a:pt x="352717" y="458254"/>
                  </a:lnTo>
                  <a:lnTo>
                    <a:pt x="308330" y="472846"/>
                  </a:lnTo>
                  <a:lnTo>
                    <a:pt x="260134" y="468960"/>
                  </a:lnTo>
                  <a:lnTo>
                    <a:pt x="217208" y="446455"/>
                  </a:lnTo>
                  <a:lnTo>
                    <a:pt x="187185" y="410324"/>
                  </a:lnTo>
                  <a:lnTo>
                    <a:pt x="172758" y="365442"/>
                  </a:lnTo>
                  <a:lnTo>
                    <a:pt x="176606" y="316699"/>
                  </a:lnTo>
                  <a:lnTo>
                    <a:pt x="194856" y="278498"/>
                  </a:lnTo>
                  <a:lnTo>
                    <a:pt x="223456" y="249948"/>
                  </a:lnTo>
                  <a:lnTo>
                    <a:pt x="259359" y="232511"/>
                  </a:lnTo>
                  <a:lnTo>
                    <a:pt x="299504" y="227634"/>
                  </a:lnTo>
                  <a:lnTo>
                    <a:pt x="340855" y="236766"/>
                  </a:lnTo>
                  <a:lnTo>
                    <a:pt x="345757" y="238747"/>
                  </a:lnTo>
                  <a:lnTo>
                    <a:pt x="353923" y="239953"/>
                  </a:lnTo>
                  <a:lnTo>
                    <a:pt x="395998" y="200990"/>
                  </a:lnTo>
                  <a:lnTo>
                    <a:pt x="358203" y="179222"/>
                  </a:lnTo>
                  <a:lnTo>
                    <a:pt x="316039" y="168833"/>
                  </a:lnTo>
                  <a:lnTo>
                    <a:pt x="272072" y="169430"/>
                  </a:lnTo>
                  <a:lnTo>
                    <a:pt x="228892" y="180581"/>
                  </a:lnTo>
                  <a:lnTo>
                    <a:pt x="189064" y="201853"/>
                  </a:lnTo>
                  <a:lnTo>
                    <a:pt x="155194" y="232841"/>
                  </a:lnTo>
                  <a:lnTo>
                    <a:pt x="129755" y="272707"/>
                  </a:lnTo>
                  <a:lnTo>
                    <a:pt x="115811" y="316649"/>
                  </a:lnTo>
                  <a:lnTo>
                    <a:pt x="113195" y="362305"/>
                  </a:lnTo>
                  <a:lnTo>
                    <a:pt x="121767" y="407327"/>
                  </a:lnTo>
                  <a:lnTo>
                    <a:pt x="141363" y="449376"/>
                  </a:lnTo>
                  <a:lnTo>
                    <a:pt x="171818" y="486105"/>
                  </a:lnTo>
                  <a:lnTo>
                    <a:pt x="210286" y="513295"/>
                  </a:lnTo>
                  <a:lnTo>
                    <a:pt x="253238" y="529031"/>
                  </a:lnTo>
                  <a:lnTo>
                    <a:pt x="298323" y="533387"/>
                  </a:lnTo>
                  <a:lnTo>
                    <a:pt x="343179" y="526453"/>
                  </a:lnTo>
                  <a:lnTo>
                    <a:pt x="385445" y="508279"/>
                  </a:lnTo>
                  <a:lnTo>
                    <a:pt x="422770" y="478929"/>
                  </a:lnTo>
                  <a:lnTo>
                    <a:pt x="455879" y="432041"/>
                  </a:lnTo>
                  <a:lnTo>
                    <a:pt x="472059" y="381292"/>
                  </a:lnTo>
                  <a:lnTo>
                    <a:pt x="473798" y="331216"/>
                  </a:lnTo>
                  <a:close/>
                </a:path>
                <a:path w="637539" h="647700">
                  <a:moveTo>
                    <a:pt x="586600" y="362000"/>
                  </a:moveTo>
                  <a:lnTo>
                    <a:pt x="585101" y="318731"/>
                  </a:lnTo>
                  <a:lnTo>
                    <a:pt x="577646" y="276644"/>
                  </a:lnTo>
                  <a:lnTo>
                    <a:pt x="564527" y="236575"/>
                  </a:lnTo>
                  <a:lnTo>
                    <a:pt x="546011" y="199339"/>
                  </a:lnTo>
                  <a:lnTo>
                    <a:pt x="522363" y="165785"/>
                  </a:lnTo>
                  <a:lnTo>
                    <a:pt x="505993" y="183565"/>
                  </a:lnTo>
                  <a:lnTo>
                    <a:pt x="498055" y="192024"/>
                  </a:lnTo>
                  <a:lnTo>
                    <a:pt x="490016" y="200152"/>
                  </a:lnTo>
                  <a:lnTo>
                    <a:pt x="483666" y="206235"/>
                  </a:lnTo>
                  <a:lnTo>
                    <a:pt x="482676" y="210680"/>
                  </a:lnTo>
                  <a:lnTo>
                    <a:pt x="503643" y="245275"/>
                  </a:lnTo>
                  <a:lnTo>
                    <a:pt x="523278" y="303314"/>
                  </a:lnTo>
                  <a:lnTo>
                    <a:pt x="527583" y="334365"/>
                  </a:lnTo>
                  <a:lnTo>
                    <a:pt x="526351" y="382816"/>
                  </a:lnTo>
                  <a:lnTo>
                    <a:pt x="515353" y="428574"/>
                  </a:lnTo>
                  <a:lnTo>
                    <a:pt x="495731" y="470598"/>
                  </a:lnTo>
                  <a:lnTo>
                    <a:pt x="468579" y="507822"/>
                  </a:lnTo>
                  <a:lnTo>
                    <a:pt x="435038" y="539203"/>
                  </a:lnTo>
                  <a:lnTo>
                    <a:pt x="396214" y="563702"/>
                  </a:lnTo>
                  <a:lnTo>
                    <a:pt x="353237" y="580250"/>
                  </a:lnTo>
                  <a:lnTo>
                    <a:pt x="307225" y="587794"/>
                  </a:lnTo>
                  <a:lnTo>
                    <a:pt x="259295" y="585292"/>
                  </a:lnTo>
                  <a:lnTo>
                    <a:pt x="215709" y="574065"/>
                  </a:lnTo>
                  <a:lnTo>
                    <a:pt x="176364" y="555739"/>
                  </a:lnTo>
                  <a:lnTo>
                    <a:pt x="141808" y="531126"/>
                  </a:lnTo>
                  <a:lnTo>
                    <a:pt x="112585" y="501040"/>
                  </a:lnTo>
                  <a:lnTo>
                    <a:pt x="89230" y="466305"/>
                  </a:lnTo>
                  <a:lnTo>
                    <a:pt x="72288" y="427697"/>
                  </a:lnTo>
                  <a:lnTo>
                    <a:pt x="62306" y="386067"/>
                  </a:lnTo>
                  <a:lnTo>
                    <a:pt x="59817" y="342188"/>
                  </a:lnTo>
                  <a:lnTo>
                    <a:pt x="65379" y="296887"/>
                  </a:lnTo>
                  <a:lnTo>
                    <a:pt x="81457" y="249123"/>
                  </a:lnTo>
                  <a:lnTo>
                    <a:pt x="107264" y="206781"/>
                  </a:lnTo>
                  <a:lnTo>
                    <a:pt x="141160" y="170967"/>
                  </a:lnTo>
                  <a:lnTo>
                    <a:pt x="181508" y="142811"/>
                  </a:lnTo>
                  <a:lnTo>
                    <a:pt x="226644" y="123444"/>
                  </a:lnTo>
                  <a:lnTo>
                    <a:pt x="274967" y="113982"/>
                  </a:lnTo>
                  <a:lnTo>
                    <a:pt x="324815" y="115544"/>
                  </a:lnTo>
                  <a:lnTo>
                    <a:pt x="353085" y="121399"/>
                  </a:lnTo>
                  <a:lnTo>
                    <a:pt x="380403" y="130530"/>
                  </a:lnTo>
                  <a:lnTo>
                    <a:pt x="406476" y="142836"/>
                  </a:lnTo>
                  <a:lnTo>
                    <a:pt x="431012" y="158178"/>
                  </a:lnTo>
                  <a:lnTo>
                    <a:pt x="472782" y="116344"/>
                  </a:lnTo>
                  <a:lnTo>
                    <a:pt x="436714" y="90944"/>
                  </a:lnTo>
                  <a:lnTo>
                    <a:pt x="396227" y="71793"/>
                  </a:lnTo>
                  <a:lnTo>
                    <a:pt x="352450" y="59270"/>
                  </a:lnTo>
                  <a:lnTo>
                    <a:pt x="306476" y="53733"/>
                  </a:lnTo>
                  <a:lnTo>
                    <a:pt x="259448" y="55537"/>
                  </a:lnTo>
                  <a:lnTo>
                    <a:pt x="212458" y="65062"/>
                  </a:lnTo>
                  <a:lnTo>
                    <a:pt x="166636" y="82664"/>
                  </a:lnTo>
                  <a:lnTo>
                    <a:pt x="123101" y="108712"/>
                  </a:lnTo>
                  <a:lnTo>
                    <a:pt x="82956" y="143560"/>
                  </a:lnTo>
                  <a:lnTo>
                    <a:pt x="52933" y="180111"/>
                  </a:lnTo>
                  <a:lnTo>
                    <a:pt x="29616" y="220065"/>
                  </a:lnTo>
                  <a:lnTo>
                    <a:pt x="13030" y="262559"/>
                  </a:lnTo>
                  <a:lnTo>
                    <a:pt x="3149" y="306743"/>
                  </a:lnTo>
                  <a:lnTo>
                    <a:pt x="0" y="351764"/>
                  </a:lnTo>
                  <a:lnTo>
                    <a:pt x="3568" y="396773"/>
                  </a:lnTo>
                  <a:lnTo>
                    <a:pt x="13843" y="440905"/>
                  </a:lnTo>
                  <a:lnTo>
                    <a:pt x="30835" y="483298"/>
                  </a:lnTo>
                  <a:lnTo>
                    <a:pt x="54546" y="523113"/>
                  </a:lnTo>
                  <a:lnTo>
                    <a:pt x="84950" y="559498"/>
                  </a:lnTo>
                  <a:lnTo>
                    <a:pt x="120624" y="590423"/>
                  </a:lnTo>
                  <a:lnTo>
                    <a:pt x="159791" y="614654"/>
                  </a:lnTo>
                  <a:lnTo>
                    <a:pt x="201599" y="632193"/>
                  </a:lnTo>
                  <a:lnTo>
                    <a:pt x="245173" y="643013"/>
                  </a:lnTo>
                  <a:lnTo>
                    <a:pt x="289648" y="647128"/>
                  </a:lnTo>
                  <a:lnTo>
                    <a:pt x="334175" y="644525"/>
                  </a:lnTo>
                  <a:lnTo>
                    <a:pt x="377875" y="635190"/>
                  </a:lnTo>
                  <a:lnTo>
                    <a:pt x="419887" y="619125"/>
                  </a:lnTo>
                  <a:lnTo>
                    <a:pt x="459359" y="596315"/>
                  </a:lnTo>
                  <a:lnTo>
                    <a:pt x="495401" y="566762"/>
                  </a:lnTo>
                  <a:lnTo>
                    <a:pt x="527710" y="530123"/>
                  </a:lnTo>
                  <a:lnTo>
                    <a:pt x="552704" y="490499"/>
                  </a:lnTo>
                  <a:lnTo>
                    <a:pt x="570674" y="448716"/>
                  </a:lnTo>
                  <a:lnTo>
                    <a:pt x="581875" y="405599"/>
                  </a:lnTo>
                  <a:lnTo>
                    <a:pt x="586600" y="362000"/>
                  </a:lnTo>
                  <a:close/>
                </a:path>
                <a:path w="637539" h="647700">
                  <a:moveTo>
                    <a:pt x="637311" y="78193"/>
                  </a:moveTo>
                  <a:lnTo>
                    <a:pt x="633907" y="76987"/>
                  </a:lnTo>
                  <a:lnTo>
                    <a:pt x="630555" y="74828"/>
                  </a:lnTo>
                  <a:lnTo>
                    <a:pt x="627126" y="74714"/>
                  </a:lnTo>
                  <a:lnTo>
                    <a:pt x="617550" y="74510"/>
                  </a:lnTo>
                  <a:lnTo>
                    <a:pt x="607923" y="74472"/>
                  </a:lnTo>
                  <a:lnTo>
                    <a:pt x="588365" y="74549"/>
                  </a:lnTo>
                  <a:lnTo>
                    <a:pt x="591235" y="60731"/>
                  </a:lnTo>
                  <a:lnTo>
                    <a:pt x="588721" y="52743"/>
                  </a:lnTo>
                  <a:lnTo>
                    <a:pt x="580174" y="50012"/>
                  </a:lnTo>
                  <a:lnTo>
                    <a:pt x="565010" y="51981"/>
                  </a:lnTo>
                  <a:lnTo>
                    <a:pt x="565010" y="2095"/>
                  </a:lnTo>
                  <a:lnTo>
                    <a:pt x="560781" y="0"/>
                  </a:lnTo>
                  <a:lnTo>
                    <a:pt x="555561" y="5562"/>
                  </a:lnTo>
                  <a:lnTo>
                    <a:pt x="550367" y="11163"/>
                  </a:lnTo>
                  <a:lnTo>
                    <a:pt x="545033" y="16560"/>
                  </a:lnTo>
                  <a:lnTo>
                    <a:pt x="539318" y="21475"/>
                  </a:lnTo>
                  <a:lnTo>
                    <a:pt x="520395" y="39471"/>
                  </a:lnTo>
                  <a:lnTo>
                    <a:pt x="507720" y="59982"/>
                  </a:lnTo>
                  <a:lnTo>
                    <a:pt x="501675" y="83350"/>
                  </a:lnTo>
                  <a:lnTo>
                    <a:pt x="502640" y="109893"/>
                  </a:lnTo>
                  <a:lnTo>
                    <a:pt x="503656" y="116065"/>
                  </a:lnTo>
                  <a:lnTo>
                    <a:pt x="499630" y="125120"/>
                  </a:lnTo>
                  <a:lnTo>
                    <a:pt x="494982" y="129908"/>
                  </a:lnTo>
                  <a:lnTo>
                    <a:pt x="461467" y="164020"/>
                  </a:lnTo>
                  <a:lnTo>
                    <a:pt x="427786" y="197967"/>
                  </a:lnTo>
                  <a:lnTo>
                    <a:pt x="360273" y="265722"/>
                  </a:lnTo>
                  <a:lnTo>
                    <a:pt x="287388" y="339293"/>
                  </a:lnTo>
                  <a:lnTo>
                    <a:pt x="283400" y="344195"/>
                  </a:lnTo>
                  <a:lnTo>
                    <a:pt x="281343" y="349300"/>
                  </a:lnTo>
                  <a:lnTo>
                    <a:pt x="281990" y="354241"/>
                  </a:lnTo>
                  <a:lnTo>
                    <a:pt x="286080" y="358622"/>
                  </a:lnTo>
                  <a:lnTo>
                    <a:pt x="290195" y="361264"/>
                  </a:lnTo>
                  <a:lnTo>
                    <a:pt x="298361" y="358190"/>
                  </a:lnTo>
                  <a:lnTo>
                    <a:pt x="306501" y="356590"/>
                  </a:lnTo>
                  <a:lnTo>
                    <a:pt x="307975" y="353783"/>
                  </a:lnTo>
                  <a:lnTo>
                    <a:pt x="344093" y="317766"/>
                  </a:lnTo>
                  <a:lnTo>
                    <a:pt x="378637" y="283540"/>
                  </a:lnTo>
                  <a:lnTo>
                    <a:pt x="413042" y="249212"/>
                  </a:lnTo>
                  <a:lnTo>
                    <a:pt x="447116" y="214541"/>
                  </a:lnTo>
                  <a:lnTo>
                    <a:pt x="480606" y="179336"/>
                  </a:lnTo>
                  <a:lnTo>
                    <a:pt x="499859" y="161061"/>
                  </a:lnTo>
                  <a:lnTo>
                    <a:pt x="520319" y="147828"/>
                  </a:lnTo>
                  <a:lnTo>
                    <a:pt x="543090" y="141008"/>
                  </a:lnTo>
                  <a:lnTo>
                    <a:pt x="569264" y="141947"/>
                  </a:lnTo>
                  <a:lnTo>
                    <a:pt x="570674" y="142303"/>
                  </a:lnTo>
                  <a:lnTo>
                    <a:pt x="572160" y="142240"/>
                  </a:lnTo>
                  <a:lnTo>
                    <a:pt x="573519" y="141833"/>
                  </a:lnTo>
                  <a:lnTo>
                    <a:pt x="578192" y="139941"/>
                  </a:lnTo>
                  <a:lnTo>
                    <a:pt x="583806" y="138976"/>
                  </a:lnTo>
                  <a:lnTo>
                    <a:pt x="621753" y="100114"/>
                  </a:lnTo>
                  <a:lnTo>
                    <a:pt x="635914" y="81508"/>
                  </a:lnTo>
                  <a:lnTo>
                    <a:pt x="637311" y="781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97887" y="5241937"/>
              <a:ext cx="132282" cy="13414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7057" y="777748"/>
            <a:ext cx="2796540" cy="50927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003E34"/>
                </a:solidFill>
              </a:rPr>
              <a:t>Why</a:t>
            </a:r>
            <a:r>
              <a:rPr dirty="0" spc="45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7</a:t>
            </a:r>
            <a:r>
              <a:rPr dirty="0" spc="35">
                <a:solidFill>
                  <a:srgbClr val="003E34"/>
                </a:solidFill>
              </a:rPr>
              <a:t> </a:t>
            </a:r>
            <a:r>
              <a:rPr dirty="0" spc="-10">
                <a:solidFill>
                  <a:srgbClr val="003E34"/>
                </a:solidFill>
              </a:rPr>
              <a:t>points?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7511" y="1986407"/>
            <a:ext cx="5001895" cy="481393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160655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Oxford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Knee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Score</a:t>
            </a:r>
            <a:r>
              <a:rPr dirty="0" sz="2800" spc="-20">
                <a:latin typeface="Arial MT"/>
                <a:cs typeface="Arial MT"/>
              </a:rPr>
              <a:t> runs </a:t>
            </a:r>
            <a:r>
              <a:rPr dirty="0" sz="2800" spc="-20">
                <a:latin typeface="Arial MT"/>
                <a:cs typeface="Arial MT"/>
              </a:rPr>
              <a:t>	</a:t>
            </a:r>
            <a:r>
              <a:rPr dirty="0" sz="2800" spc="-10">
                <a:latin typeface="Arial MT"/>
                <a:cs typeface="Arial MT"/>
              </a:rPr>
              <a:t>0–</a:t>
            </a:r>
            <a:r>
              <a:rPr dirty="0" sz="2800">
                <a:latin typeface="Arial MT"/>
                <a:cs typeface="Arial MT"/>
              </a:rPr>
              <a:t>48.</a:t>
            </a:r>
            <a:r>
              <a:rPr dirty="0" sz="2800" spc="-1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204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2-point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rise</a:t>
            </a:r>
            <a:r>
              <a:rPr dirty="0" sz="2800" spc="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real </a:t>
            </a:r>
            <a:r>
              <a:rPr dirty="0" sz="2800" spc="-2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arithmetic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no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change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the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patient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can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feel.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25"/>
              </a:spcBef>
              <a:buFont typeface="Arial MT"/>
              <a:buChar char="•"/>
            </a:pPr>
            <a:endParaRPr sz="2800">
              <a:latin typeface="Arial MT"/>
              <a:cs typeface="Arial MT"/>
            </a:endParaRPr>
          </a:p>
          <a:p>
            <a:pPr marL="240029" marR="154940" indent="-227329">
              <a:lnSpc>
                <a:spcPts val="3030"/>
              </a:lnSpc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minimal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clinically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important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difference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—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the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smallest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change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patient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notices</a:t>
            </a:r>
            <a:r>
              <a:rPr dirty="0" sz="2800" spc="-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—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around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7</a:t>
            </a:r>
            <a:r>
              <a:rPr dirty="0" sz="2800" spc="2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points.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45"/>
              </a:spcBef>
              <a:buFont typeface="Arial MT"/>
              <a:buChar char="•"/>
            </a:pPr>
            <a:endParaRPr sz="28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Char char="•"/>
              <a:tabLst>
                <a:tab pos="240029" algn="l"/>
              </a:tabLst>
            </a:pP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target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anchored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that,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39890" y="736472"/>
            <a:ext cx="4095115" cy="122364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[CHART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V7: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two</a:t>
            </a:r>
            <a:r>
              <a:rPr dirty="0" sz="2800" spc="-10">
                <a:latin typeface="Arial MT"/>
                <a:cs typeface="Arial MT"/>
              </a:rPr>
              <a:t> panels,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exported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from </a:t>
            </a:r>
            <a:r>
              <a:rPr dirty="0" sz="2800" spc="-2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31_data_exploration</a:t>
            </a:r>
            <a:r>
              <a:rPr dirty="0" sz="2800" spc="-12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§2.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39890" y="2531490"/>
            <a:ext cx="5044440" cy="301879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23495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Left: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histogram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 </a:t>
            </a:r>
            <a:r>
              <a:rPr dirty="0" sz="2800" spc="-10">
                <a:latin typeface="Arial MT"/>
                <a:cs typeface="Arial MT"/>
              </a:rPr>
              <a:t>oks_delta,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60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bins,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MCID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line</a:t>
            </a:r>
            <a:r>
              <a:rPr dirty="0" sz="2800" spc="2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drawn</a:t>
            </a:r>
            <a:r>
              <a:rPr dirty="0" sz="2800" spc="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at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7,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region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below</a:t>
            </a:r>
            <a:r>
              <a:rPr dirty="0" sz="2800" spc="-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it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shaded.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25"/>
              </a:spcBef>
              <a:buFont typeface="Arial MT"/>
              <a:buChar char="•"/>
            </a:pPr>
            <a:endParaRPr sz="2800">
              <a:latin typeface="Arial MT"/>
              <a:cs typeface="Arial MT"/>
            </a:endParaRPr>
          </a:p>
          <a:p>
            <a:pPr marL="240029" marR="5080" indent="-227329">
              <a:lnSpc>
                <a:spcPts val="303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Right: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mean</a:t>
            </a:r>
            <a:r>
              <a:rPr dirty="0" sz="2800" spc="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OKS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gain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against 	pre-</a:t>
            </a:r>
            <a:r>
              <a:rPr dirty="0" sz="2800">
                <a:latin typeface="Arial MT"/>
                <a:cs typeface="Arial MT"/>
              </a:rPr>
              <a:t>operative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score</a:t>
            </a:r>
            <a:r>
              <a:rPr dirty="0" sz="2800" spc="-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—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it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falls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as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starting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score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rises.]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2236" y="1866900"/>
            <a:ext cx="4910455" cy="4942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latin typeface="Arial MT"/>
                <a:cs typeface="Arial MT"/>
              </a:rPr>
              <a:t>IMBALANCE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75"/>
              </a:spcBef>
              <a:buFont typeface="Arial MT"/>
              <a:buChar char="•"/>
            </a:pPr>
            <a:endParaRPr sz="2800">
              <a:latin typeface="Arial MT"/>
              <a:cs typeface="Arial MT"/>
            </a:endParaRPr>
          </a:p>
          <a:p>
            <a:pPr marL="240029" marR="5080" indent="-227329">
              <a:lnSpc>
                <a:spcPts val="3030"/>
              </a:lnSpc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[CHART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V8: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class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balance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bar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from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31_data_exploration</a:t>
            </a:r>
            <a:endParaRPr sz="2800">
              <a:latin typeface="Arial MT"/>
              <a:cs typeface="Arial MT"/>
            </a:endParaRPr>
          </a:p>
          <a:p>
            <a:pPr marL="241300">
              <a:lnSpc>
                <a:spcPts val="2980"/>
              </a:lnSpc>
            </a:pPr>
            <a:r>
              <a:rPr dirty="0" sz="2800" spc="-25">
                <a:latin typeface="Arial MT"/>
                <a:cs typeface="Arial MT"/>
              </a:rPr>
              <a:t>§4.</a:t>
            </a:r>
            <a:endParaRPr sz="2800">
              <a:latin typeface="Arial MT"/>
              <a:cs typeface="Arial MT"/>
            </a:endParaRPr>
          </a:p>
          <a:p>
            <a:pPr marL="240029" marR="31115" indent="-227329">
              <a:lnSpc>
                <a:spcPts val="3030"/>
              </a:lnSpc>
              <a:spcBef>
                <a:spcPts val="1055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Print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target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definition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next </a:t>
            </a:r>
            <a:r>
              <a:rPr dirty="0" sz="2800" spc="-2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prevalence.]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25"/>
              </a:spcBef>
              <a:buFont typeface="Arial MT"/>
              <a:buChar char="•"/>
            </a:pPr>
            <a:endParaRPr sz="2800">
              <a:latin typeface="Arial MT"/>
              <a:cs typeface="Arial MT"/>
            </a:endParaRPr>
          </a:p>
          <a:p>
            <a:pPr marL="240029" marR="280035" indent="-227329">
              <a:lnSpc>
                <a:spcPts val="303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→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Precision–</a:t>
            </a:r>
            <a:r>
              <a:rPr dirty="0" sz="2800">
                <a:latin typeface="Arial MT"/>
                <a:cs typeface="Arial MT"/>
              </a:rPr>
              <a:t>recall, </a:t>
            </a:r>
            <a:r>
              <a:rPr dirty="0" sz="2800" spc="-10">
                <a:latin typeface="Arial MT"/>
                <a:cs typeface="Arial MT"/>
              </a:rPr>
              <a:t>never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 spc="-35">
                <a:latin typeface="Arial MT"/>
                <a:cs typeface="Arial MT"/>
              </a:rPr>
              <a:t>accuracy.</a:t>
            </a:r>
            <a:r>
              <a:rPr dirty="0" sz="2800" spc="-1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1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model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that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says </a:t>
            </a:r>
            <a:r>
              <a:rPr dirty="0" sz="2800" spc="-2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'good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outcome'</a:t>
            </a:r>
            <a:r>
              <a:rPr dirty="0" sz="2800" spc="-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everyone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39890" y="1866900"/>
            <a:ext cx="5052695" cy="481393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1407795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TWO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MISSINGNESS 	MECHANISMS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25"/>
              </a:spcBef>
              <a:buFont typeface="Arial MT"/>
              <a:buChar char="•"/>
            </a:pPr>
            <a:endParaRPr sz="2800">
              <a:latin typeface="Arial MT"/>
              <a:cs typeface="Arial MT"/>
            </a:endParaRPr>
          </a:p>
          <a:p>
            <a:pPr marL="240029" marR="5080" indent="-227329">
              <a:lnSpc>
                <a:spcPts val="303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[CHART</a:t>
            </a:r>
            <a:r>
              <a:rPr dirty="0" sz="2800" spc="-114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V9:</a:t>
            </a:r>
            <a:r>
              <a:rPr dirty="0" sz="2800" spc="-1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missingness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bars </a:t>
            </a:r>
            <a:r>
              <a:rPr dirty="0" sz="2800" spc="-2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in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two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labelled groups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with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 spc="-50">
                <a:latin typeface="Arial MT"/>
                <a:cs typeface="Arial MT"/>
              </a:rPr>
              <a:t>a </a:t>
            </a:r>
            <a:r>
              <a:rPr dirty="0" sz="2800" spc="-5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visible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gap.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20"/>
              </a:spcBef>
              <a:buFont typeface="Arial MT"/>
              <a:buChar char="•"/>
            </a:pPr>
            <a:endParaRPr sz="2800">
              <a:latin typeface="Arial MT"/>
              <a:cs typeface="Arial MT"/>
            </a:endParaRPr>
          </a:p>
          <a:p>
            <a:pPr algn="just" marL="240029" marR="127635" indent="-227329">
              <a:lnSpc>
                <a:spcPts val="3030"/>
              </a:lnSpc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Group</a:t>
            </a:r>
            <a:r>
              <a:rPr dirty="0" sz="2800" spc="-1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A,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suppressed by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NHS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disclosure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control: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age_band,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gender</a:t>
            </a:r>
            <a:r>
              <a:rPr dirty="0" sz="2800" spc="-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—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missing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on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exactly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same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rows.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4852" rIns="0" bIns="0" rtlCol="0" vert="horz">
            <a:spAutoFit/>
          </a:bodyPr>
          <a:lstStyle/>
          <a:p>
            <a:pPr marL="31750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003E34"/>
                </a:solidFill>
              </a:rPr>
              <a:t>The</a:t>
            </a:r>
            <a:r>
              <a:rPr dirty="0" spc="45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data</a:t>
            </a:r>
            <a:r>
              <a:rPr dirty="0" spc="55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problems</a:t>
            </a:r>
            <a:r>
              <a:rPr dirty="0" spc="55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that</a:t>
            </a:r>
            <a:r>
              <a:rPr dirty="0" spc="40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shaped</a:t>
            </a:r>
            <a:r>
              <a:rPr dirty="0" spc="95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the</a:t>
            </a:r>
            <a:r>
              <a:rPr dirty="0" spc="55">
                <a:solidFill>
                  <a:srgbClr val="003E34"/>
                </a:solidFill>
              </a:rPr>
              <a:t> </a:t>
            </a:r>
            <a:r>
              <a:rPr dirty="0" spc="-10">
                <a:solidFill>
                  <a:srgbClr val="003E34"/>
                </a:solidFill>
              </a:rPr>
              <a:t>pipeline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4852" rIns="0" bIns="0" rtlCol="0" vert="horz">
            <a:spAutoFit/>
          </a:bodyPr>
          <a:lstStyle/>
          <a:p>
            <a:pPr marL="31750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003E34"/>
                </a:solidFill>
              </a:rPr>
              <a:t>Let's</a:t>
            </a:r>
            <a:r>
              <a:rPr dirty="0" spc="60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look</a:t>
            </a:r>
            <a:r>
              <a:rPr dirty="0" spc="-20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at</a:t>
            </a:r>
            <a:r>
              <a:rPr dirty="0" spc="45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the</a:t>
            </a:r>
            <a:r>
              <a:rPr dirty="0" spc="70">
                <a:solidFill>
                  <a:srgbClr val="003E34"/>
                </a:solidFill>
              </a:rPr>
              <a:t> </a:t>
            </a:r>
            <a:r>
              <a:rPr dirty="0" spc="-20">
                <a:solidFill>
                  <a:srgbClr val="003E34"/>
                </a:solidFill>
              </a:rPr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7511" y="1596593"/>
            <a:ext cx="10127615" cy="437642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Char char="•"/>
              <a:tabLst>
                <a:tab pos="240029" algn="l"/>
              </a:tabLst>
            </a:pPr>
            <a:r>
              <a:rPr dirty="0" sz="2800">
                <a:latin typeface="Arial MT"/>
                <a:cs typeface="Arial MT"/>
              </a:rPr>
              <a:t>1.</a:t>
            </a:r>
            <a:r>
              <a:rPr dirty="0" sz="2800" spc="6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7-point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rule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delta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distribution</a:t>
            </a:r>
            <a:endParaRPr sz="28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680"/>
              </a:spcBef>
              <a:buChar char="•"/>
              <a:tabLst>
                <a:tab pos="240029" algn="l"/>
              </a:tabLst>
            </a:pPr>
            <a:r>
              <a:rPr dirty="0" sz="2800">
                <a:latin typeface="Arial MT"/>
                <a:cs typeface="Arial MT"/>
              </a:rPr>
              <a:t>2.</a:t>
            </a:r>
            <a:r>
              <a:rPr dirty="0" sz="2800" spc="-35">
                <a:latin typeface="Arial MT"/>
                <a:cs typeface="Arial MT"/>
              </a:rPr>
              <a:t>  </a:t>
            </a:r>
            <a:r>
              <a:rPr dirty="0" sz="2800">
                <a:latin typeface="Arial MT"/>
                <a:cs typeface="Arial MT"/>
              </a:rPr>
              <a:t>Knee</a:t>
            </a:r>
            <a:r>
              <a:rPr dirty="0" sz="2800" spc="1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vs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hip</a:t>
            </a:r>
            <a:r>
              <a:rPr dirty="0" sz="2800" spc="-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—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why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this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cohort</a:t>
            </a:r>
            <a:endParaRPr sz="28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680"/>
              </a:spcBef>
              <a:buChar char="•"/>
              <a:tabLst>
                <a:tab pos="240029" algn="l"/>
              </a:tabLst>
            </a:pPr>
            <a:r>
              <a:rPr dirty="0" sz="2800">
                <a:latin typeface="Arial MT"/>
                <a:cs typeface="Arial MT"/>
              </a:rPr>
              <a:t>3.</a:t>
            </a:r>
            <a:r>
              <a:rPr dirty="0" sz="2800" spc="-25">
                <a:latin typeface="Arial MT"/>
                <a:cs typeface="Arial MT"/>
              </a:rPr>
              <a:t>  </a:t>
            </a:r>
            <a:r>
              <a:rPr dirty="0" sz="2800">
                <a:latin typeface="Arial MT"/>
                <a:cs typeface="Arial MT"/>
              </a:rPr>
              <a:t>Class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balance</a:t>
            </a:r>
            <a:endParaRPr sz="28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Char char="•"/>
              <a:tabLst>
                <a:tab pos="240029" algn="l"/>
              </a:tabLst>
            </a:pPr>
            <a:r>
              <a:rPr dirty="0" sz="2800">
                <a:latin typeface="Arial MT"/>
                <a:cs typeface="Arial MT"/>
              </a:rPr>
              <a:t>4.</a:t>
            </a:r>
            <a:r>
              <a:rPr dirty="0" sz="2800" spc="62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patients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with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no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outcome at </a:t>
            </a:r>
            <a:r>
              <a:rPr dirty="0" sz="2800" spc="-25">
                <a:latin typeface="Arial MT"/>
                <a:cs typeface="Arial MT"/>
              </a:rPr>
              <a:t>all</a:t>
            </a:r>
            <a:endParaRPr sz="28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680"/>
              </a:spcBef>
              <a:buChar char="•"/>
              <a:tabLst>
                <a:tab pos="240029" algn="l"/>
              </a:tabLst>
            </a:pPr>
            <a:r>
              <a:rPr dirty="0" sz="2800">
                <a:latin typeface="Arial MT"/>
                <a:cs typeface="Arial MT"/>
              </a:rPr>
              <a:t>5.</a:t>
            </a:r>
            <a:r>
              <a:rPr dirty="0" sz="2800" spc="6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sentinel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trap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0"/>
              </a:spcBef>
              <a:buFont typeface="Arial MT"/>
              <a:buChar char="•"/>
            </a:pPr>
            <a:endParaRPr sz="2800">
              <a:latin typeface="Arial MT"/>
              <a:cs typeface="Arial MT"/>
            </a:endParaRPr>
          </a:p>
          <a:p>
            <a:pPr marL="240029" marR="5080" indent="-227329">
              <a:lnSpc>
                <a:spcPts val="3030"/>
              </a:lnSpc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Show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Fabric:</a:t>
            </a:r>
            <a:r>
              <a:rPr dirty="0" sz="2800" spc="6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notebook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31_data_exploration,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pre-run,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the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35_Exploration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folder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—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reading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silver.knee_episode</a:t>
            </a:r>
            <a:r>
              <a:rPr dirty="0" sz="2800" spc="-114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and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gold.knee_features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directly.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Nothing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it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writes.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4852" rIns="0" bIns="0" rtlCol="0" vert="horz">
            <a:spAutoFit/>
          </a:bodyPr>
          <a:lstStyle/>
          <a:p>
            <a:pPr marL="31750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003E34"/>
                </a:solidFill>
              </a:rPr>
              <a:t>Setting</a:t>
            </a:r>
            <a:r>
              <a:rPr dirty="0" spc="85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up</a:t>
            </a:r>
            <a:r>
              <a:rPr dirty="0" spc="10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train</a:t>
            </a:r>
            <a:r>
              <a:rPr dirty="0" spc="80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and</a:t>
            </a:r>
            <a:r>
              <a:rPr dirty="0" spc="80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test</a:t>
            </a:r>
            <a:r>
              <a:rPr dirty="0" spc="25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without</a:t>
            </a:r>
            <a:r>
              <a:rPr dirty="0" spc="20">
                <a:solidFill>
                  <a:srgbClr val="003E34"/>
                </a:solidFill>
              </a:rPr>
              <a:t> </a:t>
            </a:r>
            <a:r>
              <a:rPr dirty="0" spc="-10">
                <a:solidFill>
                  <a:srgbClr val="003E34"/>
                </a:solidFill>
              </a:rPr>
              <a:t>leaking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7511" y="2707195"/>
            <a:ext cx="4445635" cy="417195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281940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Stratified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split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before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any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imputation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or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encoding</a:t>
            </a:r>
            <a:endParaRPr sz="2800">
              <a:latin typeface="Arial MT"/>
              <a:cs typeface="Arial MT"/>
            </a:endParaRPr>
          </a:p>
          <a:p>
            <a:pPr marL="240029" marR="5080" indent="-227329">
              <a:lnSpc>
                <a:spcPts val="303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MICE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(miceforest)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builds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50">
                <a:latin typeface="Arial MT"/>
                <a:cs typeface="Arial MT"/>
              </a:rPr>
              <a:t>a </a:t>
            </a:r>
            <a:r>
              <a:rPr dirty="0" sz="2800" spc="-5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model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per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column</a:t>
            </a:r>
            <a:r>
              <a:rPr dirty="0" sz="2800" spc="-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with </a:t>
            </a:r>
            <a:r>
              <a:rPr dirty="0" sz="2800" spc="-2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missing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values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—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fit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it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on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everything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test-</a:t>
            </a:r>
            <a:r>
              <a:rPr dirty="0" sz="2800" spc="-25">
                <a:latin typeface="Arial MT"/>
                <a:cs typeface="Arial MT"/>
              </a:rPr>
              <a:t>set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information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flows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into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your </a:t>
            </a:r>
            <a:r>
              <a:rPr dirty="0" sz="2800" spc="-2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training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features</a:t>
            </a:r>
            <a:endParaRPr sz="2800">
              <a:latin typeface="Arial MT"/>
              <a:cs typeface="Arial MT"/>
            </a:endParaRPr>
          </a:p>
          <a:p>
            <a:pPr marL="240029" marR="371475" indent="-227329">
              <a:lnSpc>
                <a:spcPts val="303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MICE</a:t>
            </a:r>
            <a:r>
              <a:rPr dirty="0" sz="2800" spc="-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kernel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+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one-</a:t>
            </a:r>
            <a:r>
              <a:rPr dirty="0" sz="2800" spc="-25">
                <a:latin typeface="Arial MT"/>
                <a:cs typeface="Arial MT"/>
              </a:rPr>
              <a:t>hot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encoder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wrapped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one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7511" y="1680845"/>
            <a:ext cx="9747250" cy="4546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10"/>
              </a:spcBef>
              <a:buChar char="•"/>
              <a:tabLst>
                <a:tab pos="240029" algn="l"/>
                <a:tab pos="5649595" algn="l"/>
              </a:tabLst>
            </a:pP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ORDER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MATTERS</a:t>
            </a:r>
            <a:r>
              <a:rPr dirty="0" sz="2800">
                <a:latin typeface="Arial MT"/>
                <a:cs typeface="Arial MT"/>
              </a:rPr>
              <a:t>	• THE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LEAKAGE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GUARD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54647" y="2707195"/>
            <a:ext cx="4576445" cy="1607820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240029" marR="5080" indent="-227329">
              <a:lnSpc>
                <a:spcPct val="90100"/>
              </a:lnSpc>
              <a:spcBef>
                <a:spcPts val="440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[FILL: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paste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25">
                <a:latin typeface="Arial MT"/>
                <a:cs typeface="Arial MT"/>
              </a:rPr>
              <a:t> two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assertions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from </a:t>
            </a:r>
            <a:r>
              <a:rPr dirty="0" sz="2800" spc="-2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40_train_register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§3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—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4–</a:t>
            </a:r>
            <a:r>
              <a:rPr dirty="0" sz="2800" spc="-50">
                <a:latin typeface="Arial MT"/>
                <a:cs typeface="Arial MT"/>
              </a:rPr>
              <a:t>5 </a:t>
            </a:r>
            <a:r>
              <a:rPr dirty="0" sz="2800" spc="-5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lines,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monospace]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54647" y="4886325"/>
            <a:ext cx="4890135" cy="1993264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Two</a:t>
            </a:r>
            <a:r>
              <a:rPr dirty="0" sz="2800" spc="-1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assertions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before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50">
                <a:latin typeface="Arial MT"/>
                <a:cs typeface="Arial MT"/>
              </a:rPr>
              <a:t>a </a:t>
            </a:r>
            <a:r>
              <a:rPr dirty="0" sz="2800" spc="-5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single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model</a:t>
            </a:r>
            <a:r>
              <a:rPr dirty="0" sz="2800" spc="-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1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fitted.</a:t>
            </a:r>
            <a:r>
              <a:rPr dirty="0" sz="2800" spc="-190">
                <a:latin typeface="Arial MT"/>
                <a:cs typeface="Arial MT"/>
              </a:rPr>
              <a:t> </a:t>
            </a:r>
            <a:r>
              <a:rPr dirty="0" sz="2800" spc="-50">
                <a:latin typeface="Arial MT"/>
                <a:cs typeface="Arial MT"/>
              </a:rPr>
              <a:t>A </a:t>
            </a:r>
            <a:r>
              <a:rPr dirty="0" sz="2800" spc="-5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reviewer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would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catch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both </a:t>
            </a:r>
            <a:r>
              <a:rPr dirty="0" sz="2800" spc="-2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eventually;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catching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them </a:t>
            </a:r>
            <a:r>
              <a:rPr dirty="0" sz="2800" spc="-2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here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means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they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never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reach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17194" y="1572971"/>
            <a:ext cx="9975850" cy="76200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800"/>
              <a:t>A</a:t>
            </a:r>
            <a:r>
              <a:rPr dirty="0" sz="4800" spc="-270"/>
              <a:t> </a:t>
            </a:r>
            <a:r>
              <a:rPr dirty="0" sz="4800"/>
              <a:t>model</a:t>
            </a:r>
            <a:r>
              <a:rPr dirty="0" sz="4800" spc="-70"/>
              <a:t> </a:t>
            </a:r>
            <a:r>
              <a:rPr dirty="0" sz="4800"/>
              <a:t>a</a:t>
            </a:r>
            <a:r>
              <a:rPr dirty="0" sz="4800" spc="-50"/>
              <a:t> </a:t>
            </a:r>
            <a:r>
              <a:rPr dirty="0" sz="4800"/>
              <a:t>clinician</a:t>
            </a:r>
            <a:r>
              <a:rPr dirty="0" sz="4800" spc="-20"/>
              <a:t> </a:t>
            </a:r>
            <a:r>
              <a:rPr dirty="0" sz="4800"/>
              <a:t>can</a:t>
            </a:r>
            <a:r>
              <a:rPr dirty="0" sz="4800" spc="-85"/>
              <a:t> </a:t>
            </a:r>
            <a:r>
              <a:rPr dirty="0" sz="4800"/>
              <a:t>argue</a:t>
            </a:r>
            <a:r>
              <a:rPr dirty="0" sz="4800" spc="-40"/>
              <a:t> </a:t>
            </a:r>
            <a:r>
              <a:rPr dirty="0" sz="4800" spc="-20"/>
              <a:t>with</a:t>
            </a:r>
            <a:endParaRPr sz="4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511" y="777748"/>
            <a:ext cx="4503420" cy="204787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31750" marR="401320">
              <a:lnSpc>
                <a:spcPts val="3460"/>
              </a:lnSpc>
              <a:spcBef>
                <a:spcPts val="505"/>
              </a:spcBef>
            </a:pPr>
            <a:r>
              <a:rPr dirty="0" sz="3150" b="1">
                <a:solidFill>
                  <a:srgbClr val="003E34"/>
                </a:solidFill>
                <a:latin typeface="Arial"/>
                <a:cs typeface="Arial"/>
              </a:rPr>
              <a:t>What</a:t>
            </a:r>
            <a:r>
              <a:rPr dirty="0" sz="3150" spc="30" b="1">
                <a:solidFill>
                  <a:srgbClr val="003E34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03E34"/>
                </a:solidFill>
                <a:latin typeface="Arial"/>
                <a:cs typeface="Arial"/>
              </a:rPr>
              <a:t>we</a:t>
            </a:r>
            <a:r>
              <a:rPr dirty="0" sz="3150" spc="60" b="1">
                <a:solidFill>
                  <a:srgbClr val="003E34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03E34"/>
                </a:solidFill>
                <a:latin typeface="Arial"/>
                <a:cs typeface="Arial"/>
              </a:rPr>
              <a:t>trained,</a:t>
            </a:r>
            <a:r>
              <a:rPr dirty="0" sz="3150" spc="80" b="1">
                <a:solidFill>
                  <a:srgbClr val="003E34"/>
                </a:solidFill>
                <a:latin typeface="Arial"/>
                <a:cs typeface="Arial"/>
              </a:rPr>
              <a:t> </a:t>
            </a:r>
            <a:r>
              <a:rPr dirty="0" sz="3150" spc="-25" b="1">
                <a:solidFill>
                  <a:srgbClr val="003E34"/>
                </a:solidFill>
                <a:latin typeface="Arial"/>
                <a:cs typeface="Arial"/>
              </a:rPr>
              <a:t>and </a:t>
            </a:r>
            <a:r>
              <a:rPr dirty="0" sz="3150" b="1">
                <a:solidFill>
                  <a:srgbClr val="003E34"/>
                </a:solidFill>
                <a:latin typeface="Arial"/>
                <a:cs typeface="Arial"/>
              </a:rPr>
              <a:t>what</a:t>
            </a:r>
            <a:r>
              <a:rPr dirty="0" sz="3150" spc="35" b="1">
                <a:solidFill>
                  <a:srgbClr val="003E34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03E34"/>
                </a:solidFill>
                <a:latin typeface="Arial"/>
                <a:cs typeface="Arial"/>
              </a:rPr>
              <a:t>it</a:t>
            </a:r>
            <a:r>
              <a:rPr dirty="0" sz="3150" spc="30" b="1">
                <a:solidFill>
                  <a:srgbClr val="003E34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03E34"/>
                </a:solidFill>
                <a:latin typeface="Arial"/>
                <a:cs typeface="Arial"/>
              </a:rPr>
              <a:t>actually</a:t>
            </a:r>
            <a:r>
              <a:rPr dirty="0" sz="3150" spc="50" b="1">
                <a:solidFill>
                  <a:srgbClr val="003E34"/>
                </a:solidFill>
                <a:latin typeface="Arial"/>
                <a:cs typeface="Arial"/>
              </a:rPr>
              <a:t> </a:t>
            </a:r>
            <a:r>
              <a:rPr dirty="0" sz="3150" spc="-20" b="1">
                <a:solidFill>
                  <a:srgbClr val="003E34"/>
                </a:solidFill>
                <a:latin typeface="Arial"/>
                <a:cs typeface="Arial"/>
              </a:rPr>
              <a:t>does</a:t>
            </a:r>
            <a:endParaRPr sz="3150">
              <a:latin typeface="Arial"/>
              <a:cs typeface="Arial"/>
            </a:endParaRPr>
          </a:p>
          <a:p>
            <a:pPr marL="240029" marR="5080" indent="-227329">
              <a:lnSpc>
                <a:spcPts val="3030"/>
              </a:lnSpc>
              <a:spcBef>
                <a:spcPts val="2580"/>
              </a:spcBef>
              <a:buChar char="•"/>
              <a:tabLst>
                <a:tab pos="241300" algn="l"/>
              </a:tabLst>
            </a:pPr>
            <a:r>
              <a:rPr dirty="0" sz="2800" spc="-10">
                <a:latin typeface="Arial MT"/>
                <a:cs typeface="Arial MT"/>
              </a:rPr>
              <a:t>Held-</a:t>
            </a:r>
            <a:r>
              <a:rPr dirty="0" sz="2800">
                <a:latin typeface="Arial MT"/>
                <a:cs typeface="Arial MT"/>
              </a:rPr>
              <a:t>out</a:t>
            </a:r>
            <a:r>
              <a:rPr dirty="0" sz="2800" spc="-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test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set,</a:t>
            </a:r>
            <a:r>
              <a:rPr dirty="0" sz="2800" spc="-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threshold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 spc="-20">
                <a:latin typeface="Arial MT"/>
                <a:cs typeface="Arial MT"/>
              </a:rPr>
              <a:t>0.8: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7511" y="3396741"/>
            <a:ext cx="4180204" cy="340360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Logistic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regression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—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18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flagged,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precision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1.000,</a:t>
            </a:r>
            <a:endParaRPr sz="2800">
              <a:latin typeface="Arial MT"/>
              <a:cs typeface="Arial MT"/>
            </a:endParaRPr>
          </a:p>
          <a:p>
            <a:pPr marL="241300">
              <a:lnSpc>
                <a:spcPts val="2980"/>
              </a:lnSpc>
            </a:pPr>
            <a:r>
              <a:rPr dirty="0" sz="2800">
                <a:latin typeface="Arial MT"/>
                <a:cs typeface="Arial MT"/>
              </a:rPr>
              <a:t>recall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0.003</a:t>
            </a:r>
            <a:endParaRPr sz="2800">
              <a:latin typeface="Arial MT"/>
              <a:cs typeface="Arial MT"/>
            </a:endParaRPr>
          </a:p>
          <a:p>
            <a:pPr marL="240029" marR="50800" indent="-227329">
              <a:lnSpc>
                <a:spcPts val="3030"/>
              </a:lnSpc>
              <a:spcBef>
                <a:spcPts val="1055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Random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forest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—</a:t>
            </a:r>
            <a:r>
              <a:rPr dirty="0" sz="2800" spc="-25">
                <a:latin typeface="Arial MT"/>
                <a:cs typeface="Arial MT"/>
              </a:rPr>
              <a:t> 158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flagged,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precision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0.969,</a:t>
            </a:r>
            <a:endParaRPr sz="2800">
              <a:latin typeface="Arial MT"/>
              <a:cs typeface="Arial MT"/>
            </a:endParaRPr>
          </a:p>
          <a:p>
            <a:pPr marL="241300">
              <a:lnSpc>
                <a:spcPts val="2980"/>
              </a:lnSpc>
            </a:pPr>
            <a:r>
              <a:rPr dirty="0" sz="2800">
                <a:latin typeface="Arial MT"/>
                <a:cs typeface="Arial MT"/>
              </a:rPr>
              <a:t>recall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0.033,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5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FP</a:t>
            </a:r>
            <a:endParaRPr sz="2800">
              <a:latin typeface="Arial MT"/>
              <a:cs typeface="Arial MT"/>
            </a:endParaRPr>
          </a:p>
          <a:p>
            <a:pPr marL="240029" marR="50800" indent="-227329">
              <a:lnSpc>
                <a:spcPts val="3030"/>
              </a:lnSpc>
              <a:spcBef>
                <a:spcPts val="1055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EBM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(shipped)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—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169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flagged,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precision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0.941,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39890" y="736472"/>
            <a:ext cx="4862195" cy="122364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algn="just" marL="240029" marR="5080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 spc="-20">
                <a:latin typeface="Arial MT"/>
                <a:cs typeface="Arial MT"/>
              </a:rPr>
              <a:t>[TABLE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V7: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build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native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PowerPoint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table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with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tabular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figures,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EBM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row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tinted.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39890" y="2531490"/>
            <a:ext cx="4583430" cy="250571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algn="just" marL="240029" marR="5080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Columns: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model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/</a:t>
            </a:r>
            <a:r>
              <a:rPr dirty="0" sz="2800" spc="-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flagged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50">
                <a:latin typeface="Arial MT"/>
                <a:cs typeface="Arial MT"/>
              </a:rPr>
              <a:t>/ </a:t>
            </a:r>
            <a:r>
              <a:rPr dirty="0" sz="2800" spc="-5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precision</a:t>
            </a:r>
            <a:r>
              <a:rPr dirty="0" sz="2800" spc="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/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recall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/ F1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/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false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positives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/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interpretability.</a:t>
            </a:r>
            <a:endParaRPr sz="2800">
              <a:latin typeface="Arial MT"/>
              <a:cs typeface="Arial MT"/>
            </a:endParaRPr>
          </a:p>
          <a:p>
            <a:pPr marL="240029" marR="245745" indent="-227329">
              <a:lnSpc>
                <a:spcPts val="3030"/>
              </a:lnSpc>
              <a:spcBef>
                <a:spcPts val="1010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Interpretability</a:t>
            </a:r>
            <a:r>
              <a:rPr dirty="0" sz="2800" spc="-18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values: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glassbox,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post-</a:t>
            </a:r>
            <a:r>
              <a:rPr dirty="0" sz="2800">
                <a:latin typeface="Arial MT"/>
                <a:cs typeface="Arial MT"/>
              </a:rPr>
              <a:t>hoc</a:t>
            </a:r>
            <a:r>
              <a:rPr dirty="0" sz="2800" spc="15">
                <a:latin typeface="Arial MT"/>
                <a:cs typeface="Arial MT"/>
              </a:rPr>
              <a:t> </a:t>
            </a:r>
            <a:r>
              <a:rPr dirty="0" sz="2800" spc="-65">
                <a:latin typeface="Arial MT"/>
                <a:cs typeface="Arial MT"/>
              </a:rPr>
              <a:t>SHAP, </a:t>
            </a:r>
            <a:r>
              <a:rPr dirty="0" sz="2800" spc="-65">
                <a:latin typeface="Arial MT"/>
                <a:cs typeface="Arial MT"/>
              </a:rPr>
              <a:t>	</a:t>
            </a:r>
            <a:r>
              <a:rPr dirty="0" sz="2800" spc="-10">
                <a:latin typeface="Arial MT"/>
                <a:cs typeface="Arial MT"/>
              </a:rPr>
              <a:t>glassbox.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39890" y="5608650"/>
            <a:ext cx="5208270" cy="122364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[TODO: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add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PR-</a:t>
            </a:r>
            <a:r>
              <a:rPr dirty="0" sz="2800">
                <a:latin typeface="Arial MT"/>
                <a:cs typeface="Arial MT"/>
              </a:rPr>
              <a:t>AUC</a:t>
            </a:r>
            <a:r>
              <a:rPr dirty="0" sz="2800" spc="-50">
                <a:latin typeface="Arial MT"/>
                <a:cs typeface="Arial MT"/>
              </a:rPr>
              <a:t> / </a:t>
            </a:r>
            <a:r>
              <a:rPr dirty="0" sz="2800" spc="-50">
                <a:latin typeface="Arial MT"/>
                <a:cs typeface="Arial MT"/>
              </a:rPr>
              <a:t>	</a:t>
            </a:r>
            <a:r>
              <a:rPr dirty="0" sz="2800" spc="-10">
                <a:latin typeface="Arial MT"/>
                <a:cs typeface="Arial MT"/>
              </a:rPr>
              <a:t>average-</a:t>
            </a:r>
            <a:r>
              <a:rPr dirty="0" sz="2800">
                <a:latin typeface="Arial MT"/>
                <a:cs typeface="Arial MT"/>
              </a:rPr>
              <a:t>precision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column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once </a:t>
            </a:r>
            <a:r>
              <a:rPr dirty="0" sz="2800" spc="-20">
                <a:latin typeface="Arial MT"/>
                <a:cs typeface="Arial MT"/>
              </a:rPr>
              <a:t>	</a:t>
            </a:r>
            <a:r>
              <a:rPr dirty="0" sz="2800" spc="-10">
                <a:latin typeface="Arial MT"/>
                <a:cs typeface="Arial MT"/>
              </a:rPr>
              <a:t>computed]]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4852" rIns="0" bIns="0" rtlCol="0" vert="horz">
            <a:spAutoFit/>
          </a:bodyPr>
          <a:lstStyle/>
          <a:p>
            <a:pPr marL="31750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003E34"/>
                </a:solidFill>
              </a:rPr>
              <a:t>Global,</a:t>
            </a:r>
            <a:r>
              <a:rPr dirty="0" spc="65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local,</a:t>
            </a:r>
            <a:r>
              <a:rPr dirty="0" spc="5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and</a:t>
            </a:r>
            <a:r>
              <a:rPr dirty="0" spc="30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the</a:t>
            </a:r>
            <a:r>
              <a:rPr dirty="0" spc="65">
                <a:solidFill>
                  <a:srgbClr val="003E34"/>
                </a:solidFill>
              </a:rPr>
              <a:t> </a:t>
            </a:r>
            <a:r>
              <a:rPr dirty="0" spc="-10">
                <a:solidFill>
                  <a:srgbClr val="003E34"/>
                </a:solidFill>
              </a:rPr>
              <a:t>contrast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7511" y="1680845"/>
            <a:ext cx="10408285" cy="506095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615315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Global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—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 shape</a:t>
            </a:r>
            <a:r>
              <a:rPr dirty="0" sz="2800" spc="-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function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for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pre-operative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OKS,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one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 spc="-10">
                <a:latin typeface="Arial MT"/>
                <a:cs typeface="Arial MT"/>
              </a:rPr>
              <a:t>comorbidity</a:t>
            </a:r>
            <a:endParaRPr sz="2800">
              <a:latin typeface="Arial MT"/>
              <a:cs typeface="Arial MT"/>
            </a:endParaRPr>
          </a:p>
          <a:p>
            <a:pPr marL="240029" marR="426720" indent="-227329">
              <a:lnSpc>
                <a:spcPts val="3030"/>
              </a:lnSpc>
              <a:spcBef>
                <a:spcPts val="1010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Local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—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six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ranked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contributions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for</a:t>
            </a:r>
            <a:r>
              <a:rPr dirty="0" sz="2800" spc="-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one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pinned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pre-</a:t>
            </a:r>
            <a:r>
              <a:rPr dirty="0" sz="2800" spc="-10">
                <a:latin typeface="Arial MT"/>
                <a:cs typeface="Arial MT"/>
              </a:rPr>
              <a:t>operative 	patient</a:t>
            </a:r>
            <a:endParaRPr sz="2800">
              <a:latin typeface="Arial MT"/>
              <a:cs typeface="Arial MT"/>
            </a:endParaRPr>
          </a:p>
          <a:p>
            <a:pPr marL="240029" marR="771525" indent="-227329">
              <a:lnSpc>
                <a:spcPts val="303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Contrast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—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same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patient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through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random</a:t>
            </a:r>
            <a:r>
              <a:rPr dirty="0" sz="2800" spc="-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forest,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via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 spc="-20">
                <a:latin typeface="Arial MT"/>
                <a:cs typeface="Arial MT"/>
              </a:rPr>
              <a:t>SHAP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25"/>
              </a:spcBef>
              <a:buFont typeface="Arial MT"/>
              <a:buChar char="•"/>
            </a:pPr>
            <a:endParaRPr sz="2800">
              <a:latin typeface="Arial MT"/>
              <a:cs typeface="Arial MT"/>
            </a:endParaRPr>
          </a:p>
          <a:p>
            <a:pPr marL="240029" marR="5080" indent="-227329">
              <a:lnSpc>
                <a:spcPts val="303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risk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=</a:t>
            </a:r>
            <a:r>
              <a:rPr dirty="0" sz="2800" spc="-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sigmoid(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intercept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+</a:t>
            </a:r>
            <a:r>
              <a:rPr dirty="0" sz="2800" spc="-5">
                <a:latin typeface="Arial MT"/>
                <a:cs typeface="Arial MT"/>
              </a:rPr>
              <a:t> </a:t>
            </a:r>
            <a:r>
              <a:rPr dirty="0" sz="2800" spc="-1065">
                <a:latin typeface="Arial MT"/>
                <a:cs typeface="Arial MT"/>
              </a:rPr>
              <a:t>Σ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f(x)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).</a:t>
            </a:r>
            <a:r>
              <a:rPr dirty="0" sz="2800" spc="6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 bars</a:t>
            </a:r>
            <a:r>
              <a:rPr dirty="0" sz="2800" spc="1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on screen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are </a:t>
            </a:r>
            <a:r>
              <a:rPr dirty="0" sz="2800" spc="-10">
                <a:latin typeface="Arial MT"/>
                <a:cs typeface="Arial MT"/>
              </a:rPr>
              <a:t>those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terms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—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no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surrogate,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no</a:t>
            </a:r>
            <a:r>
              <a:rPr dirty="0" sz="2800" spc="2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approximation.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75"/>
              </a:spcBef>
              <a:buFont typeface="Arial MT"/>
              <a:buChar char="•"/>
            </a:pPr>
            <a:endParaRPr sz="28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buChar char="•"/>
              <a:tabLst>
                <a:tab pos="240029" algn="l"/>
              </a:tabLst>
            </a:pPr>
            <a:r>
              <a:rPr dirty="0" sz="2800">
                <a:latin typeface="Arial MT"/>
                <a:cs typeface="Arial MT"/>
              </a:rPr>
              <a:t>Show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Fabric:</a:t>
            </a:r>
            <a:r>
              <a:rPr dirty="0" sz="2800" spc="6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notebook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43_explainability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in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2236" y="1866900"/>
            <a:ext cx="4848860" cy="519874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389890" indent="-227329">
              <a:lnSpc>
                <a:spcPts val="3030"/>
              </a:lnSpc>
              <a:spcBef>
                <a:spcPts val="48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2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NUMBER</a:t>
            </a:r>
            <a:r>
              <a:rPr dirty="0" sz="2800" spc="-160">
                <a:latin typeface="Arial MT"/>
                <a:cs typeface="Arial MT"/>
              </a:rPr>
              <a:t> </a:t>
            </a:r>
            <a:r>
              <a:rPr dirty="0" sz="2800" spc="-30">
                <a:latin typeface="Arial MT"/>
                <a:cs typeface="Arial MT"/>
              </a:rPr>
              <a:t>THAT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MEANS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 spc="-30">
                <a:latin typeface="Arial MT"/>
                <a:cs typeface="Arial MT"/>
              </a:rPr>
              <a:t>WHAT</a:t>
            </a:r>
            <a:r>
              <a:rPr dirty="0" sz="2800" spc="-1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IT</a:t>
            </a:r>
            <a:r>
              <a:rPr dirty="0" sz="2800" spc="-13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SAYS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25"/>
              </a:spcBef>
              <a:buFont typeface="Arial MT"/>
              <a:buChar char="•"/>
            </a:pPr>
            <a:endParaRPr sz="2800">
              <a:latin typeface="Arial MT"/>
              <a:cs typeface="Arial MT"/>
            </a:endParaRPr>
          </a:p>
          <a:p>
            <a:pPr marL="240029" marR="5080" indent="-227329">
              <a:lnSpc>
                <a:spcPts val="303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[CHART</a:t>
            </a:r>
            <a:r>
              <a:rPr dirty="0" sz="2800" spc="-1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V10: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reliability</a:t>
            </a:r>
            <a:r>
              <a:rPr dirty="0" sz="2800" spc="-12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curve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for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calibrated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EBM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-50">
                <a:latin typeface="Arial MT"/>
                <a:cs typeface="Arial MT"/>
              </a:rPr>
              <a:t>— </a:t>
            </a:r>
            <a:r>
              <a:rPr dirty="0" sz="2800" spc="-5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decile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bins,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diagonal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reference,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bin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counts 	annotated.]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20"/>
              </a:spcBef>
              <a:buFont typeface="Arial MT"/>
              <a:buChar char="•"/>
            </a:pPr>
            <a:endParaRPr sz="2800">
              <a:latin typeface="Arial MT"/>
              <a:cs typeface="Arial MT"/>
            </a:endParaRPr>
          </a:p>
          <a:p>
            <a:pPr algn="just" marL="240029" marR="6985" indent="-227329">
              <a:lnSpc>
                <a:spcPts val="3030"/>
              </a:lnSpc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hundred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patients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scored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34%,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about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thirty-</a:t>
            </a:r>
            <a:r>
              <a:rPr dirty="0" sz="2800">
                <a:latin typeface="Arial MT"/>
                <a:cs typeface="Arial MT"/>
              </a:rPr>
              <a:t>four</a:t>
            </a:r>
            <a:r>
              <a:rPr dirty="0" sz="2800" spc="-10">
                <a:latin typeface="Arial MT"/>
                <a:cs typeface="Arial MT"/>
              </a:rPr>
              <a:t> should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have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poor</a:t>
            </a:r>
            <a:r>
              <a:rPr dirty="0" sz="2800" spc="-10">
                <a:latin typeface="Arial MT"/>
                <a:cs typeface="Arial MT"/>
              </a:rPr>
              <a:t> outcome.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39890" y="1866900"/>
            <a:ext cx="5107305" cy="519874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410209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WHERE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PUT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THE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 spc="-20">
                <a:latin typeface="Arial MT"/>
                <a:cs typeface="Arial MT"/>
              </a:rPr>
              <a:t>LINE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25"/>
              </a:spcBef>
              <a:buFont typeface="Arial MT"/>
              <a:buChar char="•"/>
            </a:pPr>
            <a:endParaRPr sz="2800">
              <a:latin typeface="Arial MT"/>
              <a:cs typeface="Arial MT"/>
            </a:endParaRPr>
          </a:p>
          <a:p>
            <a:pPr marL="240029" marR="40005" indent="-227329">
              <a:lnSpc>
                <a:spcPts val="303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[CHART</a:t>
            </a:r>
            <a:r>
              <a:rPr dirty="0" sz="2800" spc="-160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V11: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threshold</a:t>
            </a:r>
            <a:r>
              <a:rPr dirty="0" sz="2800" spc="-15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sweep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from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42_threshold_analysis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 spc="-50">
                <a:latin typeface="Arial MT"/>
                <a:cs typeface="Arial MT"/>
              </a:rPr>
              <a:t>— </a:t>
            </a:r>
            <a:r>
              <a:rPr dirty="0" sz="2800" spc="-5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precision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flagged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count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against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threshold,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0.5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→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0.8,</a:t>
            </a:r>
            <a:endParaRPr sz="2800">
              <a:latin typeface="Arial MT"/>
              <a:cs typeface="Arial MT"/>
            </a:endParaRPr>
          </a:p>
          <a:p>
            <a:pPr marL="241300">
              <a:lnSpc>
                <a:spcPts val="2980"/>
              </a:lnSpc>
            </a:pPr>
            <a:r>
              <a:rPr dirty="0" sz="2800">
                <a:latin typeface="Arial MT"/>
                <a:cs typeface="Arial MT"/>
              </a:rPr>
              <a:t>marker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on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0.8.]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70"/>
              </a:spcBef>
            </a:pPr>
            <a:endParaRPr sz="2800">
              <a:latin typeface="Arial MT"/>
              <a:cs typeface="Arial MT"/>
            </a:endParaRPr>
          </a:p>
          <a:p>
            <a:pPr marL="240029" marR="5080" indent="-227329">
              <a:lnSpc>
                <a:spcPts val="3030"/>
              </a:lnSpc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[FILL: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recompute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weekly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arithmetic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once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prevalence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definition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settled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60">
                <a:latin typeface="Arial MT"/>
                <a:cs typeface="Arial MT"/>
              </a:rPr>
              <a:t>—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4852" rIns="0" bIns="0" rtlCol="0" vert="horz">
            <a:spAutoFit/>
          </a:bodyPr>
          <a:lstStyle/>
          <a:p>
            <a:pPr marL="31750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003E34"/>
                </a:solidFill>
              </a:rPr>
              <a:t>Calibration,</a:t>
            </a:r>
            <a:r>
              <a:rPr dirty="0" spc="20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and</a:t>
            </a:r>
            <a:r>
              <a:rPr dirty="0" spc="50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where</a:t>
            </a:r>
            <a:r>
              <a:rPr dirty="0" spc="60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we</a:t>
            </a:r>
            <a:r>
              <a:rPr dirty="0" spc="75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put</a:t>
            </a:r>
            <a:r>
              <a:rPr dirty="0" spc="55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the</a:t>
            </a:r>
            <a:r>
              <a:rPr dirty="0" spc="85">
                <a:solidFill>
                  <a:srgbClr val="003E34"/>
                </a:solidFill>
              </a:rPr>
              <a:t> </a:t>
            </a:r>
            <a:r>
              <a:rPr dirty="0" spc="-20">
                <a:solidFill>
                  <a:srgbClr val="003E34"/>
                </a:solidFill>
              </a:rPr>
              <a:t>line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4852" rIns="0" bIns="0" rtlCol="0" vert="horz">
            <a:spAutoFit/>
          </a:bodyPr>
          <a:lstStyle/>
          <a:p>
            <a:pPr marL="31750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003E34"/>
                </a:solidFill>
              </a:rPr>
              <a:t>Tracking</a:t>
            </a:r>
            <a:r>
              <a:rPr dirty="0" spc="30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that</a:t>
            </a:r>
            <a:r>
              <a:rPr dirty="0" spc="-20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survives</a:t>
            </a:r>
            <a:r>
              <a:rPr dirty="0" spc="-5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an</a:t>
            </a:r>
            <a:r>
              <a:rPr dirty="0" spc="40">
                <a:solidFill>
                  <a:srgbClr val="003E34"/>
                </a:solidFill>
              </a:rPr>
              <a:t> </a:t>
            </a:r>
            <a:r>
              <a:rPr dirty="0" spc="-10">
                <a:solidFill>
                  <a:srgbClr val="003E34"/>
                </a:solidFill>
              </a:rPr>
              <a:t>audit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7511" y="3091179"/>
            <a:ext cx="4709795" cy="160845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“Reconstruct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exact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input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this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model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was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trained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on,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show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who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approved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 spc="-20">
                <a:latin typeface="Arial MT"/>
                <a:cs typeface="Arial MT"/>
              </a:rPr>
              <a:t>it.”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7511" y="5270944"/>
            <a:ext cx="4309110" cy="160845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Most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teams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cannot</a:t>
            </a:r>
            <a:r>
              <a:rPr dirty="0" sz="2800" spc="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—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not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from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carelessness,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but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because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answer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was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never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written</a:t>
            </a:r>
            <a:r>
              <a:rPr dirty="0" sz="2800" spc="-10">
                <a:latin typeface="Arial MT"/>
                <a:cs typeface="Arial MT"/>
              </a:rPr>
              <a:t> anywhere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7511" y="1680845"/>
            <a:ext cx="10160000" cy="83883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  <a:tab pos="5649595" algn="l"/>
              </a:tabLst>
            </a:pP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QUESTION,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TWO</a:t>
            </a:r>
            <a:r>
              <a:rPr dirty="0" sz="2800">
                <a:latin typeface="Arial MT"/>
                <a:cs typeface="Arial MT"/>
              </a:rPr>
              <a:t>	•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35">
                <a:latin typeface="Arial MT"/>
                <a:cs typeface="Arial MT"/>
              </a:rPr>
              <a:t>TAGS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55">
                <a:latin typeface="Arial MT"/>
                <a:cs typeface="Arial MT"/>
              </a:rPr>
              <a:t>THAT</a:t>
            </a:r>
            <a:r>
              <a:rPr dirty="0" sz="2800" spc="-140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MATTER </a:t>
            </a:r>
            <a:r>
              <a:rPr dirty="0" sz="2800" spc="-2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YEARS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LATER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54647" y="2707195"/>
            <a:ext cx="4670425" cy="276161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240029" marR="5080" indent="-227329">
              <a:lnSpc>
                <a:spcPct val="90100"/>
              </a:lnSpc>
              <a:spcBef>
                <a:spcPts val="440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gold_table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50">
                <a:latin typeface="Arial MT"/>
                <a:cs typeface="Arial MT"/>
              </a:rPr>
              <a:t>+ </a:t>
            </a:r>
            <a:r>
              <a:rPr dirty="0" sz="2800" spc="-5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gold_table_version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—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the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Delta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version.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“Trained</a:t>
            </a:r>
            <a:r>
              <a:rPr dirty="0" sz="2800" spc="-11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on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gold” becomes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“gold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as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of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version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7”, which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time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travel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reconstructs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exactly.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This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is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one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they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ask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for.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54647" y="6040310"/>
            <a:ext cx="4832985" cy="83883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feature_set_version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—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bump </a:t>
            </a:r>
            <a:r>
              <a:rPr dirty="0" sz="2800" spc="-2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when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feature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list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4852" rIns="0" bIns="0" rtlCol="0" vert="horz">
            <a:spAutoFit/>
          </a:bodyPr>
          <a:lstStyle/>
          <a:p>
            <a:pPr marL="31750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003E34"/>
                </a:solidFill>
              </a:rPr>
              <a:t>Live:</a:t>
            </a:r>
            <a:r>
              <a:rPr dirty="0" spc="25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the</a:t>
            </a:r>
            <a:r>
              <a:rPr dirty="0" spc="65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experiment</a:t>
            </a:r>
            <a:r>
              <a:rPr dirty="0" spc="35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and</a:t>
            </a:r>
            <a:r>
              <a:rPr dirty="0" spc="95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the</a:t>
            </a:r>
            <a:r>
              <a:rPr dirty="0" spc="65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registered</a:t>
            </a:r>
            <a:r>
              <a:rPr dirty="0" spc="30">
                <a:solidFill>
                  <a:srgbClr val="003E34"/>
                </a:solidFill>
              </a:rPr>
              <a:t> </a:t>
            </a:r>
            <a:r>
              <a:rPr dirty="0" spc="-10">
                <a:solidFill>
                  <a:srgbClr val="003E34"/>
                </a:solidFill>
              </a:rPr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7511" y="1680845"/>
            <a:ext cx="10418445" cy="481393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1.</a:t>
            </a:r>
            <a:r>
              <a:rPr dirty="0" sz="2800" spc="6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ML</a:t>
            </a:r>
            <a:r>
              <a:rPr dirty="0" sz="2800" spc="-1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experiment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item</a:t>
            </a:r>
            <a:r>
              <a:rPr dirty="0" sz="2800" spc="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—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one</a:t>
            </a:r>
            <a:r>
              <a:rPr dirty="0" sz="2800" spc="2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parent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run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per</a:t>
            </a:r>
            <a:r>
              <a:rPr dirty="0" sz="2800" spc="1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training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session,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one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child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run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per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model.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Collapse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compare</a:t>
            </a:r>
            <a:r>
              <a:rPr dirty="0" sz="2800" spc="-10">
                <a:latin typeface="Arial MT"/>
                <a:cs typeface="Arial MT"/>
              </a:rPr>
              <a:t> sessions,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expand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compare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models.</a:t>
            </a:r>
            <a:endParaRPr sz="2800">
              <a:latin typeface="Arial MT"/>
              <a:cs typeface="Arial MT"/>
            </a:endParaRPr>
          </a:p>
          <a:p>
            <a:pPr marL="240029" marR="9525" indent="-227329">
              <a:lnSpc>
                <a:spcPts val="3030"/>
              </a:lnSpc>
              <a:spcBef>
                <a:spcPts val="1010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2.</a:t>
            </a:r>
            <a:r>
              <a:rPr dirty="0" sz="2800" spc="6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Filter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run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list by</a:t>
            </a:r>
            <a:r>
              <a:rPr dirty="0" sz="2800" spc="1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tag: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interpretability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=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blackbox.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That is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the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deployment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gate,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as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query.</a:t>
            </a:r>
            <a:endParaRPr sz="2800">
              <a:latin typeface="Arial MT"/>
              <a:cs typeface="Arial MT"/>
            </a:endParaRPr>
          </a:p>
          <a:p>
            <a:pPr marL="240029" marR="227965" indent="-227329">
              <a:lnSpc>
                <a:spcPts val="303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3.</a:t>
            </a:r>
            <a:r>
              <a:rPr dirty="0" sz="2800" spc="6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registered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ML</a:t>
            </a:r>
            <a:r>
              <a:rPr dirty="0" sz="2800" spc="-12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model</a:t>
            </a:r>
            <a:r>
              <a:rPr dirty="0" sz="2800" spc="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item</a:t>
            </a:r>
            <a:r>
              <a:rPr dirty="0" sz="2800" spc="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—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versions,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tags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that </a:t>
            </a:r>
            <a:r>
              <a:rPr dirty="0" sz="2800" spc="-2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travelled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with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each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one.</a:t>
            </a:r>
            <a:endParaRPr sz="2800">
              <a:latin typeface="Arial MT"/>
              <a:cs typeface="Arial MT"/>
            </a:endParaRPr>
          </a:p>
          <a:p>
            <a:pPr marL="240029" marR="142240" indent="-227329">
              <a:lnSpc>
                <a:spcPts val="3030"/>
              </a:lnSpc>
              <a:spcBef>
                <a:spcPts val="1010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4.</a:t>
            </a:r>
            <a:r>
              <a:rPr dirty="0" sz="2800" spc="6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gold_table_version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on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shipped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run →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Delta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version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it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was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trained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on.</a:t>
            </a:r>
            <a:endParaRPr sz="2800">
              <a:latin typeface="Arial MT"/>
              <a:cs typeface="Arial MT"/>
            </a:endParaRPr>
          </a:p>
          <a:p>
            <a:pPr marL="240029" indent="-227329">
              <a:lnSpc>
                <a:spcPts val="3195"/>
              </a:lnSpc>
              <a:spcBef>
                <a:spcPts val="630"/>
              </a:spcBef>
              <a:buChar char="•"/>
              <a:tabLst>
                <a:tab pos="240029" algn="l"/>
              </a:tabLst>
            </a:pPr>
            <a:r>
              <a:rPr dirty="0" sz="2800">
                <a:latin typeface="Arial MT"/>
                <a:cs typeface="Arial MT"/>
              </a:rPr>
              <a:t>5.</a:t>
            </a:r>
            <a:r>
              <a:rPr dirty="0" sz="2800" spc="6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SELECT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*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FROM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gold.knee_features</a:t>
            </a:r>
            <a:r>
              <a:rPr dirty="0" sz="2800" spc="10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VERSION</a:t>
            </a:r>
            <a:r>
              <a:rPr dirty="0" sz="2800" spc="-1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AS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&lt;n&gt;</a:t>
            </a:r>
            <a:endParaRPr sz="2800">
              <a:latin typeface="Arial MT"/>
              <a:cs typeface="Arial MT"/>
            </a:endParaRPr>
          </a:p>
          <a:p>
            <a:pPr marL="241300">
              <a:lnSpc>
                <a:spcPts val="3195"/>
              </a:lnSpc>
            </a:pPr>
            <a:r>
              <a:rPr dirty="0" sz="2800">
                <a:latin typeface="Arial MT"/>
                <a:cs typeface="Arial MT"/>
              </a:rPr>
              <a:t>—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training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input,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reconstructed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live.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17194" y="1572971"/>
            <a:ext cx="9560560" cy="1421130"/>
          </a:xfrm>
          <a:prstGeom prst="rect"/>
        </p:spPr>
        <p:txBody>
          <a:bodyPr wrap="square" lIns="0" tIns="99060" rIns="0" bIns="0" rtlCol="0" vert="horz">
            <a:spAutoFit/>
          </a:bodyPr>
          <a:lstStyle/>
          <a:p>
            <a:pPr marL="12700" marR="5080">
              <a:lnSpc>
                <a:spcPts val="5190"/>
              </a:lnSpc>
              <a:spcBef>
                <a:spcPts val="780"/>
              </a:spcBef>
            </a:pPr>
            <a:r>
              <a:rPr dirty="0" sz="4800"/>
              <a:t>Delivery:</a:t>
            </a:r>
            <a:r>
              <a:rPr dirty="0" sz="4800" spc="-160"/>
              <a:t> </a:t>
            </a:r>
            <a:r>
              <a:rPr dirty="0" sz="4800"/>
              <a:t>endpoint,</a:t>
            </a:r>
            <a:r>
              <a:rPr dirty="0" sz="4800" spc="-105"/>
              <a:t> </a:t>
            </a:r>
            <a:r>
              <a:rPr dirty="0" sz="4800"/>
              <a:t>clinician</a:t>
            </a:r>
            <a:r>
              <a:rPr dirty="0" sz="4800" spc="-114"/>
              <a:t> </a:t>
            </a:r>
            <a:r>
              <a:rPr dirty="0" sz="4800" spc="-20"/>
              <a:t>app, </a:t>
            </a:r>
            <a:r>
              <a:rPr dirty="0" sz="4800" spc="-10"/>
              <a:t>agent</a:t>
            </a:r>
            <a:endParaRPr sz="4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2"/>
            <a:ext cx="12188952" cy="685793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17511" y="777748"/>
            <a:ext cx="5022215" cy="461200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31750" marR="1444625">
              <a:lnSpc>
                <a:spcPts val="3460"/>
              </a:lnSpc>
              <a:spcBef>
                <a:spcPts val="505"/>
              </a:spcBef>
            </a:pPr>
            <a:r>
              <a:rPr dirty="0" sz="3150" b="1">
                <a:solidFill>
                  <a:srgbClr val="BB9F45"/>
                </a:solidFill>
                <a:latin typeface="Arial"/>
                <a:cs typeface="Arial"/>
              </a:rPr>
              <a:t>What</a:t>
            </a:r>
            <a:r>
              <a:rPr dirty="0" sz="3150" spc="45" b="1">
                <a:solidFill>
                  <a:srgbClr val="BB9F45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BB9F45"/>
                </a:solidFill>
                <a:latin typeface="Arial"/>
                <a:cs typeface="Arial"/>
              </a:rPr>
              <a:t>the</a:t>
            </a:r>
            <a:r>
              <a:rPr dirty="0" sz="3150" spc="75" b="1">
                <a:solidFill>
                  <a:srgbClr val="BB9F45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BB9F45"/>
                </a:solidFill>
                <a:latin typeface="Arial"/>
                <a:cs typeface="Arial"/>
              </a:rPr>
              <a:t>endpoint returns</a:t>
            </a:r>
            <a:endParaRPr sz="3150">
              <a:latin typeface="Arial"/>
              <a:cs typeface="Arial"/>
            </a:endParaRPr>
          </a:p>
          <a:p>
            <a:pPr marL="240029" indent="-227329">
              <a:lnSpc>
                <a:spcPct val="100000"/>
              </a:lnSpc>
              <a:spcBef>
                <a:spcPts val="2205"/>
              </a:spcBef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episode_id</a:t>
            </a:r>
            <a:endParaRPr sz="28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risk</a:t>
            </a:r>
            <a:r>
              <a:rPr dirty="0" sz="28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—</a:t>
            </a:r>
            <a:r>
              <a:rPr dirty="0" sz="28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calibrated</a:t>
            </a:r>
            <a:endParaRPr sz="28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680"/>
              </a:spcBef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threshold,</a:t>
            </a:r>
            <a:r>
              <a:rPr dirty="0" sz="2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flagged</a:t>
            </a:r>
            <a:endParaRPr sz="2800">
              <a:latin typeface="Arial MT"/>
              <a:cs typeface="Arial MT"/>
            </a:endParaRPr>
          </a:p>
          <a:p>
            <a:pPr marL="240029" marR="5080" indent="-227329">
              <a:lnSpc>
                <a:spcPts val="3030"/>
              </a:lnSpc>
              <a:spcBef>
                <a:spcPts val="1055"/>
              </a:spcBef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contributions[6]</a:t>
            </a:r>
            <a:r>
              <a:rPr dirty="0" sz="2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—</a:t>
            </a:r>
            <a:r>
              <a:rPr dirty="0" sz="28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feature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signed</a:t>
            </a:r>
            <a:r>
              <a:rPr dirty="0" sz="28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value</a:t>
            </a:r>
            <a:endParaRPr sz="28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635"/>
              </a:spcBef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model_version</a:t>
            </a:r>
            <a:endParaRPr sz="28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gold_table_version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7511" y="5952020"/>
            <a:ext cx="4772025" cy="83883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Versioned,</a:t>
            </a:r>
            <a:r>
              <a:rPr dirty="0" sz="280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authenticated,</a:t>
            </a:r>
            <a:r>
              <a:rPr dirty="0" sz="2800" spc="-1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in-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estate.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39890" y="736472"/>
            <a:ext cx="4749800" cy="250571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983615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[FILL:</a:t>
            </a:r>
            <a:r>
              <a:rPr dirty="0" sz="28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paste</a:t>
            </a:r>
            <a:r>
              <a:rPr dirty="0" sz="28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28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actual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response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payload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as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monospace</a:t>
            </a:r>
            <a:r>
              <a:rPr dirty="0" sz="280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Arial MT"/>
                <a:cs typeface="Arial MT"/>
              </a:rPr>
              <a:t>code.</a:t>
            </a:r>
            <a:endParaRPr sz="2800">
              <a:latin typeface="Arial MT"/>
              <a:cs typeface="Arial MT"/>
            </a:endParaRPr>
          </a:p>
          <a:p>
            <a:pPr marL="240029" marR="5080" indent="-227329">
              <a:lnSpc>
                <a:spcPct val="90100"/>
              </a:lnSpc>
              <a:spcBef>
                <a:spcPts val="965"/>
              </a:spcBef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Highlight</a:t>
            </a:r>
            <a:r>
              <a:rPr dirty="0" sz="2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model_version</a:t>
            </a:r>
            <a:r>
              <a:rPr dirty="0" sz="28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gold_table_version</a:t>
            </a:r>
            <a:r>
              <a:rPr dirty="0" sz="280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80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the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accent</a:t>
            </a:r>
            <a:r>
              <a:rPr dirty="0" sz="280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colour.]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39890" y="3813555"/>
            <a:ext cx="4742815" cy="122364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 spc="-30">
                <a:solidFill>
                  <a:srgbClr val="FFFFFF"/>
                </a:solidFill>
                <a:latin typeface="Arial MT"/>
                <a:cs typeface="Arial MT"/>
              </a:rPr>
              <a:t>[SCREENSHOT:</a:t>
            </a:r>
            <a:r>
              <a:rPr dirty="0" sz="28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28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live</a:t>
            </a:r>
            <a:r>
              <a:rPr dirty="0" sz="280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Arial MT"/>
                <a:cs typeface="Arial MT"/>
              </a:rPr>
              <a:t>call </a:t>
            </a:r>
            <a:r>
              <a:rPr dirty="0" sz="2800" spc="-2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28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its</a:t>
            </a:r>
            <a:r>
              <a:rPr dirty="0" sz="28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response —</a:t>
            </a:r>
            <a:r>
              <a:rPr dirty="0" sz="28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dirty="0" sz="28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5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dirty="0" sz="2800" spc="-5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backup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still.]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39890" y="5608650"/>
            <a:ext cx="4987925" cy="122364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Show</a:t>
            </a:r>
            <a:r>
              <a:rPr dirty="0" sz="28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8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Fabric:</a:t>
            </a:r>
            <a:r>
              <a:rPr dirty="0" sz="2800" spc="-40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28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managed 	real-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r>
              <a:rPr dirty="0" sz="28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endpoint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the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registered</a:t>
            </a:r>
            <a:r>
              <a:rPr dirty="0" sz="280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model,</a:t>
            </a:r>
            <a:r>
              <a:rPr dirty="0" sz="28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2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511" y="777748"/>
            <a:ext cx="4965700" cy="397129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31750" marR="99695">
              <a:lnSpc>
                <a:spcPts val="3460"/>
              </a:lnSpc>
              <a:spcBef>
                <a:spcPts val="505"/>
              </a:spcBef>
            </a:pPr>
            <a:r>
              <a:rPr dirty="0" sz="3150" b="1">
                <a:solidFill>
                  <a:srgbClr val="003E34"/>
                </a:solidFill>
                <a:latin typeface="Arial"/>
                <a:cs typeface="Arial"/>
              </a:rPr>
              <a:t>The</a:t>
            </a:r>
            <a:r>
              <a:rPr dirty="0" sz="3150" spc="50" b="1">
                <a:solidFill>
                  <a:srgbClr val="003E34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03E34"/>
                </a:solidFill>
                <a:latin typeface="Arial"/>
                <a:cs typeface="Arial"/>
              </a:rPr>
              <a:t>clinician's</a:t>
            </a:r>
            <a:r>
              <a:rPr dirty="0" sz="3150" spc="50" b="1">
                <a:solidFill>
                  <a:srgbClr val="003E34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03E34"/>
                </a:solidFill>
                <a:latin typeface="Arial"/>
                <a:cs typeface="Arial"/>
              </a:rPr>
              <a:t>end</a:t>
            </a:r>
            <a:r>
              <a:rPr dirty="0" sz="3150" spc="25" b="1">
                <a:solidFill>
                  <a:srgbClr val="003E34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03E34"/>
                </a:solidFill>
                <a:latin typeface="Arial"/>
                <a:cs typeface="Arial"/>
              </a:rPr>
              <a:t>of</a:t>
            </a:r>
            <a:r>
              <a:rPr dirty="0" sz="3150" spc="45" b="1">
                <a:solidFill>
                  <a:srgbClr val="003E34"/>
                </a:solidFill>
                <a:latin typeface="Arial"/>
                <a:cs typeface="Arial"/>
              </a:rPr>
              <a:t> </a:t>
            </a:r>
            <a:r>
              <a:rPr dirty="0" sz="3150" spc="-25" b="1">
                <a:solidFill>
                  <a:srgbClr val="003E34"/>
                </a:solidFill>
                <a:latin typeface="Arial"/>
                <a:cs typeface="Arial"/>
              </a:rPr>
              <a:t>the </a:t>
            </a:r>
            <a:r>
              <a:rPr dirty="0" sz="3150" spc="-10" b="1">
                <a:solidFill>
                  <a:srgbClr val="003E34"/>
                </a:solidFill>
                <a:latin typeface="Arial"/>
                <a:cs typeface="Arial"/>
              </a:rPr>
              <a:t>pipeline</a:t>
            </a:r>
            <a:endParaRPr sz="3150">
              <a:latin typeface="Arial"/>
              <a:cs typeface="Arial"/>
            </a:endParaRPr>
          </a:p>
          <a:p>
            <a:pPr marL="240029" marR="5080" indent="-227329">
              <a:lnSpc>
                <a:spcPts val="3030"/>
              </a:lnSpc>
              <a:spcBef>
                <a:spcPts val="2580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Seven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decorated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TypeScript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classes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become: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SQL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database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Fabric,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50">
                <a:latin typeface="Arial MT"/>
                <a:cs typeface="Arial MT"/>
              </a:rPr>
              <a:t>a </a:t>
            </a:r>
            <a:r>
              <a:rPr dirty="0" sz="2800" spc="-50">
                <a:latin typeface="Arial MT"/>
                <a:cs typeface="Arial MT"/>
              </a:rPr>
              <a:t>	</a:t>
            </a:r>
            <a:r>
              <a:rPr dirty="0" sz="2800" spc="-10">
                <a:latin typeface="Arial MT"/>
                <a:cs typeface="Arial MT"/>
              </a:rPr>
              <a:t>GraphQL</a:t>
            </a:r>
            <a:r>
              <a:rPr dirty="0" sz="2800" spc="-3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API</a:t>
            </a:r>
            <a:r>
              <a:rPr dirty="0" sz="2800" spc="-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through</a:t>
            </a:r>
            <a:r>
              <a:rPr dirty="0" sz="2800" spc="1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Data </a:t>
            </a:r>
            <a:r>
              <a:rPr dirty="0" sz="2800" spc="-2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API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Builder,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Entra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ID</a:t>
            </a:r>
            <a:r>
              <a:rPr dirty="0" sz="2800" spc="-1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sign-</a:t>
            </a:r>
            <a:r>
              <a:rPr dirty="0" sz="2800" spc="-25">
                <a:latin typeface="Arial MT"/>
                <a:cs typeface="Arial MT"/>
              </a:rPr>
              <a:t>in,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static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hosting</a:t>
            </a:r>
            <a:r>
              <a:rPr dirty="0" sz="2800" spc="1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—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all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inside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workspace.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7511" y="5320144"/>
            <a:ext cx="4407535" cy="122364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algn="just" marL="240029" marR="5080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npx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rayfin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up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-</a:t>
            </a:r>
            <a:r>
              <a:rPr dirty="0" sz="2800" spc="-10">
                <a:latin typeface="Arial MT"/>
                <a:cs typeface="Arial MT"/>
              </a:rPr>
              <a:t>-workspace 	"Healthcare-</a:t>
            </a:r>
            <a:r>
              <a:rPr dirty="0" sz="2800">
                <a:latin typeface="Arial MT"/>
                <a:cs typeface="Arial MT"/>
              </a:rPr>
              <a:t>FabCon2026-</a:t>
            </a:r>
            <a:r>
              <a:rPr dirty="0" sz="2800">
                <a:latin typeface="Arial MT"/>
                <a:cs typeface="Arial MT"/>
              </a:rPr>
              <a:t>	</a:t>
            </a:r>
            <a:r>
              <a:rPr dirty="0" sz="2800" spc="-20">
                <a:latin typeface="Arial MT"/>
                <a:cs typeface="Arial MT"/>
              </a:rPr>
              <a:t>Demo"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39890" y="736472"/>
            <a:ext cx="4981575" cy="160845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[DIAGRAM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V13,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left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half: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one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decorated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entity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class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from </a:t>
            </a:r>
            <a:r>
              <a:rPr dirty="0" sz="2800" spc="-2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rayfin/data/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—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ten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lines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real </a:t>
            </a:r>
            <a:r>
              <a:rPr dirty="0" sz="2800" spc="-2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code,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unedited.]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39890" y="2916173"/>
            <a:ext cx="5189220" cy="1993264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[DIAGRAM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V13,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right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half: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the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four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provisioned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objects,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drawn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inside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workspace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boundary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from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'three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audiences' 	slide.]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39890" y="5480634"/>
            <a:ext cx="5017770" cy="122364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 spc="-30">
                <a:latin typeface="Arial MT"/>
                <a:cs typeface="Arial MT"/>
              </a:rPr>
              <a:t>[SCREENSHOT: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deployed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app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—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inbox,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then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patient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detail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with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1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contribution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2236" y="2893250"/>
            <a:ext cx="4746625" cy="1223010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240029" marR="5080" indent="-227329">
              <a:lnSpc>
                <a:spcPct val="90100"/>
              </a:lnSpc>
              <a:spcBef>
                <a:spcPts val="4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policy: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(claims,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item)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=&gt;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 spc="-10">
                <a:latin typeface="Arial MT"/>
                <a:cs typeface="Arial MT"/>
              </a:rPr>
              <a:t>claims.sub.eq(item.assigned 	ClinicianId)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2236" y="4688268"/>
            <a:ext cx="4747895" cy="1607820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240029" marR="5080" indent="-227329">
              <a:lnSpc>
                <a:spcPct val="90100"/>
              </a:lnSpc>
              <a:spcBef>
                <a:spcPts val="440"/>
              </a:spcBef>
              <a:buChar char="•"/>
              <a:tabLst>
                <a:tab pos="241300" algn="l"/>
              </a:tabLst>
            </a:pPr>
            <a:r>
              <a:rPr dirty="0" sz="2800" spc="-10">
                <a:latin typeface="Arial MT"/>
                <a:cs typeface="Arial MT"/>
              </a:rPr>
              <a:t>Patient-</a:t>
            </a:r>
            <a:r>
              <a:rPr dirty="0" sz="2800">
                <a:latin typeface="Arial MT"/>
                <a:cs typeface="Arial MT"/>
              </a:rPr>
              <a:t>scoped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entities </a:t>
            </a:r>
            <a:r>
              <a:rPr dirty="0" sz="2800" spc="-10">
                <a:latin typeface="Arial MT"/>
                <a:cs typeface="Arial MT"/>
              </a:rPr>
              <a:t>carry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policy: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PatientRisk, 	RiskExplanation, 	ReviewDecision.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2236" y="1866900"/>
            <a:ext cx="9928860" cy="4546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10"/>
              </a:spcBef>
              <a:buChar char="•"/>
              <a:tabLst>
                <a:tab pos="240029" algn="l"/>
                <a:tab pos="5429885" algn="l"/>
              </a:tabLst>
            </a:pP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10">
                <a:latin typeface="Arial MT"/>
                <a:cs typeface="Arial MT"/>
              </a:rPr>
              <a:t> POLICY</a:t>
            </a:r>
            <a:r>
              <a:rPr dirty="0" sz="2800">
                <a:latin typeface="Arial MT"/>
                <a:cs typeface="Arial MT"/>
              </a:rPr>
              <a:t>	•</a:t>
            </a:r>
            <a:r>
              <a:rPr dirty="0" sz="2800" spc="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WHERE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IT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ENFORCED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240029" marR="523240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/>
              <a:t>[DIAGRAM</a:t>
            </a:r>
            <a:r>
              <a:rPr dirty="0" spc="-70"/>
              <a:t> </a:t>
            </a:r>
            <a:r>
              <a:rPr dirty="0"/>
              <a:t>V15:</a:t>
            </a:r>
            <a:r>
              <a:rPr dirty="0" spc="-10"/>
              <a:t> </a:t>
            </a:r>
            <a:r>
              <a:rPr dirty="0"/>
              <a:t>two</a:t>
            </a:r>
            <a:r>
              <a:rPr dirty="0" spc="-70"/>
              <a:t> </a:t>
            </a:r>
            <a:r>
              <a:rPr dirty="0" spc="-10"/>
              <a:t>boxes, </a:t>
            </a:r>
            <a:r>
              <a:rPr dirty="0" spc="-10"/>
              <a:t>	</a:t>
            </a:r>
            <a:r>
              <a:rPr dirty="0"/>
              <a:t>one</a:t>
            </a:r>
            <a:r>
              <a:rPr dirty="0" spc="-25"/>
              <a:t> </a:t>
            </a:r>
            <a:r>
              <a:rPr dirty="0"/>
              <a:t>struck</a:t>
            </a:r>
            <a:r>
              <a:rPr dirty="0" spc="-75"/>
              <a:t> </a:t>
            </a:r>
            <a:r>
              <a:rPr dirty="0" spc="-10"/>
              <a:t>through.</a:t>
            </a:r>
          </a:p>
          <a:p>
            <a:pPr marL="240029" marR="5080" indent="-227329">
              <a:lnSpc>
                <a:spcPts val="303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dirty="0"/>
              <a:t>“Filter</a:t>
            </a:r>
            <a:r>
              <a:rPr dirty="0" spc="-90"/>
              <a:t> </a:t>
            </a:r>
            <a:r>
              <a:rPr dirty="0"/>
              <a:t>in</a:t>
            </a:r>
            <a:r>
              <a:rPr dirty="0" spc="5"/>
              <a:t> </a:t>
            </a:r>
            <a:r>
              <a:rPr dirty="0"/>
              <a:t>the</a:t>
            </a:r>
            <a:r>
              <a:rPr dirty="0" spc="-65"/>
              <a:t> </a:t>
            </a:r>
            <a:r>
              <a:rPr dirty="0"/>
              <a:t>frontend”</a:t>
            </a:r>
            <a:r>
              <a:rPr dirty="0" spc="30"/>
              <a:t> </a:t>
            </a:r>
            <a:r>
              <a:rPr dirty="0"/>
              <a:t>—</a:t>
            </a:r>
            <a:r>
              <a:rPr dirty="0" spc="-45"/>
              <a:t> </a:t>
            </a:r>
            <a:r>
              <a:rPr dirty="0" spc="-10"/>
              <a:t>struck 	through.</a:t>
            </a:r>
          </a:p>
          <a:p>
            <a:pPr marL="240029" indent="-227329">
              <a:lnSpc>
                <a:spcPts val="3195"/>
              </a:lnSpc>
              <a:spcBef>
                <a:spcPts val="635"/>
              </a:spcBef>
              <a:buChar char="•"/>
              <a:tabLst>
                <a:tab pos="240029" algn="l"/>
              </a:tabLst>
            </a:pPr>
            <a:r>
              <a:rPr dirty="0"/>
              <a:t>“Enforced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40"/>
              <a:t> </a:t>
            </a:r>
            <a:r>
              <a:rPr dirty="0"/>
              <a:t>Data</a:t>
            </a:r>
            <a:r>
              <a:rPr dirty="0" spc="-165"/>
              <a:t> </a:t>
            </a:r>
            <a:r>
              <a:rPr dirty="0"/>
              <a:t>API</a:t>
            </a:r>
            <a:r>
              <a:rPr dirty="0" spc="-50"/>
              <a:t> </a:t>
            </a:r>
            <a:r>
              <a:rPr dirty="0" spc="-10"/>
              <a:t>Builder”</a:t>
            </a:r>
          </a:p>
          <a:p>
            <a:pPr marL="241300">
              <a:lnSpc>
                <a:spcPts val="3195"/>
              </a:lnSpc>
            </a:pPr>
            <a:r>
              <a:rPr dirty="0"/>
              <a:t>—</a:t>
            </a:r>
            <a:r>
              <a:rPr dirty="0" spc="-15"/>
              <a:t> </a:t>
            </a:r>
            <a:r>
              <a:rPr dirty="0" spc="-10"/>
              <a:t>kept.]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239890" y="6088862"/>
            <a:ext cx="5126355" cy="83883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RayfinDataService</a:t>
            </a:r>
            <a:r>
              <a:rPr dirty="0" sz="2800" spc="-114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contains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no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WHERE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clause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on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clinician.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4852" rIns="0" bIns="0" rtlCol="0" vert="horz">
            <a:spAutoFit/>
          </a:bodyPr>
          <a:lstStyle/>
          <a:p>
            <a:pPr marL="31750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003E34"/>
                </a:solidFill>
              </a:rPr>
              <a:t>Row-level</a:t>
            </a:r>
            <a:r>
              <a:rPr dirty="0" spc="35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security,</a:t>
            </a:r>
            <a:r>
              <a:rPr dirty="0" spc="-30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demonstrated</a:t>
            </a:r>
            <a:r>
              <a:rPr dirty="0" spc="5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rather</a:t>
            </a:r>
            <a:r>
              <a:rPr dirty="0" spc="50">
                <a:solidFill>
                  <a:srgbClr val="003E34"/>
                </a:solidFill>
              </a:rPr>
              <a:t> </a:t>
            </a:r>
            <a:r>
              <a:rPr dirty="0">
                <a:solidFill>
                  <a:srgbClr val="003E34"/>
                </a:solidFill>
              </a:rPr>
              <a:t>than </a:t>
            </a:r>
            <a:r>
              <a:rPr dirty="0" spc="-10">
                <a:solidFill>
                  <a:srgbClr val="003E34"/>
                </a:solidFill>
              </a:rPr>
              <a:t>claimed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8559" y="777748"/>
            <a:ext cx="4533900" cy="243268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31750" marR="109855">
              <a:lnSpc>
                <a:spcPts val="3460"/>
              </a:lnSpc>
              <a:spcBef>
                <a:spcPts val="505"/>
              </a:spcBef>
            </a:pPr>
            <a:r>
              <a:rPr dirty="0" sz="3150" b="1">
                <a:solidFill>
                  <a:srgbClr val="003E34"/>
                </a:solidFill>
                <a:latin typeface="Arial"/>
                <a:cs typeface="Arial"/>
              </a:rPr>
              <a:t>A</a:t>
            </a:r>
            <a:r>
              <a:rPr dirty="0" sz="3150" spc="-110" b="1">
                <a:solidFill>
                  <a:srgbClr val="003E34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03E34"/>
                </a:solidFill>
                <a:latin typeface="Arial"/>
                <a:cs typeface="Arial"/>
              </a:rPr>
              <a:t>grounded</a:t>
            </a:r>
            <a:r>
              <a:rPr dirty="0" sz="3150" spc="35" b="1">
                <a:solidFill>
                  <a:srgbClr val="003E34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03E34"/>
                </a:solidFill>
                <a:latin typeface="Arial"/>
                <a:cs typeface="Arial"/>
              </a:rPr>
              <a:t>answer,</a:t>
            </a:r>
            <a:r>
              <a:rPr dirty="0" sz="3150" spc="10" b="1">
                <a:solidFill>
                  <a:srgbClr val="003E34"/>
                </a:solidFill>
                <a:latin typeface="Arial"/>
                <a:cs typeface="Arial"/>
              </a:rPr>
              <a:t> </a:t>
            </a:r>
            <a:r>
              <a:rPr dirty="0" sz="3150" spc="-25" b="1">
                <a:solidFill>
                  <a:srgbClr val="003E34"/>
                </a:solidFill>
                <a:latin typeface="Arial"/>
                <a:cs typeface="Arial"/>
              </a:rPr>
              <a:t>or </a:t>
            </a:r>
            <a:r>
              <a:rPr dirty="0" sz="3150" spc="-20" b="1">
                <a:solidFill>
                  <a:srgbClr val="003E34"/>
                </a:solidFill>
                <a:latin typeface="Arial"/>
                <a:cs typeface="Arial"/>
              </a:rPr>
              <a:t>none</a:t>
            </a:r>
            <a:endParaRPr sz="3150">
              <a:latin typeface="Arial"/>
              <a:cs typeface="Arial"/>
            </a:endParaRPr>
          </a:p>
          <a:p>
            <a:pPr marL="240029" marR="5080" indent="-227329">
              <a:lnSpc>
                <a:spcPts val="3030"/>
              </a:lnSpc>
              <a:spcBef>
                <a:spcPts val="2580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“Which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my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pre-operative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patients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are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flagged,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and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 spc="-20">
                <a:latin typeface="Arial MT"/>
                <a:cs typeface="Arial MT"/>
              </a:rPr>
              <a:t>why?”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8559" y="3781425"/>
            <a:ext cx="4390390" cy="83883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“Which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factors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contributed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most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for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this</a:t>
            </a:r>
            <a:r>
              <a:rPr dirty="0" sz="2800" spc="3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patient?”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8559" y="5191759"/>
            <a:ext cx="3952240" cy="122364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“How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does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our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flag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rate </a:t>
            </a:r>
            <a:r>
              <a:rPr dirty="0" sz="2800" spc="-2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compare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with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other </a:t>
            </a:r>
            <a:r>
              <a:rPr dirty="0" sz="2800" spc="-20">
                <a:latin typeface="Arial MT"/>
                <a:cs typeface="Arial MT"/>
              </a:rPr>
              <a:t>	</a:t>
            </a:r>
            <a:r>
              <a:rPr dirty="0" sz="2800" spc="-10">
                <a:latin typeface="Arial MT"/>
                <a:cs typeface="Arial MT"/>
              </a:rPr>
              <a:t>providers?”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2236" y="736472"/>
            <a:ext cx="4567555" cy="3275329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41910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[DIAGRAM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V16: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grounding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path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one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row </a:t>
            </a:r>
            <a:r>
              <a:rPr dirty="0" sz="2800" spc="-50">
                <a:latin typeface="Arial MT"/>
                <a:cs typeface="Arial MT"/>
              </a:rPr>
              <a:t>—</a:t>
            </a:r>
            <a:endParaRPr sz="2800">
              <a:latin typeface="Arial MT"/>
              <a:cs typeface="Arial MT"/>
            </a:endParaRPr>
          </a:p>
          <a:p>
            <a:pPr marL="240029" marR="5080" indent="-227329">
              <a:lnSpc>
                <a:spcPct val="90100"/>
              </a:lnSpc>
              <a:spcBef>
                <a:spcPts val="965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question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→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Data</a:t>
            </a:r>
            <a:r>
              <a:rPr dirty="0" sz="2800" spc="-1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Agent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50">
                <a:latin typeface="Arial MT"/>
                <a:cs typeface="Arial MT"/>
              </a:rPr>
              <a:t>→ </a:t>
            </a:r>
            <a:r>
              <a:rPr dirty="0" sz="2800" spc="-5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Fabric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IQ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semantic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layer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-50">
                <a:latin typeface="Arial MT"/>
                <a:cs typeface="Arial MT"/>
              </a:rPr>
              <a:t>→ </a:t>
            </a:r>
            <a:r>
              <a:rPr dirty="0" sz="2800" spc="-5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gold.patient_risk</a:t>
            </a:r>
            <a:r>
              <a:rPr dirty="0" sz="2800" spc="-130">
                <a:latin typeface="Arial MT"/>
                <a:cs typeface="Arial MT"/>
              </a:rPr>
              <a:t> </a:t>
            </a:r>
            <a:r>
              <a:rPr dirty="0" sz="2800" spc="-50">
                <a:latin typeface="Arial MT"/>
                <a:cs typeface="Arial MT"/>
              </a:rPr>
              <a:t>+ </a:t>
            </a:r>
            <a:r>
              <a:rPr dirty="0" sz="2800" spc="-5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gold.risk_explanation</a:t>
            </a:r>
            <a:r>
              <a:rPr dirty="0" sz="2800" spc="-180">
                <a:latin typeface="Arial MT"/>
                <a:cs typeface="Arial MT"/>
              </a:rPr>
              <a:t> </a:t>
            </a:r>
            <a:r>
              <a:rPr dirty="0" sz="2800" spc="-50">
                <a:latin typeface="Arial MT"/>
                <a:cs typeface="Arial MT"/>
              </a:rPr>
              <a:t>+ </a:t>
            </a:r>
            <a:r>
              <a:rPr dirty="0" sz="2800" spc="-50">
                <a:latin typeface="Arial MT"/>
                <a:cs typeface="Arial MT"/>
              </a:rPr>
              <a:t>	</a:t>
            </a:r>
            <a:r>
              <a:rPr dirty="0" sz="2800" spc="-10">
                <a:latin typeface="Arial MT"/>
                <a:cs typeface="Arial MT"/>
              </a:rPr>
              <a:t>silver.provider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→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cited 	answer.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2236" y="4582922"/>
            <a:ext cx="5047615" cy="1993264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 MT"/>
                <a:cs typeface="Arial MT"/>
              </a:rPr>
              <a:t>Reuse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workspace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boundary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from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'three </a:t>
            </a:r>
            <a:r>
              <a:rPr dirty="0" sz="2800" spc="-1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audiences'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slide,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mark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the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permission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check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on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way </a:t>
            </a:r>
            <a:r>
              <a:rPr dirty="0" sz="2800" spc="-25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IN,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not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on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way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out.]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2"/>
            <a:ext cx="12188952" cy="685793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37057" y="777748"/>
            <a:ext cx="4514850" cy="509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150" b="1">
                <a:solidFill>
                  <a:srgbClr val="BB9F45"/>
                </a:solidFill>
                <a:latin typeface="Arial"/>
                <a:cs typeface="Arial"/>
              </a:rPr>
              <a:t>The</a:t>
            </a:r>
            <a:r>
              <a:rPr dirty="0" sz="3150" spc="-10" b="1">
                <a:solidFill>
                  <a:srgbClr val="BB9F45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BB9F45"/>
                </a:solidFill>
                <a:latin typeface="Arial"/>
                <a:cs typeface="Arial"/>
              </a:rPr>
              <a:t>missing</a:t>
            </a:r>
            <a:r>
              <a:rPr dirty="0" sz="3150" spc="-25" b="1">
                <a:solidFill>
                  <a:srgbClr val="BB9F45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BB9F45"/>
                </a:solidFill>
                <a:latin typeface="Arial"/>
                <a:cs typeface="Arial"/>
              </a:rPr>
              <a:t>layer,</a:t>
            </a:r>
            <a:r>
              <a:rPr dirty="0" sz="3150" spc="25" b="1">
                <a:solidFill>
                  <a:srgbClr val="BB9F45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BB9F45"/>
                </a:solidFill>
                <a:latin typeface="Arial"/>
                <a:cs typeface="Arial"/>
              </a:rPr>
              <a:t>built</a:t>
            </a:r>
            <a:endParaRPr sz="31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7511" y="1986407"/>
            <a:ext cx="4545330" cy="122364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1,872</a:t>
            </a:r>
            <a:r>
              <a:rPr dirty="0" sz="28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papers,</a:t>
            </a:r>
            <a:r>
              <a:rPr dirty="0" sz="28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56</a:t>
            </a:r>
            <a:r>
              <a:rPr dirty="0" sz="28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models</a:t>
            </a:r>
            <a:r>
              <a:rPr dirty="0" sz="28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in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practice.</a:t>
            </a:r>
            <a:r>
              <a:rPr dirty="0" sz="28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28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gap</a:t>
            </a:r>
            <a:r>
              <a:rPr dirty="0" sz="28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dirty="0" sz="28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not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modelling</a:t>
            </a:r>
            <a:r>
              <a:rPr dirty="0" sz="28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capability.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7511" y="3781425"/>
            <a:ext cx="4681855" cy="1993264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Data,</a:t>
            </a:r>
            <a:r>
              <a:rPr dirty="0" sz="28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analytics</a:t>
            </a:r>
            <a:r>
              <a:rPr dirty="0" sz="280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28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decision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8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r>
              <a:rPr dirty="0" sz="28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governed</a:t>
            </a:r>
            <a:r>
              <a:rPr dirty="0" sz="28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place,</a:t>
            </a:r>
            <a:r>
              <a:rPr dirty="0" sz="28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Arial MT"/>
                <a:cs typeface="Arial MT"/>
              </a:rPr>
              <a:t>with </a:t>
            </a:r>
            <a:r>
              <a:rPr dirty="0" sz="2800" spc="-2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r>
              <a:rPr dirty="0" sz="28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lineage</a:t>
            </a:r>
            <a:r>
              <a:rPr dirty="0" sz="28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dirty="0" sz="28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28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raw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registry</a:t>
            </a:r>
            <a:r>
              <a:rPr dirty="0" sz="28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row</a:t>
            </a:r>
            <a:r>
              <a:rPr dirty="0" sz="28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 recorded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clinical</a:t>
            </a:r>
            <a:r>
              <a:rPr dirty="0" sz="28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decision.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7511" y="6345847"/>
            <a:ext cx="4902200" cy="4546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10"/>
              </a:spcBef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Clinicians</a:t>
            </a:r>
            <a:r>
              <a:rPr dirty="0" sz="28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dirty="0" sz="28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not</a:t>
            </a:r>
            <a:r>
              <a:rPr dirty="0" sz="28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28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blocker.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39890" y="736472"/>
            <a:ext cx="5158105" cy="16084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40029" indent="-227329">
              <a:lnSpc>
                <a:spcPts val="3195"/>
              </a:lnSpc>
              <a:spcBef>
                <a:spcPts val="110"/>
              </a:spcBef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[DIAGRAM</a:t>
            </a:r>
            <a:r>
              <a:rPr dirty="0" sz="28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V6</a:t>
            </a:r>
            <a:r>
              <a:rPr dirty="0" sz="2800" spc="-1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AGAIN</a:t>
            </a:r>
            <a:r>
              <a:rPr dirty="0" sz="28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—</a:t>
            </a:r>
            <a:r>
              <a:rPr dirty="0" sz="28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Arial MT"/>
                <a:cs typeface="Arial MT"/>
              </a:rPr>
              <a:t>same</a:t>
            </a:r>
            <a:endParaRPr sz="2800">
              <a:latin typeface="Arial MT"/>
              <a:cs typeface="Arial MT"/>
            </a:endParaRPr>
          </a:p>
          <a:p>
            <a:pPr marL="241300" marR="1372870">
              <a:lnSpc>
                <a:spcPts val="3030"/>
              </a:lnSpc>
              <a:spcBef>
                <a:spcPts val="210"/>
              </a:spcBef>
            </a:pP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geometry</a:t>
            </a:r>
            <a:r>
              <a:rPr dirty="0" sz="28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dirty="0" sz="28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28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'three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audiences'</a:t>
            </a:r>
            <a:r>
              <a:rPr dirty="0" sz="280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slide,</a:t>
            </a:r>
            <a:r>
              <a:rPr dirty="0" sz="28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now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annotated.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39890" y="2916173"/>
            <a:ext cx="4896485" cy="340360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425450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Clinician: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2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app,</a:t>
            </a:r>
            <a:r>
              <a:rPr dirty="0" sz="280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six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contributions,</a:t>
            </a:r>
            <a:r>
              <a:rPr dirty="0" sz="2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280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recorded 	decision.</a:t>
            </a:r>
            <a:endParaRPr sz="2800">
              <a:latin typeface="Arial MT"/>
              <a:cs typeface="Arial MT"/>
            </a:endParaRPr>
          </a:p>
          <a:p>
            <a:pPr marL="240029" marR="5080" indent="-227329">
              <a:lnSpc>
                <a:spcPts val="303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Patient: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calibrated</a:t>
            </a:r>
            <a:r>
              <a:rPr dirty="0" sz="2800" spc="-1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probability,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local</a:t>
            </a:r>
            <a:r>
              <a:rPr dirty="0" sz="28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explanation.</a:t>
            </a:r>
            <a:endParaRPr sz="2800">
              <a:latin typeface="Arial MT"/>
              <a:cs typeface="Arial MT"/>
            </a:endParaRPr>
          </a:p>
          <a:p>
            <a:pPr algn="just" marL="240029" marR="680720" indent="-227329">
              <a:lnSpc>
                <a:spcPts val="3030"/>
              </a:lnSpc>
              <a:spcBef>
                <a:spcPts val="1010"/>
              </a:spcBef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Regulator:</a:t>
            </a:r>
            <a:r>
              <a:rPr dirty="0" sz="28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Delta</a:t>
            </a:r>
            <a:r>
              <a:rPr dirty="0" sz="2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version,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sensitivity</a:t>
            </a:r>
            <a:r>
              <a:rPr dirty="0" sz="2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label,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lineage,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glassbox</a:t>
            </a:r>
            <a:r>
              <a:rPr dirty="0" sz="28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tag,</a:t>
            </a:r>
            <a:r>
              <a:rPr dirty="0" sz="28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RLS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35">
                <a:solidFill>
                  <a:srgbClr val="FFFFFF"/>
                </a:solidFill>
                <a:latin typeface="Arial MT"/>
                <a:cs typeface="Arial MT"/>
              </a:rPr>
              <a:t>policy.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2"/>
            <a:ext cx="12188952" cy="685793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4852" rIns="0" bIns="0" rtlCol="0" vert="horz">
            <a:spAutoFit/>
          </a:bodyPr>
          <a:lstStyle/>
          <a:p>
            <a:pPr marL="31750">
              <a:lnSpc>
                <a:spcPct val="100000"/>
              </a:lnSpc>
              <a:spcBef>
                <a:spcPts val="120"/>
              </a:spcBef>
            </a:pPr>
            <a:r>
              <a:rPr dirty="0"/>
              <a:t>Five</a:t>
            </a:r>
            <a:r>
              <a:rPr dirty="0" spc="40"/>
              <a:t> </a:t>
            </a:r>
            <a:r>
              <a:rPr dirty="0"/>
              <a:t>things</a:t>
            </a:r>
            <a:r>
              <a:rPr dirty="0" spc="55"/>
              <a:t> </a:t>
            </a:r>
            <a:r>
              <a:rPr dirty="0"/>
              <a:t>that</a:t>
            </a:r>
            <a:r>
              <a:rPr dirty="0" spc="35"/>
              <a:t> </a:t>
            </a:r>
            <a:r>
              <a:rPr dirty="0" spc="-10"/>
              <a:t>transfer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7511" y="1680845"/>
            <a:ext cx="4900930" cy="481393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316230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Make</a:t>
            </a:r>
            <a:r>
              <a:rPr dirty="0" sz="28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every</a:t>
            </a:r>
            <a:r>
              <a:rPr dirty="0" sz="28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table</a:t>
            </a:r>
            <a:r>
              <a:rPr dirty="0" sz="28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Delta</a:t>
            </a:r>
            <a:r>
              <a:rPr dirty="0" sz="28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log</a:t>
            </a:r>
            <a:r>
              <a:rPr dirty="0" sz="28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gold_table_version</a:t>
            </a:r>
            <a:r>
              <a:rPr dirty="0" sz="28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5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dirty="0" sz="2800" spc="-5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tag.</a:t>
            </a:r>
            <a:r>
              <a:rPr dirty="0" sz="2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r>
              <a:rPr dirty="0" sz="28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line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work,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your</a:t>
            </a:r>
            <a:r>
              <a:rPr dirty="0" sz="28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record-keeping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obligation</a:t>
            </a:r>
            <a:r>
              <a:rPr dirty="0" sz="28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dirty="0" sz="28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Arial MT"/>
                <a:cs typeface="Arial MT"/>
              </a:rPr>
              <a:t>met.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25"/>
              </a:spcBef>
              <a:buClr>
                <a:srgbClr val="FFFFFF"/>
              </a:buClr>
              <a:buFont typeface="Arial MT"/>
              <a:buChar char="•"/>
            </a:pPr>
            <a:endParaRPr sz="2800">
              <a:latin typeface="Arial MT"/>
              <a:cs typeface="Arial MT"/>
            </a:endParaRPr>
          </a:p>
          <a:p>
            <a:pPr marL="240029" marR="414655" indent="-227329">
              <a:lnSpc>
                <a:spcPts val="3030"/>
              </a:lnSpc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Turn</a:t>
            </a:r>
            <a:r>
              <a:rPr dirty="0" sz="280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Fabric</a:t>
            </a:r>
            <a:r>
              <a:rPr dirty="0" sz="28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autologging</a:t>
            </a:r>
            <a:r>
              <a:rPr dirty="0" sz="280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off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2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log</a:t>
            </a:r>
            <a:r>
              <a:rPr dirty="0" sz="2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explicitly.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25"/>
              </a:spcBef>
              <a:buClr>
                <a:srgbClr val="FFFFFF"/>
              </a:buClr>
              <a:buFont typeface="Arial MT"/>
              <a:buChar char="•"/>
            </a:pPr>
            <a:endParaRPr sz="2800">
              <a:latin typeface="Arial MT"/>
              <a:cs typeface="Arial MT"/>
            </a:endParaRPr>
          </a:p>
          <a:p>
            <a:pPr marL="240029" marR="5080" indent="-227329">
              <a:lnSpc>
                <a:spcPts val="3030"/>
              </a:lnSpc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Make</a:t>
            </a:r>
            <a:r>
              <a:rPr dirty="0" sz="280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interpretability</a:t>
            </a:r>
            <a:r>
              <a:rPr dirty="0" sz="28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28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tag,</a:t>
            </a:r>
            <a:r>
              <a:rPr dirty="0" sz="28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so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dirty="0" sz="28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dirty="0" sz="28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be</a:t>
            </a:r>
            <a:r>
              <a:rPr dirty="0" sz="28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28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Arial MT"/>
                <a:cs typeface="Arial MT"/>
              </a:rPr>
              <a:t>gate.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54647" y="1680845"/>
            <a:ext cx="4852670" cy="481393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029" marR="76200" indent="-227329">
              <a:lnSpc>
                <a:spcPts val="3030"/>
              </a:lnSpc>
              <a:spcBef>
                <a:spcPts val="484"/>
              </a:spcBef>
              <a:buChar char="•"/>
              <a:tabLst>
                <a:tab pos="241300" algn="l"/>
              </a:tabLst>
            </a:pPr>
            <a:r>
              <a:rPr dirty="0" sz="2800" spc="-30">
                <a:solidFill>
                  <a:srgbClr val="FFFFFF"/>
                </a:solidFill>
                <a:latin typeface="Arial MT"/>
                <a:cs typeface="Arial MT"/>
              </a:rPr>
              <a:t>[SCREENSHOT: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QR</a:t>
            </a:r>
            <a:r>
              <a:rPr dirty="0" sz="28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code</a:t>
            </a:r>
            <a:r>
              <a:rPr dirty="0" sz="28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repo,</a:t>
            </a:r>
            <a:r>
              <a:rPr dirty="0" sz="2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large.]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25"/>
              </a:spcBef>
              <a:buClr>
                <a:srgbClr val="FFFFFF"/>
              </a:buClr>
              <a:buFont typeface="Arial MT"/>
              <a:buChar char="•"/>
            </a:pPr>
            <a:endParaRPr sz="2800">
              <a:latin typeface="Arial MT"/>
              <a:cs typeface="Arial MT"/>
            </a:endParaRPr>
          </a:p>
          <a:p>
            <a:pPr marL="240029" marR="5080" indent="-227329">
              <a:lnSpc>
                <a:spcPts val="303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dirty="0" sz="2800" spc="-65">
                <a:solidFill>
                  <a:srgbClr val="FFFFFF"/>
                </a:solidFill>
                <a:latin typeface="Arial MT"/>
                <a:cs typeface="Arial MT"/>
              </a:rPr>
              <a:t>Ten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Fabric</a:t>
            </a:r>
            <a:r>
              <a:rPr dirty="0" sz="28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notebooks,</a:t>
            </a:r>
            <a:r>
              <a:rPr dirty="0" sz="2800" spc="-1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the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medallion</a:t>
            </a:r>
            <a:r>
              <a:rPr dirty="0" sz="28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28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MLflow</a:t>
            </a:r>
            <a:r>
              <a:rPr dirty="0" sz="28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design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notes,</a:t>
            </a:r>
            <a:r>
              <a:rPr dirty="0" sz="28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clinician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app</a:t>
            </a:r>
            <a:r>
              <a:rPr dirty="0" sz="28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Arial MT"/>
                <a:cs typeface="Arial MT"/>
              </a:rPr>
              <a:t>with </a:t>
            </a:r>
            <a:r>
              <a:rPr dirty="0" sz="2800" spc="-2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its</a:t>
            </a:r>
            <a:r>
              <a:rPr dirty="0" sz="28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offline</a:t>
            </a:r>
            <a:r>
              <a:rPr dirty="0" sz="28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mode,</a:t>
            </a:r>
            <a:r>
              <a:rPr dirty="0" sz="28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28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the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model</a:t>
            </a:r>
            <a:r>
              <a:rPr dirty="0" sz="28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card.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20"/>
              </a:spcBef>
              <a:buClr>
                <a:srgbClr val="FFFFFF"/>
              </a:buClr>
              <a:buFont typeface="Arial MT"/>
              <a:buChar char="•"/>
            </a:pPr>
            <a:endParaRPr sz="2800">
              <a:latin typeface="Arial MT"/>
              <a:cs typeface="Arial MT"/>
            </a:endParaRPr>
          </a:p>
          <a:p>
            <a:pPr marL="240029" marR="1292225" indent="-227329">
              <a:lnSpc>
                <a:spcPts val="3030"/>
              </a:lnSpc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[FILL: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both</a:t>
            </a:r>
            <a:r>
              <a:rPr dirty="0" sz="28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presenter 	handles]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335886"/>
            <a:ext cx="12188952" cy="45731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864795"/>
            <a:ext cx="12189460" cy="4581525"/>
            <a:chOff x="0" y="864795"/>
            <a:chExt cx="12189460" cy="4581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864795"/>
              <a:ext cx="12188952" cy="458141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01025" y="2344816"/>
              <a:ext cx="3375025" cy="478155"/>
            </a:xfrm>
            <a:custGeom>
              <a:avLst/>
              <a:gdLst/>
              <a:ahLst/>
              <a:cxnLst/>
              <a:rect l="l" t="t" r="r" b="b"/>
              <a:pathLst>
                <a:path w="3375025" h="478155">
                  <a:moveTo>
                    <a:pt x="3374507" y="478097"/>
                  </a:moveTo>
                  <a:lnTo>
                    <a:pt x="0" y="478097"/>
                  </a:lnTo>
                  <a:lnTo>
                    <a:pt x="0" y="0"/>
                  </a:lnTo>
                  <a:lnTo>
                    <a:pt x="3374507" y="0"/>
                  </a:lnTo>
                  <a:lnTo>
                    <a:pt x="3374507" y="478097"/>
                  </a:lnTo>
                  <a:close/>
                </a:path>
              </a:pathLst>
            </a:custGeom>
            <a:solidFill>
              <a:srgbClr val="002A2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144096" y="2136258"/>
            <a:ext cx="3424554" cy="82931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5250" spc="-615" b="0">
                <a:solidFill>
                  <a:srgbClr val="FFFFFF"/>
                </a:solidFill>
                <a:latin typeface="Arial Black"/>
                <a:cs typeface="Arial Black"/>
              </a:rPr>
              <a:t>Please</a:t>
            </a:r>
            <a:r>
              <a:rPr dirty="0" sz="5250" spc="135" b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5250" spc="-640" b="0">
                <a:solidFill>
                  <a:srgbClr val="FFFFFF"/>
                </a:solidFill>
                <a:latin typeface="Arial Black"/>
                <a:cs typeface="Arial Black"/>
              </a:rPr>
              <a:t>rate</a:t>
            </a:r>
            <a:endParaRPr sz="5250">
              <a:latin typeface="Arial Black"/>
              <a:cs typeface="Arial Black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55311" y="2989207"/>
            <a:ext cx="3628390" cy="490855"/>
          </a:xfrm>
          <a:custGeom>
            <a:avLst/>
            <a:gdLst/>
            <a:ahLst/>
            <a:cxnLst/>
            <a:rect l="l" t="t" r="r" b="b"/>
            <a:pathLst>
              <a:path w="3628390" h="490854">
                <a:moveTo>
                  <a:pt x="3628010" y="490569"/>
                </a:moveTo>
                <a:lnTo>
                  <a:pt x="0" y="490569"/>
                </a:lnTo>
                <a:lnTo>
                  <a:pt x="0" y="0"/>
                </a:lnTo>
                <a:lnTo>
                  <a:pt x="3628010" y="0"/>
                </a:lnTo>
                <a:lnTo>
                  <a:pt x="3628010" y="490569"/>
                </a:lnTo>
                <a:close/>
              </a:path>
            </a:pathLst>
          </a:custGeom>
          <a:solidFill>
            <a:srgbClr val="0134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32457" y="2787347"/>
            <a:ext cx="3644265" cy="83629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5300" spc="-550">
                <a:solidFill>
                  <a:srgbClr val="FFFFFF"/>
                </a:solidFill>
                <a:latin typeface="Arial Black"/>
                <a:cs typeface="Arial Black"/>
              </a:rPr>
              <a:t>this</a:t>
            </a:r>
            <a:r>
              <a:rPr dirty="0" sz="5300" spc="-14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5300" spc="-585">
                <a:solidFill>
                  <a:srgbClr val="FFFFFF"/>
                </a:solidFill>
                <a:latin typeface="Arial Black"/>
                <a:cs typeface="Arial Black"/>
              </a:rPr>
              <a:t>session</a:t>
            </a:r>
            <a:endParaRPr sz="53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2026-09-17T19:22:18Z</dcterms:created>
  <dcterms:modified xsi:type="dcterms:W3CDTF">2026-09-17T19:22:18Z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2026-09-17T00:00:00Z</vt:filetime>
  </property>
  <property fmtid="{D5CDD505-2E9C-101B-9397-08002B2CF9AE}" pid="4" name="LastSaved">
    <vt:filetime>2026-09-17T00:00:00Z</vt:filetime>
  </property>
</Properties>
</file>