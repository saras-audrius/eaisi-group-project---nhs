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c9613b0e64a1d" /><Relationship Type="http://schemas.openxmlformats.org/officeDocument/2006/relationships/extended-properties" Target="/docProps/app.xml" Id="R099d9961f9684a29" /><Relationship Type="http://schemas.openxmlformats.org/officeDocument/2006/relationships/officeDocument" Target="/ppt/presentation.xml" Id="R67bbbeecfdd342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86d61c7d34484"/>
  </p:sldMasterIdLst>
  <p:notesMasterIdLst>
    <p:notesMasterId xmlns:r="http://schemas.openxmlformats.org/officeDocument/2006/relationships" r:id="R4509b42861044d15"/>
  </p:notesMasterIdLst>
  <p:sldIdLst>
    <p:sldId xmlns:r="http://schemas.openxmlformats.org/officeDocument/2006/relationships" id="256" r:id="R4a384b074607452a"/>
    <p:sldId xmlns:r="http://schemas.openxmlformats.org/officeDocument/2006/relationships" id="257" r:id="R2bc8fb37b04b4dc1"/>
    <p:sldId xmlns:r="http://schemas.openxmlformats.org/officeDocument/2006/relationships" id="258" r:id="Rc19467e31ca24547"/>
    <p:sldId xmlns:r="http://schemas.openxmlformats.org/officeDocument/2006/relationships" id="259" r:id="R2d5ed200fa8b4174"/>
    <p:sldId xmlns:r="http://schemas.openxmlformats.org/officeDocument/2006/relationships" id="260" r:id="R17c5d08efac04461"/>
    <p:sldId xmlns:r="http://schemas.openxmlformats.org/officeDocument/2006/relationships" id="261" r:id="R5bc3467081024342"/>
    <p:sldId xmlns:r="http://schemas.openxmlformats.org/officeDocument/2006/relationships" id="262" r:id="Ra974f5e298294328"/>
    <p:sldId xmlns:r="http://schemas.openxmlformats.org/officeDocument/2006/relationships" id="263" r:id="R431b5c195cc7479b"/>
    <p:sldId xmlns:r="http://schemas.openxmlformats.org/officeDocument/2006/relationships" id="264" r:id="R74c5ffa5eb0d4f74"/>
    <p:sldId xmlns:r="http://schemas.openxmlformats.org/officeDocument/2006/relationships" id="265" r:id="Rf04573df84294b36"/>
    <p:sldId xmlns:r="http://schemas.openxmlformats.org/officeDocument/2006/relationships" id="266" r:id="R701ac7ac9f514811"/>
    <p:sldId xmlns:r="http://schemas.openxmlformats.org/officeDocument/2006/relationships" id="267" r:id="R963ecdb0319b4756"/>
    <p:sldId xmlns:r="http://schemas.openxmlformats.org/officeDocument/2006/relationships" id="268" r:id="Ra2eea9917d4b43ec"/>
    <p:sldId xmlns:r="http://schemas.openxmlformats.org/officeDocument/2006/relationships" id="269" r:id="R5ec2201871fd4b63"/>
    <p:sldId xmlns:r="http://schemas.openxmlformats.org/officeDocument/2006/relationships" id="270" r:id="R9ed4e6e055e14ca8"/>
    <p:sldId xmlns:r="http://schemas.openxmlformats.org/officeDocument/2006/relationships" id="271" r:id="R8ef8299ad9c54388"/>
    <p:sldId xmlns:r="http://schemas.openxmlformats.org/officeDocument/2006/relationships" id="272" r:id="R12568045a9c2461f"/>
    <p:sldId xmlns:r="http://schemas.openxmlformats.org/officeDocument/2006/relationships" id="273" r:id="R31408b1416914450"/>
    <p:sldId xmlns:r="http://schemas.openxmlformats.org/officeDocument/2006/relationships" id="274" r:id="R6eb5ea6b837f4925"/>
    <p:sldId xmlns:r="http://schemas.openxmlformats.org/officeDocument/2006/relationships" id="275" r:id="R5f1feb2178f5476b"/>
    <p:sldId xmlns:r="http://schemas.openxmlformats.org/officeDocument/2006/relationships" id="276" r:id="Rc3874c3f5f1044c0"/>
    <p:sldId xmlns:r="http://schemas.openxmlformats.org/officeDocument/2006/relationships" id="277" r:id="R0f1059afb4c04808"/>
    <p:sldId xmlns:r="http://schemas.openxmlformats.org/officeDocument/2006/relationships" id="278" r:id="R5795a407af4b4c09"/>
    <p:sldId xmlns:r="http://schemas.openxmlformats.org/officeDocument/2006/relationships" id="279" r:id="R6cef7960da694d1e"/>
    <p:sldId xmlns:r="http://schemas.openxmlformats.org/officeDocument/2006/relationships" id="280" r:id="Rd0220a72a0974e98"/>
    <p:sldId xmlns:r="http://schemas.openxmlformats.org/officeDocument/2006/relationships" id="281" r:id="R1162f26886214e03"/>
    <p:sldId xmlns:r="http://schemas.openxmlformats.org/officeDocument/2006/relationships" id="282" r:id="R191ec865066841b4"/>
    <p:sldId xmlns:r="http://schemas.openxmlformats.org/officeDocument/2006/relationships" id="283" r:id="R1f05d7ceecbb4f1f"/>
    <p:sldId xmlns:r="http://schemas.openxmlformats.org/officeDocument/2006/relationships" id="284" r:id="Rdc26ade10edf45e6"/>
    <p:sldId xmlns:r="http://schemas.openxmlformats.org/officeDocument/2006/relationships" id="285" r:id="Ra708f55ac14749ee"/>
    <p:sldId xmlns:r="http://schemas.openxmlformats.org/officeDocument/2006/relationships" id="286" r:id="Rc880ddd3c9ce4fa1"/>
    <p:sldId xmlns:r="http://schemas.openxmlformats.org/officeDocument/2006/relationships" id="287" r:id="R0f48317d6d074fd3"/>
    <p:sldId xmlns:r="http://schemas.openxmlformats.org/officeDocument/2006/relationships" id="288" r:id="Rd70cd7beebef478b"/>
    <p:sldId xmlns:r="http://schemas.openxmlformats.org/officeDocument/2006/relationships" id="289" r:id="R37ac6da012df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25b072cde84d02" /><Relationship Type="http://schemas.openxmlformats.org/officeDocument/2006/relationships/slideMaster" Target="/ppt/slideMasters/slideMaster1.xml" Id="R54086d61c7d34484" /><Relationship Type="http://schemas.openxmlformats.org/officeDocument/2006/relationships/notesMaster" Target="/ppt/notesMasters/notesMaster1.xml" Id="R4509b42861044d15" /><Relationship Type="http://schemas.openxmlformats.org/officeDocument/2006/relationships/presProps" Target="/ppt/presProps.xml" Id="Ra6cbe620beec4b52" /><Relationship Type="http://schemas.openxmlformats.org/officeDocument/2006/relationships/viewProps" Target="/ppt/viewProps.xml" Id="Rc36a09651f5946f4" /><Relationship Type="http://schemas.openxmlformats.org/officeDocument/2006/relationships/tableStyles" Target="/ppt/tableStyles.xml" Id="R0770c9248f4642ed" /><Relationship Type="http://schemas.openxmlformats.org/officeDocument/2006/relationships/slide" Target="/ppt/slides/slide1.xml" Id="R4a384b074607452a" /><Relationship Type="http://schemas.openxmlformats.org/officeDocument/2006/relationships/slide" Target="/ppt/slides/slide2.xml" Id="R2bc8fb37b04b4dc1" /><Relationship Type="http://schemas.openxmlformats.org/officeDocument/2006/relationships/slide" Target="/ppt/slides/slide3.xml" Id="Rc19467e31ca24547" /><Relationship Type="http://schemas.openxmlformats.org/officeDocument/2006/relationships/slide" Target="/ppt/slides/slide4.xml" Id="R2d5ed200fa8b4174" /><Relationship Type="http://schemas.openxmlformats.org/officeDocument/2006/relationships/slide" Target="/ppt/slides/slide5.xml" Id="R17c5d08efac04461" /><Relationship Type="http://schemas.openxmlformats.org/officeDocument/2006/relationships/slide" Target="/ppt/slides/slide6.xml" Id="R5bc3467081024342" /><Relationship Type="http://schemas.openxmlformats.org/officeDocument/2006/relationships/slide" Target="/ppt/slides/slide7.xml" Id="Ra974f5e298294328" /><Relationship Type="http://schemas.openxmlformats.org/officeDocument/2006/relationships/slide" Target="/ppt/slides/slide8.xml" Id="R431b5c195cc7479b" /><Relationship Type="http://schemas.openxmlformats.org/officeDocument/2006/relationships/slide" Target="/ppt/slides/slide9.xml" Id="R74c5ffa5eb0d4f74" /><Relationship Type="http://schemas.openxmlformats.org/officeDocument/2006/relationships/slide" Target="/ppt/slides/slide10.xml" Id="Rf04573df84294b36" /><Relationship Type="http://schemas.openxmlformats.org/officeDocument/2006/relationships/slide" Target="/ppt/slides/slide11.xml" Id="R701ac7ac9f514811" /><Relationship Type="http://schemas.openxmlformats.org/officeDocument/2006/relationships/slide" Target="/ppt/slides/slide12.xml" Id="R963ecdb0319b4756" /><Relationship Type="http://schemas.openxmlformats.org/officeDocument/2006/relationships/slide" Target="/ppt/slides/slide13.xml" Id="Ra2eea9917d4b43ec" /><Relationship Type="http://schemas.openxmlformats.org/officeDocument/2006/relationships/slide" Target="/ppt/slides/slide14.xml" Id="R5ec2201871fd4b63" /><Relationship Type="http://schemas.openxmlformats.org/officeDocument/2006/relationships/slide" Target="/ppt/slides/slide15.xml" Id="R9ed4e6e055e14ca8" /><Relationship Type="http://schemas.openxmlformats.org/officeDocument/2006/relationships/slide" Target="/ppt/slides/slide16.xml" Id="R8ef8299ad9c54388" /><Relationship Type="http://schemas.openxmlformats.org/officeDocument/2006/relationships/slide" Target="/ppt/slides/slide17.xml" Id="R12568045a9c2461f" /><Relationship Type="http://schemas.openxmlformats.org/officeDocument/2006/relationships/slide" Target="/ppt/slides/slide18.xml" Id="R31408b1416914450" /><Relationship Type="http://schemas.openxmlformats.org/officeDocument/2006/relationships/slide" Target="/ppt/slides/slide19.xml" Id="R6eb5ea6b837f4925" /><Relationship Type="http://schemas.openxmlformats.org/officeDocument/2006/relationships/slide" Target="/ppt/slides/slide20.xml" Id="R5f1feb2178f5476b" /><Relationship Type="http://schemas.openxmlformats.org/officeDocument/2006/relationships/slide" Target="/ppt/slides/slide21.xml" Id="Rc3874c3f5f1044c0" /><Relationship Type="http://schemas.openxmlformats.org/officeDocument/2006/relationships/slide" Target="/ppt/slides/slide22.xml" Id="R0f1059afb4c04808" /><Relationship Type="http://schemas.openxmlformats.org/officeDocument/2006/relationships/slide" Target="/ppt/slides/slide23.xml" Id="R5795a407af4b4c09" /><Relationship Type="http://schemas.openxmlformats.org/officeDocument/2006/relationships/slide" Target="/ppt/slides/slide24.xml" Id="R6cef7960da694d1e" /><Relationship Type="http://schemas.openxmlformats.org/officeDocument/2006/relationships/slide" Target="/ppt/slides/slide25.xml" Id="Rd0220a72a0974e98" /><Relationship Type="http://schemas.openxmlformats.org/officeDocument/2006/relationships/slide" Target="/ppt/slides/slide26.xml" Id="R1162f26886214e03" /><Relationship Type="http://schemas.openxmlformats.org/officeDocument/2006/relationships/slide" Target="/ppt/slides/slide27.xml" Id="R191ec865066841b4" /><Relationship Type="http://schemas.openxmlformats.org/officeDocument/2006/relationships/slide" Target="/ppt/slides/slide28.xml" Id="R1f05d7ceecbb4f1f" /><Relationship Type="http://schemas.openxmlformats.org/officeDocument/2006/relationships/slide" Target="/ppt/slides/slide29.xml" Id="Rdc26ade10edf45e6" /><Relationship Type="http://schemas.openxmlformats.org/officeDocument/2006/relationships/slide" Target="/ppt/slides/slide30.xml" Id="Ra708f55ac14749ee" /><Relationship Type="http://schemas.openxmlformats.org/officeDocument/2006/relationships/slide" Target="/ppt/slides/slide31.xml" Id="Rc880ddd3c9ce4fa1" /><Relationship Type="http://schemas.openxmlformats.org/officeDocument/2006/relationships/slide" Target="/ppt/slides/slide32.xml" Id="R0f48317d6d074fd3" /><Relationship Type="http://schemas.openxmlformats.org/officeDocument/2006/relationships/slide" Target="/ppt/slides/slide33.xml" Id="Rd70cd7beebef478b" /><Relationship Type="http://schemas.openxmlformats.org/officeDocument/2006/relationships/slide" Target="/ppt/slides/slide34.xml" Id="R37ac6da012df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f6f1d956c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014adf9274bbd" /><Relationship Type="http://schemas.openxmlformats.org/officeDocument/2006/relationships/notesMaster" Target="/ppt/notesMasters/notesMaster1.xml" Id="Rffa5f02eb85a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404571fde4668" /><Relationship Type="http://schemas.openxmlformats.org/officeDocument/2006/relationships/notesMaster" Target="/ppt/notesMasters/notesMaster1.xml" Id="Rb4ad9f09849c49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148c1589ba481c" /><Relationship Type="http://schemas.openxmlformats.org/officeDocument/2006/relationships/notesMaster" Target="/ppt/notesMasters/notesMaster1.xml" Id="Ref3dbdefda89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d3b1ab50646fc" /><Relationship Type="http://schemas.openxmlformats.org/officeDocument/2006/relationships/notesMaster" Target="/ppt/notesMasters/notesMaster1.xml" Id="R76ea0a7b23b4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9d2ce46f64799" /><Relationship Type="http://schemas.openxmlformats.org/officeDocument/2006/relationships/notesMaster" Target="/ppt/notesMasters/notesMaster1.xml" Id="Rafcfbd530a4b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17c53b5c364309" /><Relationship Type="http://schemas.openxmlformats.org/officeDocument/2006/relationships/notesMaster" Target="/ppt/notesMasters/notesMaster1.xml" Id="Rdb9cf5f5d6e0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f218978684847" /><Relationship Type="http://schemas.openxmlformats.org/officeDocument/2006/relationships/notesMaster" Target="/ppt/notesMasters/notesMaster1.xml" Id="R0e004deaac624b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afb4aea7364ded" /><Relationship Type="http://schemas.openxmlformats.org/officeDocument/2006/relationships/notesMaster" Target="/ppt/notesMasters/notesMaster1.xml" Id="R86b87aa8dc754d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6ab9706485405b" /><Relationship Type="http://schemas.openxmlformats.org/officeDocument/2006/relationships/notesMaster" Target="/ppt/notesMasters/notesMaster1.xml" Id="Reab4aa0466f24a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63d17f3a3c4a1c" /><Relationship Type="http://schemas.openxmlformats.org/officeDocument/2006/relationships/notesMaster" Target="/ppt/notesMasters/notesMaster1.xml" Id="R43657dca90ec4c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5ac89d5a344a84" /><Relationship Type="http://schemas.openxmlformats.org/officeDocument/2006/relationships/notesMaster" Target="/ppt/notesMasters/notesMaster1.xml" Id="Re4db8521441648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6fdf1923f409a" /><Relationship Type="http://schemas.openxmlformats.org/officeDocument/2006/relationships/notesMaster" Target="/ppt/notesMasters/notesMaster1.xml" Id="Rcc2fec9a691a47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b2fa6abdc5475c" /><Relationship Type="http://schemas.openxmlformats.org/officeDocument/2006/relationships/notesMaster" Target="/ppt/notesMasters/notesMaster1.xml" Id="R48fcc2dc4b6a45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5e207920d24c45" /><Relationship Type="http://schemas.openxmlformats.org/officeDocument/2006/relationships/notesMaster" Target="/ppt/notesMasters/notesMaster1.xml" Id="R241aaf7111ae4b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5b480658074464" /><Relationship Type="http://schemas.openxmlformats.org/officeDocument/2006/relationships/notesMaster" Target="/ppt/notesMasters/notesMaster1.xml" Id="R45ba441f3f2f4a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2b643e6dc4413d" /><Relationship Type="http://schemas.openxmlformats.org/officeDocument/2006/relationships/notesMaster" Target="/ppt/notesMasters/notesMaster1.xml" Id="R9389d440fcab4e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d50d46b8d5460e" /><Relationship Type="http://schemas.openxmlformats.org/officeDocument/2006/relationships/notesMaster" Target="/ppt/notesMasters/notesMaster1.xml" Id="Rf56349f97cc448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6b91ba98d44942" /><Relationship Type="http://schemas.openxmlformats.org/officeDocument/2006/relationships/notesMaster" Target="/ppt/notesMasters/notesMaster1.xml" Id="R07fa483b1ed44a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facc147d754d14" /><Relationship Type="http://schemas.openxmlformats.org/officeDocument/2006/relationships/notesMaster" Target="/ppt/notesMasters/notesMaster1.xml" Id="Rfe0b1b4906d349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0327bbe71e46d7" /><Relationship Type="http://schemas.openxmlformats.org/officeDocument/2006/relationships/notesMaster" Target="/ppt/notesMasters/notesMaster1.xml" Id="R068a7efa57db48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4500e9790343da" /><Relationship Type="http://schemas.openxmlformats.org/officeDocument/2006/relationships/notesMaster" Target="/ppt/notesMasters/notesMaster1.xml" Id="R65f2e2490efa45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df87992a7442d9" /><Relationship Type="http://schemas.openxmlformats.org/officeDocument/2006/relationships/notesMaster" Target="/ppt/notesMasters/notesMaster1.xml" Id="R15e8e101c14f40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812448cefc46ec" /><Relationship Type="http://schemas.openxmlformats.org/officeDocument/2006/relationships/notesMaster" Target="/ppt/notesMasters/notesMaster1.xml" Id="R73398139bfef4b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394b91168f4275" /><Relationship Type="http://schemas.openxmlformats.org/officeDocument/2006/relationships/notesMaster" Target="/ppt/notesMasters/notesMaster1.xml" Id="Re0c89faac5ca48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8872815edc4958" /><Relationship Type="http://schemas.openxmlformats.org/officeDocument/2006/relationships/notesMaster" Target="/ppt/notesMasters/notesMaster1.xml" Id="R83bdc6d14f8d4f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ad87dba7bb48b8" /><Relationship Type="http://schemas.openxmlformats.org/officeDocument/2006/relationships/notesMaster" Target="/ppt/notesMasters/notesMaster1.xml" Id="R6069ae66aa0a45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281be2b8b4429b" /><Relationship Type="http://schemas.openxmlformats.org/officeDocument/2006/relationships/notesMaster" Target="/ppt/notesMasters/notesMaster1.xml" Id="R286ebb23ab5843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4766b8937d444d" /><Relationship Type="http://schemas.openxmlformats.org/officeDocument/2006/relationships/notesMaster" Target="/ppt/notesMasters/notesMaster1.xml" Id="Rc6dccb9c84d549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d96529a563468f" /><Relationship Type="http://schemas.openxmlformats.org/officeDocument/2006/relationships/notesMaster" Target="/ppt/notesMasters/notesMaster1.xml" Id="Rbfada3ebf4964c8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3345263c2f44dd" /><Relationship Type="http://schemas.openxmlformats.org/officeDocument/2006/relationships/notesMaster" Target="/ppt/notesMasters/notesMaster1.xml" Id="R65e028e84b124e0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5693c1703146c8" /><Relationship Type="http://schemas.openxmlformats.org/officeDocument/2006/relationships/notesMaster" Target="/ppt/notesMasters/notesMaster1.xml" Id="R9fbfb13b30ee48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42b92f38be45fd" /><Relationship Type="http://schemas.openxmlformats.org/officeDocument/2006/relationships/notesMaster" Target="/ppt/notesMasters/notesMaster1.xml" Id="Rc28edc4efc17465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35983c057324e7b" /><Relationship Type="http://schemas.openxmlformats.org/officeDocument/2006/relationships/notesMaster" Target="/ppt/notesMasters/notesMaster1.xml" Id="Ree4ff625b4324c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c40480082304b6e" /><Relationship Type="http://schemas.openxmlformats.org/officeDocument/2006/relationships/notesMaster" Target="/ppt/notesMasters/notesMaster1.xml" Id="R3fdfc82a15b0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notebooks/01_all_dataset_exploration.ipynb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 described in 2026-07-25-notebook-to-bedside-session-design.md and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notebooks/05_modelling.ipynb; Fabric notebook 31_data_exploration is the production counterpart.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based on fabric/notebooks/40_train_register.ipynb.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 and Model_Comparison_Analysis.md.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notebooks/05_modelling.ipynb; threshold is explicitly described as clinical policy in fabric/rayfin-clinician-app/src/clinical.ts.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notebooks/06_ebm_calibration.ipynb.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notebooks/07_ebm_explainability.ipynb.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 and 07_ebm_explainability.ipynb.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based on fabric/MLFLOW.md, fabric/notebooks/40_train_register.ipynb and fabric/DAY_PLAN.md.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fabric/notebooks/40_train_register.ipynb, 50_batch_score.ipynb and fabric/README.md.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Payload fields based on fabric/notebooks/50_batch_score.ipynb and the clinician app data model. Example values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fabric/rayfin-clinician-app/src/pages and UX_AUDIT_AND_DESIGN.md. Layout is a conceptual representation, not a production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fabric/rayfin-clinician-app/rayfin/data/PatientRisk.ts and RiskExplanation.ts.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fabric/rayfin-clinician-app/src/services/agent and fabric/README.md.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fabric/DAY_PLAN.md, fabric/README.md, fabric/MLFLOW.md and clinician-app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71c211e3f48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9df00ccd64e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461a697cc4f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11fe1ffe04c50" /><Relationship Type="http://schemas.openxmlformats.org/officeDocument/2006/relationships/image" Target="/ppt/media/image2.jpeg" Id="R5d1bbd4750f746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59ab5053543e2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15964F9-F094-4F8F-907C-E7846F1122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801F0AC-585E-4B04-8560-E848A53C812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AD88152-C233-4E16-8687-E796024859E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C291908-46B9-40FA-A13D-DCA0BEF6008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59EDB9A-4FF6-40E7-8764-D19EB2DBF29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D593104A-5C28-47CA-ADE6-5652B32A5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44486DE-B937-4BEA-B71A-7E95E1A4A0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4E37659-0479-474D-8DE8-EE38002B01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45BF115B-E103-46A8-9FFF-BCF14C62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6ADEDC7-CEC7-4CB7-883B-E84144E4439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D4D3AB6C-4EEA-4D80-B06A-595492F22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CB39582-C6EC-44E4-9EF8-3D629DBC5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96696" y="1847595"/>
            <a:ext cx="3374390" cy="3512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500" b="1" i="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860EE83-9227-4371-A0D5-451426C56AEC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001000" y="1399336"/>
            <a:ext cx="3200400" cy="43999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4C469DB-0D6D-4BB2-9655-798D8CD3D19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2BCF2170-3CBF-43A7-8EE9-BC1964C6D0F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1EF9F486-4E28-4F68-9DF9-FCF7500DBB4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type="obj" preserve="1">
  <p:cSld name="Title Only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bbd4750f7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BFC9B50-AE5D-43EF-98CB-9F0ECC876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3D6C4F4-5BEC-4C98-85D5-985C5F4D59A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D0976ED-F3DC-4F1B-87F1-FB537694E96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8DA150F-645E-4F64-807D-478AD5F2997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BBE86C03-8414-4F55-908D-10D4CA3CA22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ECA5870-B97D-4610-9A6A-D460088B634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C7FA9F7-23EB-466D-87A8-F3C21F84EC99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b4ef641f2584ce6" /><Relationship Type="http://schemas.openxmlformats.org/officeDocument/2006/relationships/theme" Target="/ppt/slideMasters/theme/theme2.xml" Id="Rb0b5873dcd5b401e" /><Relationship Type="http://schemas.openxmlformats.org/officeDocument/2006/relationships/slideLayout" Target="/ppt/slideLayouts/slideLayout1.xml" Id="R8c3763825e204d1f" /><Relationship Type="http://schemas.openxmlformats.org/officeDocument/2006/relationships/slideLayout" Target="/ppt/slideLayouts/slideLayout2.xml" Id="Re9c36de3b6d14482" /><Relationship Type="http://schemas.openxmlformats.org/officeDocument/2006/relationships/slideLayout" Target="/ppt/slideLayouts/slideLayout3.xml" Id="R5682dabad41044b6" /><Relationship Type="http://schemas.openxmlformats.org/officeDocument/2006/relationships/slideLayout" Target="/ppt/slideLayouts/slideLayout4.xml" Id="R676aeb89dc164509" /><Relationship Type="http://schemas.openxmlformats.org/officeDocument/2006/relationships/slideLayout" Target="/ppt/slideLayouts/slideLayout5.xml" Id="R0bfada67bf6942b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ef641f258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BAF24E10-DF6A-497E-88FE-B9CDFE09E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511" y="218135"/>
            <a:ext cx="10587240" cy="1209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C537EAC-4914-4B85-9A51-1381C0CF7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9890" y="2893250"/>
            <a:ext cx="5161915" cy="2633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98273AF-161A-42F8-A810-9979BFDFDE0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8F388E67-6BD8-4446-8FD3-736D5E9F086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454FEBCE-8550-4120-AD73-8B3E02B5452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3763825e204d1f"/>
    <p:sldLayoutId xmlns:r="http://schemas.openxmlformats.org/officeDocument/2006/relationships" id="2147483650" r:id="Re9c36de3b6d14482"/>
    <p:sldLayoutId xmlns:r="http://schemas.openxmlformats.org/officeDocument/2006/relationships" id="2147483651" r:id="R5682dabad41044b6"/>
    <p:sldLayoutId xmlns:r="http://schemas.openxmlformats.org/officeDocument/2006/relationships" id="2147483652" r:id="R676aeb89dc164509"/>
    <p:sldLayoutId xmlns:r="http://schemas.openxmlformats.org/officeDocument/2006/relationships" id="2147483653" r:id="R0bfada67bf6942b9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462868fb154bf7" /><Relationship Type="http://schemas.openxmlformats.org/officeDocument/2006/relationships/image" Target="/ppt/media/image3.jpeg" Id="R97e4795125724b8b" /><Relationship Type="http://schemas.openxmlformats.org/officeDocument/2006/relationships/image" Target="/ppt/media/image4.jpeg" Id="Ra2f752517771435d" /><Relationship Type="http://schemas.openxmlformats.org/officeDocument/2006/relationships/notesSlide" Target="/ppt/notesSlides/notesSlide1.xml" Id="R0eaf187fa69a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76af8caaaa4a3d" /><Relationship Type="http://schemas.openxmlformats.org/officeDocument/2006/relationships/image" Target="/ppt/media/image2.jpeg" Id="R6bd2e1cacf154cb4" /><Relationship Type="http://schemas.openxmlformats.org/officeDocument/2006/relationships/image" Target="/ppt/media/image.png" Id="Rd545e4cb840d4fa6" /><Relationship Type="http://schemas.openxmlformats.org/officeDocument/2006/relationships/image" Target="/ppt/media/image2.png" Id="R317d0aec33954d8b" /><Relationship Type="http://schemas.openxmlformats.org/officeDocument/2006/relationships/image" Target="/ppt/media/image3.png" Id="R1a80e61dff43483c" /><Relationship Type="http://schemas.openxmlformats.org/officeDocument/2006/relationships/notesSlide" Target="/ppt/notesSlides/notesSlide2.xml" Id="R7fe3a6f6200043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b9a4e3e2e4c8d" /><Relationship Type="http://schemas.openxmlformats.org/officeDocument/2006/relationships/image" Target="/ppt/media/image2.jpeg" Id="Rac38cedb80534da8" /><Relationship Type="http://schemas.openxmlformats.org/officeDocument/2006/relationships/notesSlide" Target="/ppt/notesSlides/notesSlide3.xml" Id="R22936693534d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c09a2d7ccb4673" /><Relationship Type="http://schemas.openxmlformats.org/officeDocument/2006/relationships/notesSlide" Target="/ppt/notesSlides/notesSlide4.xml" Id="R7e96bfef803a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9646a2231d4afc" /><Relationship Type="http://schemas.openxmlformats.org/officeDocument/2006/relationships/image" Target="/ppt/media/image.jpeg" Id="R4d7dabe353d141d4" /><Relationship Type="http://schemas.openxmlformats.org/officeDocument/2006/relationships/image" Target="/ppt/media/image4.png" Id="R0b0b9fdd7b074049" /><Relationship Type="http://schemas.openxmlformats.org/officeDocument/2006/relationships/notesSlide" Target="/ppt/notesSlides/notesSlide5.xml" Id="R50654b4873fd49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c4277ca5e4526" /><Relationship Type="http://schemas.openxmlformats.org/officeDocument/2006/relationships/image" Target="/ppt/media/image5.jpeg" Id="R2897964c090740a9" /><Relationship Type="http://schemas.openxmlformats.org/officeDocument/2006/relationships/image" Target="/ppt/media/image6.jpeg" Id="R3600fd2a61a44b49" /><Relationship Type="http://schemas.openxmlformats.org/officeDocument/2006/relationships/image" Target="/ppt/media/image5.png" Id="R853dca9a576d4043" /><Relationship Type="http://schemas.openxmlformats.org/officeDocument/2006/relationships/image" Target="/ppt/media/image6.png" Id="Re84bd6775ced4bdb" /><Relationship Type="http://schemas.openxmlformats.org/officeDocument/2006/relationships/image" Target="/ppt/media/image7.png" Id="Re35d02345af84cb6" /><Relationship Type="http://schemas.openxmlformats.org/officeDocument/2006/relationships/image" Target="/ppt/media/image7.jpeg" Id="R0e8bd28128a74736" /><Relationship Type="http://schemas.openxmlformats.org/officeDocument/2006/relationships/image" Target="/ppt/media/image8.jpeg" Id="R2bc14460a10240b2" /><Relationship Type="http://schemas.openxmlformats.org/officeDocument/2006/relationships/notesSlide" Target="/ppt/notesSlides/notesSlide6.xml" Id="R1c372d52396c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65f6bc7c8f490c" /><Relationship Type="http://schemas.openxmlformats.org/officeDocument/2006/relationships/image" Target="/ppt/media/image8.png" Id="Re2a8c18765c14ad7" /><Relationship Type="http://schemas.openxmlformats.org/officeDocument/2006/relationships/image" Target="/ppt/media/image9.png" Id="R7a4fe944c1e045b3" /><Relationship Type="http://schemas.openxmlformats.org/officeDocument/2006/relationships/image" Target="/ppt/media/image10.png" Id="R3a4d2e2fda3340b7" /><Relationship Type="http://schemas.openxmlformats.org/officeDocument/2006/relationships/notesSlide" Target="/ppt/notesSlides/notesSlide7.xml" Id="R310e87bca06448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abb669408e5445c" /><Relationship Type="http://schemas.openxmlformats.org/officeDocument/2006/relationships/notesSlide" Target="/ppt/notesSlides/notesSlide8.xml" Id="Rc70d50bf18114b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7e9daa25f4ddc" /><Relationship Type="http://schemas.openxmlformats.org/officeDocument/2006/relationships/image" Target="/ppt/media/image11.png" Id="Rce1e5df4b4ab42dc" /><Relationship Type="http://schemas.openxmlformats.org/officeDocument/2006/relationships/notesSlide" Target="/ppt/notesSlides/notesSlide9.xml" Id="Ra4afc326b54947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4e3a1b23a74e79" /><Relationship Type="http://schemas.openxmlformats.org/officeDocument/2006/relationships/notesSlide" Target="/ppt/notesSlides/notesSlide10.xml" Id="Rb76e36492a8948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35bd4f6f304a23" /><Relationship Type="http://schemas.openxmlformats.org/officeDocument/2006/relationships/image" Target="/ppt/media/image.jpeg" Id="R14d1c65deb1e4396" /><Relationship Type="http://schemas.openxmlformats.org/officeDocument/2006/relationships/image" Target="/ppt/media/image9.jpeg" Id="Rae53f317c9ed4d47" /><Relationship Type="http://schemas.openxmlformats.org/officeDocument/2006/relationships/notesSlide" Target="/ppt/notesSlides/notesSlide11.xml" Id="Re9e4c4457b4842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8c1312ab347b4" /><Relationship Type="http://schemas.openxmlformats.org/officeDocument/2006/relationships/notesSlide" Target="/ppt/notesSlides/notesSlide12.xml" Id="Rd6893b8e414c44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1abeeb020c40a4" /><Relationship Type="http://schemas.openxmlformats.org/officeDocument/2006/relationships/image" Target="/ppt/media/image.jpeg" Id="R1fc30023dea04823" /><Relationship Type="http://schemas.openxmlformats.org/officeDocument/2006/relationships/image" Target="/ppt/media/image10.jpeg" Id="Rd46b33fe12c044a9" /><Relationship Type="http://schemas.openxmlformats.org/officeDocument/2006/relationships/notesSlide" Target="/ppt/notesSlides/notesSlide13.xml" Id="R166adc31350e42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4a77b5a33664599" /><Relationship Type="http://schemas.openxmlformats.org/officeDocument/2006/relationships/notesSlide" Target="/ppt/notesSlides/notesSlide14.xml" Id="Rf3d618df1b9e44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78fcf2e8194cee" /><Relationship Type="http://schemas.openxmlformats.org/officeDocument/2006/relationships/image" Target="/ppt/media/image12.png" Id="Rd5dca0f9cecc43d2" /><Relationship Type="http://schemas.openxmlformats.org/officeDocument/2006/relationships/notesSlide" Target="/ppt/notesSlides/notesSlide15.xml" Id="R58531cfca47041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671109f0ea4d65" /><Relationship Type="http://schemas.openxmlformats.org/officeDocument/2006/relationships/image" Target="/ppt/media/image13.png" Id="R34f8aa52eda04b20" /><Relationship Type="http://schemas.openxmlformats.org/officeDocument/2006/relationships/image" Target="/ppt/media/image14.png" Id="Ra244cf87e0d7477d" /><Relationship Type="http://schemas.openxmlformats.org/officeDocument/2006/relationships/image" Target="/ppt/media/image15.png" Id="R08098f5ae84d492c" /><Relationship Type="http://schemas.openxmlformats.org/officeDocument/2006/relationships/image" Target="/ppt/media/image16.png" Id="R187287f8c7b341f7" /><Relationship Type="http://schemas.openxmlformats.org/officeDocument/2006/relationships/notesSlide" Target="/ppt/notesSlides/notesSlide16.xml" Id="R92a544d0a51d44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2d938507ec4842" /><Relationship Type="http://schemas.openxmlformats.org/officeDocument/2006/relationships/image" Target="/ppt/media/image17.png" Id="R150b5d8f65bc4c7d" /><Relationship Type="http://schemas.openxmlformats.org/officeDocument/2006/relationships/notesSlide" Target="/ppt/notesSlides/notesSlide17.xml" Id="R2be5c88fb34141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734ad153d14eed" /><Relationship Type="http://schemas.openxmlformats.org/officeDocument/2006/relationships/notesSlide" Target="/ppt/notesSlides/notesSlide18.xml" Id="R1dbb074fa03c4a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d825a785e4069" /><Relationship Type="http://schemas.openxmlformats.org/officeDocument/2006/relationships/image" Target="/ppt/media/image18.png" Id="R5c29e804f5e747cf" /><Relationship Type="http://schemas.openxmlformats.org/officeDocument/2006/relationships/notesSlide" Target="/ppt/notesSlides/notesSlide19.xml" Id="Ra83d319ba45345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0254cffac472b" /><Relationship Type="http://schemas.openxmlformats.org/officeDocument/2006/relationships/image" Target="/ppt/media/image19.png" Id="R5025e34d74f84b35" /><Relationship Type="http://schemas.openxmlformats.org/officeDocument/2006/relationships/notesSlide" Target="/ppt/notesSlides/notesSlide20.xml" Id="R4d1c4d2c61b344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3d8f25657e049a4" /><Relationship Type="http://schemas.openxmlformats.org/officeDocument/2006/relationships/notesSlide" Target="/ppt/notesSlides/notesSlide21.xml" Id="Rde82b62abe3043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ca76dc2f7f4728" /><Relationship Type="http://schemas.openxmlformats.org/officeDocument/2006/relationships/image" Target="/ppt/media/image20.png" Id="Rd5f8043d94b946bc" /><Relationship Type="http://schemas.openxmlformats.org/officeDocument/2006/relationships/notesSlide" Target="/ppt/notesSlides/notesSlide22.xml" Id="R145ceb49638948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7c14990c614daa" /><Relationship Type="http://schemas.openxmlformats.org/officeDocument/2006/relationships/image" Target="/ppt/media/image21.png" Id="Rf7d011f5c5a242fa" /><Relationship Type="http://schemas.openxmlformats.org/officeDocument/2006/relationships/notesSlide" Target="/ppt/notesSlides/notesSlide23.xml" Id="R0d9dd136c1aa4a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348df3bb874716" /><Relationship Type="http://schemas.openxmlformats.org/officeDocument/2006/relationships/image" Target="/ppt/media/image22.png" Id="R72c9ab7892e842cf" /><Relationship Type="http://schemas.openxmlformats.org/officeDocument/2006/relationships/notesSlide" Target="/ppt/notesSlides/notesSlide24.xml" Id="Rb818885ecc1242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9aaa3717d475b" /><Relationship Type="http://schemas.openxmlformats.org/officeDocument/2006/relationships/notesSlide" Target="/ppt/notesSlides/notesSlide25.xml" Id="Re5546bf7e1d243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dcfe0c5e64427" /><Relationship Type="http://schemas.openxmlformats.org/officeDocument/2006/relationships/notesSlide" Target="/ppt/notesSlides/notesSlide26.xml" Id="R3e72aa9fb4fa4eb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cd7ae2af8d84990" /><Relationship Type="http://schemas.openxmlformats.org/officeDocument/2006/relationships/notesSlide" Target="/ppt/notesSlides/notesSlide27.xml" Id="Rc3f6d93b770c4c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c95d9ce3be4182" /><Relationship Type="http://schemas.openxmlformats.org/officeDocument/2006/relationships/image" Target="/ppt/media/image2.jpeg" Id="Rc4535ece6b3f44b5" /><Relationship Type="http://schemas.openxmlformats.org/officeDocument/2006/relationships/notesSlide" Target="/ppt/notesSlides/notesSlide28.xml" Id="Rba447b23e1454f0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0f1351c91f4136" /><Relationship Type="http://schemas.openxmlformats.org/officeDocument/2006/relationships/notesSlide" Target="/ppt/notesSlides/notesSlide29.xml" Id="Ra8881c611b724e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bfd2b4b5e24cb9" /><Relationship Type="http://schemas.openxmlformats.org/officeDocument/2006/relationships/notesSlide" Target="/ppt/notesSlides/notesSlide30.xml" Id="R037a84f6f7374a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f3ad14be4140e7" /><Relationship Type="http://schemas.openxmlformats.org/officeDocument/2006/relationships/notesSlide" Target="/ppt/notesSlides/notesSlide31.xml" Id="Rbdeb6c4fde5c4c5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abaf0b1ac5b40af" /><Relationship Type="http://schemas.openxmlformats.org/officeDocument/2006/relationships/image" Target="/ppt/media/image2.jpeg" Id="Rb57a6ab80ea14aeb" /><Relationship Type="http://schemas.openxmlformats.org/officeDocument/2006/relationships/notesSlide" Target="/ppt/notesSlides/notesSlide32.xml" Id="R48e6d24dc397497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9bbf5e0e964e71" /><Relationship Type="http://schemas.openxmlformats.org/officeDocument/2006/relationships/image" Target="/ppt/media/image2.jpeg" Id="R8e1d4974e51d4776" /><Relationship Type="http://schemas.openxmlformats.org/officeDocument/2006/relationships/notesSlide" Target="/ppt/notesSlides/notesSlide33.xml" Id="R647ba797d35e4b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08a72ab65114c16" /><Relationship Type="http://schemas.openxmlformats.org/officeDocument/2006/relationships/image" Target="/ppt/media/image11.jpeg" Id="Rc4402096e6af4696" /><Relationship Type="http://schemas.openxmlformats.org/officeDocument/2006/relationships/image" Target="/ppt/media/image12.jpeg" Id="R1b1379be44104eac" /><Relationship Type="http://schemas.openxmlformats.org/officeDocument/2006/relationships/notesSlide" Target="/ppt/notesSlides/notesSlide34.xml" Id="Rd9da24ac3a204c5d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479512572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7863" y="1261870"/>
            <a:ext cx="1371600" cy="1335024"/>
          </a:xfrm>
          <a:prstGeom xmlns:a="http://schemas.openxmlformats.org/drawingml/2006/main" prst="rect">
            <a:avLst/>
          </a:prstGeom>
        </p:spPr>
      </p:pic>
      <p:pic>
        <p:nvPicPr>
          <p:cNvPr id="12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752517771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7991" y="457198"/>
            <a:ext cx="7680959" cy="6400800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459E2DA9-6C1C-4212-B901-D9C6061D2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8092" y="2790950"/>
            <a:ext cx="2680970" cy="72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00" b="0" spc="-630">
                <a:solidFill>
                  <a:srgbClr val="007B5D"/>
                </a:solidFill>
                <a:latin typeface="Arial MT"/>
                <a:ea typeface="Arial MT"/>
                <a:cs typeface="Arial MT"/>
              </a:rPr>
              <a:t>EUROPEAN</a:t>
            </a:r>
            <a:endParaRPr sz="46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D773FC-8367-4EB2-A26B-C934F21F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" y="3250944"/>
            <a:ext cx="3114040" cy="734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50" spc="-430">
                <a:solidFill>
                  <a:srgbClr val="012A46"/>
                </a:solidFill>
                <a:latin typeface="Arial Black"/>
                <a:ea typeface="Arial Black"/>
                <a:cs typeface="Arial Black"/>
              </a:rPr>
              <a:t>MICROOFT</a:t>
            </a:r>
            <a:endParaRPr sz="4650">
              <a:latin typeface="Arial Black"/>
              <a:ea typeface="Arial Black"/>
              <a:cs typeface="Arial Black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47AEAB3-BAEC-4DA5-997A-7EC6E6C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49" y="3723638"/>
            <a:ext cx="3171190" cy="72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00" spc="-775">
                <a:solidFill>
                  <a:srgbClr val="002849"/>
                </a:solidFill>
                <a:latin typeface="Arial Black"/>
                <a:ea typeface="Arial Black"/>
                <a:cs typeface="Arial Black"/>
              </a:rPr>
              <a:t>FABRIC</a:t>
            </a:r>
            <a:r>
              <a:rPr sz="4600" spc="385">
                <a:solidFill>
                  <a:srgbClr val="002849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4600" spc="-409">
                <a:solidFill>
                  <a:srgbClr val="002A4B"/>
                </a:solidFill>
                <a:latin typeface="Arial Black"/>
                <a:ea typeface="Arial Black"/>
                <a:cs typeface="Arial Black"/>
              </a:rPr>
              <a:t>SäL</a:t>
            </a:r>
            <a:endParaRPr sz="4600">
              <a:latin typeface="Arial Black"/>
              <a:ea typeface="Arial Black"/>
              <a:cs typeface="Arial Black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1F0B516-48A3-4D9C-9D73-0756654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4" y="4257292"/>
            <a:ext cx="2885440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450" spc="-409">
                <a:solidFill>
                  <a:srgbClr val="1D1D1D"/>
                </a:solidFill>
                <a:latin typeface="Arial Black"/>
                <a:ea typeface="Arial Black"/>
                <a:cs typeface="Arial Black"/>
              </a:rPr>
              <a:t>CoitmunityConfeænce</a:t>
            </a:r>
            <a:endParaRPr sz="2450">
              <a:latin typeface="Arial Black"/>
              <a:ea typeface="Arial Black"/>
              <a:cs typeface="Arial Black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36069A9-C27A-44F8-9A50-CFC5F90F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72" y="5440171"/>
            <a:ext cx="2386330" cy="57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270"/>
              </a:lnSpc>
              <a:spcBef>
                <a:spcPts val="100"/>
              </a:spcBef>
              <a:buNone/>
            </a:pPr>
            <a:r>
              <a:rPr sz="2100" spc="-290">
                <a:solidFill>
                  <a:srgbClr val="9A933A"/>
                </a:solidFill>
                <a:latin typeface="Arial MT"/>
                <a:ea typeface="Arial MT"/>
                <a:cs typeface="Arial MT"/>
              </a:rPr>
              <a:t>BARCELONA</a:t>
            </a:r>
            <a:endParaRPr sz="2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947419">
              <a:lnSpc>
                <a:spcPts val="2090"/>
              </a:lnSpc>
              <a:buNone/>
            </a:pPr>
            <a:r>
              <a:rPr sz="1950">
                <a:solidFill>
                  <a:srgbClr val="979075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1950" spc="60">
                <a:solidFill>
                  <a:srgbClr val="97907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185">
                <a:solidFill>
                  <a:srgbClr val="908A50"/>
                </a:solidFill>
                <a:latin typeface="Arial MT"/>
                <a:ea typeface="Arial MT"/>
                <a:cs typeface="Arial MT"/>
              </a:rPr>
              <a:t>01</a:t>
            </a:r>
            <a:r>
              <a:rPr sz="1950" spc="-5">
                <a:solidFill>
                  <a:srgbClr val="908A5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295">
                <a:solidFill>
                  <a:srgbClr val="8C824B"/>
                </a:solidFill>
                <a:latin typeface="Arial MT"/>
                <a:ea typeface="Arial MT"/>
                <a:cs typeface="Arial MT"/>
              </a:rPr>
              <a:t>OCT</a:t>
            </a:r>
            <a:r>
              <a:rPr sz="1950" spc="85">
                <a:solidFill>
                  <a:srgbClr val="8C824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135">
                <a:solidFill>
                  <a:srgbClr val="8E8C1F"/>
                </a:solidFill>
                <a:latin typeface="Arial MT"/>
                <a:ea typeface="Arial MT"/>
                <a:cs typeface="Arial MT"/>
              </a:rPr>
              <a:t>2026</a:t>
            </a:r>
            <a:endParaRPr sz="195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84594250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2e1cacf154c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35686E6E-B925-44B4-9790-FE5D84A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2"/>
            <a:ext cx="12189460" cy="475615"/>
          </a:xfrm>
          <a:custGeom xmlns:a="http://schemas.openxmlformats.org/drawingml/2006/main">
            <a:rect l="l" t="t" r="r" b="b"/>
            <a:pathLst>
              <a:path w="12189460" h="475615">
                <a:moveTo>
                  <a:pt x="12188952" y="0"/>
                </a:moveTo>
                <a:lnTo>
                  <a:pt x="0" y="0"/>
                </a:lnTo>
                <a:lnTo>
                  <a:pt x="0" y="475602"/>
                </a:lnTo>
                <a:lnTo>
                  <a:pt x="12188952" y="475602"/>
                </a:lnTo>
                <a:lnTo>
                  <a:pt x="12188952" y="0"/>
                </a:lnTo>
                <a:close/>
              </a:path>
            </a:pathLst>
          </a:custGeom>
          <a:solidFill xmlns:a="http://schemas.openxmlformats.org/drawingml/2006/main">
            <a:srgbClr val="BB9F4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93A14D89-4B70-42D4-B090-8F150E7E0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7603" y="1322019"/>
            <a:ext cx="7356475" cy="2042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52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400"/>
              </a:lnSpc>
              <a:spcBef>
                <a:spcPts val="75"/>
              </a:spcBef>
              <a:buNone/>
            </a:pP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4400" spc="-5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Notebook</a:t>
            </a:r>
            <a:r>
              <a:rPr sz="4400" spc="-6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4400" spc="-8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1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Bedside: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Building</a:t>
            </a:r>
            <a:r>
              <a:rPr sz="4400" spc="-7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4400" spc="-12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4400" spc="-8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2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Risk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Prediction</a:t>
            </a:r>
            <a:r>
              <a:rPr sz="4400" spc="-9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Pipeline</a:t>
            </a:r>
            <a:r>
              <a:rPr sz="4400" spc="-7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4400" spc="-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1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Fabric</a:t>
            </a:r>
            <a:endParaRPr sz="440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A3E8E8A-F524-4D1C-A735-2079E4F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63944"/>
            <a:ext cx="498030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2000" spc="6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2000" spc="13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6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2000" spc="19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7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2000" spc="204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5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2000" spc="22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7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livestream</a:t>
            </a:r>
            <a:r>
              <a:rPr sz="2000" spc="22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5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2000" spc="25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6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session</a:t>
            </a:r>
            <a:endParaRPr sz="2000">
              <a:latin typeface="Arial MT"/>
              <a:ea typeface="Arial MT"/>
              <a:cs typeface="Arial MT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A86A18B6-BA84-491B-BC69-ABA46AD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166" y="3776090"/>
            <a:ext cx="2625725" cy="9474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390"/>
              </a:lnSpc>
              <a:spcBef>
                <a:spcPts val="120"/>
              </a:spcBef>
              <a:buNone/>
            </a:pPr>
            <a:r>
              <a:rPr sz="2000" b="1">
                <a:solidFill>
                  <a:srgbClr val="BB9F45"/>
                </a:solidFill>
                <a:latin typeface="Arial"/>
                <a:ea typeface="Arial"/>
                <a:cs typeface="Arial"/>
              </a:rPr>
              <a:t>Manu</a:t>
            </a:r>
            <a:r>
              <a:rPr sz="2000" b="1" spc="-50">
                <a:solidFill>
                  <a:srgbClr val="BB9F4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10">
                <a:solidFill>
                  <a:srgbClr val="BB9F45"/>
                </a:solidFill>
                <a:latin typeface="Arial"/>
                <a:ea typeface="Arial"/>
                <a:cs typeface="Arial"/>
              </a:rPr>
              <a:t>Huygens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ts val="2390"/>
              </a:lnSpc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Cloud</a:t>
            </a:r>
            <a:r>
              <a:rPr sz="2000" spc="-6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&amp; Data</a:t>
            </a:r>
            <a:r>
              <a:rPr sz="2000" spc="-6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Engineer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0"/>
              </a:spcBef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KPMG</a:t>
            </a:r>
            <a:r>
              <a:rPr sz="2000" spc="-6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Netherlands</a:t>
            </a:r>
            <a:endParaRPr sz="2000">
              <a:latin typeface="Arial MT"/>
              <a:ea typeface="Arial MT"/>
              <a:cs typeface="Arial MT"/>
            </a:endParaRPr>
          </a:p>
        </p:txBody>
      </p:sp>
      <p:pic>
        <p:nvPicPr>
          <p:cNvPr id="25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5e4cb840d4f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3079" y="4902377"/>
            <a:ext cx="320039" cy="329260"/>
          </a:xfrm>
          <a:prstGeom xmlns:a="http://schemas.openxmlformats.org/drawingml/2006/main" prst="rect">
            <a:avLst/>
          </a:prstGeom>
        </p:spPr>
      </p:pic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7624055-1987-47E5-99A5-2D7C962B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47" y="3742372"/>
            <a:ext cx="2209800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390"/>
              </a:lnSpc>
              <a:spcBef>
                <a:spcPts val="114"/>
              </a:spcBef>
              <a:buNone/>
            </a:pPr>
            <a:r>
              <a:rPr sz="2000" b="1">
                <a:solidFill>
                  <a:srgbClr val="BB9F45"/>
                </a:solidFill>
                <a:latin typeface="Arial"/>
                <a:ea typeface="Arial"/>
                <a:cs typeface="Arial"/>
              </a:rPr>
              <a:t>Audrius</a:t>
            </a:r>
            <a:r>
              <a:rPr sz="2000" b="1" spc="-65">
                <a:solidFill>
                  <a:srgbClr val="BB9F4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20">
                <a:solidFill>
                  <a:srgbClr val="BB9F45"/>
                </a:solidFill>
                <a:latin typeface="Arial"/>
                <a:ea typeface="Arial"/>
                <a:cs typeface="Arial"/>
              </a:rPr>
              <a:t>Šaras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ts val="2390"/>
              </a:lnSpc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AI</a:t>
            </a:r>
            <a:r>
              <a:rPr sz="2000" spc="-4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&amp;</a:t>
            </a:r>
            <a:r>
              <a:rPr sz="2000" spc="-3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Data</a:t>
            </a:r>
            <a:r>
              <a:rPr sz="2000" spc="-3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Engineer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KPMG</a:t>
            </a:r>
            <a:r>
              <a:rPr sz="2000" spc="-7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Netherlands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460375">
              <a:lnSpc>
                <a:spcPct val="100000"/>
              </a:lnSpc>
              <a:spcBef>
                <a:spcPts val="2250"/>
              </a:spcBef>
              <a:buNone/>
            </a:pPr>
            <a:r>
              <a:rPr sz="135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/sarasaudrius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pic>
        <p:nvPicPr>
          <p:cNvPr id="27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5e4cb840d4f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70448" y="4920666"/>
            <a:ext cx="329184" cy="329260"/>
          </a:xfrm>
          <a:prstGeom xmlns:a="http://schemas.openxmlformats.org/drawingml/2006/main" prst="rect">
            <a:avLst/>
          </a:prstGeom>
        </p:spPr>
      </p:pic>
      <p:pic>
        <p:nvPicPr>
          <p:cNvPr id="28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d0aec3395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98263" y="3831336"/>
            <a:ext cx="1531619" cy="1796795"/>
          </a:xfrm>
          <a:prstGeom xmlns:a="http://schemas.openxmlformats.org/drawingml/2006/main" prst="rect">
            <a:avLst/>
          </a:prstGeom>
        </p:spPr>
      </p:pic>
      <p:pic>
        <p:nvPicPr>
          <p:cNvPr id="29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0e61dff43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92608" y="3767328"/>
            <a:ext cx="1531620" cy="1796795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4EA42A1-0821-426F-8749-75486F3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745" y="4964112"/>
            <a:ext cx="93345" cy="234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35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/</a:t>
            </a:r>
            <a:endParaRPr sz="135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86121128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8cedb8053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8B78E1F5-835A-4EA8-A58E-CB434D41A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12395">
              <a:lnSpc>
                <a:spcPct val="100000"/>
              </a:lnSpc>
              <a:spcBef>
                <a:spcPts val="130"/>
              </a:spcBef>
              <a:buNone/>
            </a:pPr>
            <a:r>
              <a:rPr sz="4800" spc="-10">
                <a:latin typeface="Segoe UI"/>
                <a:ea typeface="Segoe UI"/>
                <a:cs typeface="Segoe UI"/>
              </a:rPr>
              <a:t>Agenda</a:t>
            </a:r>
            <a:endParaRPr sz="4800"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8" name="object 4"/>
          <p:cNvGraphicFramePr/>
          <p:nvPr/>
        </p:nvGraphicFramePr>
        <p:xfrm>
          <a:off xmlns:a="http://schemas.openxmlformats.org/drawingml/2006/main" x="953592" y="1468629"/>
          <a:ext xmlns:a="http://schemas.openxmlformats.org/drawingml/2006/main" cx="5141595" cy="33185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"/>
                <a:gridCol w="3959860"/>
                <a:gridCol w="547370"/>
              </a:tblGrid>
              <a:tr h="530225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01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Fabric</a:t>
                      </a:r>
                      <a:r>
                        <a:rPr sz="1550" spc="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Data</a:t>
                      </a:r>
                      <a:r>
                        <a:rPr sz="1550" spc="114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Science</a:t>
                      </a:r>
                      <a:r>
                        <a:rPr sz="1550" spc="9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&amp;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255" marB="0"/>
                </a:tc>
              </a:tr>
              <a:tr h="56515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59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02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Prediction</a:t>
                      </a:r>
                      <a:r>
                        <a:rPr sz="1550" spc="13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models</a:t>
                      </a:r>
                      <a:r>
                        <a:rPr sz="1550" spc="6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within</a:t>
                      </a:r>
                      <a:r>
                        <a:rPr sz="1550" spc="1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EU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healthcare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  <a:tr h="62992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52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03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50165" marR="269875">
                        <a:lnSpc>
                          <a:spcPct val="100800"/>
                        </a:lnSpc>
                        <a:spcBef>
                          <a:spcPts val="1110"/>
                        </a:spcBef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Case</a:t>
                      </a:r>
                      <a:r>
                        <a:rPr sz="1550" spc="10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Study: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predicting</a:t>
                      </a:r>
                      <a:r>
                        <a:rPr sz="1550" spc="7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knee</a:t>
                      </a:r>
                      <a:r>
                        <a:rPr sz="1550" spc="10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replacement outcomes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40005" marB="0"/>
                </a:tc>
              </a:tr>
              <a:tr h="53086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5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04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Governed</a:t>
                      </a:r>
                      <a:r>
                        <a:rPr sz="1550" spc="1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890" marB="0"/>
                </a:tc>
              </a:tr>
              <a:tr h="52832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05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Main</a:t>
                      </a:r>
                      <a:r>
                        <a:rPr sz="1550" spc="7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Learnings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  <a:tr h="534035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59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06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Lorem</a:t>
                      </a:r>
                      <a:r>
                        <a:rPr sz="1550" spc="6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ipsum</a:t>
                      </a:r>
                      <a:r>
                        <a:rPr sz="1550" spc="9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dolor</a:t>
                      </a:r>
                      <a:r>
                        <a:rPr sz="1550" spc="12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sit</a:t>
                      </a:r>
                      <a:r>
                        <a:rPr sz="1550" spc="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amet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523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FEBF18D-6ED1-430D-AD72-E6FDBD4D2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460" y="2357831"/>
            <a:ext cx="9055100" cy="1421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Fabric</a:t>
            </a:r>
            <a:r>
              <a:rPr sz="4800" spc="-80"/>
              <a:t> </a:t>
            </a:r>
            <a:r>
              <a:rPr sz="4800"/>
              <a:t>Data</a:t>
            </a:r>
            <a:r>
              <a:rPr sz="4800" spc="-65"/>
              <a:t> </a:t>
            </a:r>
            <a:r>
              <a:rPr sz="4800"/>
              <a:t>Science</a:t>
            </a:r>
            <a:r>
              <a:rPr sz="4800" spc="-65"/>
              <a:t> </a:t>
            </a:r>
            <a:r>
              <a:rPr sz="4800"/>
              <a:t>&amp;</a:t>
            </a:r>
            <a:r>
              <a:rPr sz="4800" spc="-70"/>
              <a:t> </a:t>
            </a:r>
            <a:r>
              <a:rPr sz="4800" spc="-10"/>
              <a:t>Machine Learning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790066671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dabe353d1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4CD09F3-925F-4F19-9518-FBDF6035B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6293" rIns="0" bIns="0">
            <a:spAutoFit/>
          </a:bodyPr>
          <a:lstStyle xmlns:a="http://schemas.openxmlformats.org/drawingml/2006/main"/>
          <a:p xmlns:a="http://schemas.openxmlformats.org/drawingml/2006/main">
            <a:pPr marL="13970">
              <a:lnSpc>
                <a:spcPct val="100000"/>
              </a:lnSpc>
              <a:spcBef>
                <a:spcPts val="130"/>
              </a:spcBef>
              <a:buNone/>
            </a:pP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ML</a:t>
            </a:r>
            <a:r>
              <a:rPr sz="4800" spc="-8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as</a:t>
            </a:r>
            <a:r>
              <a:rPr sz="4800" spc="-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4800" spc="-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subset</a:t>
            </a:r>
            <a:r>
              <a:rPr sz="4800" spc="-6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4800" spc="-3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 spc="-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AI</a:t>
            </a:r>
            <a:endParaRPr sz="4800">
              <a:latin typeface="Segoe UI"/>
              <a:ea typeface="Segoe UI"/>
              <a:cs typeface="Segoe UI"/>
            </a:endParaRP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b9fdd7b07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2767" y="1820062"/>
            <a:ext cx="9281160" cy="38963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82574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7964c090740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0735" y="6352032"/>
            <a:ext cx="9345167" cy="505968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0fd2a61a4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544" y="2356104"/>
            <a:ext cx="10091928" cy="2886455"/>
          </a:xfrm>
          <a:prstGeom xmlns:a="http://schemas.openxmlformats.org/drawingml/2006/main" prst="rect">
            <a:avLst/>
          </a:prstGeom>
        </p:spPr>
      </p:pic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dca9a576d40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6672" y="1609344"/>
            <a:ext cx="615696" cy="627887"/>
          </a:xfrm>
          <a:prstGeom xmlns:a="http://schemas.openxmlformats.org/drawingml/2006/main" prst="rect">
            <a:avLst/>
          </a:prstGeom>
        </p:spPr>
      </p:pic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bd6775ced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3664" y="1618488"/>
            <a:ext cx="551688" cy="554736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d02345af84c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0656" y="1609344"/>
            <a:ext cx="615696" cy="627887"/>
          </a:xfrm>
          <a:prstGeom xmlns:a="http://schemas.openxmlformats.org/drawingml/2006/main" prst="rect">
            <a:avLst/>
          </a:prstGeom>
        </p:spPr>
      </p:pic>
      <p:pic>
        <p:nvPicPr>
          <p:cNvPr id="25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bd28128a7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8431" y="6711696"/>
            <a:ext cx="143256" cy="60960"/>
          </a:xfrm>
          <a:prstGeom xmlns:a="http://schemas.openxmlformats.org/drawingml/2006/main" prst="rect">
            <a:avLst/>
          </a:prstGeom>
        </p:spPr>
      </p:pic>
      <p:pic>
        <p:nvPicPr>
          <p:cNvPr id="26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14460a10240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1647" y="6428232"/>
            <a:ext cx="350520" cy="283464"/>
          </a:xfrm>
          <a:prstGeom xmlns:a="http://schemas.openxmlformats.org/drawingml/2006/main" prst="rect">
            <a:avLst/>
          </a:prstGeom>
        </p:spPr>
      </p:pic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918EC67-B256-42F6-B7FC-E3A540D5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5820" rIns="0" bIns="0">
            <a:spAutoFit/>
          </a:bodyPr>
          <a:lstStyle xmlns:a="http://schemas.openxmlformats.org/drawingml/2006/main"/>
          <a:p xmlns:a="http://schemas.openxmlformats.org/drawingml/2006/main">
            <a:pPr marL="104139">
              <a:lnSpc>
                <a:spcPct val="100000"/>
              </a:lnSpc>
              <a:spcBef>
                <a:spcPts val="100"/>
              </a:spcBef>
              <a:buNone/>
            </a:pPr>
            <a:r>
              <a:rPr sz="3700" b="0" spc="-81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The</a:t>
            </a:r>
            <a:r>
              <a:rPr sz="3700" b="0" spc="-17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73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data</a:t>
            </a:r>
            <a:r>
              <a:rPr sz="3700" b="0" spc="-3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819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science</a:t>
            </a:r>
            <a:r>
              <a:rPr sz="3700" b="0" spc="2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79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process</a:t>
            </a:r>
            <a:endParaRPr sz="3700">
              <a:latin typeface="Arial Black"/>
              <a:ea typeface="Arial Black"/>
              <a:cs typeface="Arial Black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232269C5-E330-480E-B2C2-6B94882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2" y="6366002"/>
            <a:ext cx="1995170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385"/>
              </a:lnSpc>
              <a:spcBef>
                <a:spcPts val="100"/>
              </a:spcBef>
              <a:buNone/>
            </a:pPr>
            <a:r>
              <a:rPr sz="1350" spc="-275">
                <a:solidFill>
                  <a:srgbClr val="599990"/>
                </a:solidFill>
                <a:latin typeface="Arial Black"/>
                <a:ea typeface="Arial Black"/>
                <a:cs typeface="Arial Black"/>
              </a:rPr>
              <a:t>EUROPEAN</a:t>
            </a:r>
            <a:endParaRPr sz="1350">
              <a:latin typeface="Arial Black"/>
              <a:ea typeface="Arial Black"/>
              <a:cs typeface="Arial Black"/>
            </a:endParaRPr>
          </a:p>
          <a:p xmlns:a="http://schemas.openxmlformats.org/drawingml/2006/main">
            <a:pPr marL="12700">
              <a:lnSpc>
                <a:spcPts val="1385"/>
              </a:lnSpc>
              <a:buNone/>
            </a:pPr>
            <a:r>
              <a:rPr sz="1350" spc="-180">
                <a:solidFill>
                  <a:srgbClr val="012D4F"/>
                </a:solidFill>
                <a:latin typeface="Arial Black"/>
                <a:ea typeface="Arial Black"/>
                <a:cs typeface="Arial Black"/>
              </a:rPr>
              <a:t>MICROSOFT</a:t>
            </a:r>
            <a:r>
              <a:rPr sz="1350" spc="-155">
                <a:solidFill>
                  <a:srgbClr val="012D4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350" spc="-180">
                <a:solidFill>
                  <a:srgbClr val="052B42"/>
                </a:solidFill>
                <a:latin typeface="Arial Black"/>
                <a:ea typeface="Arial Black"/>
                <a:cs typeface="Arial Black"/>
              </a:rPr>
              <a:t>FABRIC</a:t>
            </a:r>
            <a:r>
              <a:rPr sz="1350" spc="125">
                <a:solidFill>
                  <a:srgbClr val="052B42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350" spc="-90">
                <a:solidFill>
                  <a:srgbClr val="002A44"/>
                </a:solidFill>
                <a:latin typeface="Arial Black"/>
                <a:ea typeface="Arial Black"/>
                <a:cs typeface="Arial Black"/>
              </a:rPr>
              <a:t>SQL</a:t>
            </a:r>
            <a:endParaRPr sz="1350">
              <a:latin typeface="Arial Black"/>
              <a:ea typeface="Arial Black"/>
              <a:cs typeface="Arial Black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3BFF938-82A5-462F-96E0-C99ABF2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09" y="6671056"/>
            <a:ext cx="896619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spc="-13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Community</a:t>
            </a:r>
            <a:r>
              <a:rPr sz="700" spc="1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700" spc="-95">
                <a:solidFill>
                  <a:srgbClr val="0C0C0C"/>
                </a:solidFill>
                <a:latin typeface="Arial Black"/>
                <a:ea typeface="Arial Black"/>
                <a:cs typeface="Arial Black"/>
              </a:rPr>
              <a:t>Conference</a:t>
            </a:r>
            <a:endParaRPr sz="700">
              <a:latin typeface="Arial Black"/>
              <a:ea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709135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9D16F51-91E1-4FB2-857D-8D892E64E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2199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>
                <a:solidFill>
                  <a:srgbClr val="003E34"/>
                </a:solidFill>
              </a:rPr>
              <a:t>Microsoft</a:t>
            </a:r>
            <a:r>
              <a:rPr spc="2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Fabric</a:t>
            </a:r>
            <a:r>
              <a:rPr spc="4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as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platform</a:t>
            </a:r>
            <a:r>
              <a:rPr spc="6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for</a:t>
            </a:r>
            <a:r>
              <a:rPr spc="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Data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Science</a:t>
            </a:r>
          </a:p>
        </p:txBody>
      </p:sp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8c18765c14a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0453" y="1847595"/>
            <a:ext cx="3935476" cy="2919348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1D4EF8AD-9704-4A55-9FFA-F4D73372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169" y="2108139"/>
            <a:ext cx="278765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GOV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4507B2C-A44F-4F72-A1FF-E020A8B2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767" y="2108139"/>
            <a:ext cx="242570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E2E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0E1AE34-6856-487E-8309-A6BA05C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834" y="3205419"/>
            <a:ext cx="415925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0">
                <a:solidFill>
                  <a:srgbClr val="126C5A"/>
                </a:solidFill>
                <a:latin typeface="Arial"/>
                <a:ea typeface="Arial"/>
                <a:cs typeface="Arial"/>
              </a:rPr>
              <a:t>SCALE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D2B3E1E-C97B-4DBB-80F3-1E49CE1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363" y="4389627"/>
            <a:ext cx="352425" cy="13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 spc="-10">
                <a:solidFill>
                  <a:srgbClr val="126C5A"/>
                </a:solidFill>
                <a:latin typeface="Arial"/>
                <a:ea typeface="Arial"/>
                <a:cs typeface="Arial"/>
              </a:rPr>
              <a:t>MLflow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23246A1-8DE5-44A9-952B-7FE7535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223" y="4398771"/>
            <a:ext cx="374015" cy="13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>
                <a:solidFill>
                  <a:srgbClr val="126C5A"/>
                </a:solidFill>
                <a:latin typeface="Arial"/>
                <a:ea typeface="Arial"/>
                <a:cs typeface="Arial"/>
              </a:rPr>
              <a:t>Auto</a:t>
            </a:r>
            <a:r>
              <a:rPr sz="700" b="1" spc="-80">
                <a:solidFill>
                  <a:srgbClr val="126C5A"/>
                </a:solidFill>
                <a:latin typeface="Arial"/>
                <a:ea typeface="Arial"/>
                <a:cs typeface="Arial"/>
              </a:rPr>
              <a:t> </a:t>
            </a:r>
            <a:r>
              <a:rPr sz="7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ML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A22AD6C-873E-4C81-ACCA-2CB7D44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673" y="3208466"/>
            <a:ext cx="113030" cy="135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AI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14449BC-25C9-46AF-A1B3-65EABD5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08" y="1828669"/>
            <a:ext cx="231521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27813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Governance</a:t>
            </a:r>
            <a:r>
              <a:rPr sz="1200" b="1" spc="19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&amp;</a:t>
            </a:r>
            <a:r>
              <a:rPr sz="1200" b="1" spc="12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Compliance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R="5080" algn="r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Role-based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access,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lineage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versioning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7620" algn="r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900" spc="1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</a:t>
            </a:r>
            <a:r>
              <a:rPr sz="900" spc="1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secure,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auditable</a:t>
            </a:r>
            <a:r>
              <a:rPr sz="900" spc="1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5715" algn="r">
              <a:lnSpc>
                <a:spcPct val="100000"/>
              </a:lnSpc>
              <a:spcBef>
                <a:spcPts val="5"/>
              </a:spcBef>
              <a:buNone/>
            </a:pP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compliant.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00E0E90D-4AE6-4CDF-A4FA-1B010F22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315" y="1828669"/>
            <a:ext cx="2120900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200" b="1" spc="22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Unification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One</a:t>
            </a:r>
            <a:r>
              <a:rPr sz="900" spc="6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platform</a:t>
            </a:r>
            <a:r>
              <a:rPr sz="900" spc="114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900" spc="1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ingestion,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preparation,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70"/>
              </a:spcBef>
              <a:buNone/>
            </a:pP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training,</a:t>
            </a:r>
            <a:r>
              <a:rPr sz="900" spc="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deployment</a:t>
            </a:r>
            <a:r>
              <a:rPr sz="900" spc="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9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visualization.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B0157A5-2E9C-4E3A-A296-1D28D86C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964" y="2953592"/>
            <a:ext cx="146177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Scalability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marR="5080" algn="just">
              <a:lnSpc>
                <a:spcPct val="103400"/>
              </a:lnSpc>
              <a:spcBef>
                <a:spcPts val="335"/>
              </a:spcBef>
              <a:buNone/>
            </a:pP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Distributed</a:t>
            </a:r>
            <a:r>
              <a:rPr sz="900" spc="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Spark</a:t>
            </a:r>
            <a:r>
              <a:rPr sz="900" spc="9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compute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handles</a:t>
            </a:r>
            <a:r>
              <a:rPr sz="900" spc="19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large</a:t>
            </a:r>
            <a:r>
              <a:rPr sz="900" spc="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datasets</a:t>
            </a:r>
            <a:r>
              <a:rPr sz="900" spc="19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complex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ML</a:t>
            </a:r>
            <a:r>
              <a:rPr sz="900" spc="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62D7C0D-C39A-45E9-8EAB-2ED96EE4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33" y="4006846"/>
            <a:ext cx="2672080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MLflow</a:t>
            </a:r>
            <a:r>
              <a:rPr sz="1200" b="1" spc="13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integration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Autolog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runs,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metrics</a:t>
            </a:r>
            <a:r>
              <a:rPr sz="900" spc="10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parameters</a:t>
            </a:r>
            <a:r>
              <a:rPr sz="900" spc="1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compare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</a:t>
            </a:r>
            <a:r>
              <a:rPr sz="900" spc="114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experiments</a:t>
            </a:r>
            <a:r>
              <a:rPr sz="900" spc="2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900" spc="10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tracking.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F51748E-7F5E-4270-B81C-E4CC328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79" y="4006846"/>
            <a:ext cx="2468245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02743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AutoML</a:t>
            </a:r>
            <a:r>
              <a:rPr sz="1200" b="1" spc="18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(low-</a:t>
            </a:r>
            <a:r>
              <a:rPr sz="1200" b="1" spc="-20">
                <a:solidFill>
                  <a:srgbClr val="232323"/>
                </a:solidFill>
                <a:latin typeface="Arial"/>
                <a:ea typeface="Arial"/>
                <a:cs typeface="Arial"/>
              </a:rPr>
              <a:t>code)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R="13970" algn="r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900" spc="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ML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tasks</a:t>
            </a:r>
            <a:r>
              <a:rPr sz="900" spc="1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quickly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Fabric</a:t>
            </a:r>
            <a:r>
              <a:rPr sz="900" spc="6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automates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13970" algn="r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much</a:t>
            </a:r>
            <a:r>
              <a:rPr sz="900" spc="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900" spc="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900" spc="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workflow.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DBDC67EE-C5AB-4DB6-82C7-91F4E8F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55" y="2882299"/>
            <a:ext cx="1892935" cy="735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0" rIns="0" bIns="0">
            <a:spAutoFit/>
          </a:bodyPr>
          <a:lstStyle xmlns:a="http://schemas.openxmlformats.org/drawingml/2006/main"/>
          <a:p xmlns:a="http://schemas.openxmlformats.org/drawingml/2006/main">
            <a:pPr marL="421005">
              <a:lnSpc>
                <a:spcPct val="100000"/>
              </a:lnSpc>
              <a:spcBef>
                <a:spcPts val="55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AI-powered</a:t>
            </a:r>
            <a:r>
              <a:rPr sz="1200" b="1" spc="204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Copilot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407670" marR="5080" indent="-395605" algn="r">
              <a:lnSpc>
                <a:spcPct val="106900"/>
              </a:lnSpc>
              <a:spcBef>
                <a:spcPts val="30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Accelerates</a:t>
            </a:r>
            <a:r>
              <a:rPr sz="900" spc="14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data-science</a:t>
            </a:r>
            <a:r>
              <a:rPr sz="900" spc="1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900" spc="26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900" spc="1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common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tasks</a:t>
            </a:r>
            <a:r>
              <a:rPr sz="900" spc="2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more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12700" algn="r">
              <a:lnSpc>
                <a:spcPct val="100000"/>
              </a:lnSpc>
              <a:buNone/>
            </a:pP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accessible.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361F06E-24AB-4479-9F5B-3C77326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948" y="2720788"/>
            <a:ext cx="1654175" cy="1026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985" rIns="0" bIns="0">
            <a:spAutoFit/>
          </a:bodyPr>
          <a:lstStyle xmlns:a="http://schemas.openxmlformats.org/drawingml/2006/main"/>
          <a:p xmlns:a="http://schemas.openxmlformats.org/drawingml/2006/main">
            <a:pPr marL="79375">
              <a:lnSpc>
                <a:spcPct val="100000"/>
              </a:lnSpc>
              <a:spcBef>
                <a:spcPts val="1055"/>
              </a:spcBef>
              <a:buNone/>
            </a:pPr>
            <a:r>
              <a:rPr sz="2000" b="1">
                <a:solidFill>
                  <a:srgbClr val="1BB79A"/>
                </a:solidFill>
                <a:latin typeface="Arial"/>
                <a:ea typeface="Arial"/>
                <a:cs typeface="Arial"/>
              </a:rPr>
              <a:t>Fabric</a:t>
            </a:r>
            <a:r>
              <a:rPr sz="2000" b="1" spc="-20">
                <a:solidFill>
                  <a:srgbClr val="1BB79A"/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1">
                <a:solidFill>
                  <a:srgbClr val="1863B4"/>
                </a:solidFill>
                <a:latin typeface="Arial"/>
                <a:ea typeface="Arial"/>
                <a:cs typeface="Arial"/>
              </a:rPr>
              <a:t>+</a:t>
            </a:r>
            <a:r>
              <a:rPr sz="2000" b="1" spc="475">
                <a:solidFill>
                  <a:srgbClr val="1863B4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25">
                <a:solidFill>
                  <a:srgbClr val="1863B4"/>
                </a:solidFill>
                <a:latin typeface="Arial"/>
                <a:ea typeface="Arial"/>
                <a:cs typeface="Arial"/>
              </a:rPr>
              <a:t>ML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marR="50800" indent="40005">
              <a:lnSpc>
                <a:spcPct val="100800"/>
              </a:lnSpc>
              <a:spcBef>
                <a:spcPts val="765"/>
              </a:spcBef>
              <a:buNone/>
            </a:pP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Data</a:t>
            </a:r>
            <a:r>
              <a:rPr sz="1550" b="1" spc="10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Science</a:t>
            </a:r>
            <a:r>
              <a:rPr sz="1550" b="1" spc="11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 spc="-25">
                <a:solidFill>
                  <a:srgbClr val="232323"/>
                </a:solidFill>
                <a:latin typeface="Arial"/>
                <a:ea typeface="Arial"/>
                <a:cs typeface="Arial"/>
              </a:rPr>
              <a:t>in </a:t>
            </a: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Microsoft</a:t>
            </a:r>
            <a:r>
              <a:rPr sz="1550" b="1" spc="18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Fabric</a:t>
            </a:r>
            <a:endParaRPr sz="1550">
              <a:latin typeface="Arial"/>
              <a:ea typeface="Arial"/>
              <a:cs typeface="Arial"/>
            </a:endParaRPr>
          </a:p>
        </p:txBody>
      </p:sp>
      <p:pic>
        <p:nvPicPr>
          <p:cNvPr id="35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fe944c1e045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96711" y="2588437"/>
            <a:ext cx="301751" cy="301828"/>
          </a:xfrm>
          <a:prstGeom xmlns:a="http://schemas.openxmlformats.org/drawingml/2006/main" prst="rect">
            <a:avLst/>
          </a:prstGeom>
        </p:spPr>
      </p:pic>
      <p:pic>
        <p:nvPicPr>
          <p:cNvPr id="36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d2e2fda3340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583679" y="2597581"/>
            <a:ext cx="301751" cy="3018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68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94F9F56F-1A7F-46FE-A82B-3328AE1B0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460" y="2357831"/>
            <a:ext cx="5996305" cy="1421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Prediction</a:t>
            </a:r>
            <a:r>
              <a:rPr sz="4800" spc="-140"/>
              <a:t> </a:t>
            </a:r>
            <a:r>
              <a:rPr sz="4800"/>
              <a:t>Models</a:t>
            </a:r>
            <a:r>
              <a:rPr sz="4800" spc="-140"/>
              <a:t> </a:t>
            </a:r>
            <a:r>
              <a:rPr sz="4800" spc="-25"/>
              <a:t>in </a:t>
            </a:r>
            <a:r>
              <a:rPr sz="4800" spc="-10"/>
              <a:t>Healthcare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1253276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B1473F7-D1E2-49A3-A2DF-807413B87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1067" y="272923"/>
            <a:ext cx="8949055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AI</a:t>
            </a:r>
            <a:r>
              <a:rPr spc="9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pc="6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ML</a:t>
            </a:r>
            <a:r>
              <a:rPr spc="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being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embedded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pc="1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pc="1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healthcare systems</a:t>
            </a:r>
          </a:p>
        </p:txBody>
      </p:sp>
      <p:pic>
        <p:nvPicPr>
          <p:cNvPr id="1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e5df4b4ab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5976" y="1996313"/>
            <a:ext cx="5992368" cy="3874135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B73A0299-1824-4923-BEB0-9F3B9A0A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940" y="1931270"/>
            <a:ext cx="1086485" cy="1306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87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10"/>
              </a:spcBef>
              <a:buNone/>
            </a:pPr>
            <a:r>
              <a:rPr sz="4400" spc="-25">
                <a:solidFill>
                  <a:srgbClr val="00338D"/>
                </a:solidFill>
                <a:latin typeface="Segoe UI"/>
                <a:ea typeface="Segoe UI"/>
                <a:cs typeface="Segoe UI"/>
              </a:rPr>
              <a:t>48%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97790">
              <a:lnSpc>
                <a:spcPct val="100000"/>
              </a:lnSpc>
              <a:spcBef>
                <a:spcPts val="775"/>
              </a:spcBef>
              <a:buNone/>
            </a:pPr>
            <a:r>
              <a:rPr sz="1350" b="1" spc="-10">
                <a:solidFill>
                  <a:srgbClr val="00338D"/>
                </a:solidFill>
                <a:latin typeface="Segoe UI"/>
                <a:ea typeface="Segoe UI"/>
                <a:cs typeface="Segoe UI"/>
              </a:rPr>
              <a:t>Radiology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8254D7A-D945-4077-BC58-7A1E55B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365" y="4073045"/>
            <a:ext cx="1087755" cy="115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40029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889"/>
              </a:spcBef>
              <a:buNone/>
            </a:pPr>
            <a:r>
              <a:rPr sz="4400" spc="-25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74%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62230">
              <a:lnSpc>
                <a:spcPct val="100000"/>
              </a:lnSpc>
              <a:spcBef>
                <a:spcPts val="475"/>
              </a:spcBef>
              <a:buNone/>
            </a:pPr>
            <a:r>
              <a:rPr sz="1150" b="1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z="1150" b="1" spc="-55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50" b="1" spc="-10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countries</a:t>
            </a:r>
            <a:endParaRPr sz="115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5AED201-C1C6-4323-B974-7BE6CEA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960" y="2956729"/>
            <a:ext cx="1089660" cy="11830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3195" rIns="0" bIns="0">
            <a:spAutoFit/>
          </a:bodyPr>
          <a:lstStyle xmlns:a="http://schemas.openxmlformats.org/drawingml/2006/main"/>
          <a:p xmlns:a="http://schemas.openxmlformats.org/drawingml/2006/main">
            <a:pPr marL="14604">
              <a:lnSpc>
                <a:spcPct val="100000"/>
              </a:lnSpc>
              <a:spcBef>
                <a:spcPts val="1285"/>
              </a:spcBef>
              <a:buNone/>
            </a:pPr>
            <a:r>
              <a:rPr sz="4400" spc="-25">
                <a:solidFill>
                  <a:srgbClr val="4471C4"/>
                </a:solidFill>
                <a:latin typeface="Segoe UI"/>
                <a:ea typeface="Segoe UI"/>
                <a:cs typeface="Segoe UI"/>
              </a:rPr>
              <a:t>94%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484"/>
              </a:spcBef>
              <a:buNone/>
            </a:pPr>
            <a:r>
              <a:rPr sz="1800" b="1" spc="-10">
                <a:solidFill>
                  <a:srgbClr val="4471C4"/>
                </a:solidFill>
                <a:latin typeface="Segoe UI"/>
                <a:ea typeface="Segoe UI"/>
                <a:cs typeface="Segoe UI"/>
              </a:rPr>
              <a:t>Providers</a:t>
            </a:r>
            <a:endParaRPr sz="1800">
              <a:latin typeface="Segoe UI"/>
              <a:ea typeface="Segoe UI"/>
              <a:cs typeface="Segoe UI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F95C1BF-2C5C-49F2-AF19-A35750F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41" y="1876192"/>
            <a:ext cx="2069464" cy="122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85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5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Provider</a:t>
            </a:r>
            <a:r>
              <a:rPr sz="1500" b="1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pipeline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00099"/>
              </a:lnSpc>
              <a:spcBef>
                <a:spcPts val="63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94%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surveyed</a:t>
            </a:r>
            <a:r>
              <a:rPr sz="1300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healthcare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providers</a:t>
            </a:r>
            <a:r>
              <a:rPr sz="1300" spc="-5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already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</a:t>
            </a:r>
            <a:r>
              <a:rPr sz="1300" spc="-5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solutions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plan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to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adopt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them.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CC0BF8-6E78-4B82-9458-143C9213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4047194"/>
            <a:ext cx="2171065" cy="102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79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0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Diagnostics</a:t>
            </a:r>
            <a:r>
              <a:rPr sz="1500" b="1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spread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99400"/>
              </a:lnSpc>
              <a:spcBef>
                <a:spcPts val="64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Nearly</a:t>
            </a:r>
            <a:r>
              <a:rPr sz="1300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300" spc="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4</a:t>
            </a:r>
            <a:r>
              <a:rPr sz="1300" spc="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countries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report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AI-assisted</a:t>
            </a:r>
            <a:r>
              <a:rPr sz="1300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diagnostics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300" spc="-3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settings.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78C7BE7-F144-4605-9C9D-C2F536CD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1876192"/>
            <a:ext cx="2041525" cy="122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85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5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Radiology</a:t>
            </a:r>
            <a:r>
              <a:rPr sz="1500" b="1" spc="-5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reality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00099"/>
              </a:lnSpc>
              <a:spcBef>
                <a:spcPts val="63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48%</a:t>
            </a:r>
            <a:r>
              <a:rPr sz="1300" spc="-4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572</a:t>
            </a:r>
            <a:r>
              <a:rPr sz="1300" spc="-3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European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radiology</a:t>
            </a:r>
            <a:r>
              <a:rPr sz="1300" spc="-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respondents</a:t>
            </a:r>
            <a:r>
              <a:rPr sz="1300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used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AI;</a:t>
            </a:r>
            <a:r>
              <a:rPr sz="1300" spc="-1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another</a:t>
            </a:r>
            <a:r>
              <a:rPr sz="1300" spc="-4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25%</a:t>
            </a:r>
            <a:r>
              <a:rPr sz="1300" spc="-7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planned adoption.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2E941DC-9C03-4E93-BCA8-28262313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5902518"/>
            <a:ext cx="7917815" cy="282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Measurement caveat: no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harmonized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EU</a:t>
            </a:r>
            <a:r>
              <a:rPr sz="900" i="1" spc="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hospital-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level</a:t>
            </a:r>
            <a:r>
              <a:rPr sz="900" i="1" spc="-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adoption</a:t>
            </a:r>
            <a:r>
              <a:rPr sz="900" i="1" spc="-1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ranking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exists; these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indicators</a:t>
            </a:r>
            <a:r>
              <a:rPr sz="900" i="1" spc="-6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use</a:t>
            </a:r>
            <a:r>
              <a:rPr sz="900" i="1" spc="3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different</a:t>
            </a:r>
            <a:r>
              <a:rPr sz="900" i="1" spc="-7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denominators</a:t>
            </a:r>
            <a:r>
              <a:rPr sz="900" i="1" spc="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and</a:t>
            </a:r>
            <a:r>
              <a:rPr sz="900" i="1" spc="-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are</a:t>
            </a:r>
            <a:r>
              <a:rPr sz="900" i="1" spc="3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not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 directly</a:t>
            </a:r>
            <a:r>
              <a:rPr sz="900" i="1" spc="-6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comparable.</a:t>
            </a:r>
            <a:endParaRPr sz="9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60"/>
              </a:spcBef>
              <a:buNone/>
            </a:pP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Sources: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WHO/Europe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EU</a:t>
            </a:r>
            <a:r>
              <a:rPr sz="700" spc="3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readiness</a:t>
            </a:r>
            <a:r>
              <a:rPr sz="700" spc="5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survey</a:t>
            </a:r>
            <a:r>
              <a:rPr sz="700" spc="10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(2024–25);</a:t>
            </a:r>
            <a:r>
              <a:rPr sz="700" spc="10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European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Commission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Digital</a:t>
            </a:r>
            <a:r>
              <a:rPr sz="700" spc="3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Health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Observ</a:t>
            </a:r>
            <a:r>
              <a:rPr sz="700" spc="-114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atory</a:t>
            </a:r>
            <a:r>
              <a:rPr sz="700" spc="14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(2026);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Zanardo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et</a:t>
            </a:r>
            <a:r>
              <a:rPr sz="700" spc="-1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al.,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Insights</a:t>
            </a:r>
            <a:r>
              <a:rPr sz="700" spc="6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Imaging </a:t>
            </a:r>
            <a:r>
              <a:rPr sz="700" spc="-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(2024).</a:t>
            </a:r>
            <a:endParaRPr sz="7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918208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BBCEA56-8256-40DD-94BB-652E6481A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1067" y="272923"/>
            <a:ext cx="10433685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</a:rPr>
              <a:t>However,</a:t>
            </a:r>
            <a:r>
              <a:rPr spc="-3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EU</a:t>
            </a:r>
            <a:r>
              <a:rPr spc="2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rules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turn</a:t>
            </a:r>
            <a:r>
              <a:rPr spc="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healthcare</a:t>
            </a:r>
            <a:r>
              <a:rPr spc="3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ML</a:t>
            </a:r>
            <a:r>
              <a:rPr spc="1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into</a:t>
            </a:r>
            <a:r>
              <a:rPr spc="8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governed </a:t>
            </a:r>
            <a:r>
              <a:rPr>
                <a:solidFill>
                  <a:srgbClr val="003E34"/>
                </a:solidFill>
              </a:rPr>
              <a:t>clinical</a:t>
            </a:r>
            <a:r>
              <a:rPr spc="80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process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FB847A01-284C-4D1B-90D7-34E7686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0831" y="1637157"/>
            <a:ext cx="320040" cy="3924300"/>
          </a:xfrm>
          <a:custGeom xmlns:a="http://schemas.openxmlformats.org/drawingml/2006/main">
            <a:rect l="l" t="t" r="r" b="b"/>
            <a:pathLst>
              <a:path w="320039" h="3924300">
                <a:moveTo>
                  <a:pt x="320039" y="0"/>
                </a:moveTo>
                <a:lnTo>
                  <a:pt x="0" y="211454"/>
                </a:lnTo>
                <a:lnTo>
                  <a:pt x="0" y="3712336"/>
                </a:lnTo>
                <a:lnTo>
                  <a:pt x="320039" y="3923791"/>
                </a:lnTo>
                <a:lnTo>
                  <a:pt x="320039" y="0"/>
                </a:lnTo>
                <a:close/>
              </a:path>
            </a:pathLst>
          </a:custGeom>
          <a:solidFill xmlns:a="http://schemas.openxmlformats.org/drawingml/2006/main">
            <a:srgbClr val="00B8F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EDDB5D6-59CB-4B2B-9797-C453907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8080" y="1399413"/>
            <a:ext cx="502920" cy="4399915"/>
          </a:xfrm>
          <a:custGeom xmlns:a="http://schemas.openxmlformats.org/drawingml/2006/main">
            <a:rect l="l" t="t" r="r" b="b"/>
            <a:pathLst>
              <a:path w="502920" h="4399915">
                <a:moveTo>
                  <a:pt x="502920" y="0"/>
                </a:moveTo>
                <a:lnTo>
                  <a:pt x="0" y="235076"/>
                </a:lnTo>
                <a:lnTo>
                  <a:pt x="0" y="4164329"/>
                </a:lnTo>
                <a:lnTo>
                  <a:pt x="502920" y="4399330"/>
                </a:lnTo>
                <a:lnTo>
                  <a:pt x="502920" y="0"/>
                </a:lnTo>
                <a:close/>
              </a:path>
            </a:pathLst>
          </a:custGeom>
          <a:solidFill xmlns:a="http://schemas.openxmlformats.org/drawingml/2006/main">
            <a:srgbClr val="1F49E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3E6D1F2-C8AF-4DB3-A2E1-46F93FBF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696" y="1847596"/>
            <a:ext cx="3374390" cy="3512185"/>
          </a:xfrm>
          <a:custGeom xmlns:a="http://schemas.openxmlformats.org/drawingml/2006/main">
            <a:rect l="l" t="t" r="r" b="b"/>
            <a:pathLst>
              <a:path w="3374390" h="3512185">
                <a:moveTo>
                  <a:pt x="3374136" y="0"/>
                </a:moveTo>
                <a:lnTo>
                  <a:pt x="0" y="0"/>
                </a:lnTo>
                <a:lnTo>
                  <a:pt x="0" y="3512184"/>
                </a:lnTo>
                <a:lnTo>
                  <a:pt x="3374136" y="3512184"/>
                </a:lnTo>
                <a:lnTo>
                  <a:pt x="3374136" y="0"/>
                </a:lnTo>
                <a:close/>
              </a:path>
            </a:pathLst>
          </a:custGeom>
          <a:solidFill xmlns:a="http://schemas.openxmlformats.org/drawingml/2006/main">
            <a:srgbClr val="4471C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AC5457C9-0DC3-48B6-91C5-479C7FCF9DF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366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80"/>
              </a:spcBef>
              <a:buNone/>
            </a:p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EU</a:t>
            </a:r>
            <a:r>
              <a:rPr spc="5"/>
              <a:t> </a:t>
            </a:r>
            <a:r>
              <a:t>AI</a:t>
            </a:r>
            <a:r>
              <a:rPr spc="-30"/>
              <a:t> </a:t>
            </a:r>
            <a:r>
              <a:rPr spc="-25"/>
              <a:t>Act</a:t>
            </a:r>
          </a:p>
          <a:p xmlns:a="http://schemas.openxmlformats.org/drawingml/2006/main">
            <a:pPr marL="700405" marR="290195">
              <a:lnSpc>
                <a:spcPct val="111200"/>
              </a:lnSpc>
              <a:spcBef>
                <a:spcPts val="295"/>
              </a:spcBef>
              <a:buNone/>
            </a:pPr>
            <a:r>
              <a:rPr sz="1000" b="0" spc="-10">
                <a:latin typeface="Segoe UI"/>
                <a:ea typeface="Segoe UI"/>
                <a:cs typeface="Segoe UI"/>
              </a:rPr>
              <a:t>High-</a:t>
            </a:r>
            <a:r>
              <a:rPr sz="1000" b="0">
                <a:latin typeface="Segoe UI"/>
                <a:ea typeface="Segoe UI"/>
                <a:cs typeface="Segoe UI"/>
              </a:rPr>
              <a:t>risk</a:t>
            </a:r>
            <a:r>
              <a:rPr sz="1000" b="0" spc="-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clinical</a:t>
            </a:r>
            <a:r>
              <a:rPr sz="1000" b="0" spc="3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decision </a:t>
            </a:r>
            <a:r>
              <a:rPr sz="1000" b="0" spc="-10">
                <a:latin typeface="Segoe UI"/>
                <a:ea typeface="Segoe UI"/>
                <a:cs typeface="Segoe UI"/>
              </a:rPr>
              <a:t>support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requires </a:t>
            </a:r>
            <a:r>
              <a:rPr sz="1000" b="0">
                <a:latin typeface="Segoe UI"/>
                <a:ea typeface="Segoe UI"/>
                <a:cs typeface="Segoe UI"/>
              </a:rPr>
              <a:t>risk</a:t>
            </a:r>
            <a:r>
              <a:rPr sz="1000" b="0" spc="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management,</a:t>
            </a:r>
            <a:r>
              <a:rPr sz="1000" b="0" spc="1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transparency,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20">
                <a:latin typeface="Segoe UI"/>
                <a:ea typeface="Segoe UI"/>
                <a:cs typeface="Segoe UI"/>
              </a:rPr>
              <a:t>human </a:t>
            </a:r>
            <a:r>
              <a:rPr sz="1000" b="0">
                <a:latin typeface="Segoe UI"/>
                <a:ea typeface="Segoe UI"/>
                <a:cs typeface="Segoe UI"/>
              </a:rPr>
              <a:t>oversight</a:t>
            </a:r>
            <a:r>
              <a:rPr sz="1000" b="0" spc="-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and</a:t>
            </a:r>
            <a:r>
              <a:rPr sz="1000" b="0" spc="-8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record-</a:t>
            </a:r>
            <a:r>
              <a:rPr sz="1000" b="0" spc="-10">
                <a:latin typeface="Segoe UI"/>
                <a:ea typeface="Segoe UI"/>
                <a:cs typeface="Segoe UI"/>
              </a:rPr>
              <a:t>keeping.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225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GDPR</a:t>
            </a:r>
            <a:r>
              <a:rPr spc="-25"/>
              <a:t> </a:t>
            </a:r>
            <a:r>
              <a:t>Article</a:t>
            </a:r>
            <a:r>
              <a:rPr spc="5"/>
              <a:t> </a:t>
            </a:r>
            <a:r>
              <a:rPr spc="-25"/>
              <a:t>22</a:t>
            </a:r>
          </a:p>
          <a:p xmlns:a="http://schemas.openxmlformats.org/drawingml/2006/main">
            <a:pPr marL="700405" marR="241300">
              <a:lnSpc>
                <a:spcPct val="111200"/>
              </a:lnSpc>
              <a:spcBef>
                <a:spcPts val="300"/>
              </a:spcBef>
              <a:buNone/>
            </a:pPr>
            <a:r>
              <a:rPr sz="1000" b="0">
                <a:latin typeface="Segoe UI"/>
                <a:ea typeface="Segoe UI"/>
                <a:cs typeface="Segoe UI"/>
              </a:rPr>
              <a:t>People</a:t>
            </a:r>
            <a:r>
              <a:rPr sz="1000" b="0" spc="-3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affected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by</a:t>
            </a:r>
            <a:r>
              <a:rPr sz="1000" b="0" spc="15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semi-automated </a:t>
            </a:r>
            <a:r>
              <a:rPr sz="1000" b="0">
                <a:latin typeface="Segoe UI"/>
                <a:ea typeface="Segoe UI"/>
                <a:cs typeface="Segoe UI"/>
              </a:rPr>
              <a:t>decisions need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meaningful</a:t>
            </a:r>
            <a:r>
              <a:rPr sz="1000" b="0" spc="-3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information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25">
                <a:latin typeface="Segoe UI"/>
                <a:ea typeface="Segoe UI"/>
                <a:cs typeface="Segoe UI"/>
              </a:rPr>
              <a:t>and </a:t>
            </a:r>
            <a:r>
              <a:rPr sz="1000" b="0" spc="-10">
                <a:latin typeface="Segoe UI"/>
                <a:ea typeface="Segoe UI"/>
                <a:cs typeface="Segoe UI"/>
              </a:rPr>
              <a:t>safeguards.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225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European </a:t>
            </a:r>
            <a:r>
              <a:rPr spc="-10"/>
              <a:t>Health</a:t>
            </a:r>
            <a:r>
              <a:rPr spc="-60"/>
              <a:t> </a:t>
            </a:r>
            <a:r>
              <a:t>Data</a:t>
            </a:r>
            <a:r>
              <a:rPr spc="-35"/>
              <a:t> </a:t>
            </a:r>
            <a:r>
              <a:rPr spc="-20"/>
              <a:t>Space</a:t>
            </a:r>
          </a:p>
          <a:p xmlns:a="http://schemas.openxmlformats.org/drawingml/2006/main">
            <a:pPr marL="700405" marR="78740">
              <a:lnSpc>
                <a:spcPct val="111200"/>
              </a:lnSpc>
              <a:spcBef>
                <a:spcPts val="295"/>
              </a:spcBef>
              <a:buNone/>
            </a:pPr>
            <a:r>
              <a:rPr sz="1000" b="0">
                <a:latin typeface="Segoe UI"/>
                <a:ea typeface="Segoe UI"/>
                <a:cs typeface="Segoe UI"/>
              </a:rPr>
              <a:t>Registry</a:t>
            </a:r>
            <a:r>
              <a:rPr sz="1000" b="0" spc="-6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data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can</a:t>
            </a:r>
            <a:r>
              <a:rPr sz="1000" b="0" spc="-6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support secondary</a:t>
            </a:r>
            <a:r>
              <a:rPr sz="1000" b="0" spc="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use—</a:t>
            </a:r>
            <a:r>
              <a:rPr sz="1000" b="0" spc="-25">
                <a:latin typeface="Segoe UI"/>
                <a:ea typeface="Segoe UI"/>
                <a:cs typeface="Segoe UI"/>
              </a:rPr>
              <a:t>but </a:t>
            </a:r>
            <a:r>
              <a:rPr sz="1000" b="0">
                <a:latin typeface="Segoe UI"/>
                <a:ea typeface="Segoe UI"/>
                <a:cs typeface="Segoe UI"/>
              </a:rPr>
              <a:t>only</a:t>
            </a:r>
            <a:r>
              <a:rPr sz="1000" b="0" spc="-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through</a:t>
            </a:r>
            <a:r>
              <a:rPr sz="1000" b="0" spc="-2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governed</a:t>
            </a:r>
            <a:r>
              <a:rPr sz="1000" b="0" spc="-4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access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and</a:t>
            </a:r>
            <a:r>
              <a:rPr sz="1000" b="0" spc="-45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permitted purposes.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43AF8537-61F0-442A-97CF-12B19C8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1637157"/>
            <a:ext cx="280733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 vert="horz" wrap="square" lIns="0" tIns="11811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930"/>
              </a:spcBef>
              <a:buNone/>
            </a:pP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1484" marR="752475">
              <a:lnSpc>
                <a:spcPct val="100000"/>
              </a:lnSpc>
              <a:spcBef>
                <a:spcPts val="5"/>
              </a:spcBef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</a:t>
            </a:r>
            <a:r>
              <a:rPr sz="1800" b="1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800" b="1" spc="-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care </a:t>
            </a:r>
            <a:r>
              <a:rPr sz="18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delivery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51484" marR="182880">
              <a:lnSpc>
                <a:spcPct val="111200"/>
              </a:lnSpc>
              <a:spcBef>
                <a:spcPts val="525"/>
              </a:spcBef>
              <a:buNone/>
            </a:pP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</a:t>
            </a:r>
            <a:r>
              <a:rPr sz="1000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oversight,</a:t>
            </a:r>
            <a:r>
              <a:rPr sz="1000" spc="-3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transparency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and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auditable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</a:t>
            </a:r>
            <a:r>
              <a:rPr sz="10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become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</a:t>
            </a:r>
            <a:r>
              <a:rPr sz="1000" spc="-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000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000" spc="-3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workflow.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840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26720" marR="544195"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</a:t>
            </a:r>
            <a:r>
              <a:rPr sz="1800" b="1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80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 delivery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26720" marR="116839">
              <a:lnSpc>
                <a:spcPct val="111200"/>
              </a:lnSpc>
              <a:spcBef>
                <a:spcPts val="525"/>
              </a:spcBef>
              <a:buNone/>
            </a:pP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Evidence,</a:t>
            </a:r>
            <a:r>
              <a:rPr sz="1000" spc="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permissions</a:t>
            </a:r>
            <a:r>
              <a:rPr sz="1000" spc="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-1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000" spc="-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lineage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must</a:t>
            </a:r>
            <a:r>
              <a:rPr sz="1000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</a:t>
            </a:r>
            <a:r>
              <a:rPr sz="1000" spc="-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clear</a:t>
            </a:r>
            <a:r>
              <a:rPr sz="1000" spc="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1000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training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through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0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use.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E7E6446-5215-4156-A763-5703A8BE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185923"/>
            <a:ext cx="356870" cy="2479040"/>
          </a:xfrm>
          <a:custGeom xmlns:a="http://schemas.openxmlformats.org/drawingml/2006/main">
            <a:rect l="l" t="t" r="r" b="b"/>
            <a:pathLst>
              <a:path w="356869" h="2479040">
                <a:moveTo>
                  <a:pt x="274320" y="1115822"/>
                </a:moveTo>
                <a:lnTo>
                  <a:pt x="230505" y="1115822"/>
                </a:lnTo>
                <a:lnTo>
                  <a:pt x="230505" y="1318006"/>
                </a:lnTo>
                <a:lnTo>
                  <a:pt x="230505" y="1358265"/>
                </a:lnTo>
                <a:lnTo>
                  <a:pt x="87858" y="1358265"/>
                </a:lnTo>
                <a:lnTo>
                  <a:pt x="87858" y="1318006"/>
                </a:lnTo>
                <a:lnTo>
                  <a:pt x="120357" y="1295755"/>
                </a:lnTo>
                <a:lnTo>
                  <a:pt x="159131" y="1288288"/>
                </a:lnTo>
                <a:lnTo>
                  <a:pt x="166484" y="1288834"/>
                </a:lnTo>
                <a:lnTo>
                  <a:pt x="206717" y="1299552"/>
                </a:lnTo>
                <a:lnTo>
                  <a:pt x="230505" y="1318006"/>
                </a:lnTo>
                <a:lnTo>
                  <a:pt x="230505" y="1115822"/>
                </a:lnTo>
                <a:lnTo>
                  <a:pt x="194564" y="1115822"/>
                </a:lnTo>
                <a:lnTo>
                  <a:pt x="194564" y="1244346"/>
                </a:lnTo>
                <a:lnTo>
                  <a:pt x="191820" y="1257935"/>
                </a:lnTo>
                <a:lnTo>
                  <a:pt x="191795" y="1258100"/>
                </a:lnTo>
                <a:lnTo>
                  <a:pt x="184315" y="1268984"/>
                </a:lnTo>
                <a:lnTo>
                  <a:pt x="184226" y="1269136"/>
                </a:lnTo>
                <a:lnTo>
                  <a:pt x="172961" y="1276477"/>
                </a:lnTo>
                <a:lnTo>
                  <a:pt x="159131" y="1279144"/>
                </a:lnTo>
                <a:lnTo>
                  <a:pt x="145605" y="1276477"/>
                </a:lnTo>
                <a:lnTo>
                  <a:pt x="145415" y="1276477"/>
                </a:lnTo>
                <a:lnTo>
                  <a:pt x="134073" y="1268984"/>
                </a:lnTo>
                <a:lnTo>
                  <a:pt x="126593" y="1258100"/>
                </a:lnTo>
                <a:lnTo>
                  <a:pt x="126479" y="1257935"/>
                </a:lnTo>
                <a:lnTo>
                  <a:pt x="123698" y="1244346"/>
                </a:lnTo>
                <a:lnTo>
                  <a:pt x="126479" y="1230845"/>
                </a:lnTo>
                <a:lnTo>
                  <a:pt x="134073" y="1219822"/>
                </a:lnTo>
                <a:lnTo>
                  <a:pt x="145338" y="1212405"/>
                </a:lnTo>
                <a:lnTo>
                  <a:pt x="159131" y="1209675"/>
                </a:lnTo>
                <a:lnTo>
                  <a:pt x="172961" y="1212405"/>
                </a:lnTo>
                <a:lnTo>
                  <a:pt x="184226" y="1219822"/>
                </a:lnTo>
                <a:lnTo>
                  <a:pt x="191795" y="1230845"/>
                </a:lnTo>
                <a:lnTo>
                  <a:pt x="194564" y="1244346"/>
                </a:lnTo>
                <a:lnTo>
                  <a:pt x="194564" y="1115822"/>
                </a:lnTo>
                <a:lnTo>
                  <a:pt x="55219" y="1115822"/>
                </a:lnTo>
                <a:lnTo>
                  <a:pt x="47980" y="1117282"/>
                </a:lnTo>
                <a:lnTo>
                  <a:pt x="42049" y="1121219"/>
                </a:lnTo>
                <a:lnTo>
                  <a:pt x="38036" y="1127074"/>
                </a:lnTo>
                <a:lnTo>
                  <a:pt x="36576" y="1134237"/>
                </a:lnTo>
                <a:lnTo>
                  <a:pt x="36576" y="1435989"/>
                </a:lnTo>
                <a:lnTo>
                  <a:pt x="38036" y="1443088"/>
                </a:lnTo>
                <a:lnTo>
                  <a:pt x="42049" y="1448904"/>
                </a:lnTo>
                <a:lnTo>
                  <a:pt x="47980" y="1452841"/>
                </a:lnTo>
                <a:lnTo>
                  <a:pt x="55219" y="1454277"/>
                </a:lnTo>
                <a:lnTo>
                  <a:pt x="274320" y="1454277"/>
                </a:lnTo>
                <a:lnTo>
                  <a:pt x="274320" y="1358265"/>
                </a:lnTo>
                <a:lnTo>
                  <a:pt x="274320" y="1288288"/>
                </a:lnTo>
                <a:lnTo>
                  <a:pt x="274320" y="1279144"/>
                </a:lnTo>
                <a:lnTo>
                  <a:pt x="274320" y="1209675"/>
                </a:lnTo>
                <a:lnTo>
                  <a:pt x="274320" y="1115822"/>
                </a:lnTo>
                <a:close/>
              </a:path>
              <a:path w="356869" h="2479040">
                <a:moveTo>
                  <a:pt x="320040" y="1115860"/>
                </a:moveTo>
                <a:lnTo>
                  <a:pt x="292608" y="1115860"/>
                </a:lnTo>
                <a:lnTo>
                  <a:pt x="292608" y="1454277"/>
                </a:lnTo>
                <a:lnTo>
                  <a:pt x="320040" y="1454277"/>
                </a:lnTo>
                <a:lnTo>
                  <a:pt x="320040" y="1115860"/>
                </a:lnTo>
                <a:close/>
              </a:path>
              <a:path w="356869" h="2479040">
                <a:moveTo>
                  <a:pt x="347472" y="2350643"/>
                </a:moveTo>
                <a:lnTo>
                  <a:pt x="203708" y="2350643"/>
                </a:lnTo>
                <a:lnTo>
                  <a:pt x="203708" y="2358644"/>
                </a:lnTo>
                <a:lnTo>
                  <a:pt x="203708" y="2367407"/>
                </a:lnTo>
                <a:lnTo>
                  <a:pt x="196088" y="2374646"/>
                </a:lnTo>
                <a:lnTo>
                  <a:pt x="160528" y="2374646"/>
                </a:lnTo>
                <a:lnTo>
                  <a:pt x="152908" y="2367407"/>
                </a:lnTo>
                <a:lnTo>
                  <a:pt x="152908" y="2350643"/>
                </a:lnTo>
                <a:lnTo>
                  <a:pt x="9144" y="2350643"/>
                </a:lnTo>
                <a:lnTo>
                  <a:pt x="9144" y="2471420"/>
                </a:lnTo>
                <a:lnTo>
                  <a:pt x="16751" y="2478659"/>
                </a:lnTo>
                <a:lnTo>
                  <a:pt x="339852" y="2478659"/>
                </a:lnTo>
                <a:lnTo>
                  <a:pt x="347472" y="2471420"/>
                </a:lnTo>
                <a:lnTo>
                  <a:pt x="347472" y="2350643"/>
                </a:lnTo>
                <a:close/>
              </a:path>
              <a:path w="356869" h="2479040">
                <a:moveTo>
                  <a:pt x="347472" y="2252853"/>
                </a:moveTo>
                <a:lnTo>
                  <a:pt x="339852" y="2244979"/>
                </a:lnTo>
                <a:lnTo>
                  <a:pt x="245999" y="2244979"/>
                </a:lnTo>
                <a:lnTo>
                  <a:pt x="245999" y="2216531"/>
                </a:lnTo>
                <a:lnTo>
                  <a:pt x="245160" y="2212213"/>
                </a:lnTo>
                <a:lnTo>
                  <a:pt x="243687" y="2204593"/>
                </a:lnTo>
                <a:lnTo>
                  <a:pt x="237388" y="2194915"/>
                </a:lnTo>
                <a:lnTo>
                  <a:pt x="227990" y="2188426"/>
                </a:lnTo>
                <a:lnTo>
                  <a:pt x="220599" y="2186914"/>
                </a:lnTo>
                <a:lnTo>
                  <a:pt x="220599" y="2213991"/>
                </a:lnTo>
                <a:lnTo>
                  <a:pt x="220599" y="2244979"/>
                </a:lnTo>
                <a:lnTo>
                  <a:pt x="136017" y="2244979"/>
                </a:lnTo>
                <a:lnTo>
                  <a:pt x="136017" y="2213991"/>
                </a:lnTo>
                <a:lnTo>
                  <a:pt x="137668" y="2212213"/>
                </a:lnTo>
                <a:lnTo>
                  <a:pt x="218948" y="2212213"/>
                </a:lnTo>
                <a:lnTo>
                  <a:pt x="220599" y="2213991"/>
                </a:lnTo>
                <a:lnTo>
                  <a:pt x="220599" y="2186914"/>
                </a:lnTo>
                <a:lnTo>
                  <a:pt x="216408" y="2186051"/>
                </a:lnTo>
                <a:lnTo>
                  <a:pt x="140208" y="2186051"/>
                </a:lnTo>
                <a:lnTo>
                  <a:pt x="128612" y="2188426"/>
                </a:lnTo>
                <a:lnTo>
                  <a:pt x="119214" y="2194915"/>
                </a:lnTo>
                <a:lnTo>
                  <a:pt x="112915" y="2204593"/>
                </a:lnTo>
                <a:lnTo>
                  <a:pt x="110617" y="2216531"/>
                </a:lnTo>
                <a:lnTo>
                  <a:pt x="110617" y="2244979"/>
                </a:lnTo>
                <a:lnTo>
                  <a:pt x="16751" y="2244979"/>
                </a:lnTo>
                <a:lnTo>
                  <a:pt x="9144" y="2252853"/>
                </a:lnTo>
                <a:lnTo>
                  <a:pt x="9144" y="2332355"/>
                </a:lnTo>
                <a:lnTo>
                  <a:pt x="152908" y="2332355"/>
                </a:lnTo>
                <a:lnTo>
                  <a:pt x="152908" y="2323592"/>
                </a:lnTo>
                <a:lnTo>
                  <a:pt x="203708" y="2323592"/>
                </a:lnTo>
                <a:lnTo>
                  <a:pt x="203708" y="2332355"/>
                </a:lnTo>
                <a:lnTo>
                  <a:pt x="347472" y="2332355"/>
                </a:lnTo>
                <a:lnTo>
                  <a:pt x="347472" y="2323592"/>
                </a:lnTo>
                <a:lnTo>
                  <a:pt x="347472" y="2252853"/>
                </a:lnTo>
                <a:close/>
              </a:path>
              <a:path w="356869" h="2479040">
                <a:moveTo>
                  <a:pt x="356616" y="319659"/>
                </a:moveTo>
                <a:lnTo>
                  <a:pt x="323723" y="296164"/>
                </a:lnTo>
                <a:lnTo>
                  <a:pt x="323723" y="286766"/>
                </a:lnTo>
                <a:lnTo>
                  <a:pt x="305054" y="286766"/>
                </a:lnTo>
                <a:lnTo>
                  <a:pt x="305054" y="127000"/>
                </a:lnTo>
                <a:lnTo>
                  <a:pt x="323723" y="127000"/>
                </a:lnTo>
                <a:lnTo>
                  <a:pt x="323723" y="117602"/>
                </a:lnTo>
                <a:lnTo>
                  <a:pt x="337820" y="117602"/>
                </a:lnTo>
                <a:lnTo>
                  <a:pt x="337820" y="89281"/>
                </a:lnTo>
                <a:lnTo>
                  <a:pt x="323723" y="89281"/>
                </a:lnTo>
                <a:lnTo>
                  <a:pt x="308406" y="79883"/>
                </a:lnTo>
                <a:lnTo>
                  <a:pt x="276860" y="60515"/>
                </a:lnTo>
                <a:lnTo>
                  <a:pt x="276860" y="127000"/>
                </a:lnTo>
                <a:lnTo>
                  <a:pt x="276860" y="286766"/>
                </a:lnTo>
                <a:lnTo>
                  <a:pt x="248666" y="286766"/>
                </a:lnTo>
                <a:lnTo>
                  <a:pt x="248666" y="127000"/>
                </a:lnTo>
                <a:lnTo>
                  <a:pt x="276860" y="127000"/>
                </a:lnTo>
                <a:lnTo>
                  <a:pt x="276860" y="60515"/>
                </a:lnTo>
                <a:lnTo>
                  <a:pt x="247180" y="42291"/>
                </a:lnTo>
                <a:lnTo>
                  <a:pt x="220599" y="25971"/>
                </a:lnTo>
                <a:lnTo>
                  <a:pt x="220599" y="127000"/>
                </a:lnTo>
                <a:lnTo>
                  <a:pt x="220599" y="286766"/>
                </a:lnTo>
                <a:lnTo>
                  <a:pt x="192405" y="286766"/>
                </a:lnTo>
                <a:lnTo>
                  <a:pt x="192405" y="127000"/>
                </a:lnTo>
                <a:lnTo>
                  <a:pt x="220599" y="127000"/>
                </a:lnTo>
                <a:lnTo>
                  <a:pt x="220599" y="25971"/>
                </a:lnTo>
                <a:lnTo>
                  <a:pt x="192405" y="8661"/>
                </a:lnTo>
                <a:lnTo>
                  <a:pt x="192405" y="61087"/>
                </a:lnTo>
                <a:lnTo>
                  <a:pt x="190906" y="68427"/>
                </a:lnTo>
                <a:lnTo>
                  <a:pt x="186855" y="74396"/>
                </a:lnTo>
                <a:lnTo>
                  <a:pt x="180873" y="78422"/>
                </a:lnTo>
                <a:lnTo>
                  <a:pt x="173609" y="79883"/>
                </a:lnTo>
                <a:lnTo>
                  <a:pt x="166331" y="78422"/>
                </a:lnTo>
                <a:lnTo>
                  <a:pt x="164211" y="77000"/>
                </a:lnTo>
                <a:lnTo>
                  <a:pt x="164211" y="127000"/>
                </a:lnTo>
                <a:lnTo>
                  <a:pt x="164211" y="286766"/>
                </a:lnTo>
                <a:lnTo>
                  <a:pt x="136017" y="286766"/>
                </a:lnTo>
                <a:lnTo>
                  <a:pt x="136017" y="127000"/>
                </a:lnTo>
                <a:lnTo>
                  <a:pt x="164211" y="127000"/>
                </a:lnTo>
                <a:lnTo>
                  <a:pt x="164211" y="77000"/>
                </a:lnTo>
                <a:lnTo>
                  <a:pt x="160350" y="74396"/>
                </a:lnTo>
                <a:lnTo>
                  <a:pt x="156298" y="68427"/>
                </a:lnTo>
                <a:lnTo>
                  <a:pt x="154813" y="61087"/>
                </a:lnTo>
                <a:lnTo>
                  <a:pt x="156298" y="53822"/>
                </a:lnTo>
                <a:lnTo>
                  <a:pt x="160350" y="47840"/>
                </a:lnTo>
                <a:lnTo>
                  <a:pt x="166331" y="43789"/>
                </a:lnTo>
                <a:lnTo>
                  <a:pt x="173609" y="42291"/>
                </a:lnTo>
                <a:lnTo>
                  <a:pt x="180873" y="43789"/>
                </a:lnTo>
                <a:lnTo>
                  <a:pt x="186855" y="47840"/>
                </a:lnTo>
                <a:lnTo>
                  <a:pt x="190906" y="53822"/>
                </a:lnTo>
                <a:lnTo>
                  <a:pt x="192405" y="61087"/>
                </a:lnTo>
                <a:lnTo>
                  <a:pt x="192405" y="8661"/>
                </a:lnTo>
                <a:lnTo>
                  <a:pt x="178308" y="0"/>
                </a:lnTo>
                <a:lnTo>
                  <a:pt x="107950" y="43192"/>
                </a:lnTo>
                <a:lnTo>
                  <a:pt x="107950" y="127000"/>
                </a:lnTo>
                <a:lnTo>
                  <a:pt x="107950" y="286766"/>
                </a:lnTo>
                <a:lnTo>
                  <a:pt x="79768" y="286766"/>
                </a:lnTo>
                <a:lnTo>
                  <a:pt x="79768" y="127000"/>
                </a:lnTo>
                <a:lnTo>
                  <a:pt x="107950" y="127000"/>
                </a:lnTo>
                <a:lnTo>
                  <a:pt x="107950" y="43192"/>
                </a:lnTo>
                <a:lnTo>
                  <a:pt x="32842" y="89281"/>
                </a:lnTo>
                <a:lnTo>
                  <a:pt x="18770" y="89281"/>
                </a:lnTo>
                <a:lnTo>
                  <a:pt x="18770" y="117602"/>
                </a:lnTo>
                <a:lnTo>
                  <a:pt x="32842" y="117602"/>
                </a:lnTo>
                <a:lnTo>
                  <a:pt x="32842" y="127000"/>
                </a:lnTo>
                <a:lnTo>
                  <a:pt x="51612" y="127000"/>
                </a:lnTo>
                <a:lnTo>
                  <a:pt x="51612" y="286766"/>
                </a:lnTo>
                <a:lnTo>
                  <a:pt x="32842" y="286766"/>
                </a:lnTo>
                <a:lnTo>
                  <a:pt x="32842" y="296164"/>
                </a:lnTo>
                <a:lnTo>
                  <a:pt x="0" y="319659"/>
                </a:lnTo>
                <a:lnTo>
                  <a:pt x="0" y="338455"/>
                </a:lnTo>
                <a:lnTo>
                  <a:pt x="356616" y="338455"/>
                </a:lnTo>
                <a:lnTo>
                  <a:pt x="356616" y="3196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BE6DA6D-76DF-4CE2-93B2-DAD436D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99336"/>
            <a:ext cx="3200400" cy="439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3"/>
          </a:solidFill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55"/>
              </a:spcBef>
              <a:buNone/>
            </a:pPr>
            <a:endParaRPr sz="1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5440">
              <a:lnSpc>
                <a:spcPct val="100000"/>
              </a:lnSpc>
              <a:spcBef>
                <a:spcPts val="5"/>
              </a:spcBef>
              <a:buNone/>
            </a:pPr>
            <a:r>
              <a:rPr sz="1200" b="1" spc="-10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REQUIRED</a:t>
            </a:r>
            <a:r>
              <a:rPr sz="1200" b="1" spc="-65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1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DEVELOPMENT</a:t>
            </a:r>
            <a:r>
              <a:rPr sz="1200" b="1" spc="-25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1" spc="-10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ACTIONS</a:t>
            </a: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195"/>
              </a:spcBef>
              <a:buNone/>
            </a:pP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Make</a:t>
            </a:r>
            <a:r>
              <a:rPr sz="135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decisions</a:t>
            </a:r>
            <a:r>
              <a:rPr sz="135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explainable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 marR="271780">
              <a:lnSpc>
                <a:spcPct val="106900"/>
              </a:lnSpc>
              <a:spcBef>
                <a:spcPts val="489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900" spc="10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900" spc="1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interpretable</a:t>
            </a:r>
            <a:r>
              <a:rPr sz="900" spc="2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model,</a:t>
            </a:r>
            <a:r>
              <a:rPr sz="900" spc="10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900" spc="1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intended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900" spc="1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limits,</a:t>
            </a:r>
            <a:r>
              <a:rPr sz="900" spc="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provide</a:t>
            </a:r>
            <a:r>
              <a:rPr sz="900" spc="1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patient-</a:t>
            </a:r>
            <a:r>
              <a:rPr sz="9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level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explanation.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030"/>
              </a:spcBef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Validate</a:t>
            </a:r>
            <a:r>
              <a:rPr sz="1350" b="1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350" b="1" spc="-3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retain</a:t>
            </a:r>
            <a:r>
              <a:rPr sz="1350" b="1" spc="-1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oversight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spcBef>
                <a:spcPts val="560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</a:t>
            </a:r>
            <a:r>
              <a:rPr sz="900" spc="20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calibration</a:t>
            </a:r>
            <a:r>
              <a:rPr sz="900" spc="1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performance;</a:t>
            </a:r>
            <a:r>
              <a:rPr sz="900" spc="1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define</a:t>
            </a:r>
            <a:r>
              <a:rPr sz="900" spc="1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record</a:t>
            </a:r>
            <a:r>
              <a:rPr sz="900" spc="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900" spc="1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final</a:t>
            </a:r>
            <a:r>
              <a:rPr sz="900" spc="11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900" spc="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decision.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195"/>
              </a:spcBef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</a:t>
            </a:r>
            <a:r>
              <a:rPr sz="1350" b="1" spc="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350" b="1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350" b="1" spc="-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traceability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 marR="379730">
              <a:lnSpc>
                <a:spcPct val="106900"/>
              </a:lnSpc>
              <a:spcBef>
                <a:spcPts val="484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Enforce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permissions;</a:t>
            </a:r>
            <a:r>
              <a:rPr sz="900" spc="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version</a:t>
            </a:r>
            <a:r>
              <a:rPr sz="900" spc="1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900" spc="11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2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models;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retain</a:t>
            </a:r>
            <a:r>
              <a:rPr sz="90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reconstructable</a:t>
            </a:r>
            <a:r>
              <a:rPr sz="900" spc="20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inputs,</a:t>
            </a:r>
            <a:r>
              <a:rPr sz="900" spc="1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logs</a:t>
            </a:r>
            <a:r>
              <a:rPr sz="900" spc="13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monitoring.</a:t>
            </a:r>
            <a:endParaRPr sz="9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82513811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1c65deb1e4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E8397D17-CEE8-4ECF-B87B-42D4969337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0027" rIns="0" bIns="0">
            <a:spAutoFit/>
          </a:bodyPr>
          <a:lstStyle xmlns:a="http://schemas.openxmlformats.org/drawingml/2006/main"/>
          <a:p xmlns:a="http://schemas.openxmlformats.org/drawingml/2006/main">
            <a:pPr marL="165735">
              <a:lnSpc>
                <a:spcPct val="100000"/>
              </a:lnSpc>
              <a:spcBef>
                <a:spcPts val="120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Yet</a:t>
            </a:r>
            <a:r>
              <a:rPr spc="3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not</a:t>
            </a:r>
            <a:r>
              <a:rPr spc="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pc="1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institutions</a:t>
            </a:r>
            <a:r>
              <a:rPr spc="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are</a:t>
            </a:r>
            <a:r>
              <a:rPr spc="6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prepared…</a:t>
            </a: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3f317c9ed4d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8447" y="1280541"/>
            <a:ext cx="10204704" cy="42986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226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021A8D4-D1B5-493E-96C4-66880BE6F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5799" y="478282"/>
            <a:ext cx="4017010" cy="949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Three</a:t>
            </a:r>
            <a:r>
              <a:rPr spc="1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audiences</a:t>
            </a:r>
            <a:r>
              <a:rPr spc="1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2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face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different</a:t>
            </a:r>
            <a:r>
              <a:rPr spc="14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obligations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A230D9D7-6B74-43ED-873B-93236217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4608" y="1820164"/>
            <a:ext cx="2432685" cy="2268220"/>
          </a:xfrm>
          <a:custGeom xmlns:a="http://schemas.openxmlformats.org/drawingml/2006/main">
            <a:rect l="l" t="t" r="r" b="b"/>
            <a:pathLst>
              <a:path w="2432684" h="2268220">
                <a:moveTo>
                  <a:pt x="1216278" y="0"/>
                </a:moveTo>
                <a:lnTo>
                  <a:pt x="1168522" y="916"/>
                </a:lnTo>
                <a:lnTo>
                  <a:pt x="1121231" y="3643"/>
                </a:lnTo>
                <a:lnTo>
                  <a:pt x="1074440" y="8147"/>
                </a:lnTo>
                <a:lnTo>
                  <a:pt x="1028183" y="14393"/>
                </a:lnTo>
                <a:lnTo>
                  <a:pt x="982494" y="22350"/>
                </a:lnTo>
                <a:lnTo>
                  <a:pt x="937406" y="31982"/>
                </a:lnTo>
                <a:lnTo>
                  <a:pt x="892954" y="43257"/>
                </a:lnTo>
                <a:lnTo>
                  <a:pt x="849170" y="56140"/>
                </a:lnTo>
                <a:lnTo>
                  <a:pt x="806089" y="70598"/>
                </a:lnTo>
                <a:lnTo>
                  <a:pt x="763745" y="86597"/>
                </a:lnTo>
                <a:lnTo>
                  <a:pt x="722172" y="104104"/>
                </a:lnTo>
                <a:lnTo>
                  <a:pt x="681403" y="123085"/>
                </a:lnTo>
                <a:lnTo>
                  <a:pt x="641471" y="143507"/>
                </a:lnTo>
                <a:lnTo>
                  <a:pt x="602412" y="165335"/>
                </a:lnTo>
                <a:lnTo>
                  <a:pt x="564259" y="188536"/>
                </a:lnTo>
                <a:lnTo>
                  <a:pt x="527045" y="213077"/>
                </a:lnTo>
                <a:lnTo>
                  <a:pt x="490804" y="238923"/>
                </a:lnTo>
                <a:lnTo>
                  <a:pt x="455570" y="266042"/>
                </a:lnTo>
                <a:lnTo>
                  <a:pt x="421378" y="294399"/>
                </a:lnTo>
                <a:lnTo>
                  <a:pt x="388260" y="323961"/>
                </a:lnTo>
                <a:lnTo>
                  <a:pt x="356250" y="354695"/>
                </a:lnTo>
                <a:lnTo>
                  <a:pt x="325383" y="386566"/>
                </a:lnTo>
                <a:lnTo>
                  <a:pt x="295692" y="419541"/>
                </a:lnTo>
                <a:lnTo>
                  <a:pt x="267212" y="453586"/>
                </a:lnTo>
                <a:lnTo>
                  <a:pt x="239974" y="488668"/>
                </a:lnTo>
                <a:lnTo>
                  <a:pt x="214015" y="524753"/>
                </a:lnTo>
                <a:lnTo>
                  <a:pt x="189367" y="561807"/>
                </a:lnTo>
                <a:lnTo>
                  <a:pt x="166064" y="599797"/>
                </a:lnTo>
                <a:lnTo>
                  <a:pt x="144140" y="638689"/>
                </a:lnTo>
                <a:lnTo>
                  <a:pt x="123629" y="678450"/>
                </a:lnTo>
                <a:lnTo>
                  <a:pt x="104564" y="719045"/>
                </a:lnTo>
                <a:lnTo>
                  <a:pt x="86980" y="760442"/>
                </a:lnTo>
                <a:lnTo>
                  <a:pt x="70910" y="802606"/>
                </a:lnTo>
                <a:lnTo>
                  <a:pt x="56388" y="845504"/>
                </a:lnTo>
                <a:lnTo>
                  <a:pt x="43448" y="889102"/>
                </a:lnTo>
                <a:lnTo>
                  <a:pt x="32124" y="933367"/>
                </a:lnTo>
                <a:lnTo>
                  <a:pt x="22449" y="978265"/>
                </a:lnTo>
                <a:lnTo>
                  <a:pt x="14457" y="1023762"/>
                </a:lnTo>
                <a:lnTo>
                  <a:pt x="8183" y="1069825"/>
                </a:lnTo>
                <a:lnTo>
                  <a:pt x="3659" y="1116420"/>
                </a:lnTo>
                <a:lnTo>
                  <a:pt x="920" y="1163513"/>
                </a:lnTo>
                <a:lnTo>
                  <a:pt x="0" y="1211072"/>
                </a:lnTo>
                <a:lnTo>
                  <a:pt x="396" y="1242726"/>
                </a:lnTo>
                <a:lnTo>
                  <a:pt x="5335" y="1325215"/>
                </a:lnTo>
                <a:lnTo>
                  <a:pt x="11117" y="1375635"/>
                </a:lnTo>
                <a:lnTo>
                  <a:pt x="18952" y="1425405"/>
                </a:lnTo>
                <a:lnTo>
                  <a:pt x="28797" y="1474483"/>
                </a:lnTo>
                <a:lnTo>
                  <a:pt x="40609" y="1522825"/>
                </a:lnTo>
                <a:lnTo>
                  <a:pt x="54343" y="1570388"/>
                </a:lnTo>
                <a:lnTo>
                  <a:pt x="69957" y="1617128"/>
                </a:lnTo>
                <a:lnTo>
                  <a:pt x="87405" y="1663002"/>
                </a:lnTo>
                <a:lnTo>
                  <a:pt x="106646" y="1707966"/>
                </a:lnTo>
                <a:lnTo>
                  <a:pt x="127634" y="1751977"/>
                </a:lnTo>
                <a:lnTo>
                  <a:pt x="150328" y="1794991"/>
                </a:lnTo>
                <a:lnTo>
                  <a:pt x="174681" y="1836966"/>
                </a:lnTo>
                <a:lnTo>
                  <a:pt x="200652" y="1877856"/>
                </a:lnTo>
                <a:lnTo>
                  <a:pt x="228197" y="1917620"/>
                </a:lnTo>
                <a:lnTo>
                  <a:pt x="257271" y="1956214"/>
                </a:lnTo>
                <a:lnTo>
                  <a:pt x="287832" y="1993594"/>
                </a:lnTo>
                <a:lnTo>
                  <a:pt x="319835" y="2029716"/>
                </a:lnTo>
                <a:lnTo>
                  <a:pt x="353237" y="2064538"/>
                </a:lnTo>
                <a:lnTo>
                  <a:pt x="387994" y="2098016"/>
                </a:lnTo>
                <a:lnTo>
                  <a:pt x="424063" y="2130105"/>
                </a:lnTo>
                <a:lnTo>
                  <a:pt x="461399" y="2160764"/>
                </a:lnTo>
                <a:lnTo>
                  <a:pt x="499961" y="2189949"/>
                </a:lnTo>
                <a:lnTo>
                  <a:pt x="539702" y="2217615"/>
                </a:lnTo>
                <a:lnTo>
                  <a:pt x="580581" y="2243720"/>
                </a:lnTo>
                <a:lnTo>
                  <a:pt x="622553" y="2268220"/>
                </a:lnTo>
                <a:lnTo>
                  <a:pt x="625600" y="2217126"/>
                </a:lnTo>
                <a:lnTo>
                  <a:pt x="630750" y="2166621"/>
                </a:lnTo>
                <a:lnTo>
                  <a:pt x="637958" y="2116750"/>
                </a:lnTo>
                <a:lnTo>
                  <a:pt x="647182" y="2067554"/>
                </a:lnTo>
                <a:lnTo>
                  <a:pt x="658379" y="2019078"/>
                </a:lnTo>
                <a:lnTo>
                  <a:pt x="671504" y="1971364"/>
                </a:lnTo>
                <a:lnTo>
                  <a:pt x="686515" y="1924456"/>
                </a:lnTo>
                <a:lnTo>
                  <a:pt x="703369" y="1878397"/>
                </a:lnTo>
                <a:lnTo>
                  <a:pt x="722021" y="1833230"/>
                </a:lnTo>
                <a:lnTo>
                  <a:pt x="742429" y="1788999"/>
                </a:lnTo>
                <a:lnTo>
                  <a:pt x="764550" y="1745746"/>
                </a:lnTo>
                <a:lnTo>
                  <a:pt x="788339" y="1703516"/>
                </a:lnTo>
                <a:lnTo>
                  <a:pt x="813753" y="1662350"/>
                </a:lnTo>
                <a:lnTo>
                  <a:pt x="840750" y="1622294"/>
                </a:lnTo>
                <a:lnTo>
                  <a:pt x="869286" y="1583389"/>
                </a:lnTo>
                <a:lnTo>
                  <a:pt x="899317" y="1545679"/>
                </a:lnTo>
                <a:lnTo>
                  <a:pt x="930801" y="1509207"/>
                </a:lnTo>
                <a:lnTo>
                  <a:pt x="963693" y="1474017"/>
                </a:lnTo>
                <a:lnTo>
                  <a:pt x="997950" y="1440152"/>
                </a:lnTo>
                <a:lnTo>
                  <a:pt x="1033530" y="1407655"/>
                </a:lnTo>
                <a:lnTo>
                  <a:pt x="1070388" y="1376570"/>
                </a:lnTo>
                <a:lnTo>
                  <a:pt x="1108481" y="1346939"/>
                </a:lnTo>
                <a:lnTo>
                  <a:pt x="1147767" y="1318805"/>
                </a:lnTo>
                <a:lnTo>
                  <a:pt x="1188201" y="1292213"/>
                </a:lnTo>
                <a:lnTo>
                  <a:pt x="1229740" y="1267206"/>
                </a:lnTo>
                <a:lnTo>
                  <a:pt x="1271536" y="1244197"/>
                </a:lnTo>
                <a:lnTo>
                  <a:pt x="1314306" y="1222794"/>
                </a:lnTo>
                <a:lnTo>
                  <a:pt x="1358011" y="1203037"/>
                </a:lnTo>
                <a:lnTo>
                  <a:pt x="1402613" y="1184967"/>
                </a:lnTo>
                <a:lnTo>
                  <a:pt x="1448071" y="1168626"/>
                </a:lnTo>
                <a:lnTo>
                  <a:pt x="1494345" y="1154054"/>
                </a:lnTo>
                <a:lnTo>
                  <a:pt x="1541397" y="1141292"/>
                </a:lnTo>
                <a:lnTo>
                  <a:pt x="1589187" y="1130382"/>
                </a:lnTo>
                <a:lnTo>
                  <a:pt x="1637674" y="1121363"/>
                </a:lnTo>
                <a:lnTo>
                  <a:pt x="1686821" y="1114277"/>
                </a:lnTo>
                <a:lnTo>
                  <a:pt x="1736586" y="1109165"/>
                </a:lnTo>
                <a:lnTo>
                  <a:pt x="1786931" y="1106068"/>
                </a:lnTo>
                <a:lnTo>
                  <a:pt x="1837816" y="1105027"/>
                </a:lnTo>
                <a:lnTo>
                  <a:pt x="1891418" y="1106180"/>
                </a:lnTo>
                <a:lnTo>
                  <a:pt x="1944431" y="1109611"/>
                </a:lnTo>
                <a:lnTo>
                  <a:pt x="1996807" y="1115272"/>
                </a:lnTo>
                <a:lnTo>
                  <a:pt x="2048495" y="1123117"/>
                </a:lnTo>
                <a:lnTo>
                  <a:pt x="2099449" y="1133100"/>
                </a:lnTo>
                <a:lnTo>
                  <a:pt x="2149617" y="1145174"/>
                </a:lnTo>
                <a:lnTo>
                  <a:pt x="2198953" y="1159294"/>
                </a:lnTo>
                <a:lnTo>
                  <a:pt x="2247406" y="1175413"/>
                </a:lnTo>
                <a:lnTo>
                  <a:pt x="2294927" y="1193484"/>
                </a:lnTo>
                <a:lnTo>
                  <a:pt x="2341469" y="1213462"/>
                </a:lnTo>
                <a:lnTo>
                  <a:pt x="2386981" y="1235299"/>
                </a:lnTo>
                <a:lnTo>
                  <a:pt x="2431415" y="1258951"/>
                </a:lnTo>
                <a:lnTo>
                  <a:pt x="2431768" y="1246967"/>
                </a:lnTo>
                <a:lnTo>
                  <a:pt x="2431383" y="1163395"/>
                </a:lnTo>
                <a:lnTo>
                  <a:pt x="2428646" y="1116309"/>
                </a:lnTo>
                <a:lnTo>
                  <a:pt x="2424124" y="1069720"/>
                </a:lnTo>
                <a:lnTo>
                  <a:pt x="2417852" y="1023662"/>
                </a:lnTo>
                <a:lnTo>
                  <a:pt x="2409864" y="978169"/>
                </a:lnTo>
                <a:lnTo>
                  <a:pt x="2400193" y="933274"/>
                </a:lnTo>
                <a:lnTo>
                  <a:pt x="2388874" y="889011"/>
                </a:lnTo>
                <a:lnTo>
                  <a:pt x="2375939" y="845414"/>
                </a:lnTo>
                <a:lnTo>
                  <a:pt x="2361423" y="802517"/>
                </a:lnTo>
                <a:lnTo>
                  <a:pt x="2345359" y="760353"/>
                </a:lnTo>
                <a:lnTo>
                  <a:pt x="2327782" y="718956"/>
                </a:lnTo>
                <a:lnTo>
                  <a:pt x="2308725" y="678359"/>
                </a:lnTo>
                <a:lnTo>
                  <a:pt x="2288221" y="638597"/>
                </a:lnTo>
                <a:lnTo>
                  <a:pt x="2266305" y="599703"/>
                </a:lnTo>
                <a:lnTo>
                  <a:pt x="2243010" y="561711"/>
                </a:lnTo>
                <a:lnTo>
                  <a:pt x="2218371" y="524654"/>
                </a:lnTo>
                <a:lnTo>
                  <a:pt x="2192420" y="488567"/>
                </a:lnTo>
                <a:lnTo>
                  <a:pt x="2165191" y="453482"/>
                </a:lnTo>
                <a:lnTo>
                  <a:pt x="2136719" y="419434"/>
                </a:lnTo>
                <a:lnTo>
                  <a:pt x="2107038" y="386457"/>
                </a:lnTo>
                <a:lnTo>
                  <a:pt x="2076180" y="354583"/>
                </a:lnTo>
                <a:lnTo>
                  <a:pt x="2044179" y="323848"/>
                </a:lnTo>
                <a:lnTo>
                  <a:pt x="2011070" y="294284"/>
                </a:lnTo>
                <a:lnTo>
                  <a:pt x="1976887" y="265925"/>
                </a:lnTo>
                <a:lnTo>
                  <a:pt x="1941662" y="238806"/>
                </a:lnTo>
                <a:lnTo>
                  <a:pt x="1905430" y="212958"/>
                </a:lnTo>
                <a:lnTo>
                  <a:pt x="1868224" y="188418"/>
                </a:lnTo>
                <a:lnTo>
                  <a:pt x="1830079" y="165217"/>
                </a:lnTo>
                <a:lnTo>
                  <a:pt x="1791028" y="143390"/>
                </a:lnTo>
                <a:lnTo>
                  <a:pt x="1751104" y="122971"/>
                </a:lnTo>
                <a:lnTo>
                  <a:pt x="1710342" y="103993"/>
                </a:lnTo>
                <a:lnTo>
                  <a:pt x="1668775" y="86490"/>
                </a:lnTo>
                <a:lnTo>
                  <a:pt x="1626438" y="70496"/>
                </a:lnTo>
                <a:lnTo>
                  <a:pt x="1583363" y="56044"/>
                </a:lnTo>
                <a:lnTo>
                  <a:pt x="1539585" y="43168"/>
                </a:lnTo>
                <a:lnTo>
                  <a:pt x="1495137" y="31902"/>
                </a:lnTo>
                <a:lnTo>
                  <a:pt x="1450053" y="22279"/>
                </a:lnTo>
                <a:lnTo>
                  <a:pt x="1404367" y="14334"/>
                </a:lnTo>
                <a:lnTo>
                  <a:pt x="1358113" y="8100"/>
                </a:lnTo>
                <a:lnTo>
                  <a:pt x="1311325" y="3610"/>
                </a:lnTo>
                <a:lnTo>
                  <a:pt x="1264035" y="899"/>
                </a:lnTo>
                <a:lnTo>
                  <a:pt x="1216278" y="0"/>
                </a:lnTo>
                <a:close/>
              </a:path>
            </a:pathLst>
          </a:custGeom>
          <a:solidFill xmlns:a="http://schemas.openxmlformats.org/drawingml/2006/main">
            <a:srgbClr val="4471C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749A0E9-D703-4EF3-9D89-98FD4CC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6400" y="3091434"/>
            <a:ext cx="1216660" cy="1152525"/>
          </a:xfrm>
          <a:custGeom xmlns:a="http://schemas.openxmlformats.org/drawingml/2006/main">
            <a:rect l="l" t="t" r="r" b="b"/>
            <a:pathLst>
              <a:path w="1216659" h="1152525">
                <a:moveTo>
                  <a:pt x="608457" y="0"/>
                </a:moveTo>
                <a:lnTo>
                  <a:pt x="566827" y="24959"/>
                </a:lnTo>
                <a:lnTo>
                  <a:pt x="526307" y="51498"/>
                </a:lnTo>
                <a:lnTo>
                  <a:pt x="486939" y="79574"/>
                </a:lnTo>
                <a:lnTo>
                  <a:pt x="448767" y="109144"/>
                </a:lnTo>
                <a:lnTo>
                  <a:pt x="411833" y="140164"/>
                </a:lnTo>
                <a:lnTo>
                  <a:pt x="376181" y="172591"/>
                </a:lnTo>
                <a:lnTo>
                  <a:pt x="341855" y="206383"/>
                </a:lnTo>
                <a:lnTo>
                  <a:pt x="308898" y="241496"/>
                </a:lnTo>
                <a:lnTo>
                  <a:pt x="277352" y="277888"/>
                </a:lnTo>
                <a:lnTo>
                  <a:pt x="247262" y="315514"/>
                </a:lnTo>
                <a:lnTo>
                  <a:pt x="218671" y="354333"/>
                </a:lnTo>
                <a:lnTo>
                  <a:pt x="191621" y="394301"/>
                </a:lnTo>
                <a:lnTo>
                  <a:pt x="166157" y="435375"/>
                </a:lnTo>
                <a:lnTo>
                  <a:pt x="142322" y="477511"/>
                </a:lnTo>
                <a:lnTo>
                  <a:pt x="120158" y="520668"/>
                </a:lnTo>
                <a:lnTo>
                  <a:pt x="99709" y="564801"/>
                </a:lnTo>
                <a:lnTo>
                  <a:pt x="81019" y="609869"/>
                </a:lnTo>
                <a:lnTo>
                  <a:pt x="64131" y="655827"/>
                </a:lnTo>
                <a:lnTo>
                  <a:pt x="49087" y="702632"/>
                </a:lnTo>
                <a:lnTo>
                  <a:pt x="35932" y="750242"/>
                </a:lnTo>
                <a:lnTo>
                  <a:pt x="24709" y="798614"/>
                </a:lnTo>
                <a:lnTo>
                  <a:pt x="15461" y="847704"/>
                </a:lnTo>
                <a:lnTo>
                  <a:pt x="8231" y="897470"/>
                </a:lnTo>
                <a:lnTo>
                  <a:pt x="3063" y="947867"/>
                </a:lnTo>
                <a:lnTo>
                  <a:pt x="0" y="998854"/>
                </a:lnTo>
                <a:lnTo>
                  <a:pt x="44529" y="1022418"/>
                </a:lnTo>
                <a:lnTo>
                  <a:pt x="90137" y="1044183"/>
                </a:lnTo>
                <a:lnTo>
                  <a:pt x="136775" y="1064101"/>
                </a:lnTo>
                <a:lnTo>
                  <a:pt x="184394" y="1082124"/>
                </a:lnTo>
                <a:lnTo>
                  <a:pt x="232947" y="1098206"/>
                </a:lnTo>
                <a:lnTo>
                  <a:pt x="282384" y="1112297"/>
                </a:lnTo>
                <a:lnTo>
                  <a:pt x="332657" y="1124352"/>
                </a:lnTo>
                <a:lnTo>
                  <a:pt x="383718" y="1134321"/>
                </a:lnTo>
                <a:lnTo>
                  <a:pt x="435518" y="1142158"/>
                </a:lnTo>
                <a:lnTo>
                  <a:pt x="488009" y="1147815"/>
                </a:lnTo>
                <a:lnTo>
                  <a:pt x="541141" y="1151244"/>
                </a:lnTo>
                <a:lnTo>
                  <a:pt x="594867" y="1152397"/>
                </a:lnTo>
                <a:lnTo>
                  <a:pt x="646949" y="1151313"/>
                </a:lnTo>
                <a:lnTo>
                  <a:pt x="698477" y="1148090"/>
                </a:lnTo>
                <a:lnTo>
                  <a:pt x="749407" y="1142769"/>
                </a:lnTo>
                <a:lnTo>
                  <a:pt x="799696" y="1135394"/>
                </a:lnTo>
                <a:lnTo>
                  <a:pt x="849299" y="1126008"/>
                </a:lnTo>
                <a:lnTo>
                  <a:pt x="898172" y="1114652"/>
                </a:lnTo>
                <a:lnTo>
                  <a:pt x="946271" y="1101370"/>
                </a:lnTo>
                <a:lnTo>
                  <a:pt x="993553" y="1086204"/>
                </a:lnTo>
                <a:lnTo>
                  <a:pt x="1039973" y="1069198"/>
                </a:lnTo>
                <a:lnTo>
                  <a:pt x="1085486" y="1050393"/>
                </a:lnTo>
                <a:lnTo>
                  <a:pt x="1130050" y="1029832"/>
                </a:lnTo>
                <a:lnTo>
                  <a:pt x="1173620" y="1007559"/>
                </a:lnTo>
                <a:lnTo>
                  <a:pt x="1216152" y="983614"/>
                </a:lnTo>
                <a:lnTo>
                  <a:pt x="1212481" y="933418"/>
                </a:lnTo>
                <a:lnTo>
                  <a:pt x="1206772" y="883805"/>
                </a:lnTo>
                <a:lnTo>
                  <a:pt x="1199064" y="834819"/>
                </a:lnTo>
                <a:lnTo>
                  <a:pt x="1189401" y="786501"/>
                </a:lnTo>
                <a:lnTo>
                  <a:pt x="1177823" y="738892"/>
                </a:lnTo>
                <a:lnTo>
                  <a:pt x="1164372" y="692034"/>
                </a:lnTo>
                <a:lnTo>
                  <a:pt x="1149091" y="645969"/>
                </a:lnTo>
                <a:lnTo>
                  <a:pt x="1132020" y="600739"/>
                </a:lnTo>
                <a:lnTo>
                  <a:pt x="1113201" y="556386"/>
                </a:lnTo>
                <a:lnTo>
                  <a:pt x="1092677" y="512950"/>
                </a:lnTo>
                <a:lnTo>
                  <a:pt x="1070488" y="470475"/>
                </a:lnTo>
                <a:lnTo>
                  <a:pt x="1046677" y="429002"/>
                </a:lnTo>
                <a:lnTo>
                  <a:pt x="1021285" y="388572"/>
                </a:lnTo>
                <a:lnTo>
                  <a:pt x="994354" y="349227"/>
                </a:lnTo>
                <a:lnTo>
                  <a:pt x="965926" y="311009"/>
                </a:lnTo>
                <a:lnTo>
                  <a:pt x="936042" y="273960"/>
                </a:lnTo>
                <a:lnTo>
                  <a:pt x="904744" y="238122"/>
                </a:lnTo>
                <a:lnTo>
                  <a:pt x="872073" y="203535"/>
                </a:lnTo>
                <a:lnTo>
                  <a:pt x="838072" y="170243"/>
                </a:lnTo>
                <a:lnTo>
                  <a:pt x="802782" y="138286"/>
                </a:lnTo>
                <a:lnTo>
                  <a:pt x="766244" y="107707"/>
                </a:lnTo>
                <a:lnTo>
                  <a:pt x="728501" y="78547"/>
                </a:lnTo>
                <a:lnTo>
                  <a:pt x="689595" y="50848"/>
                </a:lnTo>
                <a:lnTo>
                  <a:pt x="649566" y="24651"/>
                </a:lnTo>
                <a:lnTo>
                  <a:pt x="608457" y="0"/>
                </a:lnTo>
                <a:close/>
              </a:path>
            </a:pathLst>
          </a:custGeom>
          <a:solidFill xmlns:a="http://schemas.openxmlformats.org/drawingml/2006/main">
            <a:srgbClr val="EC7C3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775808D-C192-4532-BC74-741B983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9047" y="2926842"/>
            <a:ext cx="1811020" cy="2423795"/>
          </a:xfrm>
          <a:custGeom xmlns:a="http://schemas.openxmlformats.org/drawingml/2006/main">
            <a:rect l="l" t="t" r="r" b="b"/>
            <a:pathLst>
              <a:path w="1811020" h="2423795">
                <a:moveTo>
                  <a:pt x="603503" y="0"/>
                </a:moveTo>
                <a:lnTo>
                  <a:pt x="552995" y="1039"/>
                </a:lnTo>
                <a:lnTo>
                  <a:pt x="503019" y="4131"/>
                </a:lnTo>
                <a:lnTo>
                  <a:pt x="453615" y="9236"/>
                </a:lnTo>
                <a:lnTo>
                  <a:pt x="404824" y="16315"/>
                </a:lnTo>
                <a:lnTo>
                  <a:pt x="356688" y="25327"/>
                </a:lnTo>
                <a:lnTo>
                  <a:pt x="309245" y="36234"/>
                </a:lnTo>
                <a:lnTo>
                  <a:pt x="262538" y="48996"/>
                </a:lnTo>
                <a:lnTo>
                  <a:pt x="216606" y="63573"/>
                </a:lnTo>
                <a:lnTo>
                  <a:pt x="171490" y="79926"/>
                </a:lnTo>
                <a:lnTo>
                  <a:pt x="127231" y="98016"/>
                </a:lnTo>
                <a:lnTo>
                  <a:pt x="83869" y="117802"/>
                </a:lnTo>
                <a:lnTo>
                  <a:pt x="41445" y="139245"/>
                </a:lnTo>
                <a:lnTo>
                  <a:pt x="0" y="162306"/>
                </a:lnTo>
                <a:lnTo>
                  <a:pt x="40746" y="187020"/>
                </a:lnTo>
                <a:lnTo>
                  <a:pt x="80419" y="213283"/>
                </a:lnTo>
                <a:lnTo>
                  <a:pt x="118977" y="241053"/>
                </a:lnTo>
                <a:lnTo>
                  <a:pt x="156379" y="270287"/>
                </a:lnTo>
                <a:lnTo>
                  <a:pt x="192583" y="300944"/>
                </a:lnTo>
                <a:lnTo>
                  <a:pt x="227549" y="332982"/>
                </a:lnTo>
                <a:lnTo>
                  <a:pt x="261236" y="366360"/>
                </a:lnTo>
                <a:lnTo>
                  <a:pt x="293601" y="401037"/>
                </a:lnTo>
                <a:lnTo>
                  <a:pt x="324605" y="436969"/>
                </a:lnTo>
                <a:lnTo>
                  <a:pt x="354206" y="474116"/>
                </a:lnTo>
                <a:lnTo>
                  <a:pt x="382362" y="512436"/>
                </a:lnTo>
                <a:lnTo>
                  <a:pt x="409033" y="551887"/>
                </a:lnTo>
                <a:lnTo>
                  <a:pt x="434177" y="592427"/>
                </a:lnTo>
                <a:lnTo>
                  <a:pt x="457754" y="634015"/>
                </a:lnTo>
                <a:lnTo>
                  <a:pt x="479721" y="676610"/>
                </a:lnTo>
                <a:lnTo>
                  <a:pt x="500039" y="720169"/>
                </a:lnTo>
                <a:lnTo>
                  <a:pt x="518665" y="764650"/>
                </a:lnTo>
                <a:lnTo>
                  <a:pt x="535559" y="810012"/>
                </a:lnTo>
                <a:lnTo>
                  <a:pt x="550679" y="856214"/>
                </a:lnTo>
                <a:lnTo>
                  <a:pt x="563985" y="903213"/>
                </a:lnTo>
                <a:lnTo>
                  <a:pt x="575435" y="950969"/>
                </a:lnTo>
                <a:lnTo>
                  <a:pt x="584988" y="999438"/>
                </a:lnTo>
                <a:lnTo>
                  <a:pt x="592602" y="1048580"/>
                </a:lnTo>
                <a:lnTo>
                  <a:pt x="598238" y="1098353"/>
                </a:lnTo>
                <a:lnTo>
                  <a:pt x="601852" y="1148715"/>
                </a:lnTo>
                <a:lnTo>
                  <a:pt x="603503" y="1211834"/>
                </a:lnTo>
                <a:lnTo>
                  <a:pt x="602433" y="1263331"/>
                </a:lnTo>
                <a:lnTo>
                  <a:pt x="599250" y="1314281"/>
                </a:lnTo>
                <a:lnTo>
                  <a:pt x="593997" y="1364641"/>
                </a:lnTo>
                <a:lnTo>
                  <a:pt x="586717" y="1414367"/>
                </a:lnTo>
                <a:lnTo>
                  <a:pt x="577452" y="1463417"/>
                </a:lnTo>
                <a:lnTo>
                  <a:pt x="566245" y="1511747"/>
                </a:lnTo>
                <a:lnTo>
                  <a:pt x="553139" y="1559317"/>
                </a:lnTo>
                <a:lnTo>
                  <a:pt x="538176" y="1606081"/>
                </a:lnTo>
                <a:lnTo>
                  <a:pt x="521399" y="1651999"/>
                </a:lnTo>
                <a:lnTo>
                  <a:pt x="502852" y="1697026"/>
                </a:lnTo>
                <a:lnTo>
                  <a:pt x="482575" y="1741120"/>
                </a:lnTo>
                <a:lnTo>
                  <a:pt x="460612" y="1784239"/>
                </a:lnTo>
                <a:lnTo>
                  <a:pt x="437006" y="1826339"/>
                </a:lnTo>
                <a:lnTo>
                  <a:pt x="411800" y="1867378"/>
                </a:lnTo>
                <a:lnTo>
                  <a:pt x="385035" y="1907313"/>
                </a:lnTo>
                <a:lnTo>
                  <a:pt x="356756" y="1946100"/>
                </a:lnTo>
                <a:lnTo>
                  <a:pt x="327003" y="1983699"/>
                </a:lnTo>
                <a:lnTo>
                  <a:pt x="295821" y="2020065"/>
                </a:lnTo>
                <a:lnTo>
                  <a:pt x="263251" y="2055155"/>
                </a:lnTo>
                <a:lnTo>
                  <a:pt x="229336" y="2088928"/>
                </a:lnTo>
                <a:lnTo>
                  <a:pt x="194120" y="2121340"/>
                </a:lnTo>
                <a:lnTo>
                  <a:pt x="157644" y="2152348"/>
                </a:lnTo>
                <a:lnTo>
                  <a:pt x="119951" y="2181909"/>
                </a:lnTo>
                <a:lnTo>
                  <a:pt x="81084" y="2209982"/>
                </a:lnTo>
                <a:lnTo>
                  <a:pt x="41086" y="2236523"/>
                </a:lnTo>
                <a:lnTo>
                  <a:pt x="0" y="2261489"/>
                </a:lnTo>
                <a:lnTo>
                  <a:pt x="41470" y="2284524"/>
                </a:lnTo>
                <a:lnTo>
                  <a:pt x="83911" y="2305951"/>
                </a:lnTo>
                <a:lnTo>
                  <a:pt x="127283" y="2325726"/>
                </a:lnTo>
                <a:lnTo>
                  <a:pt x="171546" y="2343812"/>
                </a:lnTo>
                <a:lnTo>
                  <a:pt x="216661" y="2360165"/>
                </a:lnTo>
                <a:lnTo>
                  <a:pt x="262589" y="2374747"/>
                </a:lnTo>
                <a:lnTo>
                  <a:pt x="309289" y="2387516"/>
                </a:lnTo>
                <a:lnTo>
                  <a:pt x="356722" y="2398432"/>
                </a:lnTo>
                <a:lnTo>
                  <a:pt x="404849" y="2407454"/>
                </a:lnTo>
                <a:lnTo>
                  <a:pt x="453631" y="2414542"/>
                </a:lnTo>
                <a:lnTo>
                  <a:pt x="503026" y="2419655"/>
                </a:lnTo>
                <a:lnTo>
                  <a:pt x="552997" y="2422753"/>
                </a:lnTo>
                <a:lnTo>
                  <a:pt x="603503" y="2423795"/>
                </a:lnTo>
                <a:lnTo>
                  <a:pt x="652049" y="2422832"/>
                </a:lnTo>
                <a:lnTo>
                  <a:pt x="700109" y="2419969"/>
                </a:lnTo>
                <a:lnTo>
                  <a:pt x="747646" y="2415241"/>
                </a:lnTo>
                <a:lnTo>
                  <a:pt x="794623" y="2408685"/>
                </a:lnTo>
                <a:lnTo>
                  <a:pt x="841007" y="2400337"/>
                </a:lnTo>
                <a:lnTo>
                  <a:pt x="886759" y="2390233"/>
                </a:lnTo>
                <a:lnTo>
                  <a:pt x="931844" y="2378410"/>
                </a:lnTo>
                <a:lnTo>
                  <a:pt x="976227" y="2364903"/>
                </a:lnTo>
                <a:lnTo>
                  <a:pt x="1019870" y="2349748"/>
                </a:lnTo>
                <a:lnTo>
                  <a:pt x="1062738" y="2332983"/>
                </a:lnTo>
                <a:lnTo>
                  <a:pt x="1104796" y="2314643"/>
                </a:lnTo>
                <a:lnTo>
                  <a:pt x="1146006" y="2294765"/>
                </a:lnTo>
                <a:lnTo>
                  <a:pt x="1186332" y="2273384"/>
                </a:lnTo>
                <a:lnTo>
                  <a:pt x="1225740" y="2250537"/>
                </a:lnTo>
                <a:lnTo>
                  <a:pt x="1264192" y="2226260"/>
                </a:lnTo>
                <a:lnTo>
                  <a:pt x="1301653" y="2200590"/>
                </a:lnTo>
                <a:lnTo>
                  <a:pt x="1338086" y="2173562"/>
                </a:lnTo>
                <a:lnTo>
                  <a:pt x="1373456" y="2145213"/>
                </a:lnTo>
                <a:lnTo>
                  <a:pt x="1407726" y="2115579"/>
                </a:lnTo>
                <a:lnTo>
                  <a:pt x="1440861" y="2084696"/>
                </a:lnTo>
                <a:lnTo>
                  <a:pt x="1472824" y="2052601"/>
                </a:lnTo>
                <a:lnTo>
                  <a:pt x="1503579" y="2019329"/>
                </a:lnTo>
                <a:lnTo>
                  <a:pt x="1533091" y="1984917"/>
                </a:lnTo>
                <a:lnTo>
                  <a:pt x="1561322" y="1949401"/>
                </a:lnTo>
                <a:lnTo>
                  <a:pt x="1588238" y="1912818"/>
                </a:lnTo>
                <a:lnTo>
                  <a:pt x="1613802" y="1875203"/>
                </a:lnTo>
                <a:lnTo>
                  <a:pt x="1637978" y="1836593"/>
                </a:lnTo>
                <a:lnTo>
                  <a:pt x="1660730" y="1797024"/>
                </a:lnTo>
                <a:lnTo>
                  <a:pt x="1682022" y="1756532"/>
                </a:lnTo>
                <a:lnTo>
                  <a:pt x="1701817" y="1715153"/>
                </a:lnTo>
                <a:lnTo>
                  <a:pt x="1720081" y="1672924"/>
                </a:lnTo>
                <a:lnTo>
                  <a:pt x="1736776" y="1629881"/>
                </a:lnTo>
                <a:lnTo>
                  <a:pt x="1751867" y="1586060"/>
                </a:lnTo>
                <a:lnTo>
                  <a:pt x="1765317" y="1541497"/>
                </a:lnTo>
                <a:lnTo>
                  <a:pt x="1777091" y="1496229"/>
                </a:lnTo>
                <a:lnTo>
                  <a:pt x="1787153" y="1450292"/>
                </a:lnTo>
                <a:lnTo>
                  <a:pt x="1795466" y="1403721"/>
                </a:lnTo>
                <a:lnTo>
                  <a:pt x="1801994" y="1356554"/>
                </a:lnTo>
                <a:lnTo>
                  <a:pt x="1806702" y="1308826"/>
                </a:lnTo>
                <a:lnTo>
                  <a:pt x="1809553" y="1260574"/>
                </a:lnTo>
                <a:lnTo>
                  <a:pt x="1810511" y="1211834"/>
                </a:lnTo>
                <a:lnTo>
                  <a:pt x="1809413" y="1159654"/>
                </a:lnTo>
                <a:lnTo>
                  <a:pt x="1806147" y="1108038"/>
                </a:lnTo>
                <a:lnTo>
                  <a:pt x="1800758" y="1057029"/>
                </a:lnTo>
                <a:lnTo>
                  <a:pt x="1793290" y="1006672"/>
                </a:lnTo>
                <a:lnTo>
                  <a:pt x="1783788" y="957012"/>
                </a:lnTo>
                <a:lnTo>
                  <a:pt x="1772295" y="908093"/>
                </a:lnTo>
                <a:lnTo>
                  <a:pt x="1758855" y="859960"/>
                </a:lnTo>
                <a:lnTo>
                  <a:pt x="1743514" y="812657"/>
                </a:lnTo>
                <a:lnTo>
                  <a:pt x="1726314" y="766228"/>
                </a:lnTo>
                <a:lnTo>
                  <a:pt x="1707302" y="720719"/>
                </a:lnTo>
                <a:lnTo>
                  <a:pt x="1686519" y="676174"/>
                </a:lnTo>
                <a:lnTo>
                  <a:pt x="1664012" y="632637"/>
                </a:lnTo>
                <a:lnTo>
                  <a:pt x="1639824" y="590153"/>
                </a:lnTo>
                <a:lnTo>
                  <a:pt x="1613998" y="548766"/>
                </a:lnTo>
                <a:lnTo>
                  <a:pt x="1586581" y="508521"/>
                </a:lnTo>
                <a:lnTo>
                  <a:pt x="1557615" y="469462"/>
                </a:lnTo>
                <a:lnTo>
                  <a:pt x="1527145" y="431634"/>
                </a:lnTo>
                <a:lnTo>
                  <a:pt x="1495215" y="395082"/>
                </a:lnTo>
                <a:lnTo>
                  <a:pt x="1461870" y="359850"/>
                </a:lnTo>
                <a:lnTo>
                  <a:pt x="1427153" y="325982"/>
                </a:lnTo>
                <a:lnTo>
                  <a:pt x="1391109" y="293523"/>
                </a:lnTo>
                <a:lnTo>
                  <a:pt x="1353782" y="262518"/>
                </a:lnTo>
                <a:lnTo>
                  <a:pt x="1315217" y="233011"/>
                </a:lnTo>
                <a:lnTo>
                  <a:pt x="1275456" y="205047"/>
                </a:lnTo>
                <a:lnTo>
                  <a:pt x="1234546" y="178669"/>
                </a:lnTo>
                <a:lnTo>
                  <a:pt x="1192529" y="153924"/>
                </a:lnTo>
                <a:lnTo>
                  <a:pt x="1148421" y="130272"/>
                </a:lnTo>
                <a:lnTo>
                  <a:pt x="1103249" y="108435"/>
                </a:lnTo>
                <a:lnTo>
                  <a:pt x="1057060" y="88457"/>
                </a:lnTo>
                <a:lnTo>
                  <a:pt x="1009903" y="70386"/>
                </a:lnTo>
                <a:lnTo>
                  <a:pt x="961826" y="54267"/>
                </a:lnTo>
                <a:lnTo>
                  <a:pt x="912876" y="40147"/>
                </a:lnTo>
                <a:lnTo>
                  <a:pt x="863099" y="28073"/>
                </a:lnTo>
                <a:lnTo>
                  <a:pt x="812546" y="18090"/>
                </a:lnTo>
                <a:lnTo>
                  <a:pt x="761261" y="10245"/>
                </a:lnTo>
                <a:lnTo>
                  <a:pt x="709295" y="4584"/>
                </a:lnTo>
                <a:lnTo>
                  <a:pt x="656693" y="1153"/>
                </a:lnTo>
                <a:lnTo>
                  <a:pt x="603503" y="0"/>
                </a:lnTo>
                <a:close/>
              </a:path>
            </a:pathLst>
          </a:custGeom>
          <a:solidFill xmlns:a="http://schemas.openxmlformats.org/drawingml/2006/main">
            <a:srgbClr val="00B8F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A54B4FD7-CB70-474C-B6A1-F7E1427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9391" y="3100578"/>
            <a:ext cx="2423160" cy="2250440"/>
          </a:xfrm>
          <a:custGeom xmlns:a="http://schemas.openxmlformats.org/drawingml/2006/main">
            <a:rect l="l" t="t" r="r" b="b"/>
            <a:pathLst>
              <a:path w="2423159" h="2250440">
                <a:moveTo>
                  <a:pt x="593979" y="0"/>
                </a:moveTo>
                <a:lnTo>
                  <a:pt x="553448" y="25073"/>
                </a:lnTo>
                <a:lnTo>
                  <a:pt x="514003" y="51672"/>
                </a:lnTo>
                <a:lnTo>
                  <a:pt x="475685" y="79757"/>
                </a:lnTo>
                <a:lnTo>
                  <a:pt x="438536" y="109286"/>
                </a:lnTo>
                <a:lnTo>
                  <a:pt x="402596" y="140218"/>
                </a:lnTo>
                <a:lnTo>
                  <a:pt x="367906" y="172510"/>
                </a:lnTo>
                <a:lnTo>
                  <a:pt x="334508" y="206123"/>
                </a:lnTo>
                <a:lnTo>
                  <a:pt x="302443" y="241013"/>
                </a:lnTo>
                <a:lnTo>
                  <a:pt x="271751" y="277141"/>
                </a:lnTo>
                <a:lnTo>
                  <a:pt x="242474" y="314465"/>
                </a:lnTo>
                <a:lnTo>
                  <a:pt x="214653" y="352943"/>
                </a:lnTo>
                <a:lnTo>
                  <a:pt x="188330" y="392534"/>
                </a:lnTo>
                <a:lnTo>
                  <a:pt x="163544" y="433197"/>
                </a:lnTo>
                <a:lnTo>
                  <a:pt x="140337" y="474889"/>
                </a:lnTo>
                <a:lnTo>
                  <a:pt x="118751" y="517571"/>
                </a:lnTo>
                <a:lnTo>
                  <a:pt x="98826" y="561201"/>
                </a:lnTo>
                <a:lnTo>
                  <a:pt x="80604" y="605736"/>
                </a:lnTo>
                <a:lnTo>
                  <a:pt x="64125" y="651136"/>
                </a:lnTo>
                <a:lnTo>
                  <a:pt x="49432" y="697360"/>
                </a:lnTo>
                <a:lnTo>
                  <a:pt x="36564" y="744366"/>
                </a:lnTo>
                <a:lnTo>
                  <a:pt x="25562" y="792113"/>
                </a:lnTo>
                <a:lnTo>
                  <a:pt x="16469" y="840559"/>
                </a:lnTo>
                <a:lnTo>
                  <a:pt x="9325" y="889663"/>
                </a:lnTo>
                <a:lnTo>
                  <a:pt x="4172" y="939384"/>
                </a:lnTo>
                <a:lnTo>
                  <a:pt x="1049" y="989680"/>
                </a:lnTo>
                <a:lnTo>
                  <a:pt x="0" y="1040511"/>
                </a:lnTo>
                <a:lnTo>
                  <a:pt x="961" y="1089158"/>
                </a:lnTo>
                <a:lnTo>
                  <a:pt x="3823" y="1137318"/>
                </a:lnTo>
                <a:lnTo>
                  <a:pt x="8549" y="1184955"/>
                </a:lnTo>
                <a:lnTo>
                  <a:pt x="15102" y="1232031"/>
                </a:lnTo>
                <a:lnTo>
                  <a:pt x="23446" y="1278512"/>
                </a:lnTo>
                <a:lnTo>
                  <a:pt x="33546" y="1324360"/>
                </a:lnTo>
                <a:lnTo>
                  <a:pt x="45364" y="1369540"/>
                </a:lnTo>
                <a:lnTo>
                  <a:pt x="58865" y="1414016"/>
                </a:lnTo>
                <a:lnTo>
                  <a:pt x="74013" y="1457751"/>
                </a:lnTo>
                <a:lnTo>
                  <a:pt x="90771" y="1500709"/>
                </a:lnTo>
                <a:lnTo>
                  <a:pt x="109103" y="1542855"/>
                </a:lnTo>
                <a:lnTo>
                  <a:pt x="128973" y="1584152"/>
                </a:lnTo>
                <a:lnTo>
                  <a:pt x="150345" y="1624563"/>
                </a:lnTo>
                <a:lnTo>
                  <a:pt x="173183" y="1664054"/>
                </a:lnTo>
                <a:lnTo>
                  <a:pt x="197450" y="1702587"/>
                </a:lnTo>
                <a:lnTo>
                  <a:pt x="223111" y="1740126"/>
                </a:lnTo>
                <a:lnTo>
                  <a:pt x="250128" y="1776636"/>
                </a:lnTo>
                <a:lnTo>
                  <a:pt x="278466" y="1812081"/>
                </a:lnTo>
                <a:lnTo>
                  <a:pt x="308089" y="1846423"/>
                </a:lnTo>
                <a:lnTo>
                  <a:pt x="338961" y="1879628"/>
                </a:lnTo>
                <a:lnTo>
                  <a:pt x="371045" y="1911658"/>
                </a:lnTo>
                <a:lnTo>
                  <a:pt x="404304" y="1942478"/>
                </a:lnTo>
                <a:lnTo>
                  <a:pt x="438704" y="1972052"/>
                </a:lnTo>
                <a:lnTo>
                  <a:pt x="474208" y="2000343"/>
                </a:lnTo>
                <a:lnTo>
                  <a:pt x="510779" y="2027316"/>
                </a:lnTo>
                <a:lnTo>
                  <a:pt x="548382" y="2052934"/>
                </a:lnTo>
                <a:lnTo>
                  <a:pt x="586980" y="2077161"/>
                </a:lnTo>
                <a:lnTo>
                  <a:pt x="626536" y="2099960"/>
                </a:lnTo>
                <a:lnTo>
                  <a:pt x="667016" y="2121297"/>
                </a:lnTo>
                <a:lnTo>
                  <a:pt x="708382" y="2141135"/>
                </a:lnTo>
                <a:lnTo>
                  <a:pt x="750599" y="2159437"/>
                </a:lnTo>
                <a:lnTo>
                  <a:pt x="793630" y="2176167"/>
                </a:lnTo>
                <a:lnTo>
                  <a:pt x="837439" y="2191290"/>
                </a:lnTo>
                <a:lnTo>
                  <a:pt x="881990" y="2204769"/>
                </a:lnTo>
                <a:lnTo>
                  <a:pt x="927246" y="2216567"/>
                </a:lnTo>
                <a:lnTo>
                  <a:pt x="973173" y="2226650"/>
                </a:lnTo>
                <a:lnTo>
                  <a:pt x="1019732" y="2234981"/>
                </a:lnTo>
                <a:lnTo>
                  <a:pt x="1066889" y="2241523"/>
                </a:lnTo>
                <a:lnTo>
                  <a:pt x="1114606" y="2246241"/>
                </a:lnTo>
                <a:lnTo>
                  <a:pt x="1162849" y="2249098"/>
                </a:lnTo>
                <a:lnTo>
                  <a:pt x="1211580" y="2250059"/>
                </a:lnTo>
                <a:lnTo>
                  <a:pt x="1262264" y="2249019"/>
                </a:lnTo>
                <a:lnTo>
                  <a:pt x="1312416" y="2245928"/>
                </a:lnTo>
                <a:lnTo>
                  <a:pt x="1361997" y="2240825"/>
                </a:lnTo>
                <a:lnTo>
                  <a:pt x="1410966" y="2233751"/>
                </a:lnTo>
                <a:lnTo>
                  <a:pt x="1459282" y="2224745"/>
                </a:lnTo>
                <a:lnTo>
                  <a:pt x="1506905" y="2213849"/>
                </a:lnTo>
                <a:lnTo>
                  <a:pt x="1553796" y="2201102"/>
                </a:lnTo>
                <a:lnTo>
                  <a:pt x="1599913" y="2186544"/>
                </a:lnTo>
                <a:lnTo>
                  <a:pt x="1645218" y="2170216"/>
                </a:lnTo>
                <a:lnTo>
                  <a:pt x="1689668" y="2152158"/>
                </a:lnTo>
                <a:lnTo>
                  <a:pt x="1733225" y="2132410"/>
                </a:lnTo>
                <a:lnTo>
                  <a:pt x="1775848" y="2111013"/>
                </a:lnTo>
                <a:lnTo>
                  <a:pt x="1817497" y="2088007"/>
                </a:lnTo>
                <a:lnTo>
                  <a:pt x="1858755" y="2063087"/>
                </a:lnTo>
                <a:lnTo>
                  <a:pt x="1898917" y="2036597"/>
                </a:lnTo>
                <a:lnTo>
                  <a:pt x="1937940" y="2008579"/>
                </a:lnTo>
                <a:lnTo>
                  <a:pt x="1975782" y="1979076"/>
                </a:lnTo>
                <a:lnTo>
                  <a:pt x="2012399" y="1948130"/>
                </a:lnTo>
                <a:lnTo>
                  <a:pt x="2047749" y="1915784"/>
                </a:lnTo>
                <a:lnTo>
                  <a:pt x="2081790" y="1882081"/>
                </a:lnTo>
                <a:lnTo>
                  <a:pt x="2114479" y="1847064"/>
                </a:lnTo>
                <a:lnTo>
                  <a:pt x="2145774" y="1810774"/>
                </a:lnTo>
                <a:lnTo>
                  <a:pt x="2175631" y="1773255"/>
                </a:lnTo>
                <a:lnTo>
                  <a:pt x="2204009" y="1734548"/>
                </a:lnTo>
                <a:lnTo>
                  <a:pt x="2230864" y="1694698"/>
                </a:lnTo>
                <a:lnTo>
                  <a:pt x="2256154" y="1653746"/>
                </a:lnTo>
                <a:lnTo>
                  <a:pt x="2279838" y="1611735"/>
                </a:lnTo>
                <a:lnTo>
                  <a:pt x="2301871" y="1568707"/>
                </a:lnTo>
                <a:lnTo>
                  <a:pt x="2322211" y="1524706"/>
                </a:lnTo>
                <a:lnTo>
                  <a:pt x="2340817" y="1479773"/>
                </a:lnTo>
                <a:lnTo>
                  <a:pt x="2357644" y="1433952"/>
                </a:lnTo>
                <a:lnTo>
                  <a:pt x="2372652" y="1387285"/>
                </a:lnTo>
                <a:lnTo>
                  <a:pt x="2385796" y="1339815"/>
                </a:lnTo>
                <a:lnTo>
                  <a:pt x="2397035" y="1291584"/>
                </a:lnTo>
                <a:lnTo>
                  <a:pt x="2406327" y="1242635"/>
                </a:lnTo>
                <a:lnTo>
                  <a:pt x="2413627" y="1193011"/>
                </a:lnTo>
                <a:lnTo>
                  <a:pt x="2418895" y="1142753"/>
                </a:lnTo>
                <a:lnTo>
                  <a:pt x="2422086" y="1091906"/>
                </a:lnTo>
                <a:lnTo>
                  <a:pt x="2423160" y="1040511"/>
                </a:lnTo>
                <a:lnTo>
                  <a:pt x="2423060" y="1024647"/>
                </a:lnTo>
                <a:lnTo>
                  <a:pt x="2422195" y="993112"/>
                </a:lnTo>
                <a:lnTo>
                  <a:pt x="2421382" y="977392"/>
                </a:lnTo>
                <a:lnTo>
                  <a:pt x="2379091" y="1001338"/>
                </a:lnTo>
                <a:lnTo>
                  <a:pt x="2335774" y="1023617"/>
                </a:lnTo>
                <a:lnTo>
                  <a:pt x="2291474" y="1044187"/>
                </a:lnTo>
                <a:lnTo>
                  <a:pt x="2246234" y="1063003"/>
                </a:lnTo>
                <a:lnTo>
                  <a:pt x="2200095" y="1080023"/>
                </a:lnTo>
                <a:lnTo>
                  <a:pt x="2153102" y="1095203"/>
                </a:lnTo>
                <a:lnTo>
                  <a:pt x="2105295" y="1108500"/>
                </a:lnTo>
                <a:lnTo>
                  <a:pt x="2056719" y="1119870"/>
                </a:lnTo>
                <a:lnTo>
                  <a:pt x="2007415" y="1129270"/>
                </a:lnTo>
                <a:lnTo>
                  <a:pt x="1957427" y="1136656"/>
                </a:lnTo>
                <a:lnTo>
                  <a:pt x="1906797" y="1141986"/>
                </a:lnTo>
                <a:lnTo>
                  <a:pt x="1855567" y="1145215"/>
                </a:lnTo>
                <a:lnTo>
                  <a:pt x="1803781" y="1146302"/>
                </a:lnTo>
                <a:lnTo>
                  <a:pt x="1750372" y="1145148"/>
                </a:lnTo>
                <a:lnTo>
                  <a:pt x="1697556" y="1141718"/>
                </a:lnTo>
                <a:lnTo>
                  <a:pt x="1645380" y="1136060"/>
                </a:lnTo>
                <a:lnTo>
                  <a:pt x="1593892" y="1128220"/>
                </a:lnTo>
                <a:lnTo>
                  <a:pt x="1543139" y="1118246"/>
                </a:lnTo>
                <a:lnTo>
                  <a:pt x="1493170" y="1106185"/>
                </a:lnTo>
                <a:lnTo>
                  <a:pt x="1444032" y="1092084"/>
                </a:lnTo>
                <a:lnTo>
                  <a:pt x="1395772" y="1075991"/>
                </a:lnTo>
                <a:lnTo>
                  <a:pt x="1348438" y="1057951"/>
                </a:lnTo>
                <a:lnTo>
                  <a:pt x="1302078" y="1038013"/>
                </a:lnTo>
                <a:lnTo>
                  <a:pt x="1256739" y="1016224"/>
                </a:lnTo>
                <a:lnTo>
                  <a:pt x="1212469" y="992632"/>
                </a:lnTo>
                <a:lnTo>
                  <a:pt x="1170662" y="968163"/>
                </a:lnTo>
                <a:lnTo>
                  <a:pt x="1129945" y="942090"/>
                </a:lnTo>
                <a:lnTo>
                  <a:pt x="1090361" y="914458"/>
                </a:lnTo>
                <a:lnTo>
                  <a:pt x="1051953" y="885309"/>
                </a:lnTo>
                <a:lnTo>
                  <a:pt x="1014765" y="854687"/>
                </a:lnTo>
                <a:lnTo>
                  <a:pt x="978840" y="822636"/>
                </a:lnTo>
                <a:lnTo>
                  <a:pt x="944221" y="789199"/>
                </a:lnTo>
                <a:lnTo>
                  <a:pt x="910953" y="754419"/>
                </a:lnTo>
                <a:lnTo>
                  <a:pt x="879078" y="718341"/>
                </a:lnTo>
                <a:lnTo>
                  <a:pt x="848639" y="681008"/>
                </a:lnTo>
                <a:lnTo>
                  <a:pt x="819680" y="642463"/>
                </a:lnTo>
                <a:lnTo>
                  <a:pt x="792245" y="602750"/>
                </a:lnTo>
                <a:lnTo>
                  <a:pt x="766377" y="561912"/>
                </a:lnTo>
                <a:lnTo>
                  <a:pt x="742120" y="519994"/>
                </a:lnTo>
                <a:lnTo>
                  <a:pt x="719515" y="477038"/>
                </a:lnTo>
                <a:lnTo>
                  <a:pt x="698609" y="433088"/>
                </a:lnTo>
                <a:lnTo>
                  <a:pt x="679442" y="388188"/>
                </a:lnTo>
                <a:lnTo>
                  <a:pt x="662060" y="342381"/>
                </a:lnTo>
                <a:lnTo>
                  <a:pt x="646505" y="295710"/>
                </a:lnTo>
                <a:lnTo>
                  <a:pt x="632820" y="248220"/>
                </a:lnTo>
                <a:lnTo>
                  <a:pt x="621050" y="199954"/>
                </a:lnTo>
                <a:lnTo>
                  <a:pt x="611237" y="150956"/>
                </a:lnTo>
                <a:lnTo>
                  <a:pt x="603426" y="101268"/>
                </a:lnTo>
                <a:lnTo>
                  <a:pt x="597658" y="50935"/>
                </a:lnTo>
                <a:lnTo>
                  <a:pt x="593979" y="0"/>
                </a:lnTo>
                <a:close/>
              </a:path>
            </a:pathLst>
          </a:custGeom>
          <a:solidFill xmlns:a="http://schemas.openxmlformats.org/drawingml/2006/main">
            <a:srgbClr val="ACEA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79E0F48-32B2-4849-9311-65624568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267" y="1751457"/>
            <a:ext cx="10213975" cy="2762250"/>
          </a:xfrm>
          <a:custGeom xmlns:a="http://schemas.openxmlformats.org/drawingml/2006/main">
            <a:rect l="l" t="t" r="r" b="b"/>
            <a:pathLst>
              <a:path w="10213975" h="2762250">
                <a:moveTo>
                  <a:pt x="7013448" y="1600707"/>
                </a:moveTo>
                <a:lnTo>
                  <a:pt x="7579740" y="1033526"/>
                </a:lnTo>
                <a:lnTo>
                  <a:pt x="10213848" y="1033526"/>
                </a:lnTo>
              </a:path>
              <a:path w="10213975" h="2762250">
                <a:moveTo>
                  <a:pt x="3639311" y="567181"/>
                </a:moveTo>
                <a:lnTo>
                  <a:pt x="3073019" y="0"/>
                </a:lnTo>
                <a:lnTo>
                  <a:pt x="438912" y="0"/>
                </a:lnTo>
              </a:path>
              <a:path w="10213975" h="2762250">
                <a:moveTo>
                  <a:pt x="3200399" y="2762249"/>
                </a:moveTo>
                <a:lnTo>
                  <a:pt x="2634107" y="2195194"/>
                </a:lnTo>
                <a:lnTo>
                  <a:pt x="0" y="2195194"/>
                </a:lnTo>
              </a:path>
            </a:pathLst>
          </a:custGeom>
          <a:ln xmlns:a="http://schemas.openxmlformats.org/drawingml/2006/main" w="12700">
            <a:solidFill>
              <a:srgbClr val="B1B1B1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81555C90-22FC-41DF-8931-EB5AE6FF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749" y="1832434"/>
            <a:ext cx="2303780" cy="882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39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40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Regulators</a:t>
            </a:r>
            <a:r>
              <a:rPr sz="1500" b="1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500" b="1" spc="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governance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318135" algn="just">
              <a:lnSpc>
                <a:spcPct val="111200"/>
              </a:lnSpc>
              <a:spcBef>
                <a:spcPts val="295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auditable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lineage,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versioning,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monitoring</a:t>
            </a:r>
            <a:r>
              <a:rPr sz="1000" spc="-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recorded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human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decision</a:t>
            </a:r>
            <a:r>
              <a:rPr sz="1000" spc="-5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000" spc="-5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every</a:t>
            </a:r>
            <a:r>
              <a:rPr sz="1000" spc="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use.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FE8161A-1452-49C0-AEE2-37CD7B47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6" y="4005110"/>
            <a:ext cx="2345055" cy="883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461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45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Clinicians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11100"/>
              </a:lnSpc>
              <a:spcBef>
                <a:spcPts val="300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000" spc="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interpretable,</a:t>
            </a:r>
            <a:r>
              <a:rPr sz="1000" spc="-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calibrated</a:t>
            </a:r>
            <a:r>
              <a:rPr sz="1000" spc="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score</a:t>
            </a:r>
            <a:r>
              <a:rPr sz="1000" spc="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000" spc="-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approved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workflow—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while</a:t>
            </a:r>
            <a:r>
              <a:rPr sz="1000" spc="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retaining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final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accountability.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B06EC4F1-9F37-4B81-9BE9-DD29DA4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308" y="2806968"/>
            <a:ext cx="2370455" cy="881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33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35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Patients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11200"/>
              </a:lnSpc>
              <a:spcBef>
                <a:spcPts val="300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-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clear</a:t>
            </a:r>
            <a:r>
              <a:rPr sz="1000" spc="-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explanation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000" spc="-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000" spc="-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score,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its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uncertainty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how</a:t>
            </a:r>
            <a:r>
              <a:rPr sz="1000" spc="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000" spc="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influenced—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000" spc="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be</a:t>
            </a:r>
            <a:r>
              <a:rPr sz="1000" spc="-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challenged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in—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care.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8638C1A-C947-4B47-A6DD-E0989A5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4460303"/>
            <a:ext cx="697230" cy="212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12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Clinicians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6E00A78-BC9C-46EB-A35E-1F028C19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704" y="3586607"/>
            <a:ext cx="598805" cy="212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12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Patients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B2C5205-4A1A-4078-B4AE-DDF40C45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615" y="2603690"/>
            <a:ext cx="76771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Governance</a:t>
            </a:r>
            <a:endParaRPr sz="1050">
              <a:latin typeface="Segoe UI"/>
              <a:ea typeface="Segoe UI"/>
              <a:cs typeface="Segoe UI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C3CBE1E-D185-4022-AB45-17A0D3EE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536" y="3465972"/>
            <a:ext cx="560705" cy="50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6675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525"/>
              </a:spcBef>
              <a:buNone/>
            </a:pPr>
            <a:r>
              <a:rPr sz="12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Trusted</a:t>
            </a: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ctr">
              <a:lnSpc>
                <a:spcPct val="100000"/>
              </a:lnSpc>
              <a:spcBef>
                <a:spcPts val="434"/>
              </a:spcBef>
              <a:buNone/>
            </a:pPr>
            <a:r>
              <a:rPr sz="1200" b="1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075D2F8C-5CA8-4FAB-ACC8-ED56A02B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7334" y="1552828"/>
            <a:ext cx="2245995" cy="1465580"/>
          </a:xfrm>
          <a:custGeom xmlns:a="http://schemas.openxmlformats.org/drawingml/2006/main">
            <a:rect l="l" t="t" r="r" b="b"/>
            <a:pathLst>
              <a:path w="2245995" h="1465580">
                <a:moveTo>
                  <a:pt x="2201463" y="1389500"/>
                </a:moveTo>
                <a:lnTo>
                  <a:pt x="2169921" y="1390396"/>
                </a:lnTo>
                <a:lnTo>
                  <a:pt x="2210181" y="1465453"/>
                </a:lnTo>
                <a:lnTo>
                  <a:pt x="2239515" y="1402207"/>
                </a:lnTo>
                <a:lnTo>
                  <a:pt x="2202053" y="1402207"/>
                </a:lnTo>
                <a:lnTo>
                  <a:pt x="2201505" y="1390396"/>
                </a:lnTo>
                <a:lnTo>
                  <a:pt x="2201463" y="1389500"/>
                </a:lnTo>
                <a:close/>
              </a:path>
              <a:path w="2245995" h="1465580">
                <a:moveTo>
                  <a:pt x="2214099" y="1389142"/>
                </a:moveTo>
                <a:lnTo>
                  <a:pt x="2201463" y="1389500"/>
                </a:lnTo>
                <a:lnTo>
                  <a:pt x="2202029" y="1401699"/>
                </a:lnTo>
                <a:lnTo>
                  <a:pt x="2202053" y="1402207"/>
                </a:lnTo>
                <a:lnTo>
                  <a:pt x="2214625" y="1401699"/>
                </a:lnTo>
                <a:lnTo>
                  <a:pt x="2214151" y="1390396"/>
                </a:lnTo>
                <a:lnTo>
                  <a:pt x="2214099" y="1389142"/>
                </a:lnTo>
                <a:close/>
              </a:path>
              <a:path w="2245995" h="1465580">
                <a:moveTo>
                  <a:pt x="2245994" y="1388237"/>
                </a:moveTo>
                <a:lnTo>
                  <a:pt x="2214099" y="1389142"/>
                </a:lnTo>
                <a:lnTo>
                  <a:pt x="2214625" y="1401699"/>
                </a:lnTo>
                <a:lnTo>
                  <a:pt x="2202053" y="1402207"/>
                </a:lnTo>
                <a:lnTo>
                  <a:pt x="2239515" y="1402207"/>
                </a:lnTo>
                <a:lnTo>
                  <a:pt x="2245994" y="1388237"/>
                </a:lnTo>
                <a:close/>
              </a:path>
              <a:path w="2245995" h="1465580">
                <a:moveTo>
                  <a:pt x="1864539" y="530688"/>
                </a:moveTo>
                <a:lnTo>
                  <a:pt x="1910886" y="589136"/>
                </a:lnTo>
                <a:lnTo>
                  <a:pt x="1949353" y="643001"/>
                </a:lnTo>
                <a:lnTo>
                  <a:pt x="1954180" y="649927"/>
                </a:lnTo>
                <a:lnTo>
                  <a:pt x="1954468" y="650187"/>
                </a:lnTo>
                <a:lnTo>
                  <a:pt x="1994535" y="712978"/>
                </a:lnTo>
                <a:lnTo>
                  <a:pt x="2018833" y="754790"/>
                </a:lnTo>
                <a:lnTo>
                  <a:pt x="2039721" y="793750"/>
                </a:lnTo>
                <a:lnTo>
                  <a:pt x="2042689" y="799521"/>
                </a:lnTo>
                <a:lnTo>
                  <a:pt x="2042887" y="799669"/>
                </a:lnTo>
                <a:lnTo>
                  <a:pt x="2064639" y="843915"/>
                </a:lnTo>
                <a:lnTo>
                  <a:pt x="2084959" y="889000"/>
                </a:lnTo>
                <a:lnTo>
                  <a:pt x="2103755" y="934593"/>
                </a:lnTo>
                <a:lnTo>
                  <a:pt x="2120632" y="979888"/>
                </a:lnTo>
                <a:lnTo>
                  <a:pt x="2135281" y="1023747"/>
                </a:lnTo>
                <a:lnTo>
                  <a:pt x="2136445" y="1027456"/>
                </a:lnTo>
                <a:lnTo>
                  <a:pt x="2136583" y="1027663"/>
                </a:lnTo>
                <a:lnTo>
                  <a:pt x="2150134" y="1073298"/>
                </a:lnTo>
                <a:lnTo>
                  <a:pt x="2162166" y="1119505"/>
                </a:lnTo>
                <a:lnTo>
                  <a:pt x="2162885" y="1122462"/>
                </a:lnTo>
                <a:lnTo>
                  <a:pt x="2162983" y="1122668"/>
                </a:lnTo>
                <a:lnTo>
                  <a:pt x="2173605" y="1170559"/>
                </a:lnTo>
                <a:lnTo>
                  <a:pt x="2182477" y="1216914"/>
                </a:lnTo>
                <a:lnTo>
                  <a:pt x="2182843" y="1218995"/>
                </a:lnTo>
                <a:lnTo>
                  <a:pt x="2182907" y="1219194"/>
                </a:lnTo>
                <a:lnTo>
                  <a:pt x="2190368" y="1267841"/>
                </a:lnTo>
                <a:lnTo>
                  <a:pt x="2196196" y="1316864"/>
                </a:lnTo>
                <a:lnTo>
                  <a:pt x="2200316" y="1365377"/>
                </a:lnTo>
                <a:lnTo>
                  <a:pt x="2201463" y="1389500"/>
                </a:lnTo>
                <a:lnTo>
                  <a:pt x="2214099" y="1389142"/>
                </a:lnTo>
                <a:lnTo>
                  <a:pt x="2213157" y="1366692"/>
                </a:lnTo>
                <a:lnTo>
                  <a:pt x="2213101" y="1365377"/>
                </a:lnTo>
                <a:lnTo>
                  <a:pt x="2209055" y="1317306"/>
                </a:lnTo>
                <a:lnTo>
                  <a:pt x="2202941" y="1266190"/>
                </a:lnTo>
                <a:lnTo>
                  <a:pt x="2195448" y="1216914"/>
                </a:lnTo>
                <a:lnTo>
                  <a:pt x="2186050" y="1168019"/>
                </a:lnTo>
                <a:lnTo>
                  <a:pt x="2175256" y="1119505"/>
                </a:lnTo>
                <a:lnTo>
                  <a:pt x="2162810" y="1071372"/>
                </a:lnTo>
                <a:lnTo>
                  <a:pt x="2148586" y="1023747"/>
                </a:lnTo>
                <a:lnTo>
                  <a:pt x="2132965" y="976630"/>
                </a:lnTo>
                <a:lnTo>
                  <a:pt x="2115566" y="930021"/>
                </a:lnTo>
                <a:lnTo>
                  <a:pt x="2096642" y="884047"/>
                </a:lnTo>
                <a:lnTo>
                  <a:pt x="2076195" y="838581"/>
                </a:lnTo>
                <a:lnTo>
                  <a:pt x="2054097" y="793750"/>
                </a:lnTo>
                <a:lnTo>
                  <a:pt x="2030603" y="749808"/>
                </a:lnTo>
                <a:lnTo>
                  <a:pt x="2005330" y="706374"/>
                </a:lnTo>
                <a:lnTo>
                  <a:pt x="1964816" y="643001"/>
                </a:lnTo>
                <a:lnTo>
                  <a:pt x="1921637" y="582295"/>
                </a:lnTo>
                <a:lnTo>
                  <a:pt x="1882199" y="532369"/>
                </a:lnTo>
                <a:lnTo>
                  <a:pt x="1866013" y="532369"/>
                </a:lnTo>
                <a:lnTo>
                  <a:pt x="1864539" y="530688"/>
                </a:lnTo>
                <a:close/>
              </a:path>
              <a:path w="2245995" h="1465580">
                <a:moveTo>
                  <a:pt x="1233013" y="94029"/>
                </a:moveTo>
                <a:lnTo>
                  <a:pt x="1300257" y="119360"/>
                </a:lnTo>
                <a:lnTo>
                  <a:pt x="1362910" y="146600"/>
                </a:lnTo>
                <a:lnTo>
                  <a:pt x="1363501" y="146906"/>
                </a:lnTo>
                <a:lnTo>
                  <a:pt x="1363853" y="147063"/>
                </a:lnTo>
                <a:lnTo>
                  <a:pt x="1426439" y="177800"/>
                </a:lnTo>
                <a:lnTo>
                  <a:pt x="1487534" y="211571"/>
                </a:lnTo>
                <a:lnTo>
                  <a:pt x="1546669" y="248232"/>
                </a:lnTo>
                <a:lnTo>
                  <a:pt x="1606209" y="289223"/>
                </a:lnTo>
                <a:lnTo>
                  <a:pt x="1661475" y="331438"/>
                </a:lnTo>
                <a:lnTo>
                  <a:pt x="1661674" y="331574"/>
                </a:lnTo>
                <a:lnTo>
                  <a:pt x="1714623" y="376366"/>
                </a:lnTo>
                <a:lnTo>
                  <a:pt x="1768213" y="426338"/>
                </a:lnTo>
                <a:lnTo>
                  <a:pt x="1818139" y="477774"/>
                </a:lnTo>
                <a:lnTo>
                  <a:pt x="1866013" y="532369"/>
                </a:lnTo>
                <a:lnTo>
                  <a:pt x="1882199" y="532369"/>
                </a:lnTo>
                <a:lnTo>
                  <a:pt x="1827530" y="469265"/>
                </a:lnTo>
                <a:lnTo>
                  <a:pt x="1776984" y="417195"/>
                </a:lnTo>
                <a:lnTo>
                  <a:pt x="1724279" y="367919"/>
                </a:lnTo>
                <a:lnTo>
                  <a:pt x="1669541" y="321563"/>
                </a:lnTo>
                <a:lnTo>
                  <a:pt x="1612772" y="278257"/>
                </a:lnTo>
                <a:lnTo>
                  <a:pt x="1554225" y="237998"/>
                </a:lnTo>
                <a:lnTo>
                  <a:pt x="1494028" y="200660"/>
                </a:lnTo>
                <a:lnTo>
                  <a:pt x="1432306" y="166497"/>
                </a:lnTo>
                <a:lnTo>
                  <a:pt x="1369187" y="135382"/>
                </a:lnTo>
                <a:lnTo>
                  <a:pt x="1304670" y="107442"/>
                </a:lnTo>
                <a:lnTo>
                  <a:pt x="1270819" y="94698"/>
                </a:lnTo>
                <a:lnTo>
                  <a:pt x="1235079" y="94698"/>
                </a:lnTo>
                <a:lnTo>
                  <a:pt x="1233013" y="94029"/>
                </a:lnTo>
                <a:close/>
              </a:path>
              <a:path w="2245995" h="1465580">
                <a:moveTo>
                  <a:pt x="757047" y="0"/>
                </a:moveTo>
                <a:lnTo>
                  <a:pt x="686562" y="1650"/>
                </a:lnTo>
                <a:lnTo>
                  <a:pt x="615950" y="6731"/>
                </a:lnTo>
                <a:lnTo>
                  <a:pt x="545591" y="15240"/>
                </a:lnTo>
                <a:lnTo>
                  <a:pt x="474493" y="27432"/>
                </a:lnTo>
                <a:lnTo>
                  <a:pt x="474665" y="27432"/>
                </a:lnTo>
                <a:lnTo>
                  <a:pt x="405256" y="42925"/>
                </a:lnTo>
                <a:lnTo>
                  <a:pt x="335788" y="62103"/>
                </a:lnTo>
                <a:lnTo>
                  <a:pt x="266953" y="84709"/>
                </a:lnTo>
                <a:lnTo>
                  <a:pt x="198754" y="111125"/>
                </a:lnTo>
                <a:lnTo>
                  <a:pt x="131444" y="141097"/>
                </a:lnTo>
                <a:lnTo>
                  <a:pt x="65024" y="174879"/>
                </a:lnTo>
                <a:lnTo>
                  <a:pt x="0" y="212217"/>
                </a:lnTo>
                <a:lnTo>
                  <a:pt x="6350" y="223138"/>
                </a:lnTo>
                <a:lnTo>
                  <a:pt x="71025" y="186055"/>
                </a:lnTo>
                <a:lnTo>
                  <a:pt x="136782" y="152654"/>
                </a:lnTo>
                <a:lnTo>
                  <a:pt x="203221" y="123026"/>
                </a:lnTo>
                <a:lnTo>
                  <a:pt x="271070" y="96774"/>
                </a:lnTo>
                <a:lnTo>
                  <a:pt x="338529" y="74520"/>
                </a:lnTo>
                <a:lnTo>
                  <a:pt x="339259" y="74337"/>
                </a:lnTo>
                <a:lnTo>
                  <a:pt x="407896" y="55342"/>
                </a:lnTo>
                <a:lnTo>
                  <a:pt x="407751" y="55342"/>
                </a:lnTo>
                <a:lnTo>
                  <a:pt x="476962" y="39931"/>
                </a:lnTo>
                <a:lnTo>
                  <a:pt x="477209" y="39931"/>
                </a:lnTo>
                <a:lnTo>
                  <a:pt x="547074" y="27855"/>
                </a:lnTo>
                <a:lnTo>
                  <a:pt x="546888" y="27855"/>
                </a:lnTo>
                <a:lnTo>
                  <a:pt x="616742" y="19475"/>
                </a:lnTo>
                <a:lnTo>
                  <a:pt x="616342" y="19475"/>
                </a:lnTo>
                <a:lnTo>
                  <a:pt x="686944" y="14378"/>
                </a:lnTo>
                <a:lnTo>
                  <a:pt x="685778" y="14378"/>
                </a:lnTo>
                <a:lnTo>
                  <a:pt x="757037" y="12703"/>
                </a:lnTo>
                <a:lnTo>
                  <a:pt x="943590" y="12703"/>
                </a:lnTo>
                <a:lnTo>
                  <a:pt x="897509" y="6985"/>
                </a:lnTo>
                <a:lnTo>
                  <a:pt x="827404" y="1905"/>
                </a:lnTo>
                <a:lnTo>
                  <a:pt x="757047" y="0"/>
                </a:lnTo>
                <a:close/>
              </a:path>
              <a:path w="2245995" h="1465580">
                <a:moveTo>
                  <a:pt x="943590" y="12703"/>
                </a:moveTo>
                <a:lnTo>
                  <a:pt x="757037" y="12703"/>
                </a:lnTo>
                <a:lnTo>
                  <a:pt x="827573" y="14623"/>
                </a:lnTo>
                <a:lnTo>
                  <a:pt x="826896" y="14623"/>
                </a:lnTo>
                <a:lnTo>
                  <a:pt x="896787" y="19715"/>
                </a:lnTo>
                <a:lnTo>
                  <a:pt x="896364" y="19715"/>
                </a:lnTo>
                <a:lnTo>
                  <a:pt x="965796" y="28235"/>
                </a:lnTo>
                <a:lnTo>
                  <a:pt x="965449" y="28235"/>
                </a:lnTo>
                <a:lnTo>
                  <a:pt x="1034222" y="39931"/>
                </a:lnTo>
                <a:lnTo>
                  <a:pt x="1033898" y="39931"/>
                </a:lnTo>
                <a:lnTo>
                  <a:pt x="1103307" y="55342"/>
                </a:lnTo>
                <a:lnTo>
                  <a:pt x="1102767" y="55342"/>
                </a:lnTo>
                <a:lnTo>
                  <a:pt x="1168766" y="73238"/>
                </a:lnTo>
                <a:lnTo>
                  <a:pt x="1235079" y="94698"/>
                </a:lnTo>
                <a:lnTo>
                  <a:pt x="1270819" y="94698"/>
                </a:lnTo>
                <a:lnTo>
                  <a:pt x="1172210" y="60960"/>
                </a:lnTo>
                <a:lnTo>
                  <a:pt x="1104645" y="42672"/>
                </a:lnTo>
                <a:lnTo>
                  <a:pt x="1036192" y="27432"/>
                </a:lnTo>
                <a:lnTo>
                  <a:pt x="967104" y="15621"/>
                </a:lnTo>
                <a:lnTo>
                  <a:pt x="943590" y="12703"/>
                </a:lnTo>
                <a:close/>
              </a:path>
              <a:path w="2245995" h="1465580">
                <a:moveTo>
                  <a:pt x="1168794" y="73238"/>
                </a:moveTo>
                <a:lnTo>
                  <a:pt x="1168631" y="73238"/>
                </a:lnTo>
                <a:lnTo>
                  <a:pt x="1169640" y="73512"/>
                </a:lnTo>
                <a:lnTo>
                  <a:pt x="1168794" y="73238"/>
                </a:lnTo>
                <a:close/>
              </a:path>
              <a:path w="2245995" h="1465580">
                <a:moveTo>
                  <a:pt x="477285" y="39931"/>
                </a:moveTo>
                <a:lnTo>
                  <a:pt x="476962" y="39931"/>
                </a:lnTo>
                <a:lnTo>
                  <a:pt x="476104" y="40122"/>
                </a:lnTo>
                <a:lnTo>
                  <a:pt x="477285" y="39931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B8F3E48-A40F-4AE3-AEE4-1CA804DD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1615" y="2350642"/>
            <a:ext cx="356870" cy="338455"/>
          </a:xfrm>
          <a:custGeom xmlns:a="http://schemas.openxmlformats.org/drawingml/2006/main">
            <a:rect l="l" t="t" r="r" b="b"/>
            <a:pathLst>
              <a:path w="356870" h="338455">
                <a:moveTo>
                  <a:pt x="323723" y="286639"/>
                </a:moveTo>
                <a:lnTo>
                  <a:pt x="32893" y="286639"/>
                </a:lnTo>
                <a:lnTo>
                  <a:pt x="32893" y="296037"/>
                </a:lnTo>
                <a:lnTo>
                  <a:pt x="0" y="319532"/>
                </a:lnTo>
                <a:lnTo>
                  <a:pt x="0" y="338328"/>
                </a:lnTo>
                <a:lnTo>
                  <a:pt x="356616" y="338328"/>
                </a:lnTo>
                <a:lnTo>
                  <a:pt x="356616" y="319532"/>
                </a:lnTo>
                <a:lnTo>
                  <a:pt x="323723" y="296037"/>
                </a:lnTo>
                <a:lnTo>
                  <a:pt x="323723" y="286639"/>
                </a:lnTo>
                <a:close/>
              </a:path>
              <a:path w="356870" h="338455">
                <a:moveTo>
                  <a:pt x="79756" y="126873"/>
                </a:moveTo>
                <a:lnTo>
                  <a:pt x="51562" y="126873"/>
                </a:lnTo>
                <a:lnTo>
                  <a:pt x="51562" y="286639"/>
                </a:lnTo>
                <a:lnTo>
                  <a:pt x="79756" y="286639"/>
                </a:lnTo>
                <a:lnTo>
                  <a:pt x="79756" y="126873"/>
                </a:lnTo>
                <a:close/>
              </a:path>
              <a:path w="356870" h="338455">
                <a:moveTo>
                  <a:pt x="136017" y="126873"/>
                </a:moveTo>
                <a:lnTo>
                  <a:pt x="107950" y="126873"/>
                </a:lnTo>
                <a:lnTo>
                  <a:pt x="107950" y="286639"/>
                </a:lnTo>
                <a:lnTo>
                  <a:pt x="136017" y="286639"/>
                </a:lnTo>
                <a:lnTo>
                  <a:pt x="136017" y="126873"/>
                </a:lnTo>
                <a:close/>
              </a:path>
              <a:path w="356870" h="338455">
                <a:moveTo>
                  <a:pt x="192405" y="126873"/>
                </a:moveTo>
                <a:lnTo>
                  <a:pt x="164211" y="126873"/>
                </a:lnTo>
                <a:lnTo>
                  <a:pt x="164211" y="286639"/>
                </a:lnTo>
                <a:lnTo>
                  <a:pt x="192405" y="286639"/>
                </a:lnTo>
                <a:lnTo>
                  <a:pt x="192405" y="126873"/>
                </a:lnTo>
                <a:close/>
              </a:path>
              <a:path w="356870" h="338455">
                <a:moveTo>
                  <a:pt x="248666" y="126873"/>
                </a:moveTo>
                <a:lnTo>
                  <a:pt x="220599" y="126873"/>
                </a:lnTo>
                <a:lnTo>
                  <a:pt x="220599" y="286639"/>
                </a:lnTo>
                <a:lnTo>
                  <a:pt x="248666" y="286639"/>
                </a:lnTo>
                <a:lnTo>
                  <a:pt x="248666" y="126873"/>
                </a:lnTo>
                <a:close/>
              </a:path>
              <a:path w="356870" h="338455">
                <a:moveTo>
                  <a:pt x="305054" y="126873"/>
                </a:moveTo>
                <a:lnTo>
                  <a:pt x="276860" y="126873"/>
                </a:lnTo>
                <a:lnTo>
                  <a:pt x="276860" y="286639"/>
                </a:lnTo>
                <a:lnTo>
                  <a:pt x="305054" y="286639"/>
                </a:lnTo>
                <a:lnTo>
                  <a:pt x="305054" y="126873"/>
                </a:lnTo>
                <a:close/>
              </a:path>
              <a:path w="356870" h="338455">
                <a:moveTo>
                  <a:pt x="323723" y="117475"/>
                </a:moveTo>
                <a:lnTo>
                  <a:pt x="32893" y="117475"/>
                </a:lnTo>
                <a:lnTo>
                  <a:pt x="32893" y="126873"/>
                </a:lnTo>
                <a:lnTo>
                  <a:pt x="323723" y="126873"/>
                </a:lnTo>
                <a:lnTo>
                  <a:pt x="323723" y="117475"/>
                </a:lnTo>
                <a:close/>
              </a:path>
              <a:path w="356870" h="338455">
                <a:moveTo>
                  <a:pt x="337820" y="89281"/>
                </a:moveTo>
                <a:lnTo>
                  <a:pt x="18796" y="89281"/>
                </a:lnTo>
                <a:lnTo>
                  <a:pt x="18796" y="117475"/>
                </a:lnTo>
                <a:lnTo>
                  <a:pt x="337820" y="117475"/>
                </a:lnTo>
                <a:lnTo>
                  <a:pt x="337820" y="89281"/>
                </a:lnTo>
                <a:close/>
              </a:path>
              <a:path w="356870" h="338455">
                <a:moveTo>
                  <a:pt x="178308" y="0"/>
                </a:moveTo>
                <a:lnTo>
                  <a:pt x="32893" y="89281"/>
                </a:lnTo>
                <a:lnTo>
                  <a:pt x="323723" y="89281"/>
                </a:lnTo>
                <a:lnTo>
                  <a:pt x="308416" y="79883"/>
                </a:lnTo>
                <a:lnTo>
                  <a:pt x="173609" y="79883"/>
                </a:lnTo>
                <a:lnTo>
                  <a:pt x="166332" y="78392"/>
                </a:lnTo>
                <a:lnTo>
                  <a:pt x="160353" y="74342"/>
                </a:lnTo>
                <a:lnTo>
                  <a:pt x="156303" y="68363"/>
                </a:lnTo>
                <a:lnTo>
                  <a:pt x="154812" y="61087"/>
                </a:lnTo>
                <a:lnTo>
                  <a:pt x="156303" y="53756"/>
                </a:lnTo>
                <a:lnTo>
                  <a:pt x="160353" y="47783"/>
                </a:lnTo>
                <a:lnTo>
                  <a:pt x="166332" y="43763"/>
                </a:lnTo>
                <a:lnTo>
                  <a:pt x="173609" y="42291"/>
                </a:lnTo>
                <a:lnTo>
                  <a:pt x="247188" y="42291"/>
                </a:lnTo>
                <a:lnTo>
                  <a:pt x="178308" y="0"/>
                </a:lnTo>
                <a:close/>
              </a:path>
              <a:path w="356870" h="338455">
                <a:moveTo>
                  <a:pt x="247188" y="42291"/>
                </a:moveTo>
                <a:lnTo>
                  <a:pt x="173609" y="42291"/>
                </a:lnTo>
                <a:lnTo>
                  <a:pt x="180885" y="43763"/>
                </a:lnTo>
                <a:lnTo>
                  <a:pt x="186864" y="47783"/>
                </a:lnTo>
                <a:lnTo>
                  <a:pt x="190914" y="53756"/>
                </a:lnTo>
                <a:lnTo>
                  <a:pt x="192405" y="61087"/>
                </a:lnTo>
                <a:lnTo>
                  <a:pt x="190914" y="68363"/>
                </a:lnTo>
                <a:lnTo>
                  <a:pt x="186864" y="74342"/>
                </a:lnTo>
                <a:lnTo>
                  <a:pt x="180885" y="78392"/>
                </a:lnTo>
                <a:lnTo>
                  <a:pt x="173609" y="79883"/>
                </a:lnTo>
                <a:lnTo>
                  <a:pt x="308416" y="79883"/>
                </a:lnTo>
                <a:lnTo>
                  <a:pt x="247188" y="422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9815490D-ED7D-45AA-83CC-5977AB8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0386" y="3880865"/>
            <a:ext cx="2025650" cy="1737360"/>
          </a:xfrm>
          <a:custGeom xmlns:a="http://schemas.openxmlformats.org/drawingml/2006/main">
            <a:rect l="l" t="t" r="r" b="b"/>
            <a:pathLst>
              <a:path w="2025650" h="1737360">
                <a:moveTo>
                  <a:pt x="74599" y="1637672"/>
                </a:moveTo>
                <a:lnTo>
                  <a:pt x="73087" y="1641474"/>
                </a:lnTo>
                <a:lnTo>
                  <a:pt x="69978" y="1649499"/>
                </a:lnTo>
                <a:lnTo>
                  <a:pt x="98935" y="1660143"/>
                </a:lnTo>
                <a:lnTo>
                  <a:pt x="149862" y="1676272"/>
                </a:lnTo>
                <a:lnTo>
                  <a:pt x="201297" y="1690623"/>
                </a:lnTo>
                <a:lnTo>
                  <a:pt x="253113" y="1702942"/>
                </a:lnTo>
                <a:lnTo>
                  <a:pt x="305437" y="1713420"/>
                </a:lnTo>
                <a:lnTo>
                  <a:pt x="357888" y="1721929"/>
                </a:lnTo>
                <a:lnTo>
                  <a:pt x="410720" y="1728533"/>
                </a:lnTo>
                <a:lnTo>
                  <a:pt x="463679" y="1733219"/>
                </a:lnTo>
                <a:lnTo>
                  <a:pt x="516765" y="1735988"/>
                </a:lnTo>
                <a:lnTo>
                  <a:pt x="570105" y="1736750"/>
                </a:lnTo>
                <a:lnTo>
                  <a:pt x="623445" y="1735607"/>
                </a:lnTo>
                <a:lnTo>
                  <a:pt x="676658" y="1732457"/>
                </a:lnTo>
                <a:lnTo>
                  <a:pt x="729871" y="1727377"/>
                </a:lnTo>
                <a:lnTo>
                  <a:pt x="754841" y="1724050"/>
                </a:lnTo>
                <a:lnTo>
                  <a:pt x="570105" y="1724050"/>
                </a:lnTo>
                <a:lnTo>
                  <a:pt x="518029" y="1723301"/>
                </a:lnTo>
                <a:lnTo>
                  <a:pt x="517400" y="1723301"/>
                </a:lnTo>
                <a:lnTo>
                  <a:pt x="464709" y="1720559"/>
                </a:lnTo>
                <a:lnTo>
                  <a:pt x="412117" y="1715909"/>
                </a:lnTo>
                <a:lnTo>
                  <a:pt x="359965" y="1709396"/>
                </a:lnTo>
                <a:lnTo>
                  <a:pt x="307716" y="1700951"/>
                </a:lnTo>
                <a:lnTo>
                  <a:pt x="307924" y="1700951"/>
                </a:lnTo>
                <a:lnTo>
                  <a:pt x="256087" y="1690623"/>
                </a:lnTo>
                <a:lnTo>
                  <a:pt x="204555" y="1678409"/>
                </a:lnTo>
                <a:lnTo>
                  <a:pt x="153626" y="1664184"/>
                </a:lnTo>
                <a:lnTo>
                  <a:pt x="103051" y="1648168"/>
                </a:lnTo>
                <a:lnTo>
                  <a:pt x="74599" y="1637672"/>
                </a:lnTo>
                <a:close/>
              </a:path>
              <a:path w="2025650" h="1737360">
                <a:moveTo>
                  <a:pt x="835187" y="1698486"/>
                </a:moveTo>
                <a:lnTo>
                  <a:pt x="780698" y="1707795"/>
                </a:lnTo>
                <a:lnTo>
                  <a:pt x="728334" y="1714779"/>
                </a:lnTo>
                <a:lnTo>
                  <a:pt x="675769" y="1719783"/>
                </a:lnTo>
                <a:lnTo>
                  <a:pt x="622937" y="1722920"/>
                </a:lnTo>
                <a:lnTo>
                  <a:pt x="570105" y="1724050"/>
                </a:lnTo>
                <a:lnTo>
                  <a:pt x="754841" y="1724050"/>
                </a:lnTo>
                <a:lnTo>
                  <a:pt x="782957" y="1720303"/>
                </a:lnTo>
                <a:lnTo>
                  <a:pt x="835916" y="1711299"/>
                </a:lnTo>
                <a:lnTo>
                  <a:pt x="893711" y="1698820"/>
                </a:lnTo>
                <a:lnTo>
                  <a:pt x="833645" y="1698820"/>
                </a:lnTo>
                <a:lnTo>
                  <a:pt x="835187" y="1698486"/>
                </a:lnTo>
                <a:close/>
              </a:path>
              <a:path w="2025650" h="1737360">
                <a:moveTo>
                  <a:pt x="307969" y="1700951"/>
                </a:moveTo>
                <a:lnTo>
                  <a:pt x="307716" y="1700951"/>
                </a:lnTo>
                <a:lnTo>
                  <a:pt x="308816" y="1701128"/>
                </a:lnTo>
                <a:lnTo>
                  <a:pt x="307969" y="1700951"/>
                </a:lnTo>
                <a:close/>
              </a:path>
              <a:path w="2025650" h="1737360">
                <a:moveTo>
                  <a:pt x="1999998" y="0"/>
                </a:moveTo>
                <a:lnTo>
                  <a:pt x="1987552" y="2031"/>
                </a:lnTo>
                <a:lnTo>
                  <a:pt x="1999224" y="74294"/>
                </a:lnTo>
                <a:lnTo>
                  <a:pt x="1999623" y="77029"/>
                </a:lnTo>
                <a:lnTo>
                  <a:pt x="2007501" y="148462"/>
                </a:lnTo>
                <a:lnTo>
                  <a:pt x="2012024" y="222249"/>
                </a:lnTo>
                <a:lnTo>
                  <a:pt x="2012822" y="295223"/>
                </a:lnTo>
                <a:lnTo>
                  <a:pt x="2009797" y="367062"/>
                </a:lnTo>
                <a:lnTo>
                  <a:pt x="2003334" y="438690"/>
                </a:lnTo>
                <a:lnTo>
                  <a:pt x="2003390" y="438924"/>
                </a:lnTo>
                <a:lnTo>
                  <a:pt x="2003185" y="440181"/>
                </a:lnTo>
                <a:lnTo>
                  <a:pt x="2003132" y="440765"/>
                </a:lnTo>
                <a:lnTo>
                  <a:pt x="1993592" y="509013"/>
                </a:lnTo>
                <a:lnTo>
                  <a:pt x="1993521" y="509150"/>
                </a:lnTo>
                <a:lnTo>
                  <a:pt x="1980294" y="578728"/>
                </a:lnTo>
                <a:lnTo>
                  <a:pt x="1980184" y="579127"/>
                </a:lnTo>
                <a:lnTo>
                  <a:pt x="1963296" y="648741"/>
                </a:lnTo>
                <a:lnTo>
                  <a:pt x="1943525" y="715985"/>
                </a:lnTo>
                <a:lnTo>
                  <a:pt x="1920593" y="781882"/>
                </a:lnTo>
                <a:lnTo>
                  <a:pt x="1894933" y="845597"/>
                </a:lnTo>
                <a:lnTo>
                  <a:pt x="1865621" y="909573"/>
                </a:lnTo>
                <a:lnTo>
                  <a:pt x="1833506" y="971549"/>
                </a:lnTo>
                <a:lnTo>
                  <a:pt x="1798663" y="1031415"/>
                </a:lnTo>
                <a:lnTo>
                  <a:pt x="1760839" y="1090182"/>
                </a:lnTo>
                <a:lnTo>
                  <a:pt x="1760718" y="1090311"/>
                </a:lnTo>
                <a:lnTo>
                  <a:pt x="1720236" y="1146885"/>
                </a:lnTo>
                <a:lnTo>
                  <a:pt x="1719567" y="1147794"/>
                </a:lnTo>
                <a:lnTo>
                  <a:pt x="1677044" y="1201560"/>
                </a:lnTo>
                <a:lnTo>
                  <a:pt x="1676977" y="1201744"/>
                </a:lnTo>
                <a:lnTo>
                  <a:pt x="1632381" y="1252886"/>
                </a:lnTo>
                <a:lnTo>
                  <a:pt x="1582940" y="1304527"/>
                </a:lnTo>
                <a:lnTo>
                  <a:pt x="1532275" y="1352571"/>
                </a:lnTo>
                <a:lnTo>
                  <a:pt x="1532075" y="1352729"/>
                </a:lnTo>
                <a:lnTo>
                  <a:pt x="1531108" y="1353645"/>
                </a:lnTo>
                <a:lnTo>
                  <a:pt x="1479193" y="1398167"/>
                </a:lnTo>
                <a:lnTo>
                  <a:pt x="1478992" y="1398314"/>
                </a:lnTo>
                <a:lnTo>
                  <a:pt x="1478130" y="1399053"/>
                </a:lnTo>
                <a:lnTo>
                  <a:pt x="1423819" y="1441354"/>
                </a:lnTo>
                <a:lnTo>
                  <a:pt x="1423681" y="1441484"/>
                </a:lnTo>
                <a:lnTo>
                  <a:pt x="1366303" y="1481759"/>
                </a:lnTo>
                <a:lnTo>
                  <a:pt x="1365971" y="1481896"/>
                </a:lnTo>
                <a:lnTo>
                  <a:pt x="1305956" y="1519834"/>
                </a:lnTo>
                <a:lnTo>
                  <a:pt x="1244437" y="1554511"/>
                </a:lnTo>
                <a:lnTo>
                  <a:pt x="1180305" y="1586737"/>
                </a:lnTo>
                <a:lnTo>
                  <a:pt x="1114560" y="1615651"/>
                </a:lnTo>
                <a:lnTo>
                  <a:pt x="1046851" y="1641474"/>
                </a:lnTo>
                <a:lnTo>
                  <a:pt x="977304" y="1663953"/>
                </a:lnTo>
                <a:lnTo>
                  <a:pt x="906152" y="1683129"/>
                </a:lnTo>
                <a:lnTo>
                  <a:pt x="905952" y="1683129"/>
                </a:lnTo>
                <a:lnTo>
                  <a:pt x="833645" y="1698820"/>
                </a:lnTo>
                <a:lnTo>
                  <a:pt x="893711" y="1698820"/>
                </a:lnTo>
                <a:lnTo>
                  <a:pt x="909322" y="1695449"/>
                </a:lnTo>
                <a:lnTo>
                  <a:pt x="980731" y="1676272"/>
                </a:lnTo>
                <a:lnTo>
                  <a:pt x="1051308" y="1653285"/>
                </a:lnTo>
                <a:lnTo>
                  <a:pt x="1119507" y="1627377"/>
                </a:lnTo>
                <a:lnTo>
                  <a:pt x="1185928" y="1598167"/>
                </a:lnTo>
                <a:lnTo>
                  <a:pt x="1250317" y="1565782"/>
                </a:lnTo>
                <a:lnTo>
                  <a:pt x="1312801" y="1530476"/>
                </a:lnTo>
                <a:lnTo>
                  <a:pt x="1373126" y="1492376"/>
                </a:lnTo>
                <a:lnTo>
                  <a:pt x="1431292" y="1451609"/>
                </a:lnTo>
                <a:lnTo>
                  <a:pt x="1487172" y="1408048"/>
                </a:lnTo>
                <a:lnTo>
                  <a:pt x="1540766" y="1362074"/>
                </a:lnTo>
                <a:lnTo>
                  <a:pt x="1591947" y="1313560"/>
                </a:lnTo>
                <a:lnTo>
                  <a:pt x="1640588" y="1262760"/>
                </a:lnTo>
                <a:lnTo>
                  <a:pt x="1686816" y="1209674"/>
                </a:lnTo>
                <a:lnTo>
                  <a:pt x="1730377" y="1154683"/>
                </a:lnTo>
                <a:lnTo>
                  <a:pt x="1771144" y="1097533"/>
                </a:lnTo>
                <a:lnTo>
                  <a:pt x="1809244" y="1038478"/>
                </a:lnTo>
                <a:lnTo>
                  <a:pt x="1844550" y="977772"/>
                </a:lnTo>
                <a:lnTo>
                  <a:pt x="1876935" y="915288"/>
                </a:lnTo>
                <a:lnTo>
                  <a:pt x="1906399" y="851280"/>
                </a:lnTo>
                <a:lnTo>
                  <a:pt x="1932688" y="785748"/>
                </a:lnTo>
                <a:lnTo>
                  <a:pt x="1955929" y="718946"/>
                </a:lnTo>
                <a:lnTo>
                  <a:pt x="1975868" y="650874"/>
                </a:lnTo>
                <a:lnTo>
                  <a:pt x="1992632" y="581659"/>
                </a:lnTo>
                <a:lnTo>
                  <a:pt x="2006094" y="511428"/>
                </a:lnTo>
                <a:lnTo>
                  <a:pt x="2015919" y="440765"/>
                </a:lnTo>
                <a:lnTo>
                  <a:pt x="2016000" y="440181"/>
                </a:lnTo>
                <a:lnTo>
                  <a:pt x="2022477" y="368299"/>
                </a:lnTo>
                <a:lnTo>
                  <a:pt x="2025398" y="295528"/>
                </a:lnTo>
                <a:lnTo>
                  <a:pt x="2024643" y="222938"/>
                </a:lnTo>
                <a:lnTo>
                  <a:pt x="2024636" y="222249"/>
                </a:lnTo>
                <a:lnTo>
                  <a:pt x="2020419" y="150198"/>
                </a:lnTo>
                <a:lnTo>
                  <a:pt x="2020318" y="148462"/>
                </a:lnTo>
                <a:lnTo>
                  <a:pt x="2012063" y="74294"/>
                </a:lnTo>
                <a:lnTo>
                  <a:pt x="1999998" y="0"/>
                </a:lnTo>
                <a:close/>
              </a:path>
              <a:path w="2025650" h="1737360">
                <a:moveTo>
                  <a:pt x="254023" y="1690144"/>
                </a:moveTo>
                <a:lnTo>
                  <a:pt x="256074" y="1690623"/>
                </a:lnTo>
                <a:lnTo>
                  <a:pt x="256413" y="1690623"/>
                </a:lnTo>
                <a:lnTo>
                  <a:pt x="254023" y="1690144"/>
                </a:lnTo>
                <a:close/>
              </a:path>
              <a:path w="2025650" h="1737360">
                <a:moveTo>
                  <a:pt x="85981" y="1608200"/>
                </a:moveTo>
                <a:lnTo>
                  <a:pt x="0" y="1616310"/>
                </a:lnTo>
                <a:lnTo>
                  <a:pt x="1243" y="1616310"/>
                </a:lnTo>
                <a:lnTo>
                  <a:pt x="58422" y="1679320"/>
                </a:lnTo>
                <a:lnTo>
                  <a:pt x="69978" y="1649499"/>
                </a:lnTo>
                <a:lnTo>
                  <a:pt x="58168" y="1645157"/>
                </a:lnTo>
                <a:lnTo>
                  <a:pt x="62486" y="1633219"/>
                </a:lnTo>
                <a:lnTo>
                  <a:pt x="76286" y="1633219"/>
                </a:lnTo>
                <a:lnTo>
                  <a:pt x="85981" y="1608200"/>
                </a:lnTo>
                <a:close/>
              </a:path>
              <a:path w="2025650" h="1737360">
                <a:moveTo>
                  <a:pt x="203019" y="1677988"/>
                </a:moveTo>
                <a:lnTo>
                  <a:pt x="204555" y="1678409"/>
                </a:lnTo>
                <a:lnTo>
                  <a:pt x="204785" y="1678409"/>
                </a:lnTo>
                <a:lnTo>
                  <a:pt x="203019" y="1677988"/>
                </a:lnTo>
                <a:close/>
              </a:path>
              <a:path w="2025650" h="1737360">
                <a:moveTo>
                  <a:pt x="152965" y="1663953"/>
                </a:moveTo>
                <a:lnTo>
                  <a:pt x="153626" y="1664184"/>
                </a:lnTo>
                <a:lnTo>
                  <a:pt x="153789" y="1664184"/>
                </a:lnTo>
                <a:lnTo>
                  <a:pt x="152965" y="1663953"/>
                </a:lnTo>
                <a:close/>
              </a:path>
              <a:path w="2025650" h="1737360">
                <a:moveTo>
                  <a:pt x="62486" y="1633219"/>
                </a:moveTo>
                <a:lnTo>
                  <a:pt x="58168" y="1645157"/>
                </a:lnTo>
                <a:lnTo>
                  <a:pt x="69978" y="1649499"/>
                </a:lnTo>
                <a:lnTo>
                  <a:pt x="74561" y="1637672"/>
                </a:lnTo>
                <a:lnTo>
                  <a:pt x="62486" y="1633219"/>
                </a:lnTo>
                <a:close/>
              </a:path>
              <a:path w="2025650" h="1737360">
                <a:moveTo>
                  <a:pt x="76286" y="1633219"/>
                </a:moveTo>
                <a:lnTo>
                  <a:pt x="62486" y="1633219"/>
                </a:lnTo>
                <a:lnTo>
                  <a:pt x="74599" y="1637672"/>
                </a:lnTo>
                <a:lnTo>
                  <a:pt x="76286" y="1633219"/>
                </a:lnTo>
                <a:close/>
              </a:path>
              <a:path w="2025650" h="1737360">
                <a:moveTo>
                  <a:pt x="1114586" y="1615651"/>
                </a:moveTo>
                <a:lnTo>
                  <a:pt x="1114361" y="1615651"/>
                </a:lnTo>
                <a:lnTo>
                  <a:pt x="1112859" y="1616310"/>
                </a:lnTo>
                <a:lnTo>
                  <a:pt x="1114586" y="1615651"/>
                </a:lnTo>
                <a:close/>
              </a:path>
              <a:path w="2025650" h="1737360">
                <a:moveTo>
                  <a:pt x="1367356" y="1481021"/>
                </a:moveTo>
                <a:lnTo>
                  <a:pt x="1365972" y="1481896"/>
                </a:lnTo>
                <a:lnTo>
                  <a:pt x="1366303" y="1481759"/>
                </a:lnTo>
                <a:lnTo>
                  <a:pt x="1367356" y="1481021"/>
                </a:lnTo>
                <a:close/>
              </a:path>
              <a:path w="2025650" h="1737360">
                <a:moveTo>
                  <a:pt x="1677137" y="1201560"/>
                </a:moveTo>
                <a:lnTo>
                  <a:pt x="1677000" y="1201560"/>
                </a:lnTo>
                <a:lnTo>
                  <a:pt x="1675504" y="1203450"/>
                </a:lnTo>
                <a:lnTo>
                  <a:pt x="1677137" y="1201560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E0D301EB-AD83-4BF6-9AC7-0A584FF8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3720" y="4381042"/>
            <a:ext cx="283845" cy="338455"/>
          </a:xfrm>
          <a:custGeom xmlns:a="http://schemas.openxmlformats.org/drawingml/2006/main">
            <a:rect l="l" t="t" r="r" b="b"/>
            <a:pathLst>
              <a:path w="283845" h="338454">
                <a:moveTo>
                  <a:pt x="237744" y="76"/>
                </a:moveTo>
                <a:lnTo>
                  <a:pt x="193929" y="76"/>
                </a:lnTo>
                <a:lnTo>
                  <a:pt x="193929" y="202133"/>
                </a:lnTo>
                <a:lnTo>
                  <a:pt x="193929" y="242392"/>
                </a:lnTo>
                <a:lnTo>
                  <a:pt x="51308" y="242392"/>
                </a:lnTo>
                <a:lnTo>
                  <a:pt x="51308" y="202133"/>
                </a:lnTo>
                <a:lnTo>
                  <a:pt x="83820" y="179882"/>
                </a:lnTo>
                <a:lnTo>
                  <a:pt x="122555" y="172415"/>
                </a:lnTo>
                <a:lnTo>
                  <a:pt x="129908" y="172974"/>
                </a:lnTo>
                <a:lnTo>
                  <a:pt x="170141" y="183680"/>
                </a:lnTo>
                <a:lnTo>
                  <a:pt x="193929" y="202133"/>
                </a:lnTo>
                <a:lnTo>
                  <a:pt x="193929" y="76"/>
                </a:lnTo>
                <a:lnTo>
                  <a:pt x="157988" y="76"/>
                </a:lnTo>
                <a:lnTo>
                  <a:pt x="157988" y="128473"/>
                </a:lnTo>
                <a:lnTo>
                  <a:pt x="155244" y="142062"/>
                </a:lnTo>
                <a:lnTo>
                  <a:pt x="155219" y="142227"/>
                </a:lnTo>
                <a:lnTo>
                  <a:pt x="147739" y="153111"/>
                </a:lnTo>
                <a:lnTo>
                  <a:pt x="147650" y="153263"/>
                </a:lnTo>
                <a:lnTo>
                  <a:pt x="136385" y="160604"/>
                </a:lnTo>
                <a:lnTo>
                  <a:pt x="122555" y="163271"/>
                </a:lnTo>
                <a:lnTo>
                  <a:pt x="109029" y="160604"/>
                </a:lnTo>
                <a:lnTo>
                  <a:pt x="108839" y="160604"/>
                </a:lnTo>
                <a:lnTo>
                  <a:pt x="97497" y="153111"/>
                </a:lnTo>
                <a:lnTo>
                  <a:pt x="90017" y="142227"/>
                </a:lnTo>
                <a:lnTo>
                  <a:pt x="89903" y="142062"/>
                </a:lnTo>
                <a:lnTo>
                  <a:pt x="87122" y="128473"/>
                </a:lnTo>
                <a:lnTo>
                  <a:pt x="89903" y="114973"/>
                </a:lnTo>
                <a:lnTo>
                  <a:pt x="97497" y="103949"/>
                </a:lnTo>
                <a:lnTo>
                  <a:pt x="108762" y="96532"/>
                </a:lnTo>
                <a:lnTo>
                  <a:pt x="122555" y="93802"/>
                </a:lnTo>
                <a:lnTo>
                  <a:pt x="136385" y="96532"/>
                </a:lnTo>
                <a:lnTo>
                  <a:pt x="147650" y="103949"/>
                </a:lnTo>
                <a:lnTo>
                  <a:pt x="155219" y="114973"/>
                </a:lnTo>
                <a:lnTo>
                  <a:pt x="157988" y="128473"/>
                </a:lnTo>
                <a:lnTo>
                  <a:pt x="157988" y="76"/>
                </a:lnTo>
                <a:lnTo>
                  <a:pt x="18669" y="76"/>
                </a:lnTo>
                <a:lnTo>
                  <a:pt x="11404" y="1511"/>
                </a:lnTo>
                <a:lnTo>
                  <a:pt x="5473" y="5422"/>
                </a:lnTo>
                <a:lnTo>
                  <a:pt x="1460" y="11226"/>
                </a:lnTo>
                <a:lnTo>
                  <a:pt x="0" y="18364"/>
                </a:lnTo>
                <a:lnTo>
                  <a:pt x="0" y="320116"/>
                </a:lnTo>
                <a:lnTo>
                  <a:pt x="1460" y="327215"/>
                </a:lnTo>
                <a:lnTo>
                  <a:pt x="5473" y="333032"/>
                </a:lnTo>
                <a:lnTo>
                  <a:pt x="11404" y="336969"/>
                </a:lnTo>
                <a:lnTo>
                  <a:pt x="18669" y="338404"/>
                </a:lnTo>
                <a:lnTo>
                  <a:pt x="237744" y="338404"/>
                </a:lnTo>
                <a:lnTo>
                  <a:pt x="237744" y="242392"/>
                </a:lnTo>
                <a:lnTo>
                  <a:pt x="237744" y="172415"/>
                </a:lnTo>
                <a:lnTo>
                  <a:pt x="237744" y="163271"/>
                </a:lnTo>
                <a:lnTo>
                  <a:pt x="237744" y="93802"/>
                </a:lnTo>
                <a:lnTo>
                  <a:pt x="237744" y="76"/>
                </a:lnTo>
                <a:close/>
              </a:path>
              <a:path w="283845" h="338454">
                <a:moveTo>
                  <a:pt x="283464" y="0"/>
                </a:moveTo>
                <a:lnTo>
                  <a:pt x="256032" y="0"/>
                </a:lnTo>
                <a:lnTo>
                  <a:pt x="256032" y="338404"/>
                </a:lnTo>
                <a:lnTo>
                  <a:pt x="283464" y="338404"/>
                </a:lnTo>
                <a:lnTo>
                  <a:pt x="2834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E8B8E9C-EE3B-4CD4-84F3-68AAA10E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4757" y="2901695"/>
            <a:ext cx="839469" cy="2573020"/>
          </a:xfrm>
          <a:custGeom xmlns:a="http://schemas.openxmlformats.org/drawingml/2006/main">
            <a:rect l="l" t="t" r="r" b="b"/>
            <a:pathLst>
              <a:path w="839470" h="2573020">
                <a:moveTo>
                  <a:pt x="646974" y="36003"/>
                </a:moveTo>
                <a:lnTo>
                  <a:pt x="577844" y="84962"/>
                </a:lnTo>
                <a:lnTo>
                  <a:pt x="535934" y="118109"/>
                </a:lnTo>
                <a:lnTo>
                  <a:pt x="495167" y="152780"/>
                </a:lnTo>
                <a:lnTo>
                  <a:pt x="455924" y="188849"/>
                </a:lnTo>
                <a:lnTo>
                  <a:pt x="417951" y="226313"/>
                </a:lnTo>
                <a:lnTo>
                  <a:pt x="381248" y="265049"/>
                </a:lnTo>
                <a:lnTo>
                  <a:pt x="346196" y="305180"/>
                </a:lnTo>
                <a:lnTo>
                  <a:pt x="312541" y="346582"/>
                </a:lnTo>
                <a:lnTo>
                  <a:pt x="280410" y="389127"/>
                </a:lnTo>
                <a:lnTo>
                  <a:pt x="249676" y="432942"/>
                </a:lnTo>
                <a:lnTo>
                  <a:pt x="220720" y="477900"/>
                </a:lnTo>
                <a:lnTo>
                  <a:pt x="193161" y="524001"/>
                </a:lnTo>
                <a:lnTo>
                  <a:pt x="167507" y="571118"/>
                </a:lnTo>
                <a:lnTo>
                  <a:pt x="143377" y="619251"/>
                </a:lnTo>
                <a:lnTo>
                  <a:pt x="112516" y="688086"/>
                </a:lnTo>
                <a:lnTo>
                  <a:pt x="85719" y="757681"/>
                </a:lnTo>
                <a:lnTo>
                  <a:pt x="62478" y="827912"/>
                </a:lnTo>
                <a:lnTo>
                  <a:pt x="43047" y="898524"/>
                </a:lnTo>
                <a:lnTo>
                  <a:pt x="27172" y="969517"/>
                </a:lnTo>
                <a:lnTo>
                  <a:pt x="15107" y="1040891"/>
                </a:lnTo>
                <a:lnTo>
                  <a:pt x="6570" y="1111449"/>
                </a:lnTo>
                <a:lnTo>
                  <a:pt x="6471" y="1112265"/>
                </a:lnTo>
                <a:lnTo>
                  <a:pt x="1518" y="1183512"/>
                </a:lnTo>
                <a:lnTo>
                  <a:pt x="0" y="1254505"/>
                </a:lnTo>
                <a:lnTo>
                  <a:pt x="2000" y="1324724"/>
                </a:lnTo>
                <a:lnTo>
                  <a:pt x="2026" y="1325626"/>
                </a:lnTo>
                <a:lnTo>
                  <a:pt x="7225" y="1394451"/>
                </a:lnTo>
                <a:lnTo>
                  <a:pt x="7255" y="1394842"/>
                </a:lnTo>
                <a:lnTo>
                  <a:pt x="16123" y="1466341"/>
                </a:lnTo>
                <a:lnTo>
                  <a:pt x="28188" y="1535810"/>
                </a:lnTo>
                <a:lnTo>
                  <a:pt x="43555" y="1604517"/>
                </a:lnTo>
                <a:lnTo>
                  <a:pt x="62224" y="1672335"/>
                </a:lnTo>
                <a:lnTo>
                  <a:pt x="84068" y="1739137"/>
                </a:lnTo>
                <a:lnTo>
                  <a:pt x="108960" y="1804796"/>
                </a:lnTo>
                <a:lnTo>
                  <a:pt x="137154" y="1869312"/>
                </a:lnTo>
                <a:lnTo>
                  <a:pt x="168269" y="1932431"/>
                </a:lnTo>
                <a:lnTo>
                  <a:pt x="202559" y="1994027"/>
                </a:lnTo>
                <a:lnTo>
                  <a:pt x="239770" y="2053970"/>
                </a:lnTo>
                <a:lnTo>
                  <a:pt x="280029" y="2112264"/>
                </a:lnTo>
                <a:lnTo>
                  <a:pt x="322955" y="2168779"/>
                </a:lnTo>
                <a:lnTo>
                  <a:pt x="368802" y="2223135"/>
                </a:lnTo>
                <a:lnTo>
                  <a:pt x="417570" y="2275585"/>
                </a:lnTo>
                <a:lnTo>
                  <a:pt x="469132" y="2325751"/>
                </a:lnTo>
                <a:lnTo>
                  <a:pt x="523361" y="2373503"/>
                </a:lnTo>
                <a:lnTo>
                  <a:pt x="580130" y="2418841"/>
                </a:lnTo>
                <a:lnTo>
                  <a:pt x="639820" y="2461514"/>
                </a:lnTo>
                <a:lnTo>
                  <a:pt x="701796" y="2501518"/>
                </a:lnTo>
                <a:lnTo>
                  <a:pt x="766566" y="2538603"/>
                </a:lnTo>
                <a:lnTo>
                  <a:pt x="833622" y="2572892"/>
                </a:lnTo>
                <a:lnTo>
                  <a:pt x="839337" y="2561463"/>
                </a:lnTo>
                <a:lnTo>
                  <a:pt x="772827" y="2527575"/>
                </a:lnTo>
                <a:lnTo>
                  <a:pt x="708615" y="2490792"/>
                </a:lnTo>
                <a:lnTo>
                  <a:pt x="708327" y="2490513"/>
                </a:lnTo>
                <a:lnTo>
                  <a:pt x="647000" y="2451040"/>
                </a:lnTo>
                <a:lnTo>
                  <a:pt x="587741" y="2408586"/>
                </a:lnTo>
                <a:lnTo>
                  <a:pt x="531605" y="2363819"/>
                </a:lnTo>
                <a:lnTo>
                  <a:pt x="477634" y="2316226"/>
                </a:lnTo>
                <a:lnTo>
                  <a:pt x="426604" y="2266568"/>
                </a:lnTo>
                <a:lnTo>
                  <a:pt x="378616" y="2215072"/>
                </a:lnTo>
                <a:lnTo>
                  <a:pt x="332970" y="2160862"/>
                </a:lnTo>
                <a:lnTo>
                  <a:pt x="290166" y="2104666"/>
                </a:lnTo>
                <a:lnTo>
                  <a:pt x="250297" y="2046999"/>
                </a:lnTo>
                <a:lnTo>
                  <a:pt x="213334" y="1987185"/>
                </a:lnTo>
                <a:lnTo>
                  <a:pt x="180033" y="1927391"/>
                </a:lnTo>
                <a:lnTo>
                  <a:pt x="179810" y="1926940"/>
                </a:lnTo>
                <a:lnTo>
                  <a:pt x="179667" y="1926734"/>
                </a:lnTo>
                <a:lnTo>
                  <a:pt x="148584" y="1863852"/>
                </a:lnTo>
                <a:lnTo>
                  <a:pt x="120771" y="1800068"/>
                </a:lnTo>
                <a:lnTo>
                  <a:pt x="96333" y="1735555"/>
                </a:lnTo>
                <a:lnTo>
                  <a:pt x="96189" y="1735058"/>
                </a:lnTo>
                <a:lnTo>
                  <a:pt x="96046" y="1734680"/>
                </a:lnTo>
                <a:lnTo>
                  <a:pt x="74421" y="1668755"/>
                </a:lnTo>
                <a:lnTo>
                  <a:pt x="56104" y="1602055"/>
                </a:lnTo>
                <a:lnTo>
                  <a:pt x="40650" y="1533506"/>
                </a:lnTo>
                <a:lnTo>
                  <a:pt x="28712" y="1464679"/>
                </a:lnTo>
                <a:lnTo>
                  <a:pt x="19945" y="1395091"/>
                </a:lnTo>
                <a:lnTo>
                  <a:pt x="14657" y="1325626"/>
                </a:lnTo>
                <a:lnTo>
                  <a:pt x="12704" y="1254886"/>
                </a:lnTo>
                <a:lnTo>
                  <a:pt x="14210" y="1184260"/>
                </a:lnTo>
                <a:lnTo>
                  <a:pt x="19058" y="1113543"/>
                </a:lnTo>
                <a:lnTo>
                  <a:pt x="27570" y="1043444"/>
                </a:lnTo>
                <a:lnTo>
                  <a:pt x="27680" y="1042893"/>
                </a:lnTo>
                <a:lnTo>
                  <a:pt x="27722" y="1042550"/>
                </a:lnTo>
                <a:lnTo>
                  <a:pt x="39637" y="972195"/>
                </a:lnTo>
                <a:lnTo>
                  <a:pt x="55250" y="901714"/>
                </a:lnTo>
                <a:lnTo>
                  <a:pt x="74554" y="831737"/>
                </a:lnTo>
                <a:lnTo>
                  <a:pt x="97531" y="762126"/>
                </a:lnTo>
                <a:lnTo>
                  <a:pt x="124225" y="693175"/>
                </a:lnTo>
                <a:lnTo>
                  <a:pt x="154820" y="624839"/>
                </a:lnTo>
                <a:lnTo>
                  <a:pt x="178683" y="577088"/>
                </a:lnTo>
                <a:lnTo>
                  <a:pt x="204070" y="530587"/>
                </a:lnTo>
                <a:lnTo>
                  <a:pt x="231059" y="485270"/>
                </a:lnTo>
                <a:lnTo>
                  <a:pt x="259648" y="440813"/>
                </a:lnTo>
                <a:lnTo>
                  <a:pt x="289857" y="397693"/>
                </a:lnTo>
                <a:lnTo>
                  <a:pt x="321533" y="355709"/>
                </a:lnTo>
                <a:lnTo>
                  <a:pt x="356179" y="313058"/>
                </a:lnTo>
                <a:lnTo>
                  <a:pt x="390646" y="273684"/>
                </a:lnTo>
                <a:lnTo>
                  <a:pt x="426968" y="235203"/>
                </a:lnTo>
                <a:lnTo>
                  <a:pt x="464535" y="198143"/>
                </a:lnTo>
                <a:lnTo>
                  <a:pt x="503375" y="162455"/>
                </a:lnTo>
                <a:lnTo>
                  <a:pt x="503522" y="162455"/>
                </a:lnTo>
                <a:lnTo>
                  <a:pt x="544039" y="127843"/>
                </a:lnTo>
                <a:lnTo>
                  <a:pt x="585002" y="95461"/>
                </a:lnTo>
                <a:lnTo>
                  <a:pt x="628231" y="63792"/>
                </a:lnTo>
                <a:lnTo>
                  <a:pt x="629221" y="63111"/>
                </a:lnTo>
                <a:lnTo>
                  <a:pt x="653806" y="46652"/>
                </a:lnTo>
                <a:lnTo>
                  <a:pt x="646974" y="36003"/>
                </a:lnTo>
                <a:close/>
              </a:path>
              <a:path w="839470" h="2573020">
                <a:moveTo>
                  <a:pt x="708327" y="2490513"/>
                </a:moveTo>
                <a:lnTo>
                  <a:pt x="708615" y="2490792"/>
                </a:lnTo>
                <a:lnTo>
                  <a:pt x="709943" y="2491553"/>
                </a:lnTo>
                <a:lnTo>
                  <a:pt x="708804" y="2490792"/>
                </a:lnTo>
                <a:lnTo>
                  <a:pt x="708327" y="2490513"/>
                </a:lnTo>
                <a:close/>
              </a:path>
              <a:path w="839470" h="2573020">
                <a:moveTo>
                  <a:pt x="503538" y="162455"/>
                </a:moveTo>
                <a:lnTo>
                  <a:pt x="503375" y="162455"/>
                </a:lnTo>
                <a:lnTo>
                  <a:pt x="501413" y="164258"/>
                </a:lnTo>
                <a:lnTo>
                  <a:pt x="503538" y="162455"/>
                </a:lnTo>
                <a:close/>
              </a:path>
              <a:path w="839470" h="2573020">
                <a:moveTo>
                  <a:pt x="697126" y="28955"/>
                </a:moveTo>
                <a:lnTo>
                  <a:pt x="657473" y="28955"/>
                </a:lnTo>
                <a:lnTo>
                  <a:pt x="664458" y="39496"/>
                </a:lnTo>
                <a:lnTo>
                  <a:pt x="653806" y="46652"/>
                </a:lnTo>
                <a:lnTo>
                  <a:pt x="670808" y="73151"/>
                </a:lnTo>
                <a:lnTo>
                  <a:pt x="697126" y="28955"/>
                </a:lnTo>
                <a:close/>
              </a:path>
              <a:path w="839470" h="2573020">
                <a:moveTo>
                  <a:pt x="657473" y="28955"/>
                </a:moveTo>
                <a:lnTo>
                  <a:pt x="646974" y="36003"/>
                </a:lnTo>
                <a:lnTo>
                  <a:pt x="653806" y="46652"/>
                </a:lnTo>
                <a:lnTo>
                  <a:pt x="664458" y="39496"/>
                </a:lnTo>
                <a:lnTo>
                  <a:pt x="657473" y="28955"/>
                </a:lnTo>
                <a:close/>
              </a:path>
              <a:path w="839470" h="2573020">
                <a:moveTo>
                  <a:pt x="714369" y="0"/>
                </a:moveTo>
                <a:lnTo>
                  <a:pt x="629660" y="9016"/>
                </a:lnTo>
                <a:lnTo>
                  <a:pt x="646974" y="36003"/>
                </a:lnTo>
                <a:lnTo>
                  <a:pt x="657473" y="28955"/>
                </a:lnTo>
                <a:lnTo>
                  <a:pt x="697126" y="28955"/>
                </a:lnTo>
                <a:lnTo>
                  <a:pt x="714369" y="0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35E1A76-E3A8-43D0-BED3-5CCF486C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728" y="4024375"/>
            <a:ext cx="338455" cy="292735"/>
          </a:xfrm>
          <a:custGeom xmlns:a="http://schemas.openxmlformats.org/drawingml/2006/main">
            <a:rect l="l" t="t" r="r" b="b"/>
            <a:pathLst>
              <a:path w="338454" h="292735">
                <a:moveTo>
                  <a:pt x="338328" y="155448"/>
                </a:moveTo>
                <a:lnTo>
                  <a:pt x="194564" y="155448"/>
                </a:lnTo>
                <a:lnTo>
                  <a:pt x="194564" y="164084"/>
                </a:lnTo>
                <a:lnTo>
                  <a:pt x="194564" y="173482"/>
                </a:lnTo>
                <a:lnTo>
                  <a:pt x="186944" y="181229"/>
                </a:lnTo>
                <a:lnTo>
                  <a:pt x="151384" y="181229"/>
                </a:lnTo>
                <a:lnTo>
                  <a:pt x="143764" y="173482"/>
                </a:lnTo>
                <a:lnTo>
                  <a:pt x="143764" y="155448"/>
                </a:lnTo>
                <a:lnTo>
                  <a:pt x="0" y="155448"/>
                </a:lnTo>
                <a:lnTo>
                  <a:pt x="0" y="284988"/>
                </a:lnTo>
                <a:lnTo>
                  <a:pt x="7620" y="292608"/>
                </a:lnTo>
                <a:lnTo>
                  <a:pt x="330708" y="292608"/>
                </a:lnTo>
                <a:lnTo>
                  <a:pt x="338328" y="284988"/>
                </a:lnTo>
                <a:lnTo>
                  <a:pt x="338328" y="155448"/>
                </a:lnTo>
                <a:close/>
              </a:path>
              <a:path w="338454" h="292735">
                <a:moveTo>
                  <a:pt x="338328" y="62611"/>
                </a:moveTo>
                <a:lnTo>
                  <a:pt x="330708" y="55245"/>
                </a:lnTo>
                <a:lnTo>
                  <a:pt x="236855" y="55245"/>
                </a:lnTo>
                <a:lnTo>
                  <a:pt x="236855" y="28702"/>
                </a:lnTo>
                <a:lnTo>
                  <a:pt x="235991" y="24511"/>
                </a:lnTo>
                <a:lnTo>
                  <a:pt x="234543" y="17475"/>
                </a:lnTo>
                <a:lnTo>
                  <a:pt x="228244" y="8356"/>
                </a:lnTo>
                <a:lnTo>
                  <a:pt x="218846" y="2235"/>
                </a:lnTo>
                <a:lnTo>
                  <a:pt x="211455" y="812"/>
                </a:lnTo>
                <a:lnTo>
                  <a:pt x="211455" y="26162"/>
                </a:lnTo>
                <a:lnTo>
                  <a:pt x="211455" y="55245"/>
                </a:lnTo>
                <a:lnTo>
                  <a:pt x="126873" y="55245"/>
                </a:lnTo>
                <a:lnTo>
                  <a:pt x="126873" y="26162"/>
                </a:lnTo>
                <a:lnTo>
                  <a:pt x="128524" y="24511"/>
                </a:lnTo>
                <a:lnTo>
                  <a:pt x="209804" y="24511"/>
                </a:lnTo>
                <a:lnTo>
                  <a:pt x="211455" y="26162"/>
                </a:lnTo>
                <a:lnTo>
                  <a:pt x="211455" y="812"/>
                </a:lnTo>
                <a:lnTo>
                  <a:pt x="207264" y="0"/>
                </a:lnTo>
                <a:lnTo>
                  <a:pt x="131064" y="0"/>
                </a:lnTo>
                <a:lnTo>
                  <a:pt x="119468" y="2235"/>
                </a:lnTo>
                <a:lnTo>
                  <a:pt x="110070" y="8356"/>
                </a:lnTo>
                <a:lnTo>
                  <a:pt x="103771" y="17475"/>
                </a:lnTo>
                <a:lnTo>
                  <a:pt x="101473" y="28702"/>
                </a:lnTo>
                <a:lnTo>
                  <a:pt x="101473" y="55245"/>
                </a:lnTo>
                <a:lnTo>
                  <a:pt x="7620" y="55245"/>
                </a:lnTo>
                <a:lnTo>
                  <a:pt x="0" y="62611"/>
                </a:lnTo>
                <a:lnTo>
                  <a:pt x="0" y="137160"/>
                </a:lnTo>
                <a:lnTo>
                  <a:pt x="143764" y="137160"/>
                </a:lnTo>
                <a:lnTo>
                  <a:pt x="143764" y="129032"/>
                </a:lnTo>
                <a:lnTo>
                  <a:pt x="194564" y="129032"/>
                </a:lnTo>
                <a:lnTo>
                  <a:pt x="194564" y="137160"/>
                </a:lnTo>
                <a:lnTo>
                  <a:pt x="338328" y="137160"/>
                </a:lnTo>
                <a:lnTo>
                  <a:pt x="338328" y="129032"/>
                </a:lnTo>
                <a:lnTo>
                  <a:pt x="338328" y="62611"/>
                </a:lnTo>
                <a:close/>
              </a:path>
            </a:pathLst>
          </a:custGeom>
          <a:solidFill xmlns:a="http://schemas.openxmlformats.org/drawingml/2006/main">
            <a:srgbClr val="EC7C3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43154032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30023dea0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C71DD9DB-A1F1-4CD7-B22D-56F75D8BD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9492" y="380492"/>
            <a:ext cx="4415790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</a:rPr>
              <a:t>Fabric</a:t>
            </a:r>
            <a:r>
              <a:rPr spc="7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Healthcare</a:t>
            </a:r>
            <a:r>
              <a:rPr spc="80">
                <a:solidFill>
                  <a:srgbClr val="003E34"/>
                </a:solidFill>
              </a:rPr>
              <a:t> </a:t>
            </a:r>
            <a:r>
              <a:rPr spc="-20">
                <a:solidFill>
                  <a:srgbClr val="003E34"/>
                </a:solidFill>
              </a:rPr>
              <a:t>Data </a:t>
            </a:r>
            <a:r>
              <a:rPr spc="-10">
                <a:solidFill>
                  <a:srgbClr val="003E34"/>
                </a:solidFill>
              </a:rPr>
              <a:t>Solutions</a:t>
            </a: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b33fe12c0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3" y="1609763"/>
            <a:ext cx="9966960" cy="46645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558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76C5092-F4C4-47D4-98FC-FDC8F2428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194" y="1572971"/>
            <a:ext cx="10543540" cy="142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The</a:t>
            </a:r>
            <a:r>
              <a:rPr sz="4800" spc="-114"/>
              <a:t> </a:t>
            </a:r>
            <a:r>
              <a:rPr sz="4800"/>
              <a:t>case:</a:t>
            </a:r>
            <a:r>
              <a:rPr sz="4800" spc="-55"/>
              <a:t> </a:t>
            </a:r>
            <a:r>
              <a:rPr sz="4800"/>
              <a:t>knee</a:t>
            </a:r>
            <a:r>
              <a:rPr sz="4800" spc="-105"/>
              <a:t> </a:t>
            </a:r>
            <a:r>
              <a:rPr sz="4800"/>
              <a:t>replacement</a:t>
            </a:r>
            <a:r>
              <a:rPr sz="4800" spc="-55"/>
              <a:t> </a:t>
            </a:r>
            <a:r>
              <a:rPr sz="4800"/>
              <a:t>on</a:t>
            </a:r>
            <a:r>
              <a:rPr sz="4800" spc="-80"/>
              <a:t> </a:t>
            </a:r>
            <a:r>
              <a:rPr sz="4800" spc="-25"/>
              <a:t>NHS </a:t>
            </a:r>
            <a:r>
              <a:rPr sz="4800" spc="-10"/>
              <a:t>PROMs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5855511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FD904-33B3-4DD0-85B3-40F3E16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AB98-A406-4016-BBE5-298E678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43CED-AE92-4D01-B5EA-0A020D7B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1297-7D24-4170-9CE7-67DADA32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42D28-F6FF-4F11-860E-8CEF6659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NHS PROMs: the prediction starts before surgery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ED87-F37D-4B78-A5BE-95C11E4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pre-operative cohort, a six-month outcome, and a clinically meaningful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4D058-54E6-45ED-822E-8AAE53F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One row per episode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3AFD9-9CAE-48B9-A868-BD1FDBF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7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Pre-operative OKS, EQ-5D-3L, comorbidities, mobility and provider context form the feature set. The outcome arrives when the patient returns the questionnaire six months later.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72DD3-2E80-4DDA-96D5-89FDCC5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2669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918FE-AEBA-4A71-925E-2627B99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PRE-OPERATIVE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E9F5B-B52B-4647-AAFD-0D1DB0D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2669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5A576-F16C-4B8D-892B-BFBB450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 AT 6 MONTHS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ca0f9cecc43d2"/>
          <a:stretch xmlns:a="http://schemas.openxmlformats.org/drawingml/2006/main"/>
        </p:blipFill>
        <p:spPr>
          <a:xfrm xmlns:a="http://schemas.openxmlformats.org/drawingml/2006/main">
            <a:off x="5157659" y="1619250"/>
            <a:ext cx="6162932" cy="4000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8E649-00C2-46C1-8199-2A5A3219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knee cohort concentrates around a positive change, which makes the “poor outcome” definition a clinical choice rather than a generic label.</a:t>
            </a:r>
          </a:p>
        </p:txBody>
      </p:sp>
    </p:spTree>
    <p:extLst>
      <p:ext uri="{BB962C8B-B14F-4D97-AF65-F5344CB8AC3E}">
        <p14:creationId xmlns:p14="http://schemas.microsoft.com/office/powerpoint/2010/main" val="1102166879"/>
      </p:ext>
    </p:extLst>
  </p:cSld>
</p:sld>
</file>

<file path=ppt/slides/slide16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51" name="object 11"/>
          <p:cNvGraphicFramePr/>
          <p:nvPr/>
        </p:nvGraphicFramePr>
        <p:xfrm>
          <a:off xmlns:a="http://schemas.openxmlformats.org/drawingml/2006/main" x="8970264" y="1792693"/>
          <a:ext xmlns:a="http://schemas.openxmlformats.org/drawingml/2006/main" cx="2152015" cy="201803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"/>
                <a:gridCol w="210184"/>
                <a:gridCol w="210185"/>
                <a:gridCol w="210184"/>
                <a:gridCol w="214630"/>
                <a:gridCol w="210184"/>
                <a:gridCol w="210184"/>
                <a:gridCol w="210185"/>
                <a:gridCol w="214630"/>
                <a:gridCol w="191769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pic>
        <p:nvPicPr>
          <p:cNvPr id="52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8aa52eda0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81277" y="2009864"/>
            <a:ext cx="180791" cy="122526"/>
          </a:xfrm>
          <a:prstGeom xmlns:a="http://schemas.openxmlformats.org/drawingml/2006/main" prst="rect">
            <a:avLst/>
          </a:prstGeom>
        </p:spPr>
      </p:pic>
      <p:pic>
        <p:nvPicPr>
          <p:cNvPr id="5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4cf87e0d747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75074" y="1600132"/>
            <a:ext cx="65497" cy="67569"/>
          </a:xfrm>
          <a:prstGeom xmlns:a="http://schemas.openxmlformats.org/drawingml/2006/main" prst="rect">
            <a:avLst/>
          </a:prstGeom>
        </p:spPr>
      </p:pic>
      <p:pic>
        <p:nvPicPr>
          <p:cNvPr id="54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98f5ae84d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601197" y="1600160"/>
            <a:ext cx="65908" cy="67898"/>
          </a:xfrm>
          <a:prstGeom xmlns:a="http://schemas.openxmlformats.org/drawingml/2006/main" prst="rect">
            <a:avLst/>
          </a:prstGeom>
        </p:spPr>
      </p:pic>
      <p:graphicFrame>
        <p:nvGraphicFramePr>
          <p:cNvPr id="55" name="object 23"/>
          <p:cNvGraphicFramePr/>
          <p:nvPr/>
        </p:nvGraphicFramePr>
        <p:xfrm>
          <a:off xmlns:a="http://schemas.openxmlformats.org/drawingml/2006/main" x="6382511" y="1792693"/>
          <a:ext xmlns:a="http://schemas.openxmlformats.org/drawingml/2006/main" cx="2152015" cy="201803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"/>
                <a:gridCol w="210820"/>
                <a:gridCol w="215264"/>
                <a:gridCol w="210820"/>
                <a:gridCol w="210819"/>
                <a:gridCol w="210819"/>
                <a:gridCol w="210819"/>
                <a:gridCol w="210819"/>
                <a:gridCol w="210819"/>
                <a:gridCol w="192405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pic>
        <p:nvPicPr>
          <p:cNvPr id="56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287f8c7b341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97887" y="5241937"/>
            <a:ext cx="132282" cy="134142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7C926E-EAC3-40CA-A3B6-2CA6B39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C29A13-31CA-4570-9AF7-B8181B0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3290F2-13C4-414F-BB7E-C1FCC7C2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FFB42A-AAE7-4DB8-933F-CA0BC9E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AEA4E2-0681-4EAB-8465-1E5A255F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What counts as a poor outcome?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4302E1-6A9F-44CA-89B5-C800DF8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Oxford Knee Score runs from 0 to 48. A 7-point improvement is used as the minimum clinically important difference.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F1F873-ED94-40AB-9339-05EE5A7C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CB37E9-8E50-4742-BB14-3184AA1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0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OKS at six months − OKS before surgery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727482-B792-47DB-8863-E1BC852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&lt; 7 points</a:t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Poor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≥ 7 points</a:t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Meaningful improvement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42FBA2-1BD7-40ED-A636-CB307A9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1238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B77655-9D15-4AD7-9565-BA6641BD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67125"/>
            <a:ext cx="2000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25ED7-79BD-402C-BF44-4B1F724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model only receives information available before the decision to operate.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81D5CD-EB00-41B1-9F77-8D8F45C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23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That keeps the score suitable for a pre-operative conversation. It does not diagnose a patient or decide treatment.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518F85-14E5-4D43-91FB-24729C4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92FAB7-7877-4A17-A656-0114F7FC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339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92369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FEA76-E802-44EB-9F02-1489E74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BDFFA-5425-4908-AF75-1EA51A6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430C0-1311-44AA-92EC-BB2940B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B457F-5297-4C95-82D0-4C5F0BEA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12E01-B3B4-4F53-9F3A-87EBDFF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Exploration drove the modelling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B580D-02D5-4ED2-A3FC-D621265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notebook outputs keep the choices inspectable instead of hiding them inside training code.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b5d8f65bc4c7d"/>
          <a:stretch xmlns:a="http://schemas.openxmlformats.org/drawingml/2006/main"/>
        </p:blipFill>
        <p:spPr>
          <a:xfrm xmlns:a="http://schemas.openxmlformats.org/drawingml/2006/main">
            <a:off x="523875" y="1494664"/>
            <a:ext cx="7096125" cy="442112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82AED-90F6-407C-909D-7AFED37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3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Three questions before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B513F-AA16-41C3-91E1-F1036CF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How common is the poor-outcome class?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variables are missing by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threshold fits the capacity for follow-up?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C66B9-BA6D-4A7D-933F-01D5C11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3286125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6582-F547-4E06-BD70-80730E3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3057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31: READ-ONLY EXPLORATION</a:t>
            </a:r>
          </a:p>
        </p:txBody>
      </p:sp>
    </p:spTree>
    <p:extLst>
      <p:ext uri="{BB962C8B-B14F-4D97-AF65-F5344CB8AC3E}">
        <p14:creationId xmlns:p14="http://schemas.microsoft.com/office/powerpoint/2010/main" val="19517419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9EEC4-FFDD-4D8E-BAF3-6F940F7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B5879-7368-4E5E-8B82-3694AA43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25626-980C-4AEF-8520-AB3C3E6A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EF677-9BDD-457A-86FE-FB9523E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DE9B8-379E-4B7F-A227-3D5178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Train and test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EC01E-6B90-4390-AA97-B10577F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preprocessing pipeline is fitted on training data only. The held-out set stays untouched until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38CEB-FAB3-4962-8518-8E5BBC72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AFCE-9F73-4F35-996E-3B2AD8FB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7C80A-B3E0-4BDB-AFAB-B601C17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Stratified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CD789-1D88-4840-87E2-0102B797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Preserve the poor-outcome rate in both 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6357F-AA4B-4CD0-AB7F-69E4C49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F73E4-04FF-485C-8EE7-68D0A66C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0097D-A22F-4C4B-96B1-5FF8ADED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Fit transforms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A15AE-7357-495D-BB4B-1A91AA3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Imputation and encoding learn from training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78446-D85D-42E2-B953-D3EF1CE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0358E-882D-482C-A182-CE5E6223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6FAC9-E974-433B-9213-8C73E0C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Evaluate once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1ED9F-64DE-42EB-9B4B-D23C2AD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Use the held-out cohort for model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1AEB7-BA58-4558-B020-9D66D50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Leakage prevention is part of the model design, not a last-minute validation check.</a:t>
            </a:r>
          </a:p>
        </p:txBody>
      </p:sp>
    </p:spTree>
    <p:extLst>
      <p:ext uri="{BB962C8B-B14F-4D97-AF65-F5344CB8AC3E}">
        <p14:creationId xmlns:p14="http://schemas.microsoft.com/office/powerpoint/2010/main" val="20359351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0EF4F-9545-415F-8A65-221DCE9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F06FD-B74C-4208-88DF-C38F3A28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F08E1-668B-43B6-8995-7D578DF0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B8921-361A-4D58-92C1-A69CF17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BEFB6-77CB-4E8C-9227-44F0E4CF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Model selection favoured an explainable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05F4-036E-471E-999A-AF31FD93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experiment compared linear baselines, tree models and an Explainable Boosting Machine.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9e804f5e747cf"/>
          <a:stretch xmlns:a="http://schemas.openxmlformats.org/drawingml/2006/main"/>
        </p:blipFill>
        <p:spPr>
          <a:xfrm xmlns:a="http://schemas.openxmlformats.org/drawingml/2006/main">
            <a:off x="552450" y="2699495"/>
            <a:ext cx="6762750" cy="210670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3D681-3E10-4AB5-B667-079DC82F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Why the EBM?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17A01-B912-4FCE-9F4E-A223323F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It provides a calibrated risk score and a direct explanation of how each input shifts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That lets clinicians inspect both the model-wide pattern and the individual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12896-D737-4F19-9358-24B476A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F018E-E0C4-447E-A3E1-154849EC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1967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GLASSBOX MODEL</a:t>
            </a:r>
          </a:p>
        </p:txBody>
      </p:sp>
    </p:spTree>
    <p:extLst>
      <p:ext uri="{BB962C8B-B14F-4D97-AF65-F5344CB8AC3E}">
        <p14:creationId xmlns:p14="http://schemas.microsoft.com/office/powerpoint/2010/main" val="8767066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6D825-AED0-406E-94C6-EA37965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A63F-F507-4E09-B293-D2A0B999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AA7AF-627B-44DE-B292-066994E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6EBF4-D86B-4F49-A957-2CAC9AD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F84B-722E-4E71-80EE-1361819F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Performance depends on the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2F67-F7BE-4F64-A0F2-FC29948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Precision rises as the flagging threshold rises. Recall falls. The operating point is a care-pathway decision.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5e34d74f84b35"/>
          <a:stretch xmlns:a="http://schemas.openxmlformats.org/drawingml/2006/main"/>
        </p:blipFill>
        <p:spPr>
          <a:xfrm xmlns:a="http://schemas.openxmlformats.org/drawingml/2006/main">
            <a:off x="608210" y="1524000"/>
            <a:ext cx="6651230" cy="4457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F6603-BB9C-4CFC-A743-0B183B7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4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A score is not a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1E768-546B-4D07-B818-B462FF2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estimates risk. The service chooses the threshold based on how many patients it can support and the cost of missed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07D9A-39DF-4845-B7E2-30CF1828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18135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6A95C-4DEE-440C-B263-CB7564F0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Threshold</a:t>
            </a:r>
          </a:p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Policy choice</a:t>
            </a:r>
          </a:p>
        </p:txBody>
      </p:sp>
    </p:spTree>
    <p:extLst>
      <p:ext uri="{BB962C8B-B14F-4D97-AF65-F5344CB8AC3E}">
        <p14:creationId xmlns:p14="http://schemas.microsoft.com/office/powerpoint/2010/main" val="1842694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98E48-C88E-48B7-93DB-247C4433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FF63E-F67D-4A12-A916-608FE2F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04478-C89A-49BD-A4C1-EB7B5A25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EF10-3613-48B9-B407-1919188A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4FCF3-1F0E-4F8A-8954-D5522B1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A model a clinician can argue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612B-CF48-4389-AA93-B78F4EC6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behaviour, local explanations, and calibration</a:t>
            </a:r>
          </a:p>
        </p:txBody>
      </p:sp>
    </p:spTree>
    <p:extLst>
      <p:ext uri="{BB962C8B-B14F-4D97-AF65-F5344CB8AC3E}">
        <p14:creationId xmlns:p14="http://schemas.microsoft.com/office/powerpoint/2010/main" val="5346226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96681-E610-43E3-ACC3-70B2E03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F7F66-66B1-457A-A0CC-137D3F94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D2C3-FC24-4557-A686-4A108C38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E1AC1-6D00-4E23-B38A-C281915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B571D-40F9-42A8-B183-7359E231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Calibration makes a risk score interpretable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2D9E8-06BA-4909-B159-07DE83D8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When the model estimates 34%, the observed poor-outcome rate should be close to 34% for similar patients.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8043d94b946bc"/>
          <a:stretch xmlns:a="http://schemas.openxmlformats.org/drawingml/2006/main"/>
        </p:blipFill>
        <p:spPr>
          <a:xfrm xmlns:a="http://schemas.openxmlformats.org/drawingml/2006/main">
            <a:off x="619125" y="2174328"/>
            <a:ext cx="7620000" cy="28903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D45B-96C0-461D-A4E7-FD2BB6C0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4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A probability needs a reality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87B24-C77C-47EF-84A6-F7E687C1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33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curve follows the diagonal closely across the observed probability range. The distribution shows most patients below high-risk territory.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92CA4-5030-4E37-B6F4-8ABF7DC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0115A-F682-4848-8730-EE354DA7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625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CALIBRATED EBM</a:t>
            </a:r>
          </a:p>
        </p:txBody>
      </p:sp>
    </p:spTree>
    <p:extLst>
      <p:ext uri="{BB962C8B-B14F-4D97-AF65-F5344CB8AC3E}">
        <p14:creationId xmlns:p14="http://schemas.microsoft.com/office/powerpoint/2010/main" val="16766390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A86D8-5A8F-4322-9170-10890248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62FF0-B30E-47DB-8EA8-652B691B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10F8F-3A1B-4DF1-BDCB-A45D876A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6B665-05AB-4A75-976F-708E599B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756C7-D475-4CAE-9994-C78D268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Each patient receives a local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008D-A5B5-45BC-99BF-F521C62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exposes signed feature contributions instead of a black-box score.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011f5c5a242fa"/>
          <a:stretch xmlns:a="http://schemas.openxmlformats.org/drawingml/2006/main"/>
        </p:blipFill>
        <p:spPr>
          <a:xfrm xmlns:a="http://schemas.openxmlformats.org/drawingml/2006/main">
            <a:off x="455512" y="1571625"/>
            <a:ext cx="8232976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F5F46-D74B-4758-A909-363DCD6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What changes the 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F9838-C5AB-4B06-9783-E6C938D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19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clinician can see which pre-operative factors push risk up or down, then decide whether the result fits the patient’s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B5DE7-8FBE-4C41-A29D-0CC971DB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86B19-C367-4E23-A738-CDAECA1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196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508738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54764-2CD0-4D5C-995A-CA1B8B5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6375-631C-42CE-81C0-C18AE6F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691F4-6A39-405C-83D0-E27A1D01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91F68-3185-4F97-B62C-D6B159F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5B25E-1A69-47CD-91F5-2104123F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Global patterns remain inspectable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7C426-29C2-4ACE-9F66-687369D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transparent model supports a discussion about patterns across the cohort as well as a discussion about one patient.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9ab7892e842cf"/>
          <a:stretch xmlns:a="http://schemas.openxmlformats.org/drawingml/2006/main"/>
        </p:blipFill>
        <p:spPr>
          <a:xfrm xmlns:a="http://schemas.openxmlformats.org/drawingml/2006/main">
            <a:off x="1064475" y="1524000"/>
            <a:ext cx="610065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A3DF2-BCD0-4EF9-845D-2FF5AA2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1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Two views of the same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74629-03EE-4ECE-A5AC-B4242C5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Global view</a:t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pre-operative features matter most across the cohort?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Local view</a:t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Why did this patient receive this score?</a:t>
            </a:r>
          </a:p>
        </p:txBody>
      </p:sp>
    </p:spTree>
    <p:extLst>
      <p:ext uri="{BB962C8B-B14F-4D97-AF65-F5344CB8AC3E}">
        <p14:creationId xmlns:p14="http://schemas.microsoft.com/office/powerpoint/2010/main" val="17685230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41108-A5DC-403B-BD3B-E6B4615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263E5-A192-4CDC-8232-0BF5A8D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8F7C0-AA09-4E78-B14E-FE9DD93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61B6A-3B1B-421D-8894-05983E36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B1747-6D72-47ED-8C33-F379E82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 score must survive an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F3930-8329-4221-AE1D-5218C96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record joins the data version, feature set, threshold and model version to the clinical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A332A-C592-4ABB-B39E-187B3C69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59A18-CBF7-43AD-9513-0EB86BA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Gold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7D9DB-A1AA-4B72-8E07-D741460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Delta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5441A-7355-416E-BE8D-FD15E55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39B3C-6C8B-4A98-BE16-59EEA8D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AF6B9-2BFE-47D0-AD46-4687CDC2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Training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6023C-34CC-44A6-927C-84AB5E19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9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Parameters +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EA406-5F00-47EB-8D79-C5D15C4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C2DB0-080E-4865-91F7-6519DF16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0312-BA26-4905-9C8F-93E9019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D1056-0926-41D9-8A4E-E889CA9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Version +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3B4A6-B7BB-4CED-B99F-C0677AF0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547ED-9235-40BA-B3B1-61ED84D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004FC-317B-4C54-BC7D-F1E14A6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Patient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29C9E-DDFA-404B-833A-37B0AEC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 +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15602-25E1-4614-B266-5F8D2E8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4CB49-6C44-4D57-AFBD-0B78537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999CA-E948-4C96-85E0-B43B4C0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Review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900D3-3CF0-43AE-BC44-39C2471F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Clinician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EEAFB-11F3-4736-9150-71EA8839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“Which input created this score, and who acted on it?”</a:t>
            </a:r>
          </a:p>
        </p:txBody>
      </p:sp>
    </p:spTree>
    <p:extLst>
      <p:ext uri="{BB962C8B-B14F-4D97-AF65-F5344CB8AC3E}">
        <p14:creationId xmlns:p14="http://schemas.microsoft.com/office/powerpoint/2010/main" val="14606618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43AFF-AC84-4FEE-91B9-A84D568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5F0C8-65F8-42B7-999C-7EFCB69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347C-F5AB-4AA1-987C-A8DBE3D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30EF4-49DC-483D-A2E1-50E8B6CE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6A356-1B2B-41F0-AFC0-7A8562E8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From experiment to registered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C4AD2-0A09-4C81-8F93-49E7594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Fabric keeps the training lineage and the deployable model in the same governed estate.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363E3-365C-49C4-A82A-A150311C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ML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BB95B-B270-4BBD-8FA5-5750FEDC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Each training run records metrics and explicit tags such as data version and interpretability.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C8708-CA10-432C-85A6-B2FF95C5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FD878-8D39-4116-8A12-34347B8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24125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selected calibrated EBM receives a version and a champion alias before it reaches scoring.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605A5-7D64-4DB4-ABD9-13A41D1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Scored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32BF6-D469-42B3-AC16-506154B7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24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Batch scoring writes risk and explanation tables that the clinician app reads.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5FB8E-8FBE-4F0D-AD4E-8050D75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44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C78D-0FA9-4DD1-AFCA-90FB1AEC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44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09469-2583-48A1-97F0-A0B2035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87E7D-E8E3-4C7F-B965-7F7EAB4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No model file needs to leave the estate to reach the workflow.</a:t>
            </a:r>
          </a:p>
        </p:txBody>
      </p:sp>
    </p:spTree>
    <p:extLst>
      <p:ext uri="{BB962C8B-B14F-4D97-AF65-F5344CB8AC3E}">
        <p14:creationId xmlns:p14="http://schemas.microsoft.com/office/powerpoint/2010/main" val="4227753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1E574-8520-4250-851B-CE44832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B6F11-A4C9-461B-82FF-68A21D8A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9D47F-0FCC-463B-847F-C029FFA7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0338-7931-4AAD-A463-2C0807B8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5BAD7-8685-4AD5-BDB4-80C027B0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Delivery inside the governed estate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1302F-DFFD-4320-95B1-2645ADBF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385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Versioned model · scored cohort · clinician workflow · access policy</a:t>
            </a:r>
          </a:p>
        </p:txBody>
      </p:sp>
    </p:spTree>
    <p:extLst>
      <p:ext uri="{BB962C8B-B14F-4D97-AF65-F5344CB8AC3E}">
        <p14:creationId xmlns:p14="http://schemas.microsoft.com/office/powerpoint/2010/main" val="701181135"/>
      </p:ext>
    </p:extLst>
  </p:cSld>
</p:sld>
</file>

<file path=ppt/slides/slide28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35ece6b3f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3CD99-FB06-44CB-8C8D-7FF5ED6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CD13C-9BCE-49D6-AF34-427F92D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5995C-FA5B-4167-BE2D-0E619A0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6597-5239-4BFF-A0EC-9A47AED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F658B-323C-4014-9CCD-33E426A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score carries its own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75559-3409-4AFF-A9C5-4B15B6E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endpoint response brings risk, threshold, top contributions and lineage metadata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62DE5-F6D6-434E-BC0C-82D2C767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57225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0F3FA-DB54-4FC5-9A71-CE94EB02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"episode_id": "…",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"risk": 0.34,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"threshold": 0.50,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"flagged": false,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"contributions": [ … ],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"model_version": "champion",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"gold_table_version": 7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B6074-BA1F-43E5-BE13-7778EAD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response is designed for the next human question: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4C1D8-58C6-4247-831D-3EAA7F0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3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“Why this score?”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“Which model and data version produced it?”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“Was the patient flagged at the active threshold?”</a:t>
            </a:r>
          </a:p>
        </p:txBody>
      </p:sp>
    </p:spTree>
    <p:extLst>
      <p:ext uri="{BB962C8B-B14F-4D97-AF65-F5344CB8AC3E}">
        <p14:creationId xmlns:p14="http://schemas.microsoft.com/office/powerpoint/2010/main" val="3284560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25300-DD26-40F5-8606-9A1EC10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403D-2D58-4B51-9908-7BC5E82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77A54-E95C-4408-B555-4BCC8BBC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42BC0-2D3D-4F03-B4C8-8DF1622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B6EFB-BDFD-4E9B-B05F-B55D84BA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clinician app turns a score into a review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F4E04-4F0D-4713-8D02-78FF86C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app uses the scored cohort and explanation tables, without exposing a generic model interface to a clinician.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36C2F-D526-40D6-AF42-2E3C3A6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476750" cy="3905250"/>
          </a:xfrm>
          <a:prstGeom xmlns:a="http://schemas.openxmlformats.org/drawingml/2006/main" prst="roundRect">
            <a:avLst>
              <a:gd name="adj" fmla="val 1951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E9E25-C72B-4E24-BCF8-12F85C1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47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Patient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AB023-A426-4685-B6AA-B69FF0C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7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 band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High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Why?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Reduced mobility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Baseline pain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Prior surgery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Record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F5565-F63A-49EE-8CB0-13531A3A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6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workflow supports judgement, not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BCC18-E01B-4571-8651-008A8775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model score identifies a patient for review. The clinician sees the explanation, adds context and records the decision. The app does not make the care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440E7-7C40-42E2-B812-60DBC27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3524250" cy="381000"/>
          </a:xfrm>
          <a:prstGeom xmlns:a="http://schemas.openxmlformats.org/drawingml/2006/main" prst="roundRect">
            <a:avLst>
              <a:gd name="adj" fmla="val 2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F97F7-5EC9-43EE-8B9F-2FEBEB8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EXPLANATION + DECISION</a:t>
            </a:r>
          </a:p>
        </p:txBody>
      </p:sp>
    </p:spTree>
    <p:extLst>
      <p:ext uri="{BB962C8B-B14F-4D97-AF65-F5344CB8AC3E}">
        <p14:creationId xmlns:p14="http://schemas.microsoft.com/office/powerpoint/2010/main" val="368932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E50EB-5E17-4E7A-97BF-7A87A97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1F74-EAC6-4FC9-B9C9-A08DB28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9D634-CF1A-49B3-B604-5C095299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D42A6-EBC2-489D-A864-CB14E54F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4FBC-9091-4873-B6FE-7F45E65E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Row-level security sits beside the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D3B9-EC8A-4DF0-8B80-FC1E0B4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access rule is evaluated by Data API Builder before a patient row reaches the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5DA98-7A18-4F37-9D49-C6535D6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619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1652-1489-47CE-8E71-E13DCE0A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95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policy: (claims, item) =&gt;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claims.sub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.eq(item.assignedClinicianId)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.or(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claims.email.eq(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  item.assignedClinicianEmail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)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08AE2-92D3-4D80-BBF9-6F9B2E8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4E4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94E4E"/>
                </a:solidFill>
                <a:latin typeface="Aptos"/>
                <a:ea typeface="Aptos"/>
                <a:cs typeface="Aptos"/>
              </a:rPr>
              <a:t>No client-side 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46BD3-018D-49C5-A01A-43C8697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Filtering in the frontend only hides rows in one screen. The data policy protects every request, including deep links and API calls.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55BF7-0E1A-42FA-98B4-9EF38BB1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3333750" cy="381000"/>
          </a:xfrm>
          <a:prstGeom xmlns:a="http://schemas.openxmlformats.org/drawingml/2006/main" prst="roundRect">
            <a:avLst>
              <a:gd name="adj" fmla="val 2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743CD-2E7C-477A-A410-177FABF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ENFORCED IN DATA API BUILDER</a:t>
            </a:r>
          </a:p>
        </p:txBody>
      </p:sp>
    </p:spTree>
    <p:extLst>
      <p:ext uri="{BB962C8B-B14F-4D97-AF65-F5344CB8AC3E}">
        <p14:creationId xmlns:p14="http://schemas.microsoft.com/office/powerpoint/2010/main" val="9198938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5CA8B-718B-45B5-9211-838F649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A4686-4EFE-44D9-AB8A-819258E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C0B19-A826-4BEB-880E-3F8D50C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AF8B4-C61B-421F-97FA-6A70F11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97A9C-DBF3-4B19-8760-D52EB47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 grounded answer, or none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8E7E0-7365-4C3D-8620-1DEC5C1C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agent can answer from the governed model outputs and provider context, with the same permission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CE4CC-00E2-4AA4-BAA7-8189D73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F45C0-A6F4-4340-BBAF-14C20257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0615C-FEDB-4BFA-A720-36EADA4E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patients are flagged and why?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9B777-2684-45D9-B09E-88428C0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F75D3-5149-46D3-A849-6293E79A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2D47-2715-48FE-ACE3-658D9E6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Semantic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E8498-C82C-416E-AB25-729354A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Risk, explanation and provider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D7214-78A9-4BCC-99C1-1BE4CCE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C7E86-28F5-4B9E-BDB3-B140F88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48174-F04A-4502-AA32-7A737E2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Permission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234F7-6C67-4620-AC75-0734CCC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Caller can only see assigned patients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A9AB1-CB78-4B2B-B4BB-49FC2B9F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DF746-55DA-4419-A9C8-8732943A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FD167-8DC7-4A32-92F0-9537F20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19181-66FD-4B14-B539-515A968F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Cited, scoped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FE06E-81B8-4C40-82EE-F702FA7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answer should remain traceable to the scored tables and the caller’s permissions.</a:t>
            </a:r>
          </a:p>
        </p:txBody>
      </p:sp>
    </p:spTree>
    <p:extLst>
      <p:ext uri="{BB962C8B-B14F-4D97-AF65-F5344CB8AC3E}">
        <p14:creationId xmlns:p14="http://schemas.microsoft.com/office/powerpoint/2010/main" val="1143623649"/>
      </p:ext>
    </p:extLst>
  </p:cSld>
</p:sld>
</file>

<file path=ppt/slides/slide32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a6ab80ea14a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6A5B9-AB7E-4BF6-9C39-CDD5C536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ABB5-1538-4476-A35D-73201752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7EFCE-9D04-4506-9AC1-069D979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BACDF-B13C-4E92-ACF5-01A955D7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18A6B-4E1C-4D24-ADD2-067B7756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The missing layer is delivery with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36B8E-B23F-4D4D-A06C-D3342001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01453-1457-4832-B44F-2D3EB22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Clinician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2253E-28CE-43A5-BE5F-D4906E5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Risk, explanation and a recorded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1C38D-82C4-4A1C-9EA3-CACDB3C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AFA5D-79D7-44CE-9DAB-3860E190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2A883-3B58-4369-A67D-29E7FF3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clear, calibrated probability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D0D83-D0F5-4115-95CB-5EF38C03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4D789-DABE-4B55-8458-CEC6DCBA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Regulator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114DE-466D-4769-919B-6B3BA0B3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Lineage, model version and access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E8262-A194-4309-A093-D9B8EFE0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Data, analytics and decision remain in one governed place.</a:t>
            </a:r>
          </a:p>
        </p:txBody>
      </p:sp>
    </p:spTree>
    <p:extLst>
      <p:ext uri="{BB962C8B-B14F-4D97-AF65-F5344CB8AC3E}">
        <p14:creationId xmlns:p14="http://schemas.microsoft.com/office/powerpoint/2010/main" val="1201705578"/>
      </p:ext>
    </p:extLst>
  </p:cSld>
</p:sld>
</file>

<file path=ppt/slides/slide33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d4974e51d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7EA16-DC12-49CE-98AD-E6804B51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FAFBE-2011-4A09-A7D1-FAAF124A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5CE6C-6181-4E3B-B381-54FD256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CEFD6-4487-4D53-8616-61C0BF27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C30B9-430A-4750-8E1F-D2B60500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What transfers to the next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E08A2-00B4-40C5-A2C4-D48CAE0A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reusable work is not only the model. It is the governed path from data to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1B99A-A0D7-4CE7-9880-FB66162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015A9-3ACD-4774-B974-25ED0E4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Version the inputs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EDF8E-CA68-42CF-ABDF-B09D907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0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Record the Delta table and feature-set version with each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7BFFC-746F-4613-8C16-01A90FCA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3DDCC-DAD2-45D9-8259-8ABFD08B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CFB1F-1AEF-44C6-8FDA-18112E5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Make explanations first-class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FAD12-244E-4534-AF7A-FBBF79BF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Store local explanations beside the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D9103-46CC-4864-BB70-553F6D4E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C1B83-8851-4849-B767-329299D0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F3713-F6F6-43F1-8091-D7BA8A05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Treat thresholds as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FDCD5-0437-40AC-A2B5-8840FE94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Connect flagging volume to the care pathway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5744A-2880-4AD8-8A7F-DC3DDE7B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ADDDA-D03C-4BAC-8130-27C30D9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8A1F2-560B-4984-9A59-ED1533F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Enforce access in the data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AD4E-8A18-48B2-BBD8-FB12C4B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Do not rely on a frontend filter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B7761-6E1B-4689-AD27-E43C82C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DBAE6-2766-4292-9259-BAAEA183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13293-C05B-45A7-ADC8-C388020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Keep a usable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4BDD7F-ED48-44C6-96C4-546BB4E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Pre-run notebooks and offline app mode for the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58AECE-E005-4830-9D4B-C421337E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</p:spTree>
    <p:extLst>
      <p:ext uri="{BB962C8B-B14F-4D97-AF65-F5344CB8AC3E}">
        <p14:creationId xmlns:p14="http://schemas.microsoft.com/office/powerpoint/2010/main" val="2079136495"/>
      </p:ext>
    </p:extLst>
  </p:cSld>
</p:sld>
</file>

<file path=ppt/slides/slide3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02096e6af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35886"/>
            <a:ext cx="12188952" cy="457310"/>
          </a:xfrm>
          <a:prstGeom xmlns:a="http://schemas.openxmlformats.org/drawingml/2006/main" prst="rect">
            <a:avLst/>
          </a:prstGeom>
        </p:spPr>
      </p:pic>
      <p:pic>
        <p:nvPicPr>
          <p:cNvPr id="1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379be4410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864795"/>
            <a:ext cx="12188952" cy="4581415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A7DD573-9C82-4AC1-B23E-08B229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025" y="2344816"/>
            <a:ext cx="3375025" cy="478155"/>
          </a:xfrm>
          <a:custGeom xmlns:a="http://schemas.openxmlformats.org/drawingml/2006/main">
            <a:rect l="l" t="t" r="r" b="b"/>
            <a:pathLst>
              <a:path w="3375025" h="478155">
                <a:moveTo>
                  <a:pt x="3374507" y="478097"/>
                </a:moveTo>
                <a:lnTo>
                  <a:pt x="0" y="478097"/>
                </a:lnTo>
                <a:lnTo>
                  <a:pt x="0" y="0"/>
                </a:lnTo>
                <a:lnTo>
                  <a:pt x="3374507" y="0"/>
                </a:lnTo>
                <a:lnTo>
                  <a:pt x="3374507" y="478097"/>
                </a:lnTo>
                <a:close/>
              </a:path>
            </a:pathLst>
          </a:custGeom>
          <a:solidFill xmlns:a="http://schemas.openxmlformats.org/drawingml/2006/main">
            <a:srgbClr val="002A2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FE2A0A61-7029-4242-B06F-9A775CD8D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4096" y="2136258"/>
            <a:ext cx="3424554" cy="829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5250" b="0" spc="-61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Please</a:t>
            </a:r>
            <a:r>
              <a:rPr sz="5250" b="0" spc="13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5250" b="0" spc="-64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rate</a:t>
            </a:r>
            <a:endParaRPr sz="5250">
              <a:latin typeface="Arial Black"/>
              <a:ea typeface="Arial Black"/>
              <a:cs typeface="Arial Black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72C43C5-44FC-4698-9F5C-D5362FF1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11" y="2989207"/>
            <a:ext cx="3628390" cy="490855"/>
          </a:xfrm>
          <a:custGeom xmlns:a="http://schemas.openxmlformats.org/drawingml/2006/main">
            <a:rect l="l" t="t" r="r" b="b"/>
            <a:pathLst>
              <a:path w="3628390" h="490854">
                <a:moveTo>
                  <a:pt x="3628010" y="490569"/>
                </a:moveTo>
                <a:lnTo>
                  <a:pt x="0" y="490569"/>
                </a:lnTo>
                <a:lnTo>
                  <a:pt x="0" y="0"/>
                </a:lnTo>
                <a:lnTo>
                  <a:pt x="3628010" y="0"/>
                </a:lnTo>
                <a:lnTo>
                  <a:pt x="3628010" y="490569"/>
                </a:lnTo>
                <a:close/>
              </a:path>
            </a:pathLst>
          </a:custGeom>
          <a:solidFill xmlns:a="http://schemas.openxmlformats.org/drawingml/2006/main">
            <a:srgbClr val="01342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7F01382-0AA1-4A8A-ACC2-3B6231FA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7" y="2787347"/>
            <a:ext cx="3644265" cy="83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5300" spc="-55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this</a:t>
            </a:r>
            <a:r>
              <a:rPr sz="5300" spc="-14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5300" spc="-58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session</a:t>
            </a:r>
            <a:endParaRPr sz="5300">
              <a:latin typeface="Arial Black"/>
              <a:ea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407161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2026-09-17T19:39:38.7560000Z</dcterms:created>
  <dcterms:modified xsi:type="dcterms:W3CDTF">2026-09-17T19:39:38.7560000Z</dcterms:modified>
</coreProperties>
</file>