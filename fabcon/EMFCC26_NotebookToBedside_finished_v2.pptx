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fefeca87734350" /><Relationship Type="http://schemas.openxmlformats.org/officeDocument/2006/relationships/extended-properties" Target="/docProps/app.xml" Id="Reefa7492858f446a" /><Relationship Type="http://schemas.openxmlformats.org/officeDocument/2006/relationships/officeDocument" Target="/ppt/presentation.xml" Id="R7aee1532748343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ec08c94213420b"/>
  </p:sldMasterIdLst>
  <p:notesMasterIdLst>
    <p:notesMasterId xmlns:r="http://schemas.openxmlformats.org/officeDocument/2006/relationships" r:id="Rb87f70090f71441c"/>
  </p:notesMasterIdLst>
  <p:sldIdLst>
    <p:sldId xmlns:r="http://schemas.openxmlformats.org/officeDocument/2006/relationships" id="256" r:id="R54e9709accfd4f61"/>
    <p:sldId xmlns:r="http://schemas.openxmlformats.org/officeDocument/2006/relationships" id="257" r:id="R4bc88c3e29434429"/>
    <p:sldId xmlns:r="http://schemas.openxmlformats.org/officeDocument/2006/relationships" id="258" r:id="Raddb99e335ad4c1f"/>
    <p:sldId xmlns:r="http://schemas.openxmlformats.org/officeDocument/2006/relationships" id="259" r:id="R06d2a6fa817e4d71"/>
    <p:sldId xmlns:r="http://schemas.openxmlformats.org/officeDocument/2006/relationships" id="260" r:id="Refc7a3e1991e4006"/>
    <p:sldId xmlns:r="http://schemas.openxmlformats.org/officeDocument/2006/relationships" id="261" r:id="R76fc48758ffa4461"/>
    <p:sldId xmlns:r="http://schemas.openxmlformats.org/officeDocument/2006/relationships" id="262" r:id="R7224c9bea9084137"/>
    <p:sldId xmlns:r="http://schemas.openxmlformats.org/officeDocument/2006/relationships" id="263" r:id="Re1b36715af1b46ee"/>
    <p:sldId xmlns:r="http://schemas.openxmlformats.org/officeDocument/2006/relationships" id="264" r:id="R3b3f4a6ac99b41c3"/>
    <p:sldId xmlns:r="http://schemas.openxmlformats.org/officeDocument/2006/relationships" id="265" r:id="Rf78bb3b7cbbb4bf8"/>
    <p:sldId xmlns:r="http://schemas.openxmlformats.org/officeDocument/2006/relationships" id="266" r:id="R052cf8c06d434e2a"/>
    <p:sldId xmlns:r="http://schemas.openxmlformats.org/officeDocument/2006/relationships" id="267" r:id="R92399fb9f01d47db"/>
    <p:sldId xmlns:r="http://schemas.openxmlformats.org/officeDocument/2006/relationships" id="268" r:id="R840d55bdb4314894"/>
    <p:sldId xmlns:r="http://schemas.openxmlformats.org/officeDocument/2006/relationships" id="269" r:id="Rcf0db77400314d9a"/>
    <p:sldId xmlns:r="http://schemas.openxmlformats.org/officeDocument/2006/relationships" id="270" r:id="Rbcceeada93d14d8a"/>
    <p:sldId xmlns:r="http://schemas.openxmlformats.org/officeDocument/2006/relationships" id="271" r:id="R448e55e3c4ef44b7"/>
    <p:sldId xmlns:r="http://schemas.openxmlformats.org/officeDocument/2006/relationships" id="272" r:id="R038d5f214f464981"/>
    <p:sldId xmlns:r="http://schemas.openxmlformats.org/officeDocument/2006/relationships" id="273" r:id="Rb14ea11010154805"/>
    <p:sldId xmlns:r="http://schemas.openxmlformats.org/officeDocument/2006/relationships" id="274" r:id="R97ae9a3caf11414d"/>
    <p:sldId xmlns:r="http://schemas.openxmlformats.org/officeDocument/2006/relationships" id="275" r:id="Rd8db4ab79aed40b9"/>
    <p:sldId xmlns:r="http://schemas.openxmlformats.org/officeDocument/2006/relationships" id="276" r:id="R3d431c4e51bb47dc"/>
    <p:sldId xmlns:r="http://schemas.openxmlformats.org/officeDocument/2006/relationships" id="277" r:id="R56719967c0a4466e"/>
    <p:sldId xmlns:r="http://schemas.openxmlformats.org/officeDocument/2006/relationships" id="278" r:id="R18d25cf1a4ac4347"/>
    <p:sldId xmlns:r="http://schemas.openxmlformats.org/officeDocument/2006/relationships" id="279" r:id="R99ede11fe5aa4ef2"/>
    <p:sldId xmlns:r="http://schemas.openxmlformats.org/officeDocument/2006/relationships" id="280" r:id="R5abf37f668c048a9"/>
    <p:sldId xmlns:r="http://schemas.openxmlformats.org/officeDocument/2006/relationships" id="281" r:id="R2824d75b0ecf4dc1"/>
    <p:sldId xmlns:r="http://schemas.openxmlformats.org/officeDocument/2006/relationships" id="282" r:id="R202ad2913451404b"/>
    <p:sldId xmlns:r="http://schemas.openxmlformats.org/officeDocument/2006/relationships" id="283" r:id="Rc29b0bcca4a74543"/>
    <p:sldId xmlns:r="http://schemas.openxmlformats.org/officeDocument/2006/relationships" id="284" r:id="R026558b39b8c402f"/>
    <p:sldId xmlns:r="http://schemas.openxmlformats.org/officeDocument/2006/relationships" id="285" r:id="Rb0ff426cb02545d1"/>
    <p:sldId xmlns:r="http://schemas.openxmlformats.org/officeDocument/2006/relationships" id="286" r:id="R43c10d368caf47f9"/>
    <p:sldId xmlns:r="http://schemas.openxmlformats.org/officeDocument/2006/relationships" id="287" r:id="R64641c5b63264c89"/>
    <p:sldId xmlns:r="http://schemas.openxmlformats.org/officeDocument/2006/relationships" id="288" r:id="R9a144b0c405f4465"/>
    <p:sldId xmlns:r="http://schemas.openxmlformats.org/officeDocument/2006/relationships" id="289" r:id="R271c835d728849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8028800" cy="780288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d0721a72464882" /><Relationship Type="http://schemas.openxmlformats.org/officeDocument/2006/relationships/slideMaster" Target="/ppt/slideMasters/slideMaster1.xml" Id="Rb7ec08c94213420b" /><Relationship Type="http://schemas.openxmlformats.org/officeDocument/2006/relationships/notesMaster" Target="/ppt/notesMasters/notesMaster1.xml" Id="Rb87f70090f71441c" /><Relationship Type="http://schemas.openxmlformats.org/officeDocument/2006/relationships/presProps" Target="/ppt/presProps.xml" Id="Rb2256644d0a5447f" /><Relationship Type="http://schemas.openxmlformats.org/officeDocument/2006/relationships/viewProps" Target="/ppt/viewProps.xml" Id="R4df9b32158144098" /><Relationship Type="http://schemas.openxmlformats.org/officeDocument/2006/relationships/tableStyles" Target="/ppt/tableStyles.xml" Id="R6d1de625176e4f89" /><Relationship Type="http://schemas.openxmlformats.org/officeDocument/2006/relationships/slide" Target="/ppt/slides/slide1.xml" Id="R54e9709accfd4f61" /><Relationship Type="http://schemas.openxmlformats.org/officeDocument/2006/relationships/slide" Target="/ppt/slides/slide2.xml" Id="R4bc88c3e29434429" /><Relationship Type="http://schemas.openxmlformats.org/officeDocument/2006/relationships/slide" Target="/ppt/slides/slide3.xml" Id="Raddb99e335ad4c1f" /><Relationship Type="http://schemas.openxmlformats.org/officeDocument/2006/relationships/slide" Target="/ppt/slides/slide4.xml" Id="R06d2a6fa817e4d71" /><Relationship Type="http://schemas.openxmlformats.org/officeDocument/2006/relationships/slide" Target="/ppt/slides/slide5.xml" Id="Refc7a3e1991e4006" /><Relationship Type="http://schemas.openxmlformats.org/officeDocument/2006/relationships/slide" Target="/ppt/slides/slide6.xml" Id="R76fc48758ffa4461" /><Relationship Type="http://schemas.openxmlformats.org/officeDocument/2006/relationships/slide" Target="/ppt/slides/slide7.xml" Id="R7224c9bea9084137" /><Relationship Type="http://schemas.openxmlformats.org/officeDocument/2006/relationships/slide" Target="/ppt/slides/slide8.xml" Id="Re1b36715af1b46ee" /><Relationship Type="http://schemas.openxmlformats.org/officeDocument/2006/relationships/slide" Target="/ppt/slides/slide9.xml" Id="R3b3f4a6ac99b41c3" /><Relationship Type="http://schemas.openxmlformats.org/officeDocument/2006/relationships/slide" Target="/ppt/slides/slide10.xml" Id="Rf78bb3b7cbbb4bf8" /><Relationship Type="http://schemas.openxmlformats.org/officeDocument/2006/relationships/slide" Target="/ppt/slides/slide11.xml" Id="R052cf8c06d434e2a" /><Relationship Type="http://schemas.openxmlformats.org/officeDocument/2006/relationships/slide" Target="/ppt/slides/slide12.xml" Id="R92399fb9f01d47db" /><Relationship Type="http://schemas.openxmlformats.org/officeDocument/2006/relationships/slide" Target="/ppt/slides/slide13.xml" Id="R840d55bdb4314894" /><Relationship Type="http://schemas.openxmlformats.org/officeDocument/2006/relationships/slide" Target="/ppt/slides/slide14.xml" Id="Rcf0db77400314d9a" /><Relationship Type="http://schemas.openxmlformats.org/officeDocument/2006/relationships/slide" Target="/ppt/slides/slide15.xml" Id="Rbcceeada93d14d8a" /><Relationship Type="http://schemas.openxmlformats.org/officeDocument/2006/relationships/slide" Target="/ppt/slides/slide16.xml" Id="R448e55e3c4ef44b7" /><Relationship Type="http://schemas.openxmlformats.org/officeDocument/2006/relationships/slide" Target="/ppt/slides/slide17.xml" Id="R038d5f214f464981" /><Relationship Type="http://schemas.openxmlformats.org/officeDocument/2006/relationships/slide" Target="/ppt/slides/slide18.xml" Id="Rb14ea11010154805" /><Relationship Type="http://schemas.openxmlformats.org/officeDocument/2006/relationships/slide" Target="/ppt/slides/slide19.xml" Id="R97ae9a3caf11414d" /><Relationship Type="http://schemas.openxmlformats.org/officeDocument/2006/relationships/slide" Target="/ppt/slides/slide20.xml" Id="Rd8db4ab79aed40b9" /><Relationship Type="http://schemas.openxmlformats.org/officeDocument/2006/relationships/slide" Target="/ppt/slides/slide21.xml" Id="R3d431c4e51bb47dc" /><Relationship Type="http://schemas.openxmlformats.org/officeDocument/2006/relationships/slide" Target="/ppt/slides/slide22.xml" Id="R56719967c0a4466e" /><Relationship Type="http://schemas.openxmlformats.org/officeDocument/2006/relationships/slide" Target="/ppt/slides/slide23.xml" Id="R18d25cf1a4ac4347" /><Relationship Type="http://schemas.openxmlformats.org/officeDocument/2006/relationships/slide" Target="/ppt/slides/slide24.xml" Id="R99ede11fe5aa4ef2" /><Relationship Type="http://schemas.openxmlformats.org/officeDocument/2006/relationships/slide" Target="/ppt/slides/slide25.xml" Id="R5abf37f668c048a9" /><Relationship Type="http://schemas.openxmlformats.org/officeDocument/2006/relationships/slide" Target="/ppt/slides/slide26.xml" Id="R2824d75b0ecf4dc1" /><Relationship Type="http://schemas.openxmlformats.org/officeDocument/2006/relationships/slide" Target="/ppt/slides/slide27.xml" Id="R202ad2913451404b" /><Relationship Type="http://schemas.openxmlformats.org/officeDocument/2006/relationships/slide" Target="/ppt/slides/slide28.xml" Id="Rc29b0bcca4a74543" /><Relationship Type="http://schemas.openxmlformats.org/officeDocument/2006/relationships/slide" Target="/ppt/slides/slide29.xml" Id="R026558b39b8c402f" /><Relationship Type="http://schemas.openxmlformats.org/officeDocument/2006/relationships/slide" Target="/ppt/slides/slide30.xml" Id="Rb0ff426cb02545d1" /><Relationship Type="http://schemas.openxmlformats.org/officeDocument/2006/relationships/slide" Target="/ppt/slides/slide31.xml" Id="R43c10d368caf47f9" /><Relationship Type="http://schemas.openxmlformats.org/officeDocument/2006/relationships/slide" Target="/ppt/slides/slide32.xml" Id="R64641c5b63264c89" /><Relationship Type="http://schemas.openxmlformats.org/officeDocument/2006/relationships/slide" Target="/ppt/slides/slide33.xml" Id="R9a144b0c405f4465" /><Relationship Type="http://schemas.openxmlformats.org/officeDocument/2006/relationships/slide" Target="/ppt/slides/slide34.xml" Id="R271c835d728849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8082b620a54a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367fee86784551" /><Relationship Type="http://schemas.openxmlformats.org/officeDocument/2006/relationships/notesMaster" Target="/ppt/notesMasters/notesMaster1.xml" Id="R138e2440096d42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0125b577544cea" /><Relationship Type="http://schemas.openxmlformats.org/officeDocument/2006/relationships/notesMaster" Target="/ppt/notesMasters/notesMaster1.xml" Id="R44dbb8d5e2b040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c537a8bfb74184" /><Relationship Type="http://schemas.openxmlformats.org/officeDocument/2006/relationships/notesMaster" Target="/ppt/notesMasters/notesMaster1.xml" Id="R997da9834c464e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e15f502ed647ac" /><Relationship Type="http://schemas.openxmlformats.org/officeDocument/2006/relationships/notesMaster" Target="/ppt/notesMasters/notesMaster1.xml" Id="R2d6ea0d899a246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5eae8563f54fb0" /><Relationship Type="http://schemas.openxmlformats.org/officeDocument/2006/relationships/notesMaster" Target="/ppt/notesMasters/notesMaster1.xml" Id="R36995a7f47754e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bd99331f9f46f4" /><Relationship Type="http://schemas.openxmlformats.org/officeDocument/2006/relationships/notesMaster" Target="/ppt/notesMasters/notesMaster1.xml" Id="Rdffcbdffb7f44a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05c8454e7b4dac" /><Relationship Type="http://schemas.openxmlformats.org/officeDocument/2006/relationships/notesMaster" Target="/ppt/notesMasters/notesMaster1.xml" Id="Rf117a7e576344e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99d81e46f9463d" /><Relationship Type="http://schemas.openxmlformats.org/officeDocument/2006/relationships/notesMaster" Target="/ppt/notesMasters/notesMaster1.xml" Id="R1dfeda51abe445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0f8c7ed3c3458a" /><Relationship Type="http://schemas.openxmlformats.org/officeDocument/2006/relationships/notesMaster" Target="/ppt/notesMasters/notesMaster1.xml" Id="Racdb98abc6ac42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234eda1be849e4" /><Relationship Type="http://schemas.openxmlformats.org/officeDocument/2006/relationships/notesMaster" Target="/ppt/notesMasters/notesMaster1.xml" Id="R44e068789fcd4c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f78bc3b00c4e11" /><Relationship Type="http://schemas.openxmlformats.org/officeDocument/2006/relationships/notesMaster" Target="/ppt/notesMasters/notesMaster1.xml" Id="R7925f638837545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d9775ee87445c2" /><Relationship Type="http://schemas.openxmlformats.org/officeDocument/2006/relationships/notesMaster" Target="/ppt/notesMasters/notesMaster1.xml" Id="R07d22af693cd4c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ace16928fd4e3e" /><Relationship Type="http://schemas.openxmlformats.org/officeDocument/2006/relationships/notesMaster" Target="/ppt/notesMasters/notesMaster1.xml" Id="Rd0a7c258426643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a1a5f524ad4259" /><Relationship Type="http://schemas.openxmlformats.org/officeDocument/2006/relationships/notesMaster" Target="/ppt/notesMasters/notesMaster1.xml" Id="Re171667c899f43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ebbbe219aa48a8" /><Relationship Type="http://schemas.openxmlformats.org/officeDocument/2006/relationships/notesMaster" Target="/ppt/notesMasters/notesMaster1.xml" Id="Rec06c7930d924b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5454a274f04968" /><Relationship Type="http://schemas.openxmlformats.org/officeDocument/2006/relationships/notesMaster" Target="/ppt/notesMasters/notesMaster1.xml" Id="R35812a4b08aa46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b47f12cc7b43af" /><Relationship Type="http://schemas.openxmlformats.org/officeDocument/2006/relationships/notesMaster" Target="/ppt/notesMasters/notesMaster1.xml" Id="R157a044c276045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26b48eb3aef4e06" /><Relationship Type="http://schemas.openxmlformats.org/officeDocument/2006/relationships/notesMaster" Target="/ppt/notesMasters/notesMaster1.xml" Id="R9a83e1ec9dd647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ebf88c9d75481e" /><Relationship Type="http://schemas.openxmlformats.org/officeDocument/2006/relationships/notesMaster" Target="/ppt/notesMasters/notesMaster1.xml" Id="Rf5346504a9a04a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17bccbc0cac45fd" /><Relationship Type="http://schemas.openxmlformats.org/officeDocument/2006/relationships/notesMaster" Target="/ppt/notesMasters/notesMaster1.xml" Id="Rfc1b1d2c82c842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c16b9e55542452b" /><Relationship Type="http://schemas.openxmlformats.org/officeDocument/2006/relationships/notesMaster" Target="/ppt/notesMasters/notesMaster1.xml" Id="R48f3d1b26b4f4a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f5ba07a7cb44250" /><Relationship Type="http://schemas.openxmlformats.org/officeDocument/2006/relationships/notesMaster" Target="/ppt/notesMasters/notesMaster1.xml" Id="Rb2916422f8f04ca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df24582196948a2" /><Relationship Type="http://schemas.openxmlformats.org/officeDocument/2006/relationships/notesMaster" Target="/ppt/notesMasters/notesMaster1.xml" Id="R99f4d9de64bb40e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2d04f065d1a402e" /><Relationship Type="http://schemas.openxmlformats.org/officeDocument/2006/relationships/notesMaster" Target="/ppt/notesMasters/notesMaster1.xml" Id="Rb2825d088b42445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c044fea43564ad3" /><Relationship Type="http://schemas.openxmlformats.org/officeDocument/2006/relationships/notesMaster" Target="/ppt/notesMasters/notesMaster1.xml" Id="Rf81e83887203464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4ab96d733d4785" /><Relationship Type="http://schemas.openxmlformats.org/officeDocument/2006/relationships/notesMaster" Target="/ppt/notesMasters/notesMaster1.xml" Id="Rf83fe7a54d2e40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874111a7bc8435a" /><Relationship Type="http://schemas.openxmlformats.org/officeDocument/2006/relationships/notesMaster" Target="/ppt/notesMasters/notesMaster1.xml" Id="R9410b8c243be41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e2a117e0d6649e3" /><Relationship Type="http://schemas.openxmlformats.org/officeDocument/2006/relationships/notesMaster" Target="/ppt/notesMasters/notesMaster1.xml" Id="R336b30eb71ec4c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16faefebb894f32" /><Relationship Type="http://schemas.openxmlformats.org/officeDocument/2006/relationships/notesMaster" Target="/ppt/notesMasters/notesMaster1.xml" Id="Rc4a496d6f2dd4ff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61a484e2be147fd" /><Relationship Type="http://schemas.openxmlformats.org/officeDocument/2006/relationships/notesMaster" Target="/ppt/notesMasters/notesMaster1.xml" Id="R1c7bd27705bb486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932c7e82e2c46f0" /><Relationship Type="http://schemas.openxmlformats.org/officeDocument/2006/relationships/notesMaster" Target="/ppt/notesMasters/notesMaster1.xml" Id="R7506e31eb06742e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2125b21ab394c36" /><Relationship Type="http://schemas.openxmlformats.org/officeDocument/2006/relationships/notesMaster" Target="/ppt/notesMasters/notesMaster1.xml" Id="Rb3e997d8bb75416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512f2e2be3c4db8" /><Relationship Type="http://schemas.openxmlformats.org/officeDocument/2006/relationships/notesMaster" Target="/ppt/notesMasters/notesMaster1.xml" Id="Rce9ec1860900453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a9596d9ef75452d" /><Relationship Type="http://schemas.openxmlformats.org/officeDocument/2006/relationships/notesMaster" Target="/ppt/notesMasters/notesMaster1.xml" Id="Rc08cd581c68d41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notebooks/01_all_dataset_exploration.ipynb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 described in 2026-07-25-notebook-to-bedside-session-design.md and project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notebooks/05_modelling.ipynb; Fabric notebook 31_data_exploration is the production counterpart.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based on fabric/notebooks/40_train_register.ipynb.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notebooks/05_modelling.ipynb and Model_Comparison_Analysis.md.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notebooks/05_modelling.ipynb; threshold is explicitly described as clinical policy in fabric/rayfin-clinician-app/src/clinical.ts.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notebooks/06_ebm_calibration.ipynb.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notebooks/07_ebm_explainability.ipynb.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code/Finalized notebooks/05_modelling.ipynb and 07_ebm_explainability.ipynb.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based on fabric/MLFLOW.md, fabric/notebooks/40_train_register.ipynb and fabric/DAY_PLAN.md.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fabric/notebooks/40_train_register.ipynb, 50_batch_score.ipynb and fabric/README.md.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Payload fields based on fabric/notebooks/50_batch_score.ipynb and the clinician app data model. Example values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fabric/rayfin-clinician-app/src/pages and UX_AUDIT_AND_DESIGN.md. Layout is a conceptual representation, not a production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fabric/rayfin-clinician-app/rayfin/data/PatientRisk.ts and RiskExplanation.ts.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fabric/rayfin-clinician-app/src/services/agent and fabric/README.md.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fabric/DAY_PLAN.md, fabric/README.md, fabric/MLFLOW.md and clinician-app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770ba23314d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50a2e3fe84c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10de265b84f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91c5ea5ff41c0" /><Relationship Type="http://schemas.openxmlformats.org/officeDocument/2006/relationships/image" Target="/ppt/media/image2.jpeg" Id="R9dfa4b6e01364f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1fb0f92e94c8a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50A35932-189D-4E40-90A1-A5651427E4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25980"/>
            <a:ext cx="10363200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150" b="1" i="0">
                <a:solidFill>
                  <a:srgbClr val="BB9F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FD4FBEA-37DF-4670-8B76-CE68A0BEAF2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828800" y="3840480"/>
            <a:ext cx="85344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800" b="0" i="0">
                <a:solidFill>
                  <a:schemeClr val="tx1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B7855046-6B31-4717-87A7-E8BEBD86643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62C43E07-2C54-45F7-B0C4-A9075893FC5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2E677E5-C340-4DC5-BE77-E4656505692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9D53C2C8-3FEC-42F3-87F2-67CFB9BD5C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150" b="1" i="0">
                <a:solidFill>
                  <a:srgbClr val="BB9F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DC37174-B728-44A8-90D8-EE847D2A81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2800" b="0" i="0">
                <a:solidFill>
                  <a:schemeClr val="tx1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1D90AF44-161B-43DF-B926-CF5812B02D4E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F4AB6EF1-FAE6-4B97-B4C2-A3C326279AC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DAD33E2-6809-4120-8090-235163825536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E7BA95E-C0A6-413B-B7CA-9576DC390B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150" b="1" i="0">
                <a:solidFill>
                  <a:srgbClr val="BB9F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CE63BE7-6853-466F-915D-0442505521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96696" y="1847595"/>
            <a:ext cx="3374390" cy="3512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500" b="1" i="0">
                <a:solidFill>
                  <a:schemeClr val="bg1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A5E3AE5-3461-4BB2-B466-353E0B52BB61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001000" y="1399336"/>
            <a:ext cx="3200400" cy="43999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8F56D78D-FDCE-4B1C-8562-863F0BE5CCAB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871E43E4-977F-468F-BC1F-513CFF95201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828E8F71-C379-4A23-973D-068B1FDDAEF6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type="obj" preserve="1">
  <p:cSld name="Title Only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a4b6e01364f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96B6231D-EF85-49F4-B915-2FB86A699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150" b="1" i="0">
                <a:solidFill>
                  <a:srgbClr val="BB9F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EFE9C8F-ED9E-43E5-95E8-F0823EE7F1B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44855884-E963-4EB2-83C2-1B314889172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F107A61-A79B-4BE5-A875-16CD4F5AF9F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28AE58A5-32AF-4F2A-88F2-5DA3A245E02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2352EF1-4A43-44B8-9742-C739097FB8C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9EB24323-3459-4B1C-BF73-E51E601D2ADD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e301133f081f4dc7" /><Relationship Type="http://schemas.openxmlformats.org/officeDocument/2006/relationships/theme" Target="/ppt/slideMasters/theme/theme2.xml" Id="R314e591b06134f67" /><Relationship Type="http://schemas.openxmlformats.org/officeDocument/2006/relationships/slideLayout" Target="/ppt/slideLayouts/slideLayout1.xml" Id="R5f78af6f9d6545ca" /><Relationship Type="http://schemas.openxmlformats.org/officeDocument/2006/relationships/slideLayout" Target="/ppt/slideLayouts/slideLayout2.xml" Id="Ref476946457543ff" /><Relationship Type="http://schemas.openxmlformats.org/officeDocument/2006/relationships/slideLayout" Target="/ppt/slideLayouts/slideLayout3.xml" Id="R60e9dca545cb44c6" /><Relationship Type="http://schemas.openxmlformats.org/officeDocument/2006/relationships/slideLayout" Target="/ppt/slideLayouts/slideLayout4.xml" Id="Rf21226eb7bf844af" /><Relationship Type="http://schemas.openxmlformats.org/officeDocument/2006/relationships/slideLayout" Target="/ppt/slideLayouts/slideLayout5.xml" Id="R70c30bece07a42e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1133f081f4d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6F924AE-BAD5-4E6B-9B1A-5D256CDEF9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7511" y="218135"/>
            <a:ext cx="10587240" cy="1209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150" b="1" i="0">
                <a:solidFill>
                  <a:srgbClr val="BB9F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6833473-F27C-4D54-90A5-1A0676F6DD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9890" y="2893250"/>
            <a:ext cx="5161915" cy="2633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800" b="0" i="0">
                <a:solidFill>
                  <a:schemeClr val="tx1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37214F40-A4D9-45BD-B99E-A44CCD294D20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5D734D69-4696-4829-A947-9AC59E97540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C0C5CF53-422C-404E-A103-C8236B74E48D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78af6f9d6545ca"/>
    <p:sldLayoutId xmlns:r="http://schemas.openxmlformats.org/officeDocument/2006/relationships" id="2147483650" r:id="Ref476946457543ff"/>
    <p:sldLayoutId xmlns:r="http://schemas.openxmlformats.org/officeDocument/2006/relationships" id="2147483651" r:id="R60e9dca545cb44c6"/>
    <p:sldLayoutId xmlns:r="http://schemas.openxmlformats.org/officeDocument/2006/relationships" id="2147483652" r:id="Rf21226eb7bf844af"/>
    <p:sldLayoutId xmlns:r="http://schemas.openxmlformats.org/officeDocument/2006/relationships" id="2147483653" r:id="R70c30bece07a42e5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7e18fdfe464a60" /><Relationship Type="http://schemas.openxmlformats.org/officeDocument/2006/relationships/image" Target="/ppt/media/image3.jpeg" Id="Ra2abcce1281744d3" /><Relationship Type="http://schemas.openxmlformats.org/officeDocument/2006/relationships/image" Target="/ppt/media/image4.jpeg" Id="R0496473f7d70477f" /><Relationship Type="http://schemas.openxmlformats.org/officeDocument/2006/relationships/notesSlide" Target="/ppt/notesSlides/notesSlide1.xml" Id="R169e962c95a947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95a0efa9dc44bb" /><Relationship Type="http://schemas.openxmlformats.org/officeDocument/2006/relationships/image" Target="/ppt/media/image2.jpeg" Id="R7445c32cb3974c3d" /><Relationship Type="http://schemas.openxmlformats.org/officeDocument/2006/relationships/image" Target="/ppt/media/image.png" Id="R21c7d62d602d4137" /><Relationship Type="http://schemas.openxmlformats.org/officeDocument/2006/relationships/image" Target="/ppt/media/image2.png" Id="R04ae91eaf6b04347" /><Relationship Type="http://schemas.openxmlformats.org/officeDocument/2006/relationships/image" Target="/ppt/media/image3.png" Id="R7dec4d61c05a4dbc" /><Relationship Type="http://schemas.openxmlformats.org/officeDocument/2006/relationships/notesSlide" Target="/ppt/notesSlides/notesSlide2.xml" Id="R9dc46294b48b4a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903cc2ad1042a6" /><Relationship Type="http://schemas.openxmlformats.org/officeDocument/2006/relationships/image" Target="/ppt/media/image2.jpeg" Id="R3bd4d31f43a94bf9" /><Relationship Type="http://schemas.openxmlformats.org/officeDocument/2006/relationships/notesSlide" Target="/ppt/notesSlides/notesSlide3.xml" Id="Rd17558a01efe4b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331ac51dceb4596" /><Relationship Type="http://schemas.openxmlformats.org/officeDocument/2006/relationships/notesSlide" Target="/ppt/notesSlides/notesSlide4.xml" Id="R975e1ca2294841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513ebb5c2724292" /><Relationship Type="http://schemas.openxmlformats.org/officeDocument/2006/relationships/image" Target="/ppt/media/image.jpeg" Id="R5b87a3a9a3e24a00" /><Relationship Type="http://schemas.openxmlformats.org/officeDocument/2006/relationships/image" Target="/ppt/media/image4.png" Id="R39d466ee0abc4ab2" /><Relationship Type="http://schemas.openxmlformats.org/officeDocument/2006/relationships/notesSlide" Target="/ppt/notesSlides/notesSlide5.xml" Id="Re2099ca9ad7649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ab96c6f744fb9" /><Relationship Type="http://schemas.openxmlformats.org/officeDocument/2006/relationships/image" Target="/ppt/media/image5.jpeg" Id="R5f6b81259aa14e93" /><Relationship Type="http://schemas.openxmlformats.org/officeDocument/2006/relationships/image" Target="/ppt/media/image6.jpeg" Id="R6beba73c949c4969" /><Relationship Type="http://schemas.openxmlformats.org/officeDocument/2006/relationships/image" Target="/ppt/media/image5.png" Id="R52d9ab013c1b4f55" /><Relationship Type="http://schemas.openxmlformats.org/officeDocument/2006/relationships/image" Target="/ppt/media/image6.png" Id="R0123a46b5986406a" /><Relationship Type="http://schemas.openxmlformats.org/officeDocument/2006/relationships/image" Target="/ppt/media/image7.png" Id="R39e1b4ca6dcb4364" /><Relationship Type="http://schemas.openxmlformats.org/officeDocument/2006/relationships/image" Target="/ppt/media/image7.jpeg" Id="Rcbc49f94892c414a" /><Relationship Type="http://schemas.openxmlformats.org/officeDocument/2006/relationships/image" Target="/ppt/media/image8.jpeg" Id="R4d2835b2fc2942a8" /><Relationship Type="http://schemas.openxmlformats.org/officeDocument/2006/relationships/notesSlide" Target="/ppt/notesSlides/notesSlide6.xml" Id="R61da83b17bad43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e90ad0d50148ff" /><Relationship Type="http://schemas.openxmlformats.org/officeDocument/2006/relationships/image" Target="/ppt/media/image8.png" Id="R143d3ab6fcc64e0b" /><Relationship Type="http://schemas.openxmlformats.org/officeDocument/2006/relationships/image" Target="/ppt/media/image9.png" Id="R105aa741e76f4ab9" /><Relationship Type="http://schemas.openxmlformats.org/officeDocument/2006/relationships/image" Target="/ppt/media/image10.png" Id="R4be3b687f25a4392" /><Relationship Type="http://schemas.openxmlformats.org/officeDocument/2006/relationships/notesSlide" Target="/ppt/notesSlides/notesSlide7.xml" Id="Rffdb5bd438bd4c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7311e2bc54f45fc" /><Relationship Type="http://schemas.openxmlformats.org/officeDocument/2006/relationships/notesSlide" Target="/ppt/notesSlides/notesSlide8.xml" Id="R91c5defb90ca47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2d498f01774df6" /><Relationship Type="http://schemas.openxmlformats.org/officeDocument/2006/relationships/image" Target="/ppt/media/image11.png" Id="R030651107d9344de" /><Relationship Type="http://schemas.openxmlformats.org/officeDocument/2006/relationships/notesSlide" Target="/ppt/notesSlides/notesSlide9.xml" Id="R8dd495241de24b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3e9c0344f84489" /><Relationship Type="http://schemas.openxmlformats.org/officeDocument/2006/relationships/notesSlide" Target="/ppt/notesSlides/notesSlide10.xml" Id="Rd788d1790f2445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2fa7f1d8e7f417b" /><Relationship Type="http://schemas.openxmlformats.org/officeDocument/2006/relationships/image" Target="/ppt/media/image.jpeg" Id="R5d7b3ed85dce4c8f" /><Relationship Type="http://schemas.openxmlformats.org/officeDocument/2006/relationships/image" Target="/ppt/media/image9.jpeg" Id="R0e24e12f2f0042c4" /><Relationship Type="http://schemas.openxmlformats.org/officeDocument/2006/relationships/notesSlide" Target="/ppt/notesSlides/notesSlide11.xml" Id="R25e05fed1e024b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d6ec9f39454417" /><Relationship Type="http://schemas.openxmlformats.org/officeDocument/2006/relationships/notesSlide" Target="/ppt/notesSlides/notesSlide12.xml" Id="R8c275e62ea4047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275205ce816443b" /><Relationship Type="http://schemas.openxmlformats.org/officeDocument/2006/relationships/image" Target="/ppt/media/image.jpeg" Id="R860edff2c910406e" /><Relationship Type="http://schemas.openxmlformats.org/officeDocument/2006/relationships/image" Target="/ppt/media/image10.jpeg" Id="R598019e0a89c4994" /><Relationship Type="http://schemas.openxmlformats.org/officeDocument/2006/relationships/notesSlide" Target="/ppt/notesSlides/notesSlide13.xml" Id="R92e0a0e00ac944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8fe0d5371df4879" /><Relationship Type="http://schemas.openxmlformats.org/officeDocument/2006/relationships/notesSlide" Target="/ppt/notesSlides/notesSlide14.xml" Id="R7117727541ca4f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4eb533584d452b" /><Relationship Type="http://schemas.openxmlformats.org/officeDocument/2006/relationships/image" Target="/ppt/media/image12.png" Id="Rb9eec1bab694400d" /><Relationship Type="http://schemas.openxmlformats.org/officeDocument/2006/relationships/notesSlide" Target="/ppt/notesSlides/notesSlide15.xml" Id="R4ca5e11c45b64d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189ffb54ca4494" /><Relationship Type="http://schemas.openxmlformats.org/officeDocument/2006/relationships/image" Target="/ppt/media/image13.png" Id="Ra5a0122eb81a4b9f" /><Relationship Type="http://schemas.openxmlformats.org/officeDocument/2006/relationships/image" Target="/ppt/media/image14.png" Id="Rdfd793f8d0e94401" /><Relationship Type="http://schemas.openxmlformats.org/officeDocument/2006/relationships/image" Target="/ppt/media/image15.png" Id="R062c1ab8ba51480a" /><Relationship Type="http://schemas.openxmlformats.org/officeDocument/2006/relationships/image" Target="/ppt/media/image16.png" Id="R6431a5996d824381" /><Relationship Type="http://schemas.openxmlformats.org/officeDocument/2006/relationships/notesSlide" Target="/ppt/notesSlides/notesSlide16.xml" Id="R47a5bfb2f52c4f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b64cfc41414538" /><Relationship Type="http://schemas.openxmlformats.org/officeDocument/2006/relationships/image" Target="/ppt/media/image17.png" Id="R9cdffa45822340ac" /><Relationship Type="http://schemas.openxmlformats.org/officeDocument/2006/relationships/notesSlide" Target="/ppt/notesSlides/notesSlide17.xml" Id="Ra194ddbcbc9e403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1aaf04c2324e98" /><Relationship Type="http://schemas.openxmlformats.org/officeDocument/2006/relationships/notesSlide" Target="/ppt/notesSlides/notesSlide18.xml" Id="R3c80e66ce9b14c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3419ecfd0f445a" /><Relationship Type="http://schemas.openxmlformats.org/officeDocument/2006/relationships/image" Target="/ppt/media/image18.png" Id="R265c32e9aceb41a1" /><Relationship Type="http://schemas.openxmlformats.org/officeDocument/2006/relationships/notesSlide" Target="/ppt/notesSlides/notesSlide19.xml" Id="R54bc7ea2686b42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0691a90bb04a64" /><Relationship Type="http://schemas.openxmlformats.org/officeDocument/2006/relationships/image" Target="/ppt/media/image19.png" Id="R1af8f8b65bc9452d" /><Relationship Type="http://schemas.openxmlformats.org/officeDocument/2006/relationships/notesSlide" Target="/ppt/notesSlides/notesSlide20.xml" Id="Rb8009ccb44ae44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33c72fc35d748a8" /><Relationship Type="http://schemas.openxmlformats.org/officeDocument/2006/relationships/notesSlide" Target="/ppt/notesSlides/notesSlide21.xml" Id="R2cc97db5194b4ac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e5a2e664354755" /><Relationship Type="http://schemas.openxmlformats.org/officeDocument/2006/relationships/image" Target="/ppt/media/image20.png" Id="Rc31f2cc8c86e4651" /><Relationship Type="http://schemas.openxmlformats.org/officeDocument/2006/relationships/notesSlide" Target="/ppt/notesSlides/notesSlide22.xml" Id="R6dc4e4f38332433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cc327f2f844951" /><Relationship Type="http://schemas.openxmlformats.org/officeDocument/2006/relationships/image" Target="/ppt/media/image21.png" Id="Raf0cf2a524d54859" /><Relationship Type="http://schemas.openxmlformats.org/officeDocument/2006/relationships/notesSlide" Target="/ppt/notesSlides/notesSlide23.xml" Id="R9d85877767ea47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f971b6e8ef4778" /><Relationship Type="http://schemas.openxmlformats.org/officeDocument/2006/relationships/image" Target="/ppt/media/image22.png" Id="R6d441b9308984903" /><Relationship Type="http://schemas.openxmlformats.org/officeDocument/2006/relationships/notesSlide" Target="/ppt/notesSlides/notesSlide24.xml" Id="Re98e53af29924e0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898fb00645426d" /><Relationship Type="http://schemas.openxmlformats.org/officeDocument/2006/relationships/notesSlide" Target="/ppt/notesSlides/notesSlide25.xml" Id="Rc1d7e3d293ef454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6060faf4394057" /><Relationship Type="http://schemas.openxmlformats.org/officeDocument/2006/relationships/notesSlide" Target="/ppt/notesSlides/notesSlide26.xml" Id="Rb83459b8c21c472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0faae1cc4d64746" /><Relationship Type="http://schemas.openxmlformats.org/officeDocument/2006/relationships/notesSlide" Target="/ppt/notesSlides/notesSlide27.xml" Id="R70299f9eb59d40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f3c4f35f14410d" /><Relationship Type="http://schemas.openxmlformats.org/officeDocument/2006/relationships/image" Target="/ppt/media/image2.jpeg" Id="R46626250a91d4a69" /><Relationship Type="http://schemas.openxmlformats.org/officeDocument/2006/relationships/notesSlide" Target="/ppt/notesSlides/notesSlide28.xml" Id="R881b8e1e4795438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e2013e0f2784bdb" /><Relationship Type="http://schemas.openxmlformats.org/officeDocument/2006/relationships/notesSlide" Target="/ppt/notesSlides/notesSlide29.xml" Id="R0fe4f9f65cb146a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6688e2cb34f7e" /><Relationship Type="http://schemas.openxmlformats.org/officeDocument/2006/relationships/notesSlide" Target="/ppt/notesSlides/notesSlide30.xml" Id="R25af0414151f40e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a68f130784143cb" /><Relationship Type="http://schemas.openxmlformats.org/officeDocument/2006/relationships/notesSlide" Target="/ppt/notesSlides/notesSlide31.xml" Id="Rd390fb49ad6c478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6bebaa40624a12" /><Relationship Type="http://schemas.openxmlformats.org/officeDocument/2006/relationships/image" Target="/ppt/media/image2.jpeg" Id="R80ffff7c32dd47ec" /><Relationship Type="http://schemas.openxmlformats.org/officeDocument/2006/relationships/notesSlide" Target="/ppt/notesSlides/notesSlide32.xml" Id="R3b23b367573e47a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3880089d1e4568" /><Relationship Type="http://schemas.openxmlformats.org/officeDocument/2006/relationships/image" Target="/ppt/media/image2.jpeg" Id="R6b0730e98238408e" /><Relationship Type="http://schemas.openxmlformats.org/officeDocument/2006/relationships/notesSlide" Target="/ppt/notesSlides/notesSlide33.xml" Id="R3d3454ec6e5d48a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c60b1a8adf04b10" /><Relationship Type="http://schemas.openxmlformats.org/officeDocument/2006/relationships/image" Target="/ppt/media/image11.jpeg" Id="R43c7aa4e21914bfb" /><Relationship Type="http://schemas.openxmlformats.org/officeDocument/2006/relationships/image" Target="/ppt/media/image12.jpeg" Id="R97bbb3e71687455e" /><Relationship Type="http://schemas.openxmlformats.org/officeDocument/2006/relationships/notesSlide" Target="/ppt/notesSlides/notesSlide34.xml" Id="R4d04d166b6a24eed" /></Relationships>
</file>

<file path=ppt/slides/slide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bcce1281744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7863" y="1261870"/>
            <a:ext cx="1371600" cy="1335024"/>
          </a:xfrm>
          <a:prstGeom xmlns:a="http://schemas.openxmlformats.org/drawingml/2006/main" prst="rect">
            <a:avLst/>
          </a:prstGeom>
        </p:spPr>
      </p:pic>
      <p:pic>
        <p:nvPicPr>
          <p:cNvPr id="12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6473f7d7047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7991" y="457198"/>
            <a:ext cx="7680959" cy="6400800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CC87B432-529A-48D5-A22B-99115FD19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8092" y="2790950"/>
            <a:ext cx="2680970" cy="726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600" b="0" spc="-630">
                <a:solidFill>
                  <a:srgbClr val="007B5D"/>
                </a:solidFill>
                <a:latin typeface="Arial MT"/>
                <a:ea typeface="Arial MT"/>
                <a:cs typeface="Arial MT"/>
              </a:rPr>
              <a:t>EUROPEAN</a:t>
            </a:r>
            <a:endParaRPr sz="4600">
              <a:latin typeface="Arial MT"/>
              <a:ea typeface="Arial MT"/>
              <a:cs typeface="Arial MT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1714443C-1C6F-44FB-AB68-B14D6919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" y="3250944"/>
            <a:ext cx="3114040" cy="734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650" spc="-430">
                <a:solidFill>
                  <a:srgbClr val="012A46"/>
                </a:solidFill>
                <a:latin typeface="Arial Black"/>
                <a:ea typeface="Arial Black"/>
                <a:cs typeface="Arial Black"/>
              </a:rPr>
              <a:t>MICROOFT</a:t>
            </a:r>
            <a:endParaRPr sz="4650">
              <a:latin typeface="Arial Black"/>
              <a:ea typeface="Arial Black"/>
              <a:cs typeface="Arial Black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569B77E-CE26-49ED-A3B5-67C682DE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49" y="3723638"/>
            <a:ext cx="3171190" cy="726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600" spc="-775">
                <a:solidFill>
                  <a:srgbClr val="002849"/>
                </a:solidFill>
                <a:latin typeface="Arial Black"/>
                <a:ea typeface="Arial Black"/>
                <a:cs typeface="Arial Black"/>
              </a:rPr>
              <a:t>FABRIC</a:t>
            </a:r>
            <a:r>
              <a:rPr sz="4600" spc="385">
                <a:solidFill>
                  <a:srgbClr val="002849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4600" spc="-409">
                <a:solidFill>
                  <a:srgbClr val="002A4B"/>
                </a:solidFill>
                <a:latin typeface="Arial Black"/>
                <a:ea typeface="Arial Black"/>
                <a:cs typeface="Arial Black"/>
              </a:rPr>
              <a:t>SäL</a:t>
            </a:r>
            <a:endParaRPr sz="4600">
              <a:latin typeface="Arial Black"/>
              <a:ea typeface="Arial Black"/>
              <a:cs typeface="Arial Black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0EF99F35-8119-4489-9B46-454E622A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4" y="4257292"/>
            <a:ext cx="2885440" cy="398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450" spc="-409">
                <a:solidFill>
                  <a:srgbClr val="1D1D1D"/>
                </a:solidFill>
                <a:latin typeface="Arial Black"/>
                <a:ea typeface="Arial Black"/>
                <a:cs typeface="Arial Black"/>
              </a:rPr>
              <a:t>CoitmunityConfeænce</a:t>
            </a:r>
            <a:endParaRPr sz="2450">
              <a:latin typeface="Arial Black"/>
              <a:ea typeface="Arial Black"/>
              <a:cs typeface="Arial Black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35CEFAA-1054-4972-B47A-8C3EA254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772" y="5440171"/>
            <a:ext cx="2386330" cy="579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2270"/>
              </a:lnSpc>
              <a:spcBef>
                <a:spcPts val="100"/>
              </a:spcBef>
              <a:buNone/>
            </a:pPr>
            <a:r>
              <a:rPr sz="2100" spc="-290">
                <a:solidFill>
                  <a:srgbClr val="9A933A"/>
                </a:solidFill>
                <a:latin typeface="Arial MT"/>
                <a:ea typeface="Arial MT"/>
                <a:cs typeface="Arial MT"/>
              </a:rPr>
              <a:t>BARCELONA</a:t>
            </a:r>
            <a:endParaRPr sz="21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947419">
              <a:lnSpc>
                <a:spcPts val="2090"/>
              </a:lnSpc>
              <a:buNone/>
            </a:pPr>
            <a:r>
              <a:rPr sz="1950">
                <a:solidFill>
                  <a:srgbClr val="979075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1950" spc="60">
                <a:solidFill>
                  <a:srgbClr val="97907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950" spc="-185">
                <a:solidFill>
                  <a:srgbClr val="908A50"/>
                </a:solidFill>
                <a:latin typeface="Arial MT"/>
                <a:ea typeface="Arial MT"/>
                <a:cs typeface="Arial MT"/>
              </a:rPr>
              <a:t>01</a:t>
            </a:r>
            <a:r>
              <a:rPr sz="1950" spc="-5">
                <a:solidFill>
                  <a:srgbClr val="908A50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950" spc="-295">
                <a:solidFill>
                  <a:srgbClr val="8C824B"/>
                </a:solidFill>
                <a:latin typeface="Arial MT"/>
                <a:ea typeface="Arial MT"/>
                <a:cs typeface="Arial MT"/>
              </a:rPr>
              <a:t>OCT</a:t>
            </a:r>
            <a:r>
              <a:rPr sz="1950" spc="85">
                <a:solidFill>
                  <a:srgbClr val="8C824B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1950" spc="-135">
                <a:solidFill>
                  <a:srgbClr val="8E8C1F"/>
                </a:solidFill>
                <a:latin typeface="Arial MT"/>
                <a:ea typeface="Arial MT"/>
                <a:cs typeface="Arial MT"/>
              </a:rPr>
              <a:t>2026</a:t>
            </a:r>
            <a:endParaRPr sz="1950"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06162511"/>
      </p:ext>
    </p:extLst>
  </p:cSld>
</p:sld>
</file>

<file path=ppt/slides/slide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5c32cb3974c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8DA1AF1D-752B-45DE-ACE3-1232C741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12"/>
            <a:ext cx="12189460" cy="475615"/>
          </a:xfrm>
          <a:custGeom xmlns:a="http://schemas.openxmlformats.org/drawingml/2006/main">
            <a:rect l="l" t="t" r="r" b="b"/>
            <a:pathLst>
              <a:path w="12189460" h="475615">
                <a:moveTo>
                  <a:pt x="12188952" y="0"/>
                </a:moveTo>
                <a:lnTo>
                  <a:pt x="0" y="0"/>
                </a:lnTo>
                <a:lnTo>
                  <a:pt x="0" y="475602"/>
                </a:lnTo>
                <a:lnTo>
                  <a:pt x="12188952" y="475602"/>
                </a:lnTo>
                <a:lnTo>
                  <a:pt x="12188952" y="0"/>
                </a:lnTo>
                <a:close/>
              </a:path>
            </a:pathLst>
          </a:custGeom>
          <a:solidFill xmlns:a="http://schemas.openxmlformats.org/drawingml/2006/main">
            <a:srgbClr val="BB9F4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A36975C-8E95-400F-9B7A-3C960EE9B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7603" y="1322019"/>
            <a:ext cx="7356475" cy="2042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52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00400"/>
              </a:lnSpc>
              <a:spcBef>
                <a:spcPts val="75"/>
              </a:spcBef>
              <a:buNone/>
            </a:pP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From</a:t>
            </a:r>
            <a:r>
              <a:rPr sz="4400" spc="-5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Notebook</a:t>
            </a:r>
            <a:r>
              <a:rPr sz="4400" spc="-6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to</a:t>
            </a:r>
            <a:r>
              <a:rPr sz="4400" spc="-8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 spc="-1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Bedside: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Building</a:t>
            </a:r>
            <a:r>
              <a:rPr sz="4400" spc="-7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4400" spc="-12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Clinical</a:t>
            </a:r>
            <a:r>
              <a:rPr sz="4400" spc="-8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 spc="-2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Risk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Prediction</a:t>
            </a:r>
            <a:r>
              <a:rPr sz="4400" spc="-9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Pipeline</a:t>
            </a:r>
            <a:r>
              <a:rPr sz="4400" spc="-7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4400" spc="-5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400" spc="-10">
                <a:solidFill>
                  <a:srgbClr val="F1F1F1"/>
                </a:solidFill>
                <a:latin typeface="Segoe UI"/>
                <a:ea typeface="Segoe UI"/>
                <a:cs typeface="Segoe UI"/>
              </a:rPr>
              <a:t>Fabric</a:t>
            </a:r>
            <a:endParaRPr sz="4400">
              <a:latin typeface="Segoe UI"/>
              <a:ea typeface="Segoe UI"/>
              <a:cs typeface="Segoe UI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5EA63E2-6E31-4951-ACB1-A5B8AC84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265" y="63944"/>
            <a:ext cx="498030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604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4"/>
              </a:spcBef>
              <a:buNone/>
            </a:pPr>
            <a:r>
              <a:rPr sz="2000" spc="6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2000" spc="13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6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2000" spc="19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7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2000" spc="204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5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2000" spc="22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7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livestream</a:t>
            </a:r>
            <a:r>
              <a:rPr sz="2000" spc="22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5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2000" spc="250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65">
                <a:solidFill>
                  <a:srgbClr val="125B44"/>
                </a:solidFill>
                <a:latin typeface="Arial MT"/>
                <a:ea typeface="Arial MT"/>
                <a:cs typeface="Arial MT"/>
              </a:rPr>
              <a:t>session</a:t>
            </a:r>
            <a:endParaRPr sz="2000">
              <a:latin typeface="Arial MT"/>
              <a:ea typeface="Arial MT"/>
              <a:cs typeface="Arial MT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412DDF0-70BB-46E1-A5C6-2A2FFA20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166" y="3776090"/>
            <a:ext cx="2625725" cy="9474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2390"/>
              </a:lnSpc>
              <a:spcBef>
                <a:spcPts val="120"/>
              </a:spcBef>
              <a:buNone/>
            </a:pPr>
            <a:r>
              <a:rPr sz="2000" b="1">
                <a:solidFill>
                  <a:srgbClr val="BB9F45"/>
                </a:solidFill>
                <a:latin typeface="Arial"/>
                <a:ea typeface="Arial"/>
                <a:cs typeface="Arial"/>
              </a:rPr>
              <a:t>Manu</a:t>
            </a:r>
            <a:r>
              <a:rPr sz="2000" b="1" spc="-50">
                <a:solidFill>
                  <a:srgbClr val="BB9F4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spc="-10">
                <a:solidFill>
                  <a:srgbClr val="BB9F45"/>
                </a:solidFill>
                <a:latin typeface="Arial"/>
                <a:ea typeface="Arial"/>
                <a:cs typeface="Arial"/>
              </a:rPr>
              <a:t>Huygens</a:t>
            </a:r>
            <a:endParaRPr sz="2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ts val="2390"/>
              </a:lnSpc>
              <a:buNone/>
            </a:pP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Cloud</a:t>
            </a:r>
            <a:r>
              <a:rPr sz="2000" spc="-6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&amp; Data</a:t>
            </a:r>
            <a:r>
              <a:rPr sz="2000" spc="-6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-1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Engineer</a:t>
            </a:r>
            <a:endParaRPr sz="20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50"/>
              </a:spcBef>
              <a:buNone/>
            </a:pP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KPMG</a:t>
            </a:r>
            <a:r>
              <a:rPr sz="2000" spc="-65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-1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Netherlands</a:t>
            </a:r>
            <a:endParaRPr sz="2000">
              <a:latin typeface="Arial MT"/>
              <a:ea typeface="Arial MT"/>
              <a:cs typeface="Arial MT"/>
            </a:endParaRPr>
          </a:p>
        </p:txBody>
      </p:sp>
      <p:pic>
        <p:nvPicPr>
          <p:cNvPr id="25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7d62d602d4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3079" y="4902377"/>
            <a:ext cx="320039" cy="329260"/>
          </a:xfrm>
          <a:prstGeom xmlns:a="http://schemas.openxmlformats.org/drawingml/2006/main" prst="rect">
            <a:avLst/>
          </a:prstGeom>
        </p:spPr>
      </p:pic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53416CE-AA89-43C1-B6E6-D64698C8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447" y="3742372"/>
            <a:ext cx="2209800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604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2390"/>
              </a:lnSpc>
              <a:spcBef>
                <a:spcPts val="114"/>
              </a:spcBef>
              <a:buNone/>
            </a:pPr>
            <a:r>
              <a:rPr sz="2000" b="1">
                <a:solidFill>
                  <a:srgbClr val="BB9F45"/>
                </a:solidFill>
                <a:latin typeface="Arial"/>
                <a:ea typeface="Arial"/>
                <a:cs typeface="Arial"/>
              </a:rPr>
              <a:t>Audrius</a:t>
            </a:r>
            <a:r>
              <a:rPr sz="2000" b="1" spc="-65">
                <a:solidFill>
                  <a:srgbClr val="BB9F4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spc="-20">
                <a:solidFill>
                  <a:srgbClr val="BB9F45"/>
                </a:solidFill>
                <a:latin typeface="Arial"/>
                <a:ea typeface="Arial"/>
                <a:cs typeface="Arial"/>
              </a:rPr>
              <a:t>Šaras</a:t>
            </a:r>
            <a:endParaRPr sz="2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ts val="2390"/>
              </a:lnSpc>
              <a:buNone/>
            </a:pP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AI</a:t>
            </a:r>
            <a:r>
              <a:rPr sz="2000" spc="-4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&amp;</a:t>
            </a:r>
            <a:r>
              <a:rPr sz="2000" spc="-35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Data</a:t>
            </a:r>
            <a:r>
              <a:rPr sz="2000" spc="-3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-1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Engineer</a:t>
            </a:r>
            <a:endParaRPr sz="20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rPr sz="200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KPMG</a:t>
            </a:r>
            <a:r>
              <a:rPr sz="2000" spc="-75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2000" spc="-10">
                <a:solidFill>
                  <a:srgbClr val="BB9F45"/>
                </a:solidFill>
                <a:latin typeface="Arial MT"/>
                <a:ea typeface="Arial MT"/>
                <a:cs typeface="Arial MT"/>
              </a:rPr>
              <a:t>Netherlands</a:t>
            </a:r>
            <a:endParaRPr sz="20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460375">
              <a:lnSpc>
                <a:spcPct val="100000"/>
              </a:lnSpc>
              <a:spcBef>
                <a:spcPts val="2250"/>
              </a:spcBef>
              <a:buNone/>
            </a:pPr>
            <a:r>
              <a:rPr sz="135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/sarasaudrius</a:t>
            </a:r>
            <a:endParaRPr sz="1350">
              <a:latin typeface="Segoe UI"/>
              <a:ea typeface="Segoe UI"/>
              <a:cs typeface="Segoe UI"/>
            </a:endParaRPr>
          </a:p>
        </p:txBody>
      </p:sp>
      <p:pic>
        <p:nvPicPr>
          <p:cNvPr id="27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7d62d602d4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70448" y="4920666"/>
            <a:ext cx="329184" cy="329260"/>
          </a:xfrm>
          <a:prstGeom xmlns:a="http://schemas.openxmlformats.org/drawingml/2006/main" prst="rect">
            <a:avLst/>
          </a:prstGeom>
        </p:spPr>
      </p:pic>
      <p:pic>
        <p:nvPicPr>
          <p:cNvPr id="28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e91eaf6b04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98263" y="3831336"/>
            <a:ext cx="1531619" cy="1796795"/>
          </a:xfrm>
          <a:prstGeom xmlns:a="http://schemas.openxmlformats.org/drawingml/2006/main" prst="rect">
            <a:avLst/>
          </a:prstGeom>
        </p:spPr>
      </p:pic>
      <p:pic>
        <p:nvPicPr>
          <p:cNvPr id="29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c4d61c05a4d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92608" y="3767328"/>
            <a:ext cx="1531620" cy="1796795"/>
          </a:xfrm>
          <a:prstGeom xmlns:a="http://schemas.openxmlformats.org/drawingml/2006/main" prst="rect">
            <a:avLst/>
          </a:prstGeom>
        </p:spPr>
      </p:pic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4118D38C-FA4C-4E0E-98E9-44603DC9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745" y="4964112"/>
            <a:ext cx="93345" cy="2343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1350" spc="-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/</a:t>
            </a:r>
            <a:endParaRPr sz="135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715885682"/>
      </p:ext>
    </p:extLst>
  </p:cSld>
</p:sld>
</file>

<file path=ppt/slides/slide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4d31f43a94b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496D96C7-F0E4-411E-A196-AA0A0F8D8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12395">
              <a:lnSpc>
                <a:spcPct val="100000"/>
              </a:lnSpc>
              <a:spcBef>
                <a:spcPts val="130"/>
              </a:spcBef>
              <a:buNone/>
            </a:pPr>
            <a:r>
              <a:rPr sz="4800" spc="-10">
                <a:latin typeface="Segoe UI"/>
                <a:ea typeface="Segoe UI"/>
                <a:cs typeface="Segoe UI"/>
              </a:rPr>
              <a:t>Agenda</a:t>
            </a:r>
            <a:endParaRPr sz="4800">
              <a:latin typeface="Segoe UI"/>
              <a:ea typeface="Segoe UI"/>
              <a:cs typeface="Segoe UI"/>
            </a:endParaRPr>
          </a:p>
        </p:txBody>
      </p:sp>
      <p:graphicFrame>
        <p:nvGraphicFramePr>
          <p:cNvPr id="8" name="object 4"/>
          <p:cNvGraphicFramePr/>
          <p:nvPr/>
        </p:nvGraphicFramePr>
        <p:xfrm>
          <a:off xmlns:a="http://schemas.openxmlformats.org/drawingml/2006/main" x="953592" y="1468629"/>
          <a:ext xmlns:a="http://schemas.openxmlformats.org/drawingml/2006/main" cx="5141595" cy="331850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530"/>
                <a:gridCol w="3959860"/>
                <a:gridCol w="547370"/>
              </a:tblGrid>
              <a:tr h="530225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01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Fabric</a:t>
                      </a:r>
                      <a:r>
                        <a:rPr sz="1550" spc="3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Data</a:t>
                      </a:r>
                      <a:r>
                        <a:rPr sz="1550" spc="114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Science</a:t>
                      </a:r>
                      <a:r>
                        <a:rPr sz="1550" spc="9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&amp;</a:t>
                      </a:r>
                      <a:r>
                        <a:rPr sz="1550" spc="8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ML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8255" marB="0"/>
                </a:tc>
              </a:tr>
              <a:tr h="56515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59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02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Prediction</a:t>
                      </a:r>
                      <a:r>
                        <a:rPr sz="1550" spc="13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models</a:t>
                      </a:r>
                      <a:r>
                        <a:rPr sz="1550" spc="6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within</a:t>
                      </a:r>
                      <a:r>
                        <a:rPr sz="1550" spc="13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EU</a:t>
                      </a:r>
                      <a:r>
                        <a:rPr sz="1550" spc="8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1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healthcare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</a:tr>
              <a:tr h="62992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520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03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L="50165" marR="269875">
                        <a:lnSpc>
                          <a:spcPct val="100800"/>
                        </a:lnSpc>
                        <a:spcBef>
                          <a:spcPts val="1110"/>
                        </a:spcBef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Case</a:t>
                      </a:r>
                      <a:r>
                        <a:rPr sz="1550" spc="10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Study:</a:t>
                      </a:r>
                      <a:r>
                        <a:rPr sz="1550" spc="8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predicting</a:t>
                      </a:r>
                      <a:r>
                        <a:rPr sz="1550" spc="7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knee</a:t>
                      </a:r>
                      <a:r>
                        <a:rPr sz="1550" spc="10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1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replacement outcomes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140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40005" marB="0"/>
                </a:tc>
              </a:tr>
              <a:tr h="53086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75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04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Governed</a:t>
                      </a:r>
                      <a:r>
                        <a:rPr sz="1550" spc="13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ML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8890" marB="0"/>
                </a:tc>
              </a:tr>
              <a:tr h="52832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60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05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Main</a:t>
                      </a:r>
                      <a:r>
                        <a:rPr sz="1550" spc="7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1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Learnings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</a:tr>
              <a:tr h="534035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59"/>
                        </a:spcBef>
                        <a:buNone/>
                      </a:pPr>
                      <a:r>
                        <a:rPr sz="3150" b="1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06</a:t>
                      </a:r>
                      <a:endParaRPr sz="31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buNone/>
                      </a:pP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Lorem</a:t>
                      </a:r>
                      <a:r>
                        <a:rPr sz="1550" spc="6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ipsum</a:t>
                      </a:r>
                      <a:r>
                        <a:rPr sz="1550" spc="9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dolor</a:t>
                      </a:r>
                      <a:r>
                        <a:rPr sz="1550" spc="12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sit</a:t>
                      </a:r>
                      <a:r>
                        <a:rPr sz="1550" spc="5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550" spc="-20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amet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None/>
                      </a:pPr>
                      <a:endParaRPr sz="155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buNone/>
                      </a:pPr>
                      <a:r>
                        <a:rPr sz="1550" spc="-25">
                          <a:solidFill>
                            <a:srgbClr val="BB9F45"/>
                          </a:solidFill>
                          <a:latin typeface="Segoe UI"/>
                          <a:ea typeface="Segoe UI"/>
                          <a:cs typeface="Segoe UI"/>
                        </a:rPr>
                        <a:t>XX</a:t>
                      </a:r>
                      <a:endParaRPr sz="155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6985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42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6826C41-4549-4C92-8DC7-626C9D11F8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460" y="2357831"/>
            <a:ext cx="9055100" cy="1421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906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5190"/>
              </a:lnSpc>
              <a:spcBef>
                <a:spcPts val="780"/>
              </a:spcBef>
              <a:buNone/>
            </a:pPr>
            <a:r>
              <a:rPr sz="4800"/>
              <a:t>Fabric</a:t>
            </a:r>
            <a:r>
              <a:rPr sz="4800" spc="-80"/>
              <a:t> </a:t>
            </a:r>
            <a:r>
              <a:rPr sz="4800"/>
              <a:t>Data</a:t>
            </a:r>
            <a:r>
              <a:rPr sz="4800" spc="-65"/>
              <a:t> </a:t>
            </a:r>
            <a:r>
              <a:rPr sz="4800"/>
              <a:t>Science</a:t>
            </a:r>
            <a:r>
              <a:rPr sz="4800" spc="-65"/>
              <a:t> </a:t>
            </a:r>
            <a:r>
              <a:rPr sz="4800"/>
              <a:t>&amp;</a:t>
            </a:r>
            <a:r>
              <a:rPr sz="4800" spc="-70"/>
              <a:t> </a:t>
            </a:r>
            <a:r>
              <a:rPr sz="4800" spc="-10"/>
              <a:t>Machine Learning</a:t>
            </a:r>
            <a:endParaRPr sz="4800"/>
          </a:p>
        </p:txBody>
      </p:sp>
    </p:spTree>
    <p:extLst>
      <p:ext uri="{BB962C8B-B14F-4D97-AF65-F5344CB8AC3E}">
        <p14:creationId xmlns:p14="http://schemas.microsoft.com/office/powerpoint/2010/main" val="305444209"/>
      </p:ext>
    </p:extLst>
  </p:cSld>
</p:sld>
</file>

<file path=ppt/slides/slide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7a3a9a3e24a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805759AA-5553-4B5D-9243-38140EB8F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6293" rIns="0" bIns="0">
            <a:spAutoFit/>
          </a:bodyPr>
          <a:lstStyle xmlns:a="http://schemas.openxmlformats.org/drawingml/2006/main"/>
          <a:p xmlns:a="http://schemas.openxmlformats.org/drawingml/2006/main">
            <a:pPr marL="13970">
              <a:lnSpc>
                <a:spcPct val="100000"/>
              </a:lnSpc>
              <a:spcBef>
                <a:spcPts val="130"/>
              </a:spcBef>
              <a:buNone/>
            </a:pPr>
            <a:r>
              <a:rPr sz="48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ML</a:t>
            </a:r>
            <a:r>
              <a:rPr sz="4800" spc="-8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as</a:t>
            </a:r>
            <a:r>
              <a:rPr sz="4800" spc="-2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4800" spc="-5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subset</a:t>
            </a:r>
            <a:r>
              <a:rPr sz="4800" spc="-6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4800" spc="-3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4800" spc="-2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AI</a:t>
            </a:r>
            <a:endParaRPr sz="4800">
              <a:latin typeface="Segoe UI"/>
              <a:ea typeface="Segoe UI"/>
              <a:cs typeface="Segoe UI"/>
            </a:endParaRPr>
          </a:p>
        </p:txBody>
      </p:sp>
      <p:pic>
        <p:nvPicPr>
          <p:cNvPr id="8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466ee0abc4a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2767" y="1820062"/>
            <a:ext cx="9281160" cy="38963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56373"/>
      </p:ext>
    </p:extLst>
  </p:cSld>
</p:sld>
</file>

<file path=ppt/slides/slide6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b81259aa14e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40735" y="6352032"/>
            <a:ext cx="9345167" cy="505968"/>
          </a:xfrm>
          <a:prstGeom xmlns:a="http://schemas.openxmlformats.org/drawingml/2006/main" prst="rect">
            <a:avLst/>
          </a:prstGeom>
        </p:spPr>
      </p:pic>
      <p:pic>
        <p:nvPicPr>
          <p:cNvPr id="2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ba73c949c4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544" y="2356104"/>
            <a:ext cx="10091928" cy="2886455"/>
          </a:xfrm>
          <a:prstGeom xmlns:a="http://schemas.openxmlformats.org/drawingml/2006/main" prst="rect">
            <a:avLst/>
          </a:prstGeom>
        </p:spPr>
      </p:pic>
      <p:pic>
        <p:nvPicPr>
          <p:cNvPr id="2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9ab013c1b4f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6672" y="1609344"/>
            <a:ext cx="615696" cy="627887"/>
          </a:xfrm>
          <a:prstGeom xmlns:a="http://schemas.openxmlformats.org/drawingml/2006/main" prst="rect">
            <a:avLst/>
          </a:prstGeom>
        </p:spPr>
      </p:pic>
      <p:pic>
        <p:nvPicPr>
          <p:cNvPr id="23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a46b5986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3664" y="1618488"/>
            <a:ext cx="551688" cy="554736"/>
          </a:xfrm>
          <a:prstGeom xmlns:a="http://schemas.openxmlformats.org/drawingml/2006/main" prst="rect">
            <a:avLst/>
          </a:prstGeom>
        </p:spPr>
      </p:pic>
      <p:pic>
        <p:nvPicPr>
          <p:cNvPr id="24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1b4ca6dcb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0656" y="1609344"/>
            <a:ext cx="615696" cy="627887"/>
          </a:xfrm>
          <a:prstGeom xmlns:a="http://schemas.openxmlformats.org/drawingml/2006/main" prst="rect">
            <a:avLst/>
          </a:prstGeom>
        </p:spPr>
      </p:pic>
      <p:pic>
        <p:nvPicPr>
          <p:cNvPr id="25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49f94892c41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8431" y="6711696"/>
            <a:ext cx="143256" cy="60960"/>
          </a:xfrm>
          <a:prstGeom xmlns:a="http://schemas.openxmlformats.org/drawingml/2006/main" prst="rect">
            <a:avLst/>
          </a:prstGeom>
        </p:spPr>
      </p:pic>
      <p:pic>
        <p:nvPicPr>
          <p:cNvPr id="26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835b2fc2942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31647" y="6428232"/>
            <a:ext cx="350520" cy="283464"/>
          </a:xfrm>
          <a:prstGeom xmlns:a="http://schemas.openxmlformats.org/drawingml/2006/main" prst="rect">
            <a:avLst/>
          </a:prstGeom>
        </p:spPr>
      </p:pic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86ED7596-AE5D-44B0-A008-B504C9340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45820" rIns="0" bIns="0">
            <a:spAutoFit/>
          </a:bodyPr>
          <a:lstStyle xmlns:a="http://schemas.openxmlformats.org/drawingml/2006/main"/>
          <a:p xmlns:a="http://schemas.openxmlformats.org/drawingml/2006/main">
            <a:pPr marL="104139">
              <a:lnSpc>
                <a:spcPct val="100000"/>
              </a:lnSpc>
              <a:spcBef>
                <a:spcPts val="100"/>
              </a:spcBef>
              <a:buNone/>
            </a:pPr>
            <a:r>
              <a:rPr sz="3700" b="0" spc="-815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The</a:t>
            </a:r>
            <a:r>
              <a:rPr sz="3700" b="0" spc="-175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3700" b="0" spc="-730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data</a:t>
            </a:r>
            <a:r>
              <a:rPr sz="3700" b="0" spc="-35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3700" b="0" spc="-819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science</a:t>
            </a:r>
            <a:r>
              <a:rPr sz="3700" b="0" spc="25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3700" b="0" spc="-795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process</a:t>
            </a:r>
            <a:endParaRPr sz="3700">
              <a:latin typeface="Arial Black"/>
              <a:ea typeface="Arial Black"/>
              <a:cs typeface="Arial Black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05D619D3-2635-468C-A86F-F9360BB5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2" y="6366002"/>
            <a:ext cx="1995170" cy="37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385"/>
              </a:lnSpc>
              <a:spcBef>
                <a:spcPts val="100"/>
              </a:spcBef>
              <a:buNone/>
            </a:pPr>
            <a:r>
              <a:rPr sz="1350" spc="-275">
                <a:solidFill>
                  <a:srgbClr val="599990"/>
                </a:solidFill>
                <a:latin typeface="Arial Black"/>
                <a:ea typeface="Arial Black"/>
                <a:cs typeface="Arial Black"/>
              </a:rPr>
              <a:t>EUROPEAN</a:t>
            </a:r>
            <a:endParaRPr sz="1350">
              <a:latin typeface="Arial Black"/>
              <a:ea typeface="Arial Black"/>
              <a:cs typeface="Arial Black"/>
            </a:endParaRPr>
          </a:p>
          <a:p xmlns:a="http://schemas.openxmlformats.org/drawingml/2006/main">
            <a:pPr marL="12700">
              <a:lnSpc>
                <a:spcPts val="1385"/>
              </a:lnSpc>
              <a:buNone/>
            </a:pPr>
            <a:r>
              <a:rPr sz="1350" spc="-180">
                <a:solidFill>
                  <a:srgbClr val="012D4F"/>
                </a:solidFill>
                <a:latin typeface="Arial Black"/>
                <a:ea typeface="Arial Black"/>
                <a:cs typeface="Arial Black"/>
              </a:rPr>
              <a:t>MICROSOFT</a:t>
            </a:r>
            <a:r>
              <a:rPr sz="1350" spc="-155">
                <a:solidFill>
                  <a:srgbClr val="012D4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1350" spc="-180">
                <a:solidFill>
                  <a:srgbClr val="052B42"/>
                </a:solidFill>
                <a:latin typeface="Arial Black"/>
                <a:ea typeface="Arial Black"/>
                <a:cs typeface="Arial Black"/>
              </a:rPr>
              <a:t>FABRIC</a:t>
            </a:r>
            <a:r>
              <a:rPr sz="1350" spc="125">
                <a:solidFill>
                  <a:srgbClr val="052B42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1350" spc="-90">
                <a:solidFill>
                  <a:srgbClr val="002A44"/>
                </a:solidFill>
                <a:latin typeface="Arial Black"/>
                <a:ea typeface="Arial Black"/>
                <a:cs typeface="Arial Black"/>
              </a:rPr>
              <a:t>SQL</a:t>
            </a:r>
            <a:endParaRPr sz="1350">
              <a:latin typeface="Arial Black"/>
              <a:ea typeface="Arial Black"/>
              <a:cs typeface="Arial Black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2BA6271B-FC82-4F46-B53B-1302F517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09" y="6671056"/>
            <a:ext cx="896619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spc="-130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Community</a:t>
            </a:r>
            <a:r>
              <a:rPr sz="700" spc="10">
                <a:solidFill>
                  <a:srgbClr val="131313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700" spc="-95">
                <a:solidFill>
                  <a:srgbClr val="0C0C0C"/>
                </a:solidFill>
                <a:latin typeface="Arial Black"/>
                <a:ea typeface="Arial Black"/>
                <a:cs typeface="Arial Black"/>
              </a:rPr>
              <a:t>Conference</a:t>
            </a:r>
            <a:endParaRPr sz="700">
              <a:latin typeface="Arial Black"/>
              <a:ea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1705736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FB0AE19-FBA7-4977-87EB-3175337BE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2199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>
                <a:solidFill>
                  <a:srgbClr val="003E34"/>
                </a:solidFill>
              </a:rPr>
              <a:t>Microsoft</a:t>
            </a:r>
            <a:r>
              <a:rPr spc="2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Fabric</a:t>
            </a:r>
            <a:r>
              <a:rPr spc="40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as</a:t>
            </a:r>
            <a:r>
              <a:rPr spc="4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a</a:t>
            </a:r>
            <a:r>
              <a:rPr spc="4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platform</a:t>
            </a:r>
            <a:r>
              <a:rPr spc="6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for</a:t>
            </a:r>
            <a:r>
              <a:rPr spc="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Data</a:t>
            </a:r>
            <a:r>
              <a:rPr spc="45">
                <a:solidFill>
                  <a:srgbClr val="003E34"/>
                </a:solidFill>
              </a:rPr>
              <a:t> </a:t>
            </a:r>
            <a:r>
              <a:rPr spc="-10">
                <a:solidFill>
                  <a:srgbClr val="003E34"/>
                </a:solidFill>
              </a:rPr>
              <a:t>Science</a:t>
            </a:r>
          </a:p>
        </p:txBody>
      </p:sp>
      <p:pic>
        <p:nvPicPr>
          <p:cNvPr id="2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d3ab6fcc64e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0453" y="1847595"/>
            <a:ext cx="3935476" cy="2919348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4B277115-031E-4FA4-80FD-F3C31CA4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169" y="2108139"/>
            <a:ext cx="278765" cy="168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900" b="1" spc="-25">
                <a:solidFill>
                  <a:srgbClr val="126C5A"/>
                </a:solidFill>
                <a:latin typeface="Arial"/>
                <a:ea typeface="Arial"/>
                <a:cs typeface="Arial"/>
              </a:rPr>
              <a:t>GOV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5DAABD0-D6A9-4443-998D-2AB0E2F7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767" y="2108139"/>
            <a:ext cx="242570" cy="168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900" b="1" spc="-25">
                <a:solidFill>
                  <a:srgbClr val="126C5A"/>
                </a:solidFill>
                <a:latin typeface="Arial"/>
                <a:ea typeface="Arial"/>
                <a:cs typeface="Arial"/>
              </a:rPr>
              <a:t>E2E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C2CB49D-DAB1-4F8D-8E32-D46740E8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834" y="3205419"/>
            <a:ext cx="415925" cy="168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900" b="1" spc="-20">
                <a:solidFill>
                  <a:srgbClr val="126C5A"/>
                </a:solidFill>
                <a:latin typeface="Arial"/>
                <a:ea typeface="Arial"/>
                <a:cs typeface="Arial"/>
              </a:rPr>
              <a:t>SCALE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2FCF9716-1A1E-471F-BCCE-E6919E38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363" y="4389627"/>
            <a:ext cx="352425" cy="135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700" b="1" spc="-10">
                <a:solidFill>
                  <a:srgbClr val="126C5A"/>
                </a:solidFill>
                <a:latin typeface="Arial"/>
                <a:ea typeface="Arial"/>
                <a:cs typeface="Arial"/>
              </a:rPr>
              <a:t>MLflow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A38BF8C-F5BC-44B5-81A2-4F918C2A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3223" y="4398771"/>
            <a:ext cx="374015" cy="135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700" b="1">
                <a:solidFill>
                  <a:srgbClr val="126C5A"/>
                </a:solidFill>
                <a:latin typeface="Arial"/>
                <a:ea typeface="Arial"/>
                <a:cs typeface="Arial"/>
              </a:rPr>
              <a:t>Auto</a:t>
            </a:r>
            <a:r>
              <a:rPr sz="700" b="1" spc="-80">
                <a:solidFill>
                  <a:srgbClr val="126C5A"/>
                </a:solidFill>
                <a:latin typeface="Arial"/>
                <a:ea typeface="Arial"/>
                <a:cs typeface="Arial"/>
              </a:rPr>
              <a:t> </a:t>
            </a:r>
            <a:r>
              <a:rPr sz="700" b="1" spc="-25">
                <a:solidFill>
                  <a:srgbClr val="126C5A"/>
                </a:solidFill>
                <a:latin typeface="Arial"/>
                <a:ea typeface="Arial"/>
                <a:cs typeface="Arial"/>
              </a:rPr>
              <a:t>ML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77D5233-962D-42E0-BB2C-70299BE2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673" y="3208466"/>
            <a:ext cx="113030" cy="135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700" b="1" spc="-25">
                <a:solidFill>
                  <a:srgbClr val="126C5A"/>
                </a:solidFill>
                <a:latin typeface="Arial"/>
                <a:ea typeface="Arial"/>
                <a:cs typeface="Arial"/>
              </a:rPr>
              <a:t>AI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01054D5-B2FE-40E9-8A4F-FC3EC37B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008" y="1828669"/>
            <a:ext cx="2315210" cy="73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1120" rIns="0" bIns="0">
            <a:spAutoFit/>
          </a:bodyPr>
          <a:lstStyle xmlns:a="http://schemas.openxmlformats.org/drawingml/2006/main"/>
          <a:p xmlns:a="http://schemas.openxmlformats.org/drawingml/2006/main">
            <a:pPr marL="278130">
              <a:lnSpc>
                <a:spcPct val="100000"/>
              </a:lnSpc>
              <a:spcBef>
                <a:spcPts val="560"/>
              </a:spcBef>
              <a:buNone/>
            </a:pP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Governance</a:t>
            </a:r>
            <a:r>
              <a:rPr sz="1200" b="1" spc="195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&amp;</a:t>
            </a:r>
            <a:r>
              <a:rPr sz="1200" b="1" spc="120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Compliance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R="5080" algn="r">
              <a:lnSpc>
                <a:spcPct val="100000"/>
              </a:lnSpc>
              <a:spcBef>
                <a:spcPts val="375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Role-based</a:t>
            </a:r>
            <a:r>
              <a:rPr sz="900" spc="1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access,</a:t>
            </a:r>
            <a:r>
              <a:rPr sz="900" spc="17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lineage</a:t>
            </a:r>
            <a:r>
              <a:rPr sz="900" spc="1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900" spc="12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versioning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R="7620" algn="r">
              <a:lnSpc>
                <a:spcPct val="100000"/>
              </a:lnSpc>
              <a:spcBef>
                <a:spcPts val="70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900" spc="15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models</a:t>
            </a:r>
            <a:r>
              <a:rPr sz="900" spc="12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secure,</a:t>
            </a:r>
            <a:r>
              <a:rPr sz="900" spc="1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auditable</a:t>
            </a:r>
            <a:r>
              <a:rPr sz="900" spc="15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2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R="5715" algn="r">
              <a:lnSpc>
                <a:spcPct val="100000"/>
              </a:lnSpc>
              <a:spcBef>
                <a:spcPts val="5"/>
              </a:spcBef>
              <a:buNone/>
            </a:pP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compliant.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53032310-E4F4-4D91-8ED8-D831F03A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315" y="1828669"/>
            <a:ext cx="2120900" cy="599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11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60"/>
              </a:spcBef>
              <a:buNone/>
            </a:pP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End-to-End</a:t>
            </a:r>
            <a:r>
              <a:rPr sz="1200" b="1" spc="225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Unification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375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One</a:t>
            </a:r>
            <a:r>
              <a:rPr sz="900" spc="6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platform</a:t>
            </a:r>
            <a:r>
              <a:rPr sz="900" spc="114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900" spc="17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ingestion,</a:t>
            </a:r>
            <a:r>
              <a:rPr sz="900" spc="13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preparation,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70"/>
              </a:spcBef>
              <a:buNone/>
            </a:pPr>
            <a:r>
              <a:rPr sz="900" spc="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training,</a:t>
            </a:r>
            <a:r>
              <a:rPr sz="900" spc="5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deployment</a:t>
            </a:r>
            <a:r>
              <a:rPr sz="900" spc="5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900" spc="9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visualization.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F5E80E9-5A3D-4E47-8D82-9E1D3531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964" y="2953592"/>
            <a:ext cx="1461770" cy="73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11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60"/>
              </a:spcBef>
              <a:buNone/>
            </a:pPr>
            <a:r>
              <a:rPr sz="120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Scalability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marR="5080" algn="just">
              <a:lnSpc>
                <a:spcPct val="103400"/>
              </a:lnSpc>
              <a:spcBef>
                <a:spcPts val="335"/>
              </a:spcBef>
              <a:buNone/>
            </a:pPr>
            <a:r>
              <a:rPr sz="900" spc="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Distributed</a:t>
            </a:r>
            <a:r>
              <a:rPr sz="900" spc="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Spark</a:t>
            </a:r>
            <a:r>
              <a:rPr sz="900" spc="9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compute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handles</a:t>
            </a:r>
            <a:r>
              <a:rPr sz="900" spc="19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large</a:t>
            </a:r>
            <a:r>
              <a:rPr sz="900" spc="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datasets</a:t>
            </a:r>
            <a:r>
              <a:rPr sz="900" spc="19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2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complex</a:t>
            </a:r>
            <a:r>
              <a:rPr sz="900" spc="17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ML</a:t>
            </a:r>
            <a:r>
              <a:rPr sz="900" spc="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models.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A7536BE8-220A-463E-A084-95622984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933" y="4006846"/>
            <a:ext cx="2672080" cy="599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11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60"/>
              </a:spcBef>
              <a:buNone/>
            </a:pP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MLflow</a:t>
            </a:r>
            <a:r>
              <a:rPr sz="1200" b="1" spc="130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integration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375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Autolog</a:t>
            </a:r>
            <a:r>
              <a:rPr sz="900" spc="15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runs,</a:t>
            </a:r>
            <a:r>
              <a:rPr sz="900" spc="8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metrics</a:t>
            </a:r>
            <a:r>
              <a:rPr sz="900" spc="10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900" spc="13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parameters</a:t>
            </a:r>
            <a:r>
              <a:rPr sz="900" spc="1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900" spc="13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compare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70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models</a:t>
            </a:r>
            <a:r>
              <a:rPr sz="900" spc="114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900" spc="15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experiments</a:t>
            </a:r>
            <a:r>
              <a:rPr sz="900" spc="2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without</a:t>
            </a:r>
            <a:r>
              <a:rPr sz="900" spc="10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manual</a:t>
            </a:r>
            <a:r>
              <a:rPr sz="900" spc="17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tracking.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48C561EE-BB99-42CF-AF6C-A2BF4B1A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779" y="4006846"/>
            <a:ext cx="2468245" cy="599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1120" rIns="0" bIns="0">
            <a:spAutoFit/>
          </a:bodyPr>
          <a:lstStyle xmlns:a="http://schemas.openxmlformats.org/drawingml/2006/main"/>
          <a:p xmlns:a="http://schemas.openxmlformats.org/drawingml/2006/main">
            <a:pPr marL="1027430">
              <a:lnSpc>
                <a:spcPct val="100000"/>
              </a:lnSpc>
              <a:spcBef>
                <a:spcPts val="560"/>
              </a:spcBef>
              <a:buNone/>
            </a:pP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AutoML</a:t>
            </a:r>
            <a:r>
              <a:rPr sz="1200" b="1" spc="180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(low-</a:t>
            </a:r>
            <a:r>
              <a:rPr sz="1200" b="1" spc="-20">
                <a:solidFill>
                  <a:srgbClr val="232323"/>
                </a:solidFill>
                <a:latin typeface="Arial"/>
                <a:ea typeface="Arial"/>
                <a:cs typeface="Arial"/>
              </a:rPr>
              <a:t>code)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R="13970" algn="r">
              <a:lnSpc>
                <a:spcPct val="100000"/>
              </a:lnSpc>
              <a:spcBef>
                <a:spcPts val="375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Start</a:t>
            </a:r>
            <a:r>
              <a:rPr sz="900" spc="4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ML</a:t>
            </a:r>
            <a:r>
              <a:rPr sz="900" spc="8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tasks</a:t>
            </a:r>
            <a:r>
              <a:rPr sz="900" spc="14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quickly</a:t>
            </a:r>
            <a:r>
              <a:rPr sz="900" spc="15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while</a:t>
            </a:r>
            <a:r>
              <a:rPr sz="900" spc="8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Fabric</a:t>
            </a:r>
            <a:r>
              <a:rPr sz="900" spc="6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automates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R="13970" algn="r">
              <a:lnSpc>
                <a:spcPct val="100000"/>
              </a:lnSpc>
              <a:spcBef>
                <a:spcPts val="70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much</a:t>
            </a:r>
            <a:r>
              <a:rPr sz="900" spc="7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900" spc="4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900" spc="7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workflow.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1EF983B1-D839-4059-ADF7-1C8E4581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255" y="2882299"/>
            <a:ext cx="1892935" cy="735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0" rIns="0" bIns="0">
            <a:spAutoFit/>
          </a:bodyPr>
          <a:lstStyle xmlns:a="http://schemas.openxmlformats.org/drawingml/2006/main"/>
          <a:p xmlns:a="http://schemas.openxmlformats.org/drawingml/2006/main">
            <a:pPr marL="421005">
              <a:lnSpc>
                <a:spcPct val="100000"/>
              </a:lnSpc>
              <a:spcBef>
                <a:spcPts val="550"/>
              </a:spcBef>
              <a:buNone/>
            </a:pPr>
            <a:r>
              <a:rPr sz="12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AI-powered</a:t>
            </a:r>
            <a:r>
              <a:rPr sz="1200" b="1" spc="204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Copilot</a:t>
            </a:r>
            <a:endParaRPr sz="1200">
              <a:latin typeface="Arial"/>
              <a:ea typeface="Arial"/>
              <a:cs typeface="Arial"/>
            </a:endParaRPr>
          </a:p>
          <a:p xmlns:a="http://schemas.openxmlformats.org/drawingml/2006/main">
            <a:pPr marL="407670" marR="5080" indent="-395605" algn="r">
              <a:lnSpc>
                <a:spcPct val="106900"/>
              </a:lnSpc>
              <a:spcBef>
                <a:spcPts val="300"/>
              </a:spcBef>
              <a:buNone/>
            </a:pP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Accelerates</a:t>
            </a:r>
            <a:r>
              <a:rPr sz="900" spc="14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data-science</a:t>
            </a:r>
            <a:r>
              <a:rPr sz="900" spc="17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900" spc="26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25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and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900" spc="1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common</a:t>
            </a:r>
            <a:r>
              <a:rPr sz="900" spc="13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tasks</a:t>
            </a:r>
            <a:r>
              <a:rPr sz="900" spc="2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900" spc="-2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more</a:t>
            </a:r>
            <a:endParaRPr sz="9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R="12700" algn="r">
              <a:lnSpc>
                <a:spcPct val="100000"/>
              </a:lnSpc>
              <a:buNone/>
            </a:pPr>
            <a:r>
              <a:rPr sz="900" spc="-10">
                <a:solidFill>
                  <a:srgbClr val="4E565F"/>
                </a:solidFill>
                <a:latin typeface="Arial MT"/>
                <a:ea typeface="Arial MT"/>
                <a:cs typeface="Arial MT"/>
              </a:rPr>
              <a:t>accessible.</a:t>
            </a:r>
            <a:endParaRPr sz="900">
              <a:latin typeface="Arial MT"/>
              <a:ea typeface="Arial MT"/>
              <a:cs typeface="Arial MT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7ECEB6F7-67B4-4845-A658-32D09AB5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948" y="2720788"/>
            <a:ext cx="1654175" cy="1026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3985" rIns="0" bIns="0">
            <a:spAutoFit/>
          </a:bodyPr>
          <a:lstStyle xmlns:a="http://schemas.openxmlformats.org/drawingml/2006/main"/>
          <a:p xmlns:a="http://schemas.openxmlformats.org/drawingml/2006/main">
            <a:pPr marL="79375">
              <a:lnSpc>
                <a:spcPct val="100000"/>
              </a:lnSpc>
              <a:spcBef>
                <a:spcPts val="1055"/>
              </a:spcBef>
              <a:buNone/>
            </a:pPr>
            <a:r>
              <a:rPr sz="2000" b="1">
                <a:solidFill>
                  <a:srgbClr val="1BB79A"/>
                </a:solidFill>
                <a:latin typeface="Arial"/>
                <a:ea typeface="Arial"/>
                <a:cs typeface="Arial"/>
              </a:rPr>
              <a:t>Fabric</a:t>
            </a:r>
            <a:r>
              <a:rPr sz="2000" b="1" spc="-20">
                <a:solidFill>
                  <a:srgbClr val="1BB79A"/>
                </a:solidFill>
                <a:latin typeface="Arial"/>
                <a:ea typeface="Arial"/>
                <a:cs typeface="Arial"/>
              </a:rPr>
              <a:t>  </a:t>
            </a:r>
            <a:r>
              <a:rPr sz="2000" b="1">
                <a:solidFill>
                  <a:srgbClr val="1863B4"/>
                </a:solidFill>
                <a:latin typeface="Arial"/>
                <a:ea typeface="Arial"/>
                <a:cs typeface="Arial"/>
              </a:rPr>
              <a:t>+</a:t>
            </a:r>
            <a:r>
              <a:rPr sz="2000" b="1" spc="475">
                <a:solidFill>
                  <a:srgbClr val="1863B4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spc="-25">
                <a:solidFill>
                  <a:srgbClr val="1863B4"/>
                </a:solidFill>
                <a:latin typeface="Arial"/>
                <a:ea typeface="Arial"/>
                <a:cs typeface="Arial"/>
              </a:rPr>
              <a:t>ML</a:t>
            </a:r>
            <a:endParaRPr sz="2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marR="50800" indent="40005">
              <a:lnSpc>
                <a:spcPct val="100800"/>
              </a:lnSpc>
              <a:spcBef>
                <a:spcPts val="765"/>
              </a:spcBef>
              <a:buNone/>
            </a:pPr>
            <a:r>
              <a:rPr sz="155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Data</a:t>
            </a:r>
            <a:r>
              <a:rPr sz="1550" b="1" spc="105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55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Science</a:t>
            </a:r>
            <a:r>
              <a:rPr sz="1550" b="1" spc="110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550" b="1" spc="-25">
                <a:solidFill>
                  <a:srgbClr val="232323"/>
                </a:solidFill>
                <a:latin typeface="Arial"/>
                <a:ea typeface="Arial"/>
                <a:cs typeface="Arial"/>
              </a:rPr>
              <a:t>in </a:t>
            </a:r>
            <a:r>
              <a:rPr sz="155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Microsoft</a:t>
            </a:r>
            <a:r>
              <a:rPr sz="1550" b="1" spc="185">
                <a:solidFill>
                  <a:srgbClr val="232323"/>
                </a:solidFill>
                <a:latin typeface="Arial"/>
                <a:ea typeface="Arial"/>
                <a:cs typeface="Arial"/>
              </a:rPr>
              <a:t> </a:t>
            </a:r>
            <a:r>
              <a:rPr sz="1550" b="1" spc="-10">
                <a:solidFill>
                  <a:srgbClr val="232323"/>
                </a:solidFill>
                <a:latin typeface="Arial"/>
                <a:ea typeface="Arial"/>
                <a:cs typeface="Arial"/>
              </a:rPr>
              <a:t>Fabric</a:t>
            </a:r>
            <a:endParaRPr sz="1550">
              <a:latin typeface="Arial"/>
              <a:ea typeface="Arial"/>
              <a:cs typeface="Arial"/>
            </a:endParaRPr>
          </a:p>
        </p:txBody>
      </p:sp>
      <p:pic>
        <p:nvPicPr>
          <p:cNvPr id="35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aa741e76f4a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96711" y="2588437"/>
            <a:ext cx="301751" cy="301828"/>
          </a:xfrm>
          <a:prstGeom xmlns:a="http://schemas.openxmlformats.org/drawingml/2006/main" prst="rect">
            <a:avLst/>
          </a:prstGeom>
        </p:spPr>
      </p:pic>
      <p:pic>
        <p:nvPicPr>
          <p:cNvPr id="36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3b687f25a43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583679" y="2597581"/>
            <a:ext cx="301751" cy="3018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672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F0676BC9-553F-42E7-922E-C82FB57159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460" y="2357831"/>
            <a:ext cx="5996305" cy="1421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906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5190"/>
              </a:lnSpc>
              <a:spcBef>
                <a:spcPts val="780"/>
              </a:spcBef>
              <a:buNone/>
            </a:pPr>
            <a:r>
              <a:rPr sz="4800"/>
              <a:t>Prediction</a:t>
            </a:r>
            <a:r>
              <a:rPr sz="4800" spc="-140"/>
              <a:t> </a:t>
            </a:r>
            <a:r>
              <a:rPr sz="4800"/>
              <a:t>Models</a:t>
            </a:r>
            <a:r>
              <a:rPr sz="4800" spc="-140"/>
              <a:t> </a:t>
            </a:r>
            <a:r>
              <a:rPr sz="4800" spc="-25"/>
              <a:t>in </a:t>
            </a:r>
            <a:r>
              <a:rPr sz="4800" spc="-10"/>
              <a:t>Healthcare</a:t>
            </a:r>
            <a:endParaRPr sz="4800"/>
          </a:p>
        </p:txBody>
      </p:sp>
    </p:spTree>
    <p:extLst>
      <p:ext uri="{BB962C8B-B14F-4D97-AF65-F5344CB8AC3E}">
        <p14:creationId xmlns:p14="http://schemas.microsoft.com/office/powerpoint/2010/main" val="18411983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E026DDA-5740-4B7F-8F8B-46F3C2D38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1067" y="272923"/>
            <a:ext cx="8949055" cy="948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413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3460"/>
              </a:lnSpc>
              <a:spcBef>
                <a:spcPts val="505"/>
              </a:spcBef>
              <a:buNone/>
            </a:pP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AI</a:t>
            </a:r>
            <a:r>
              <a:rPr spc="9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pc="6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ML</a:t>
            </a:r>
            <a:r>
              <a:rPr spc="5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is</a:t>
            </a:r>
            <a:r>
              <a:rPr spc="7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being</a:t>
            </a:r>
            <a:r>
              <a:rPr spc="7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embedded</a:t>
            </a:r>
            <a:r>
              <a:rPr spc="7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pc="11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EU</a:t>
            </a:r>
            <a:r>
              <a:rPr spc="10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pc="-1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healthcare systems</a:t>
            </a:r>
          </a:p>
        </p:txBody>
      </p:sp>
      <p:pic>
        <p:nvPicPr>
          <p:cNvPr id="13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651107d9344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5976" y="1996313"/>
            <a:ext cx="5992368" cy="3874135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39CC9C69-708D-4574-80F3-6C3F901D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940" y="1931270"/>
            <a:ext cx="1086485" cy="1306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87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10"/>
              </a:spcBef>
              <a:buNone/>
            </a:pPr>
            <a:r>
              <a:rPr sz="4400" spc="-25">
                <a:solidFill>
                  <a:srgbClr val="00338D"/>
                </a:solidFill>
                <a:latin typeface="Segoe UI"/>
                <a:ea typeface="Segoe UI"/>
                <a:cs typeface="Segoe UI"/>
              </a:rPr>
              <a:t>48%</a:t>
            </a:r>
            <a:endParaRPr sz="4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97790">
              <a:lnSpc>
                <a:spcPct val="100000"/>
              </a:lnSpc>
              <a:spcBef>
                <a:spcPts val="775"/>
              </a:spcBef>
              <a:buNone/>
            </a:pPr>
            <a:r>
              <a:rPr sz="1350" b="1" spc="-10">
                <a:solidFill>
                  <a:srgbClr val="00338D"/>
                </a:solidFill>
                <a:latin typeface="Segoe UI"/>
                <a:ea typeface="Segoe UI"/>
                <a:cs typeface="Segoe UI"/>
              </a:rPr>
              <a:t>Radiology</a:t>
            </a:r>
            <a:endParaRPr sz="1350">
              <a:latin typeface="Segoe UI"/>
              <a:ea typeface="Segoe UI"/>
              <a:cs typeface="Segoe UI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AA6B423-ACB9-4FF6-8650-97A7D3A8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365" y="4073045"/>
            <a:ext cx="1087755" cy="1159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40029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889"/>
              </a:spcBef>
              <a:buNone/>
            </a:pPr>
            <a:r>
              <a:rPr sz="4400" spc="-25">
                <a:solidFill>
                  <a:srgbClr val="FFC000"/>
                </a:solidFill>
                <a:latin typeface="Segoe UI"/>
                <a:ea typeface="Segoe UI"/>
                <a:cs typeface="Segoe UI"/>
              </a:rPr>
              <a:t>74%</a:t>
            </a:r>
            <a:endParaRPr sz="4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62230">
              <a:lnSpc>
                <a:spcPct val="100000"/>
              </a:lnSpc>
              <a:spcBef>
                <a:spcPts val="475"/>
              </a:spcBef>
              <a:buNone/>
            </a:pPr>
            <a:r>
              <a:rPr sz="1150" b="1">
                <a:solidFill>
                  <a:srgbClr val="FFC000"/>
                </a:solidFill>
                <a:latin typeface="Segoe UI"/>
                <a:ea typeface="Segoe UI"/>
                <a:cs typeface="Segoe UI"/>
              </a:rPr>
              <a:t>EU</a:t>
            </a:r>
            <a:r>
              <a:rPr sz="1150" b="1" spc="-55">
                <a:solidFill>
                  <a:srgbClr val="FFC00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50" b="1" spc="-10">
                <a:solidFill>
                  <a:srgbClr val="FFC000"/>
                </a:solidFill>
                <a:latin typeface="Segoe UI"/>
                <a:ea typeface="Segoe UI"/>
                <a:cs typeface="Segoe UI"/>
              </a:rPr>
              <a:t>countries</a:t>
            </a:r>
            <a:endParaRPr sz="1150">
              <a:latin typeface="Segoe UI"/>
              <a:ea typeface="Segoe UI"/>
              <a:cs typeface="Segoe UI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8FE39B1-25DF-4EF3-9010-6ACD405C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960" y="2956729"/>
            <a:ext cx="1089660" cy="11830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3195" rIns="0" bIns="0">
            <a:spAutoFit/>
          </a:bodyPr>
          <a:lstStyle xmlns:a="http://schemas.openxmlformats.org/drawingml/2006/main"/>
          <a:p xmlns:a="http://schemas.openxmlformats.org/drawingml/2006/main">
            <a:pPr marL="14604">
              <a:lnSpc>
                <a:spcPct val="100000"/>
              </a:lnSpc>
              <a:spcBef>
                <a:spcPts val="1285"/>
              </a:spcBef>
              <a:buNone/>
            </a:pPr>
            <a:r>
              <a:rPr sz="4400" spc="-25">
                <a:solidFill>
                  <a:srgbClr val="4471C4"/>
                </a:solidFill>
                <a:latin typeface="Segoe UI"/>
                <a:ea typeface="Segoe UI"/>
                <a:cs typeface="Segoe UI"/>
              </a:rPr>
              <a:t>94%</a:t>
            </a:r>
            <a:endParaRPr sz="44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484"/>
              </a:spcBef>
              <a:buNone/>
            </a:pPr>
            <a:r>
              <a:rPr sz="1800" b="1" spc="-10">
                <a:solidFill>
                  <a:srgbClr val="4471C4"/>
                </a:solidFill>
                <a:latin typeface="Segoe UI"/>
                <a:ea typeface="Segoe UI"/>
                <a:cs typeface="Segoe UI"/>
              </a:rPr>
              <a:t>Providers</a:t>
            </a:r>
            <a:endParaRPr sz="1800">
              <a:latin typeface="Segoe UI"/>
              <a:ea typeface="Segoe UI"/>
              <a:cs typeface="Segoe UI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289A0E9F-C13C-4391-BAD3-BAABCA52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441" y="1876192"/>
            <a:ext cx="2069464" cy="122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085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855"/>
              </a:spcBef>
              <a:buNone/>
            </a:pPr>
            <a:r>
              <a:rPr sz="1500" b="1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Provider</a:t>
            </a:r>
            <a:r>
              <a:rPr sz="1500" b="1" spc="-6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pipeline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00099"/>
              </a:lnSpc>
              <a:spcBef>
                <a:spcPts val="635"/>
              </a:spcBef>
              <a:buNone/>
            </a:pP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94%</a:t>
            </a:r>
            <a:r>
              <a:rPr sz="1300" spc="-2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300" spc="-2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surveyed</a:t>
            </a:r>
            <a:r>
              <a:rPr sz="1300" spc="-7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2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EU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healthcare</a:t>
            </a:r>
            <a:r>
              <a:rPr sz="1300" spc="-3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providers</a:t>
            </a:r>
            <a:r>
              <a:rPr sz="1300" spc="-5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already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use</a:t>
            </a:r>
            <a:r>
              <a:rPr sz="1300" spc="-3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AI</a:t>
            </a:r>
            <a:r>
              <a:rPr sz="1300" spc="-5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solutions</a:t>
            </a:r>
            <a:r>
              <a:rPr sz="1300" spc="-4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300" spc="-2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plan</a:t>
            </a:r>
            <a:r>
              <a:rPr sz="1300" spc="-2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2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to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adopt</a:t>
            </a:r>
            <a:r>
              <a:rPr sz="1300" spc="-3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them.</a:t>
            </a:r>
            <a:endParaRPr sz="1300">
              <a:latin typeface="Segoe UI"/>
              <a:ea typeface="Segoe UI"/>
              <a:cs typeface="Segoe UI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717B81B-07DF-47A6-9875-1755CDA2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89" y="4047194"/>
            <a:ext cx="2171065" cy="102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079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850"/>
              </a:spcBef>
              <a:buNone/>
            </a:pPr>
            <a:r>
              <a:rPr sz="1500" b="1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Diagnostics</a:t>
            </a:r>
            <a:r>
              <a:rPr sz="1500" b="1" spc="-7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spread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99400"/>
              </a:lnSpc>
              <a:spcBef>
                <a:spcPts val="645"/>
              </a:spcBef>
              <a:buNone/>
            </a:pP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Nearly</a:t>
            </a:r>
            <a:r>
              <a:rPr sz="1300" spc="-6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300" spc="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300" spc="-2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4</a:t>
            </a:r>
            <a:r>
              <a:rPr sz="1300" spc="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EU</a:t>
            </a:r>
            <a:r>
              <a:rPr sz="1300" spc="-4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countries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report</a:t>
            </a:r>
            <a:r>
              <a:rPr sz="1300" spc="-4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AI-assisted</a:t>
            </a:r>
            <a:r>
              <a:rPr sz="1300" spc="-7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diagnostics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300" spc="-3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clinical</a:t>
            </a:r>
            <a:r>
              <a:rPr sz="1300" spc="-3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settings.</a:t>
            </a:r>
            <a:endParaRPr sz="1300">
              <a:latin typeface="Segoe UI"/>
              <a:ea typeface="Segoe UI"/>
              <a:cs typeface="Segoe UI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E4F7742-BDF2-4900-AAAD-E6CD820C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89" y="1876192"/>
            <a:ext cx="2041525" cy="122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085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855"/>
              </a:spcBef>
              <a:buNone/>
            </a:pPr>
            <a:r>
              <a:rPr sz="1500" b="1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Radiology</a:t>
            </a:r>
            <a:r>
              <a:rPr sz="1500" b="1" spc="-5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reality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00099"/>
              </a:lnSpc>
              <a:spcBef>
                <a:spcPts val="635"/>
              </a:spcBef>
              <a:buNone/>
            </a:pP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48%</a:t>
            </a:r>
            <a:r>
              <a:rPr sz="1300" spc="-4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300" spc="-2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572</a:t>
            </a:r>
            <a:r>
              <a:rPr sz="1300" spc="-3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European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radiology</a:t>
            </a:r>
            <a:r>
              <a:rPr sz="1300" spc="-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respondents</a:t>
            </a:r>
            <a:r>
              <a:rPr sz="1300" spc="-6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2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used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AI;</a:t>
            </a:r>
            <a:r>
              <a:rPr sz="1300" spc="-15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another</a:t>
            </a:r>
            <a:r>
              <a:rPr sz="1300" spc="-4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25%</a:t>
            </a:r>
            <a:r>
              <a:rPr sz="1300" spc="-7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spc="-10">
                <a:solidFill>
                  <a:srgbClr val="EC7C30"/>
                </a:solidFill>
                <a:latin typeface="Segoe UI"/>
                <a:ea typeface="Segoe UI"/>
                <a:cs typeface="Segoe UI"/>
              </a:rPr>
              <a:t>planned adoption.</a:t>
            </a:r>
            <a:endParaRPr sz="1300">
              <a:latin typeface="Segoe UI"/>
              <a:ea typeface="Segoe UI"/>
              <a:cs typeface="Segoe UI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82A32D88-C6D0-4B8F-ACCE-60E8DF09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89" y="5902518"/>
            <a:ext cx="7917815" cy="282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Measurement caveat: no</a:t>
            </a:r>
            <a:r>
              <a:rPr sz="900" i="1" spc="-4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harmonized</a:t>
            </a:r>
            <a:r>
              <a:rPr sz="900" i="1" spc="-4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EU</a:t>
            </a:r>
            <a:r>
              <a:rPr sz="900" i="1" spc="20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 spc="-10">
                <a:solidFill>
                  <a:srgbClr val="4A4A4A"/>
                </a:solidFill>
                <a:latin typeface="Arial"/>
                <a:ea typeface="Arial"/>
                <a:cs typeface="Arial"/>
              </a:rPr>
              <a:t>hospital-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level</a:t>
            </a:r>
            <a:r>
              <a:rPr sz="900" i="1" spc="-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adoption</a:t>
            </a:r>
            <a:r>
              <a:rPr sz="900" i="1" spc="-1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ranking</a:t>
            </a:r>
            <a:r>
              <a:rPr sz="900" i="1" spc="-4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exists; these</a:t>
            </a:r>
            <a:r>
              <a:rPr sz="900" i="1" spc="-4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indicators</a:t>
            </a:r>
            <a:r>
              <a:rPr sz="900" i="1" spc="-6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use</a:t>
            </a:r>
            <a:r>
              <a:rPr sz="900" i="1" spc="30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different</a:t>
            </a:r>
            <a:r>
              <a:rPr sz="900" i="1" spc="-7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denominators</a:t>
            </a:r>
            <a:r>
              <a:rPr sz="900" i="1" spc="20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and</a:t>
            </a:r>
            <a:r>
              <a:rPr sz="900" i="1" spc="-20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are</a:t>
            </a:r>
            <a:r>
              <a:rPr sz="900" i="1" spc="30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 spc="-10">
                <a:solidFill>
                  <a:srgbClr val="4A4A4A"/>
                </a:solidFill>
                <a:latin typeface="Arial"/>
                <a:ea typeface="Arial"/>
                <a:cs typeface="Arial"/>
              </a:rPr>
              <a:t>not</a:t>
            </a:r>
            <a:r>
              <a:rPr sz="900" i="1">
                <a:solidFill>
                  <a:srgbClr val="4A4A4A"/>
                </a:solidFill>
                <a:latin typeface="Arial"/>
                <a:ea typeface="Arial"/>
                <a:cs typeface="Arial"/>
              </a:rPr>
              <a:t> directly</a:t>
            </a:r>
            <a:r>
              <a:rPr sz="900" i="1" spc="-65">
                <a:solidFill>
                  <a:srgbClr val="4A4A4A"/>
                </a:solidFill>
                <a:latin typeface="Arial"/>
                <a:ea typeface="Arial"/>
                <a:cs typeface="Arial"/>
              </a:rPr>
              <a:t> </a:t>
            </a:r>
            <a:r>
              <a:rPr sz="900" i="1" spc="-10">
                <a:solidFill>
                  <a:srgbClr val="4A4A4A"/>
                </a:solidFill>
                <a:latin typeface="Arial"/>
                <a:ea typeface="Arial"/>
                <a:cs typeface="Arial"/>
              </a:rPr>
              <a:t>comparable.</a:t>
            </a:r>
            <a:endParaRPr sz="9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60"/>
              </a:spcBef>
              <a:buNone/>
            </a:pP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Sources:</a:t>
            </a:r>
            <a:r>
              <a:rPr sz="700" spc="7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WHO/Europe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EU</a:t>
            </a:r>
            <a:r>
              <a:rPr sz="700" spc="3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readiness</a:t>
            </a:r>
            <a:r>
              <a:rPr sz="700" spc="5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survey</a:t>
            </a:r>
            <a:r>
              <a:rPr sz="700" spc="10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(2024–25);</a:t>
            </a:r>
            <a:r>
              <a:rPr sz="700" spc="10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European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Commission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Digital</a:t>
            </a:r>
            <a:r>
              <a:rPr sz="700" spc="3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Health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Observ</a:t>
            </a:r>
            <a:r>
              <a:rPr sz="700" spc="-114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atory</a:t>
            </a:r>
            <a:r>
              <a:rPr sz="700" spc="14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(2026);</a:t>
            </a:r>
            <a:r>
              <a:rPr sz="700" spc="7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Zanardo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et</a:t>
            </a:r>
            <a:r>
              <a:rPr sz="700" spc="-1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al.,</a:t>
            </a:r>
            <a:r>
              <a:rPr sz="700" spc="7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Insights</a:t>
            </a:r>
            <a:r>
              <a:rPr sz="700" spc="6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700" spc="95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00" spc="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Imaging </a:t>
            </a:r>
            <a:r>
              <a:rPr sz="700" spc="-10">
                <a:solidFill>
                  <a:srgbClr val="5F5F5F"/>
                </a:solidFill>
                <a:latin typeface="Arial MT"/>
                <a:ea typeface="Arial MT"/>
                <a:cs typeface="Arial MT"/>
              </a:rPr>
              <a:t>(2024).</a:t>
            </a:r>
            <a:endParaRPr sz="700"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695690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717634E-7FDA-4648-AB6B-CFD74432C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1067" y="272923"/>
            <a:ext cx="10433685" cy="948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413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3460"/>
              </a:lnSpc>
              <a:spcBef>
                <a:spcPts val="505"/>
              </a:spcBef>
              <a:buNone/>
            </a:pPr>
            <a:r>
              <a:rPr>
                <a:solidFill>
                  <a:srgbClr val="003E34"/>
                </a:solidFill>
              </a:rPr>
              <a:t>However,</a:t>
            </a:r>
            <a:r>
              <a:rPr spc="-30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EU</a:t>
            </a:r>
            <a:r>
              <a:rPr spc="20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rules</a:t>
            </a:r>
            <a:r>
              <a:rPr spc="4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turn</a:t>
            </a:r>
            <a:r>
              <a:rPr spc="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healthcare</a:t>
            </a:r>
            <a:r>
              <a:rPr spc="3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ML</a:t>
            </a:r>
            <a:r>
              <a:rPr spc="10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into</a:t>
            </a:r>
            <a:r>
              <a:rPr spc="8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a</a:t>
            </a:r>
            <a:r>
              <a:rPr spc="45">
                <a:solidFill>
                  <a:srgbClr val="003E34"/>
                </a:solidFill>
              </a:rPr>
              <a:t> </a:t>
            </a:r>
            <a:r>
              <a:rPr spc="-10">
                <a:solidFill>
                  <a:srgbClr val="003E34"/>
                </a:solidFill>
              </a:rPr>
              <a:t>governed </a:t>
            </a:r>
            <a:r>
              <a:rPr>
                <a:solidFill>
                  <a:srgbClr val="003E34"/>
                </a:solidFill>
              </a:rPr>
              <a:t>clinical</a:t>
            </a:r>
            <a:r>
              <a:rPr spc="80">
                <a:solidFill>
                  <a:srgbClr val="003E34"/>
                </a:solidFill>
              </a:rPr>
              <a:t> </a:t>
            </a:r>
            <a:r>
              <a:rPr spc="-10">
                <a:solidFill>
                  <a:srgbClr val="003E34"/>
                </a:solidFill>
              </a:rPr>
              <a:t>process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0655A45C-ACB4-401D-93F6-7B83E614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0831" y="1637157"/>
            <a:ext cx="320040" cy="3924300"/>
          </a:xfrm>
          <a:custGeom xmlns:a="http://schemas.openxmlformats.org/drawingml/2006/main">
            <a:rect l="l" t="t" r="r" b="b"/>
            <a:pathLst>
              <a:path w="320039" h="3924300">
                <a:moveTo>
                  <a:pt x="320039" y="0"/>
                </a:moveTo>
                <a:lnTo>
                  <a:pt x="0" y="211454"/>
                </a:lnTo>
                <a:lnTo>
                  <a:pt x="0" y="3712336"/>
                </a:lnTo>
                <a:lnTo>
                  <a:pt x="320039" y="3923791"/>
                </a:lnTo>
                <a:lnTo>
                  <a:pt x="320039" y="0"/>
                </a:lnTo>
                <a:close/>
              </a:path>
            </a:pathLst>
          </a:custGeom>
          <a:solidFill xmlns:a="http://schemas.openxmlformats.org/drawingml/2006/main">
            <a:srgbClr val="00B8F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341F148-5646-4F49-BC68-BA38C44F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8080" y="1399413"/>
            <a:ext cx="502920" cy="4399915"/>
          </a:xfrm>
          <a:custGeom xmlns:a="http://schemas.openxmlformats.org/drawingml/2006/main">
            <a:rect l="l" t="t" r="r" b="b"/>
            <a:pathLst>
              <a:path w="502920" h="4399915">
                <a:moveTo>
                  <a:pt x="502920" y="0"/>
                </a:moveTo>
                <a:lnTo>
                  <a:pt x="0" y="235076"/>
                </a:lnTo>
                <a:lnTo>
                  <a:pt x="0" y="4164329"/>
                </a:lnTo>
                <a:lnTo>
                  <a:pt x="502920" y="4399330"/>
                </a:lnTo>
                <a:lnTo>
                  <a:pt x="502920" y="0"/>
                </a:lnTo>
                <a:close/>
              </a:path>
            </a:pathLst>
          </a:custGeom>
          <a:solidFill xmlns:a="http://schemas.openxmlformats.org/drawingml/2006/main">
            <a:srgbClr val="1F49E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15346142-2906-42D9-90B6-42204E78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696" y="1847596"/>
            <a:ext cx="3374390" cy="3512185"/>
          </a:xfrm>
          <a:custGeom xmlns:a="http://schemas.openxmlformats.org/drawingml/2006/main">
            <a:rect l="l" t="t" r="r" b="b"/>
            <a:pathLst>
              <a:path w="3374390" h="3512185">
                <a:moveTo>
                  <a:pt x="3374136" y="0"/>
                </a:moveTo>
                <a:lnTo>
                  <a:pt x="0" y="0"/>
                </a:lnTo>
                <a:lnTo>
                  <a:pt x="0" y="3512184"/>
                </a:lnTo>
                <a:lnTo>
                  <a:pt x="3374136" y="3512184"/>
                </a:lnTo>
                <a:lnTo>
                  <a:pt x="3374136" y="0"/>
                </a:lnTo>
                <a:close/>
              </a:path>
            </a:pathLst>
          </a:custGeom>
          <a:solidFill xmlns:a="http://schemas.openxmlformats.org/drawingml/2006/main">
            <a:srgbClr val="4471C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7698106-A6AF-45FE-9701-B8E3335401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366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80"/>
              </a:spcBef>
              <a:buNone/>
            </a:pPr>
          </a:p>
          <a:p xmlns:a="http://schemas.openxmlformats.org/drawingml/2006/main">
            <a:pPr marL="700405">
              <a:lnSpc>
                <a:spcPct val="100000"/>
              </a:lnSpc>
              <a:buNone/>
            </a:pPr>
            <a:r>
              <a:t>EU</a:t>
            </a:r>
            <a:r>
              <a:rPr spc="5"/>
              <a:t> </a:t>
            </a:r>
            <a:r>
              <a:t>AI</a:t>
            </a:r>
            <a:r>
              <a:rPr spc="-30"/>
              <a:t> </a:t>
            </a:r>
            <a:r>
              <a:rPr spc="-25"/>
              <a:t>Act</a:t>
            </a:r>
          </a:p>
          <a:p xmlns:a="http://schemas.openxmlformats.org/drawingml/2006/main">
            <a:pPr marL="700405" marR="290195">
              <a:lnSpc>
                <a:spcPct val="111200"/>
              </a:lnSpc>
              <a:spcBef>
                <a:spcPts val="295"/>
              </a:spcBef>
              <a:buNone/>
            </a:pPr>
            <a:r>
              <a:rPr sz="1000" b="0" spc="-10">
                <a:latin typeface="Segoe UI"/>
                <a:ea typeface="Segoe UI"/>
                <a:cs typeface="Segoe UI"/>
              </a:rPr>
              <a:t>High-</a:t>
            </a:r>
            <a:r>
              <a:rPr sz="1000" b="0">
                <a:latin typeface="Segoe UI"/>
                <a:ea typeface="Segoe UI"/>
                <a:cs typeface="Segoe UI"/>
              </a:rPr>
              <a:t>risk</a:t>
            </a:r>
            <a:r>
              <a:rPr sz="1000" b="0" spc="-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clinical</a:t>
            </a:r>
            <a:r>
              <a:rPr sz="1000" b="0" spc="3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decision </a:t>
            </a:r>
            <a:r>
              <a:rPr sz="1000" b="0" spc="-10">
                <a:latin typeface="Segoe UI"/>
                <a:ea typeface="Segoe UI"/>
                <a:cs typeface="Segoe UI"/>
              </a:rPr>
              <a:t>support</a:t>
            </a:r>
            <a:r>
              <a:rPr sz="1000" b="0" spc="-60">
                <a:latin typeface="Segoe UI"/>
                <a:ea typeface="Segoe UI"/>
                <a:cs typeface="Segoe UI"/>
              </a:rPr>
              <a:t> </a:t>
            </a:r>
            <a:r>
              <a:rPr sz="1000" b="0" spc="-10">
                <a:latin typeface="Segoe UI"/>
                <a:ea typeface="Segoe UI"/>
                <a:cs typeface="Segoe UI"/>
              </a:rPr>
              <a:t>requires </a:t>
            </a:r>
            <a:r>
              <a:rPr sz="1000" b="0">
                <a:latin typeface="Segoe UI"/>
                <a:ea typeface="Segoe UI"/>
                <a:cs typeface="Segoe UI"/>
              </a:rPr>
              <a:t>risk</a:t>
            </a:r>
            <a:r>
              <a:rPr sz="1000" b="0" spc="1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management,</a:t>
            </a:r>
            <a:r>
              <a:rPr sz="1000" b="0" spc="10">
                <a:latin typeface="Segoe UI"/>
                <a:ea typeface="Segoe UI"/>
                <a:cs typeface="Segoe UI"/>
              </a:rPr>
              <a:t> </a:t>
            </a:r>
            <a:r>
              <a:rPr sz="1000" b="0" spc="-10">
                <a:latin typeface="Segoe UI"/>
                <a:ea typeface="Segoe UI"/>
                <a:cs typeface="Segoe UI"/>
              </a:rPr>
              <a:t>transparency,</a:t>
            </a:r>
            <a:r>
              <a:rPr sz="1000" b="0" spc="-60">
                <a:latin typeface="Segoe UI"/>
                <a:ea typeface="Segoe UI"/>
                <a:cs typeface="Segoe UI"/>
              </a:rPr>
              <a:t> </a:t>
            </a:r>
            <a:r>
              <a:rPr sz="1000" b="0" spc="-20">
                <a:latin typeface="Segoe UI"/>
                <a:ea typeface="Segoe UI"/>
                <a:cs typeface="Segoe UI"/>
              </a:rPr>
              <a:t>human </a:t>
            </a:r>
            <a:r>
              <a:rPr sz="1000" b="0">
                <a:latin typeface="Segoe UI"/>
                <a:ea typeface="Segoe UI"/>
                <a:cs typeface="Segoe UI"/>
              </a:rPr>
              <a:t>oversight</a:t>
            </a:r>
            <a:r>
              <a:rPr sz="1000" b="0" spc="-1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and</a:t>
            </a:r>
            <a:r>
              <a:rPr sz="1000" b="0" spc="-8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record-</a:t>
            </a:r>
            <a:r>
              <a:rPr sz="1000" b="0" spc="-10">
                <a:latin typeface="Segoe UI"/>
                <a:ea typeface="Segoe UI"/>
                <a:cs typeface="Segoe UI"/>
              </a:rPr>
              <a:t>keeping.</a:t>
            </a: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225"/>
              </a:spcBef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700405">
              <a:lnSpc>
                <a:spcPct val="100000"/>
              </a:lnSpc>
              <a:buNone/>
            </a:pPr>
            <a:r>
              <a:t>GDPR</a:t>
            </a:r>
            <a:r>
              <a:rPr spc="-25"/>
              <a:t> </a:t>
            </a:r>
            <a:r>
              <a:t>Article</a:t>
            </a:r>
            <a:r>
              <a:rPr spc="5"/>
              <a:t> </a:t>
            </a:r>
            <a:r>
              <a:rPr spc="-25"/>
              <a:t>22</a:t>
            </a:r>
          </a:p>
          <a:p xmlns:a="http://schemas.openxmlformats.org/drawingml/2006/main">
            <a:pPr marL="700405" marR="241300">
              <a:lnSpc>
                <a:spcPct val="111200"/>
              </a:lnSpc>
              <a:spcBef>
                <a:spcPts val="300"/>
              </a:spcBef>
              <a:buNone/>
            </a:pPr>
            <a:r>
              <a:rPr sz="1000" b="0">
                <a:latin typeface="Segoe UI"/>
                <a:ea typeface="Segoe UI"/>
                <a:cs typeface="Segoe UI"/>
              </a:rPr>
              <a:t>People</a:t>
            </a:r>
            <a:r>
              <a:rPr sz="1000" b="0" spc="-3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affected</a:t>
            </a:r>
            <a:r>
              <a:rPr sz="1000" b="0" spc="-2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by</a:t>
            </a:r>
            <a:r>
              <a:rPr sz="1000" b="0" spc="15">
                <a:latin typeface="Segoe UI"/>
                <a:ea typeface="Segoe UI"/>
                <a:cs typeface="Segoe UI"/>
              </a:rPr>
              <a:t> </a:t>
            </a:r>
            <a:r>
              <a:rPr sz="1000" b="0" spc="-10">
                <a:latin typeface="Segoe UI"/>
                <a:ea typeface="Segoe UI"/>
                <a:cs typeface="Segoe UI"/>
              </a:rPr>
              <a:t>semi-automated </a:t>
            </a:r>
            <a:r>
              <a:rPr sz="1000" b="0">
                <a:latin typeface="Segoe UI"/>
                <a:ea typeface="Segoe UI"/>
                <a:cs typeface="Segoe UI"/>
              </a:rPr>
              <a:t>decisions need</a:t>
            </a:r>
            <a:r>
              <a:rPr sz="1000" b="0" spc="-2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meaningful</a:t>
            </a:r>
            <a:r>
              <a:rPr sz="1000" b="0" spc="-30">
                <a:latin typeface="Segoe UI"/>
                <a:ea typeface="Segoe UI"/>
                <a:cs typeface="Segoe UI"/>
              </a:rPr>
              <a:t> </a:t>
            </a:r>
            <a:r>
              <a:rPr sz="1000" b="0" spc="-10">
                <a:latin typeface="Segoe UI"/>
                <a:ea typeface="Segoe UI"/>
                <a:cs typeface="Segoe UI"/>
              </a:rPr>
              <a:t>information</a:t>
            </a:r>
            <a:r>
              <a:rPr sz="1000" b="0" spc="-60">
                <a:latin typeface="Segoe UI"/>
                <a:ea typeface="Segoe UI"/>
                <a:cs typeface="Segoe UI"/>
              </a:rPr>
              <a:t> </a:t>
            </a:r>
            <a:r>
              <a:rPr sz="1000" b="0" spc="-25">
                <a:latin typeface="Segoe UI"/>
                <a:ea typeface="Segoe UI"/>
                <a:cs typeface="Segoe UI"/>
              </a:rPr>
              <a:t>and </a:t>
            </a:r>
            <a:r>
              <a:rPr sz="1000" b="0" spc="-10">
                <a:latin typeface="Segoe UI"/>
                <a:ea typeface="Segoe UI"/>
                <a:cs typeface="Segoe UI"/>
              </a:rPr>
              <a:t>safeguards.</a:t>
            </a: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225"/>
              </a:spcBef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700405">
              <a:lnSpc>
                <a:spcPct val="100000"/>
              </a:lnSpc>
              <a:buNone/>
            </a:pPr>
            <a:r>
              <a:t>European </a:t>
            </a:r>
            <a:r>
              <a:rPr spc="-10"/>
              <a:t>Health</a:t>
            </a:r>
            <a:r>
              <a:rPr spc="-60"/>
              <a:t> </a:t>
            </a:r>
            <a:r>
              <a:t>Data</a:t>
            </a:r>
            <a:r>
              <a:rPr spc="-35"/>
              <a:t> </a:t>
            </a:r>
            <a:r>
              <a:rPr spc="-20"/>
              <a:t>Space</a:t>
            </a:r>
          </a:p>
          <a:p xmlns:a="http://schemas.openxmlformats.org/drawingml/2006/main">
            <a:pPr marL="700405" marR="78740">
              <a:lnSpc>
                <a:spcPct val="111200"/>
              </a:lnSpc>
              <a:spcBef>
                <a:spcPts val="295"/>
              </a:spcBef>
              <a:buNone/>
            </a:pPr>
            <a:r>
              <a:rPr sz="1000" b="0">
                <a:latin typeface="Segoe UI"/>
                <a:ea typeface="Segoe UI"/>
                <a:cs typeface="Segoe UI"/>
              </a:rPr>
              <a:t>Registry</a:t>
            </a:r>
            <a:r>
              <a:rPr sz="1000" b="0" spc="-6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data</a:t>
            </a:r>
            <a:r>
              <a:rPr sz="1000" b="0" spc="-2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can</a:t>
            </a:r>
            <a:r>
              <a:rPr sz="1000" b="0" spc="-6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support secondary</a:t>
            </a:r>
            <a:r>
              <a:rPr sz="1000" b="0" spc="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use—</a:t>
            </a:r>
            <a:r>
              <a:rPr sz="1000" b="0" spc="-25">
                <a:latin typeface="Segoe UI"/>
                <a:ea typeface="Segoe UI"/>
                <a:cs typeface="Segoe UI"/>
              </a:rPr>
              <a:t>but </a:t>
            </a:r>
            <a:r>
              <a:rPr sz="1000" b="0">
                <a:latin typeface="Segoe UI"/>
                <a:ea typeface="Segoe UI"/>
                <a:cs typeface="Segoe UI"/>
              </a:rPr>
              <a:t>only</a:t>
            </a:r>
            <a:r>
              <a:rPr sz="1000" b="0" spc="-1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through</a:t>
            </a:r>
            <a:r>
              <a:rPr sz="1000" b="0" spc="-2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governed</a:t>
            </a:r>
            <a:r>
              <a:rPr sz="1000" b="0" spc="-45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access</a:t>
            </a:r>
            <a:r>
              <a:rPr sz="1000" b="0" spc="-20">
                <a:latin typeface="Segoe UI"/>
                <a:ea typeface="Segoe UI"/>
                <a:cs typeface="Segoe UI"/>
              </a:rPr>
              <a:t> </a:t>
            </a:r>
            <a:r>
              <a:rPr sz="1000" b="0">
                <a:latin typeface="Segoe UI"/>
                <a:ea typeface="Segoe UI"/>
                <a:cs typeface="Segoe UI"/>
              </a:rPr>
              <a:t>and</a:t>
            </a:r>
            <a:r>
              <a:rPr sz="1000" b="0" spc="-45">
                <a:latin typeface="Segoe UI"/>
                <a:ea typeface="Segoe UI"/>
                <a:cs typeface="Segoe UI"/>
              </a:rPr>
              <a:t> </a:t>
            </a:r>
            <a:r>
              <a:rPr sz="1000" b="0" spc="-10">
                <a:latin typeface="Segoe UI"/>
                <a:ea typeface="Segoe UI"/>
                <a:cs typeface="Segoe UI"/>
              </a:rPr>
              <a:t>permitted purposes.</a:t>
            </a:r>
            <a:endParaRPr sz="1000">
              <a:latin typeface="Segoe UI"/>
              <a:ea typeface="Segoe UI"/>
              <a:cs typeface="Segoe UI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49E5681-5FB0-4D20-BC54-5162EE4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1" y="1637157"/>
            <a:ext cx="280733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A11"/>
          </a:solidFill>
        </p:spPr>
        <p:txBody>
          <a:bodyPr xmlns:a="http://schemas.openxmlformats.org/drawingml/2006/main" vert="horz" wrap="square" lIns="0" tIns="11811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930"/>
              </a:spcBef>
              <a:buNone/>
            </a:pPr>
            <a:endParaRPr sz="18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1484" marR="752475">
              <a:lnSpc>
                <a:spcPct val="100000"/>
              </a:lnSpc>
              <a:spcBef>
                <a:spcPts val="5"/>
              </a:spcBef>
              <a:buNone/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Impact</a:t>
            </a:r>
            <a:r>
              <a:rPr sz="1800" b="1" spc="-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</a:t>
            </a:r>
            <a:r>
              <a:rPr sz="1800" b="1" spc="-6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1" spc="-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care </a:t>
            </a:r>
            <a:r>
              <a:rPr sz="180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delivery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451484" marR="182880">
              <a:lnSpc>
                <a:spcPct val="111200"/>
              </a:lnSpc>
              <a:spcBef>
                <a:spcPts val="525"/>
              </a:spcBef>
              <a:buNone/>
            </a:pP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Human</a:t>
            </a:r>
            <a:r>
              <a:rPr sz="1000" spc="-7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oversight,</a:t>
            </a:r>
            <a:r>
              <a:rPr sz="1000" spc="-3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transparency</a:t>
            </a:r>
            <a:r>
              <a:rPr sz="10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and</a:t>
            </a:r>
            <a:r>
              <a:rPr sz="1000" spc="-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auditable</a:t>
            </a:r>
            <a:r>
              <a:rPr sz="1000" spc="-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decision</a:t>
            </a:r>
            <a:r>
              <a:rPr sz="1000" spc="-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become</a:t>
            </a:r>
            <a:r>
              <a:rPr sz="1000" spc="-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</a:t>
            </a:r>
            <a:r>
              <a:rPr sz="1000" spc="-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000" spc="-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clinical</a:t>
            </a:r>
            <a:r>
              <a:rPr sz="1000" spc="-3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workflow.</a:t>
            </a: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840"/>
              </a:spcBef>
              <a:buNone/>
            </a:pPr>
            <a:endParaRPr sz="10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426720" marR="544195">
              <a:lnSpc>
                <a:spcPct val="100000"/>
              </a:lnSpc>
              <a:buNone/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Impact</a:t>
            </a:r>
            <a:r>
              <a:rPr sz="1800" b="1" spc="-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</a:t>
            </a:r>
            <a:r>
              <a:rPr sz="1800" b="1" spc="-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model delivery</a:t>
            </a:r>
            <a:endParaRPr sz="18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426720" marR="116839">
              <a:lnSpc>
                <a:spcPct val="111200"/>
              </a:lnSpc>
              <a:spcBef>
                <a:spcPts val="525"/>
              </a:spcBef>
              <a:buNone/>
            </a:pP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Evidence,</a:t>
            </a:r>
            <a:r>
              <a:rPr sz="1000" spc="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permissions</a:t>
            </a:r>
            <a:r>
              <a:rPr sz="1000" spc="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000" spc="-1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1000" spc="-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lineage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must</a:t>
            </a:r>
            <a:r>
              <a:rPr sz="1000" spc="-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remain</a:t>
            </a:r>
            <a:r>
              <a:rPr sz="1000" spc="-5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clear</a:t>
            </a:r>
            <a:r>
              <a:rPr sz="1000" spc="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from</a:t>
            </a:r>
            <a:r>
              <a:rPr sz="1000" spc="-7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training</a:t>
            </a:r>
            <a:r>
              <a:rPr sz="10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through </a:t>
            </a:r>
            <a:r>
              <a:rPr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clinical</a:t>
            </a:r>
            <a:r>
              <a:rPr sz="1000" spc="-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use.</a:t>
            </a:r>
            <a:endParaRPr sz="1000">
              <a:latin typeface="Segoe UI"/>
              <a:ea typeface="Segoe UI"/>
              <a:cs typeface="Segoe UI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A9424BA4-C1AB-4E1D-AFDE-F5922DD6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185923"/>
            <a:ext cx="356870" cy="2479040"/>
          </a:xfrm>
          <a:custGeom xmlns:a="http://schemas.openxmlformats.org/drawingml/2006/main">
            <a:rect l="l" t="t" r="r" b="b"/>
            <a:pathLst>
              <a:path w="356869" h="2479040">
                <a:moveTo>
                  <a:pt x="274320" y="1115822"/>
                </a:moveTo>
                <a:lnTo>
                  <a:pt x="230505" y="1115822"/>
                </a:lnTo>
                <a:lnTo>
                  <a:pt x="230505" y="1318006"/>
                </a:lnTo>
                <a:lnTo>
                  <a:pt x="230505" y="1358265"/>
                </a:lnTo>
                <a:lnTo>
                  <a:pt x="87858" y="1358265"/>
                </a:lnTo>
                <a:lnTo>
                  <a:pt x="87858" y="1318006"/>
                </a:lnTo>
                <a:lnTo>
                  <a:pt x="120357" y="1295755"/>
                </a:lnTo>
                <a:lnTo>
                  <a:pt x="159131" y="1288288"/>
                </a:lnTo>
                <a:lnTo>
                  <a:pt x="166484" y="1288834"/>
                </a:lnTo>
                <a:lnTo>
                  <a:pt x="206717" y="1299552"/>
                </a:lnTo>
                <a:lnTo>
                  <a:pt x="230505" y="1318006"/>
                </a:lnTo>
                <a:lnTo>
                  <a:pt x="230505" y="1115822"/>
                </a:lnTo>
                <a:lnTo>
                  <a:pt x="194564" y="1115822"/>
                </a:lnTo>
                <a:lnTo>
                  <a:pt x="194564" y="1244346"/>
                </a:lnTo>
                <a:lnTo>
                  <a:pt x="191820" y="1257935"/>
                </a:lnTo>
                <a:lnTo>
                  <a:pt x="191795" y="1258100"/>
                </a:lnTo>
                <a:lnTo>
                  <a:pt x="184315" y="1268984"/>
                </a:lnTo>
                <a:lnTo>
                  <a:pt x="184226" y="1269136"/>
                </a:lnTo>
                <a:lnTo>
                  <a:pt x="172961" y="1276477"/>
                </a:lnTo>
                <a:lnTo>
                  <a:pt x="159131" y="1279144"/>
                </a:lnTo>
                <a:lnTo>
                  <a:pt x="145605" y="1276477"/>
                </a:lnTo>
                <a:lnTo>
                  <a:pt x="145415" y="1276477"/>
                </a:lnTo>
                <a:lnTo>
                  <a:pt x="134073" y="1268984"/>
                </a:lnTo>
                <a:lnTo>
                  <a:pt x="126593" y="1258100"/>
                </a:lnTo>
                <a:lnTo>
                  <a:pt x="126479" y="1257935"/>
                </a:lnTo>
                <a:lnTo>
                  <a:pt x="123698" y="1244346"/>
                </a:lnTo>
                <a:lnTo>
                  <a:pt x="126479" y="1230845"/>
                </a:lnTo>
                <a:lnTo>
                  <a:pt x="134073" y="1219822"/>
                </a:lnTo>
                <a:lnTo>
                  <a:pt x="145338" y="1212405"/>
                </a:lnTo>
                <a:lnTo>
                  <a:pt x="159131" y="1209675"/>
                </a:lnTo>
                <a:lnTo>
                  <a:pt x="172961" y="1212405"/>
                </a:lnTo>
                <a:lnTo>
                  <a:pt x="184226" y="1219822"/>
                </a:lnTo>
                <a:lnTo>
                  <a:pt x="191795" y="1230845"/>
                </a:lnTo>
                <a:lnTo>
                  <a:pt x="194564" y="1244346"/>
                </a:lnTo>
                <a:lnTo>
                  <a:pt x="194564" y="1115822"/>
                </a:lnTo>
                <a:lnTo>
                  <a:pt x="55219" y="1115822"/>
                </a:lnTo>
                <a:lnTo>
                  <a:pt x="47980" y="1117282"/>
                </a:lnTo>
                <a:lnTo>
                  <a:pt x="42049" y="1121219"/>
                </a:lnTo>
                <a:lnTo>
                  <a:pt x="38036" y="1127074"/>
                </a:lnTo>
                <a:lnTo>
                  <a:pt x="36576" y="1134237"/>
                </a:lnTo>
                <a:lnTo>
                  <a:pt x="36576" y="1435989"/>
                </a:lnTo>
                <a:lnTo>
                  <a:pt x="38036" y="1443088"/>
                </a:lnTo>
                <a:lnTo>
                  <a:pt x="42049" y="1448904"/>
                </a:lnTo>
                <a:lnTo>
                  <a:pt x="47980" y="1452841"/>
                </a:lnTo>
                <a:lnTo>
                  <a:pt x="55219" y="1454277"/>
                </a:lnTo>
                <a:lnTo>
                  <a:pt x="274320" y="1454277"/>
                </a:lnTo>
                <a:lnTo>
                  <a:pt x="274320" y="1358265"/>
                </a:lnTo>
                <a:lnTo>
                  <a:pt x="274320" y="1288288"/>
                </a:lnTo>
                <a:lnTo>
                  <a:pt x="274320" y="1279144"/>
                </a:lnTo>
                <a:lnTo>
                  <a:pt x="274320" y="1209675"/>
                </a:lnTo>
                <a:lnTo>
                  <a:pt x="274320" y="1115822"/>
                </a:lnTo>
                <a:close/>
              </a:path>
              <a:path w="356869" h="2479040">
                <a:moveTo>
                  <a:pt x="320040" y="1115860"/>
                </a:moveTo>
                <a:lnTo>
                  <a:pt x="292608" y="1115860"/>
                </a:lnTo>
                <a:lnTo>
                  <a:pt x="292608" y="1454277"/>
                </a:lnTo>
                <a:lnTo>
                  <a:pt x="320040" y="1454277"/>
                </a:lnTo>
                <a:lnTo>
                  <a:pt x="320040" y="1115860"/>
                </a:lnTo>
                <a:close/>
              </a:path>
              <a:path w="356869" h="2479040">
                <a:moveTo>
                  <a:pt x="347472" y="2350643"/>
                </a:moveTo>
                <a:lnTo>
                  <a:pt x="203708" y="2350643"/>
                </a:lnTo>
                <a:lnTo>
                  <a:pt x="203708" y="2358644"/>
                </a:lnTo>
                <a:lnTo>
                  <a:pt x="203708" y="2367407"/>
                </a:lnTo>
                <a:lnTo>
                  <a:pt x="196088" y="2374646"/>
                </a:lnTo>
                <a:lnTo>
                  <a:pt x="160528" y="2374646"/>
                </a:lnTo>
                <a:lnTo>
                  <a:pt x="152908" y="2367407"/>
                </a:lnTo>
                <a:lnTo>
                  <a:pt x="152908" y="2350643"/>
                </a:lnTo>
                <a:lnTo>
                  <a:pt x="9144" y="2350643"/>
                </a:lnTo>
                <a:lnTo>
                  <a:pt x="9144" y="2471420"/>
                </a:lnTo>
                <a:lnTo>
                  <a:pt x="16751" y="2478659"/>
                </a:lnTo>
                <a:lnTo>
                  <a:pt x="339852" y="2478659"/>
                </a:lnTo>
                <a:lnTo>
                  <a:pt x="347472" y="2471420"/>
                </a:lnTo>
                <a:lnTo>
                  <a:pt x="347472" y="2350643"/>
                </a:lnTo>
                <a:close/>
              </a:path>
              <a:path w="356869" h="2479040">
                <a:moveTo>
                  <a:pt x="347472" y="2252853"/>
                </a:moveTo>
                <a:lnTo>
                  <a:pt x="339852" y="2244979"/>
                </a:lnTo>
                <a:lnTo>
                  <a:pt x="245999" y="2244979"/>
                </a:lnTo>
                <a:lnTo>
                  <a:pt x="245999" y="2216531"/>
                </a:lnTo>
                <a:lnTo>
                  <a:pt x="245160" y="2212213"/>
                </a:lnTo>
                <a:lnTo>
                  <a:pt x="243687" y="2204593"/>
                </a:lnTo>
                <a:lnTo>
                  <a:pt x="237388" y="2194915"/>
                </a:lnTo>
                <a:lnTo>
                  <a:pt x="227990" y="2188426"/>
                </a:lnTo>
                <a:lnTo>
                  <a:pt x="220599" y="2186914"/>
                </a:lnTo>
                <a:lnTo>
                  <a:pt x="220599" y="2213991"/>
                </a:lnTo>
                <a:lnTo>
                  <a:pt x="220599" y="2244979"/>
                </a:lnTo>
                <a:lnTo>
                  <a:pt x="136017" y="2244979"/>
                </a:lnTo>
                <a:lnTo>
                  <a:pt x="136017" y="2213991"/>
                </a:lnTo>
                <a:lnTo>
                  <a:pt x="137668" y="2212213"/>
                </a:lnTo>
                <a:lnTo>
                  <a:pt x="218948" y="2212213"/>
                </a:lnTo>
                <a:lnTo>
                  <a:pt x="220599" y="2213991"/>
                </a:lnTo>
                <a:lnTo>
                  <a:pt x="220599" y="2186914"/>
                </a:lnTo>
                <a:lnTo>
                  <a:pt x="216408" y="2186051"/>
                </a:lnTo>
                <a:lnTo>
                  <a:pt x="140208" y="2186051"/>
                </a:lnTo>
                <a:lnTo>
                  <a:pt x="128612" y="2188426"/>
                </a:lnTo>
                <a:lnTo>
                  <a:pt x="119214" y="2194915"/>
                </a:lnTo>
                <a:lnTo>
                  <a:pt x="112915" y="2204593"/>
                </a:lnTo>
                <a:lnTo>
                  <a:pt x="110617" y="2216531"/>
                </a:lnTo>
                <a:lnTo>
                  <a:pt x="110617" y="2244979"/>
                </a:lnTo>
                <a:lnTo>
                  <a:pt x="16751" y="2244979"/>
                </a:lnTo>
                <a:lnTo>
                  <a:pt x="9144" y="2252853"/>
                </a:lnTo>
                <a:lnTo>
                  <a:pt x="9144" y="2332355"/>
                </a:lnTo>
                <a:lnTo>
                  <a:pt x="152908" y="2332355"/>
                </a:lnTo>
                <a:lnTo>
                  <a:pt x="152908" y="2323592"/>
                </a:lnTo>
                <a:lnTo>
                  <a:pt x="203708" y="2323592"/>
                </a:lnTo>
                <a:lnTo>
                  <a:pt x="203708" y="2332355"/>
                </a:lnTo>
                <a:lnTo>
                  <a:pt x="347472" y="2332355"/>
                </a:lnTo>
                <a:lnTo>
                  <a:pt x="347472" y="2323592"/>
                </a:lnTo>
                <a:lnTo>
                  <a:pt x="347472" y="2252853"/>
                </a:lnTo>
                <a:close/>
              </a:path>
              <a:path w="356869" h="2479040">
                <a:moveTo>
                  <a:pt x="356616" y="319659"/>
                </a:moveTo>
                <a:lnTo>
                  <a:pt x="323723" y="296164"/>
                </a:lnTo>
                <a:lnTo>
                  <a:pt x="323723" y="286766"/>
                </a:lnTo>
                <a:lnTo>
                  <a:pt x="305054" y="286766"/>
                </a:lnTo>
                <a:lnTo>
                  <a:pt x="305054" y="127000"/>
                </a:lnTo>
                <a:lnTo>
                  <a:pt x="323723" y="127000"/>
                </a:lnTo>
                <a:lnTo>
                  <a:pt x="323723" y="117602"/>
                </a:lnTo>
                <a:lnTo>
                  <a:pt x="337820" y="117602"/>
                </a:lnTo>
                <a:lnTo>
                  <a:pt x="337820" y="89281"/>
                </a:lnTo>
                <a:lnTo>
                  <a:pt x="323723" y="89281"/>
                </a:lnTo>
                <a:lnTo>
                  <a:pt x="308406" y="79883"/>
                </a:lnTo>
                <a:lnTo>
                  <a:pt x="276860" y="60515"/>
                </a:lnTo>
                <a:lnTo>
                  <a:pt x="276860" y="127000"/>
                </a:lnTo>
                <a:lnTo>
                  <a:pt x="276860" y="286766"/>
                </a:lnTo>
                <a:lnTo>
                  <a:pt x="248666" y="286766"/>
                </a:lnTo>
                <a:lnTo>
                  <a:pt x="248666" y="127000"/>
                </a:lnTo>
                <a:lnTo>
                  <a:pt x="276860" y="127000"/>
                </a:lnTo>
                <a:lnTo>
                  <a:pt x="276860" y="60515"/>
                </a:lnTo>
                <a:lnTo>
                  <a:pt x="247180" y="42291"/>
                </a:lnTo>
                <a:lnTo>
                  <a:pt x="220599" y="25971"/>
                </a:lnTo>
                <a:lnTo>
                  <a:pt x="220599" y="127000"/>
                </a:lnTo>
                <a:lnTo>
                  <a:pt x="220599" y="286766"/>
                </a:lnTo>
                <a:lnTo>
                  <a:pt x="192405" y="286766"/>
                </a:lnTo>
                <a:lnTo>
                  <a:pt x="192405" y="127000"/>
                </a:lnTo>
                <a:lnTo>
                  <a:pt x="220599" y="127000"/>
                </a:lnTo>
                <a:lnTo>
                  <a:pt x="220599" y="25971"/>
                </a:lnTo>
                <a:lnTo>
                  <a:pt x="192405" y="8661"/>
                </a:lnTo>
                <a:lnTo>
                  <a:pt x="192405" y="61087"/>
                </a:lnTo>
                <a:lnTo>
                  <a:pt x="190906" y="68427"/>
                </a:lnTo>
                <a:lnTo>
                  <a:pt x="186855" y="74396"/>
                </a:lnTo>
                <a:lnTo>
                  <a:pt x="180873" y="78422"/>
                </a:lnTo>
                <a:lnTo>
                  <a:pt x="173609" y="79883"/>
                </a:lnTo>
                <a:lnTo>
                  <a:pt x="166331" y="78422"/>
                </a:lnTo>
                <a:lnTo>
                  <a:pt x="164211" y="77000"/>
                </a:lnTo>
                <a:lnTo>
                  <a:pt x="164211" y="127000"/>
                </a:lnTo>
                <a:lnTo>
                  <a:pt x="164211" y="286766"/>
                </a:lnTo>
                <a:lnTo>
                  <a:pt x="136017" y="286766"/>
                </a:lnTo>
                <a:lnTo>
                  <a:pt x="136017" y="127000"/>
                </a:lnTo>
                <a:lnTo>
                  <a:pt x="164211" y="127000"/>
                </a:lnTo>
                <a:lnTo>
                  <a:pt x="164211" y="77000"/>
                </a:lnTo>
                <a:lnTo>
                  <a:pt x="160350" y="74396"/>
                </a:lnTo>
                <a:lnTo>
                  <a:pt x="156298" y="68427"/>
                </a:lnTo>
                <a:lnTo>
                  <a:pt x="154813" y="61087"/>
                </a:lnTo>
                <a:lnTo>
                  <a:pt x="156298" y="53822"/>
                </a:lnTo>
                <a:lnTo>
                  <a:pt x="160350" y="47840"/>
                </a:lnTo>
                <a:lnTo>
                  <a:pt x="166331" y="43789"/>
                </a:lnTo>
                <a:lnTo>
                  <a:pt x="173609" y="42291"/>
                </a:lnTo>
                <a:lnTo>
                  <a:pt x="180873" y="43789"/>
                </a:lnTo>
                <a:lnTo>
                  <a:pt x="186855" y="47840"/>
                </a:lnTo>
                <a:lnTo>
                  <a:pt x="190906" y="53822"/>
                </a:lnTo>
                <a:lnTo>
                  <a:pt x="192405" y="61087"/>
                </a:lnTo>
                <a:lnTo>
                  <a:pt x="192405" y="8661"/>
                </a:lnTo>
                <a:lnTo>
                  <a:pt x="178308" y="0"/>
                </a:lnTo>
                <a:lnTo>
                  <a:pt x="107950" y="43192"/>
                </a:lnTo>
                <a:lnTo>
                  <a:pt x="107950" y="127000"/>
                </a:lnTo>
                <a:lnTo>
                  <a:pt x="107950" y="286766"/>
                </a:lnTo>
                <a:lnTo>
                  <a:pt x="79768" y="286766"/>
                </a:lnTo>
                <a:lnTo>
                  <a:pt x="79768" y="127000"/>
                </a:lnTo>
                <a:lnTo>
                  <a:pt x="107950" y="127000"/>
                </a:lnTo>
                <a:lnTo>
                  <a:pt x="107950" y="43192"/>
                </a:lnTo>
                <a:lnTo>
                  <a:pt x="32842" y="89281"/>
                </a:lnTo>
                <a:lnTo>
                  <a:pt x="18770" y="89281"/>
                </a:lnTo>
                <a:lnTo>
                  <a:pt x="18770" y="117602"/>
                </a:lnTo>
                <a:lnTo>
                  <a:pt x="32842" y="117602"/>
                </a:lnTo>
                <a:lnTo>
                  <a:pt x="32842" y="127000"/>
                </a:lnTo>
                <a:lnTo>
                  <a:pt x="51612" y="127000"/>
                </a:lnTo>
                <a:lnTo>
                  <a:pt x="51612" y="286766"/>
                </a:lnTo>
                <a:lnTo>
                  <a:pt x="32842" y="286766"/>
                </a:lnTo>
                <a:lnTo>
                  <a:pt x="32842" y="296164"/>
                </a:lnTo>
                <a:lnTo>
                  <a:pt x="0" y="319659"/>
                </a:lnTo>
                <a:lnTo>
                  <a:pt x="0" y="338455"/>
                </a:lnTo>
                <a:lnTo>
                  <a:pt x="356616" y="338455"/>
                </a:lnTo>
                <a:lnTo>
                  <a:pt x="356616" y="3196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7B0449F-9387-4F04-8858-88D2D5D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99336"/>
            <a:ext cx="3200400" cy="4399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3"/>
          </a:solidFill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endParaRPr sz="1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55"/>
              </a:spcBef>
              <a:buNone/>
            </a:pPr>
            <a:endParaRPr sz="1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5440">
              <a:lnSpc>
                <a:spcPct val="100000"/>
              </a:lnSpc>
              <a:spcBef>
                <a:spcPts val="5"/>
              </a:spcBef>
              <a:buNone/>
            </a:pPr>
            <a:r>
              <a:rPr sz="1200" b="1" spc="-10">
                <a:solidFill>
                  <a:srgbClr val="B7EBF9"/>
                </a:solidFill>
                <a:latin typeface="Segoe UI"/>
                <a:ea typeface="Segoe UI"/>
                <a:cs typeface="Segoe UI"/>
              </a:rPr>
              <a:t>REQUIRED</a:t>
            </a:r>
            <a:r>
              <a:rPr sz="1200" b="1" spc="-65">
                <a:solidFill>
                  <a:srgbClr val="B7EBF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1">
                <a:solidFill>
                  <a:srgbClr val="B7EBF9"/>
                </a:solidFill>
                <a:latin typeface="Segoe UI"/>
                <a:ea typeface="Segoe UI"/>
                <a:cs typeface="Segoe UI"/>
              </a:rPr>
              <a:t>DEVELOPMENT</a:t>
            </a:r>
            <a:r>
              <a:rPr sz="1200" b="1" spc="-25">
                <a:solidFill>
                  <a:srgbClr val="B7EBF9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1" spc="-10">
                <a:solidFill>
                  <a:srgbClr val="B7EBF9"/>
                </a:solidFill>
                <a:latin typeface="Segoe UI"/>
                <a:ea typeface="Segoe UI"/>
                <a:cs typeface="Segoe UI"/>
              </a:rPr>
              <a:t>ACTIONS</a:t>
            </a:r>
            <a:endParaRPr sz="12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195"/>
              </a:spcBef>
              <a:buNone/>
            </a:pPr>
            <a:endParaRPr sz="12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>
              <a:lnSpc>
                <a:spcPct val="100000"/>
              </a:lnSpc>
              <a:buNone/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Make</a:t>
            </a:r>
            <a:r>
              <a:rPr sz="1350" b="1" spc="-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decisions</a:t>
            </a:r>
            <a:r>
              <a:rPr sz="1350" b="1" spc="-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explainable</a:t>
            </a:r>
            <a:endParaRPr sz="13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 marR="271780">
              <a:lnSpc>
                <a:spcPct val="106900"/>
              </a:lnSpc>
              <a:spcBef>
                <a:spcPts val="489"/>
              </a:spcBef>
              <a:buNone/>
            </a:pP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Use</a:t>
            </a:r>
            <a:r>
              <a:rPr sz="900" spc="10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</a:t>
            </a:r>
            <a:r>
              <a:rPr sz="900" spc="15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interpretable</a:t>
            </a:r>
            <a:r>
              <a:rPr sz="900" spc="2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model,</a:t>
            </a:r>
            <a:r>
              <a:rPr sz="900" spc="10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document</a:t>
            </a:r>
            <a:r>
              <a:rPr sz="900" spc="15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intended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use</a:t>
            </a:r>
            <a:r>
              <a:rPr sz="900" spc="17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900" spc="9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limits,</a:t>
            </a:r>
            <a:r>
              <a:rPr sz="900" spc="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900" spc="9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provide</a:t>
            </a:r>
            <a:r>
              <a:rPr sz="900" spc="1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900" spc="9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patient-</a:t>
            </a:r>
            <a:r>
              <a:rPr sz="900" spc="-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level </a:t>
            </a:r>
            <a:r>
              <a:rPr sz="9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explanation.</a:t>
            </a: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030"/>
              </a:spcBef>
              <a:buNone/>
            </a:pP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>
              <a:lnSpc>
                <a:spcPct val="100000"/>
              </a:lnSpc>
              <a:buNone/>
            </a:pPr>
            <a:r>
              <a:rPr sz="135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Validate</a:t>
            </a:r>
            <a:r>
              <a:rPr sz="1350" b="1" spc="-7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350" b="1" spc="-3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retain</a:t>
            </a:r>
            <a:r>
              <a:rPr sz="1350" b="1" spc="-1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oversight</a:t>
            </a:r>
            <a:endParaRPr sz="13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>
              <a:lnSpc>
                <a:spcPct val="100000"/>
              </a:lnSpc>
              <a:spcBef>
                <a:spcPts val="560"/>
              </a:spcBef>
              <a:buNone/>
            </a:pP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Test</a:t>
            </a:r>
            <a:r>
              <a:rPr sz="900" spc="204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calibration</a:t>
            </a:r>
            <a:r>
              <a:rPr sz="900" spc="1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900" spc="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performance;</a:t>
            </a:r>
            <a:r>
              <a:rPr sz="900" spc="1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define</a:t>
            </a:r>
            <a:r>
              <a:rPr sz="900" spc="1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 spc="-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human</a:t>
            </a: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>
              <a:lnSpc>
                <a:spcPct val="100000"/>
              </a:lnSpc>
              <a:spcBef>
                <a:spcPts val="70"/>
              </a:spcBef>
              <a:buNone/>
            </a:pP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review</a:t>
            </a:r>
            <a:r>
              <a:rPr sz="900" spc="9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900" spc="16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record</a:t>
            </a:r>
            <a:r>
              <a:rPr sz="900" spc="6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900" spc="1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final</a:t>
            </a:r>
            <a:r>
              <a:rPr sz="900" spc="114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clinical</a:t>
            </a:r>
            <a:r>
              <a:rPr sz="900" spc="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decision.</a:t>
            </a: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>
              <a:lnSpc>
                <a:spcPct val="100000"/>
              </a:lnSpc>
              <a:spcBef>
                <a:spcPts val="1195"/>
              </a:spcBef>
              <a:buNone/>
            </a:pPr>
            <a:endParaRPr sz="9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>
              <a:lnSpc>
                <a:spcPct val="100000"/>
              </a:lnSpc>
              <a:buNone/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Govern</a:t>
            </a:r>
            <a:r>
              <a:rPr sz="1350" b="1" spc="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1350" b="1" spc="-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350" b="1" spc="-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5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traceability</a:t>
            </a:r>
            <a:endParaRPr sz="135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366395" marR="379730">
              <a:lnSpc>
                <a:spcPct val="106900"/>
              </a:lnSpc>
              <a:spcBef>
                <a:spcPts val="484"/>
              </a:spcBef>
              <a:buNone/>
            </a:pP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Enforce</a:t>
            </a:r>
            <a:r>
              <a:rPr sz="900" spc="9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permissions;</a:t>
            </a:r>
            <a:r>
              <a:rPr sz="900" spc="1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version</a:t>
            </a:r>
            <a:r>
              <a:rPr sz="900" spc="14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900" spc="114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900" spc="2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models;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retain</a:t>
            </a:r>
            <a:r>
              <a:rPr sz="900" spc="16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reconstructable</a:t>
            </a:r>
            <a:r>
              <a:rPr sz="900" spc="204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inputs,</a:t>
            </a:r>
            <a:r>
              <a:rPr sz="900" spc="1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logs</a:t>
            </a:r>
            <a:r>
              <a:rPr sz="900" spc="13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900" spc="-2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 </a:t>
            </a:r>
            <a:r>
              <a:rPr sz="900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monitoring.</a:t>
            </a:r>
            <a:endParaRPr sz="90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08689853"/>
      </p:ext>
    </p:extLst>
  </p:cSld>
</p:sld>
</file>

<file path=ppt/slides/slide1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b3ed85dce4c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3CF12FAD-E59F-4868-8915-DC7DDF21A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0027" rIns="0" bIns="0">
            <a:spAutoFit/>
          </a:bodyPr>
          <a:lstStyle xmlns:a="http://schemas.openxmlformats.org/drawingml/2006/main"/>
          <a:p xmlns:a="http://schemas.openxmlformats.org/drawingml/2006/main">
            <a:pPr marL="165735">
              <a:lnSpc>
                <a:spcPct val="100000"/>
              </a:lnSpc>
              <a:spcBef>
                <a:spcPts val="120"/>
              </a:spcBef>
              <a:buNone/>
            </a:pP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Yet</a:t>
            </a:r>
            <a:r>
              <a:rPr spc="3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not</a:t>
            </a:r>
            <a:r>
              <a:rPr spc="5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all</a:t>
            </a:r>
            <a:r>
              <a:rPr spc="1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institutions</a:t>
            </a:r>
            <a:r>
              <a:rPr spc="2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are</a:t>
            </a:r>
            <a:r>
              <a:rPr spc="6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pc="-1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prepared…</a:t>
            </a:r>
          </a:p>
        </p:txBody>
      </p:sp>
      <p:pic>
        <p:nvPicPr>
          <p:cNvPr id="8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4e12f2f00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8447" y="1280541"/>
            <a:ext cx="10204704" cy="42986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6334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25314A98-4F11-4F05-B25F-086D0CDDD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5799" y="478282"/>
            <a:ext cx="4017010" cy="949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413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3460"/>
              </a:lnSpc>
              <a:spcBef>
                <a:spcPts val="505"/>
              </a:spcBef>
              <a:buNone/>
            </a:pP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Three</a:t>
            </a:r>
            <a:r>
              <a:rPr spc="12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audiences</a:t>
            </a:r>
            <a:r>
              <a:rPr spc="17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pc="-2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face </a:t>
            </a:r>
            <a:r>
              <a:rPr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different</a:t>
            </a:r>
            <a:r>
              <a:rPr spc="145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pc="-10">
                <a:solidFill>
                  <a:srgbClr val="003E34"/>
                </a:solidFill>
                <a:latin typeface="Segoe UI"/>
                <a:ea typeface="Segoe UI"/>
                <a:cs typeface="Segoe UI"/>
              </a:rPr>
              <a:t>obligations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90AA6697-0125-4599-A592-8ED9A403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4608" y="1820164"/>
            <a:ext cx="2432685" cy="2268220"/>
          </a:xfrm>
          <a:custGeom xmlns:a="http://schemas.openxmlformats.org/drawingml/2006/main">
            <a:rect l="l" t="t" r="r" b="b"/>
            <a:pathLst>
              <a:path w="2432684" h="2268220">
                <a:moveTo>
                  <a:pt x="1216278" y="0"/>
                </a:moveTo>
                <a:lnTo>
                  <a:pt x="1168522" y="916"/>
                </a:lnTo>
                <a:lnTo>
                  <a:pt x="1121231" y="3643"/>
                </a:lnTo>
                <a:lnTo>
                  <a:pt x="1074440" y="8147"/>
                </a:lnTo>
                <a:lnTo>
                  <a:pt x="1028183" y="14393"/>
                </a:lnTo>
                <a:lnTo>
                  <a:pt x="982494" y="22350"/>
                </a:lnTo>
                <a:lnTo>
                  <a:pt x="937406" y="31982"/>
                </a:lnTo>
                <a:lnTo>
                  <a:pt x="892954" y="43257"/>
                </a:lnTo>
                <a:lnTo>
                  <a:pt x="849170" y="56140"/>
                </a:lnTo>
                <a:lnTo>
                  <a:pt x="806089" y="70598"/>
                </a:lnTo>
                <a:lnTo>
                  <a:pt x="763745" y="86597"/>
                </a:lnTo>
                <a:lnTo>
                  <a:pt x="722172" y="104104"/>
                </a:lnTo>
                <a:lnTo>
                  <a:pt x="681403" y="123085"/>
                </a:lnTo>
                <a:lnTo>
                  <a:pt x="641471" y="143507"/>
                </a:lnTo>
                <a:lnTo>
                  <a:pt x="602412" y="165335"/>
                </a:lnTo>
                <a:lnTo>
                  <a:pt x="564259" y="188536"/>
                </a:lnTo>
                <a:lnTo>
                  <a:pt x="527045" y="213077"/>
                </a:lnTo>
                <a:lnTo>
                  <a:pt x="490804" y="238923"/>
                </a:lnTo>
                <a:lnTo>
                  <a:pt x="455570" y="266042"/>
                </a:lnTo>
                <a:lnTo>
                  <a:pt x="421378" y="294399"/>
                </a:lnTo>
                <a:lnTo>
                  <a:pt x="388260" y="323961"/>
                </a:lnTo>
                <a:lnTo>
                  <a:pt x="356250" y="354695"/>
                </a:lnTo>
                <a:lnTo>
                  <a:pt x="325383" y="386566"/>
                </a:lnTo>
                <a:lnTo>
                  <a:pt x="295692" y="419541"/>
                </a:lnTo>
                <a:lnTo>
                  <a:pt x="267212" y="453586"/>
                </a:lnTo>
                <a:lnTo>
                  <a:pt x="239974" y="488668"/>
                </a:lnTo>
                <a:lnTo>
                  <a:pt x="214015" y="524753"/>
                </a:lnTo>
                <a:lnTo>
                  <a:pt x="189367" y="561807"/>
                </a:lnTo>
                <a:lnTo>
                  <a:pt x="166064" y="599797"/>
                </a:lnTo>
                <a:lnTo>
                  <a:pt x="144140" y="638689"/>
                </a:lnTo>
                <a:lnTo>
                  <a:pt x="123629" y="678450"/>
                </a:lnTo>
                <a:lnTo>
                  <a:pt x="104564" y="719045"/>
                </a:lnTo>
                <a:lnTo>
                  <a:pt x="86980" y="760442"/>
                </a:lnTo>
                <a:lnTo>
                  <a:pt x="70910" y="802606"/>
                </a:lnTo>
                <a:lnTo>
                  <a:pt x="56388" y="845504"/>
                </a:lnTo>
                <a:lnTo>
                  <a:pt x="43448" y="889102"/>
                </a:lnTo>
                <a:lnTo>
                  <a:pt x="32124" y="933367"/>
                </a:lnTo>
                <a:lnTo>
                  <a:pt x="22449" y="978265"/>
                </a:lnTo>
                <a:lnTo>
                  <a:pt x="14457" y="1023762"/>
                </a:lnTo>
                <a:lnTo>
                  <a:pt x="8183" y="1069825"/>
                </a:lnTo>
                <a:lnTo>
                  <a:pt x="3659" y="1116420"/>
                </a:lnTo>
                <a:lnTo>
                  <a:pt x="920" y="1163513"/>
                </a:lnTo>
                <a:lnTo>
                  <a:pt x="0" y="1211072"/>
                </a:lnTo>
                <a:lnTo>
                  <a:pt x="396" y="1242726"/>
                </a:lnTo>
                <a:lnTo>
                  <a:pt x="5335" y="1325215"/>
                </a:lnTo>
                <a:lnTo>
                  <a:pt x="11117" y="1375635"/>
                </a:lnTo>
                <a:lnTo>
                  <a:pt x="18952" y="1425405"/>
                </a:lnTo>
                <a:lnTo>
                  <a:pt x="28797" y="1474483"/>
                </a:lnTo>
                <a:lnTo>
                  <a:pt x="40609" y="1522825"/>
                </a:lnTo>
                <a:lnTo>
                  <a:pt x="54343" y="1570388"/>
                </a:lnTo>
                <a:lnTo>
                  <a:pt x="69957" y="1617128"/>
                </a:lnTo>
                <a:lnTo>
                  <a:pt x="87405" y="1663002"/>
                </a:lnTo>
                <a:lnTo>
                  <a:pt x="106646" y="1707966"/>
                </a:lnTo>
                <a:lnTo>
                  <a:pt x="127634" y="1751977"/>
                </a:lnTo>
                <a:lnTo>
                  <a:pt x="150328" y="1794991"/>
                </a:lnTo>
                <a:lnTo>
                  <a:pt x="174681" y="1836966"/>
                </a:lnTo>
                <a:lnTo>
                  <a:pt x="200652" y="1877856"/>
                </a:lnTo>
                <a:lnTo>
                  <a:pt x="228197" y="1917620"/>
                </a:lnTo>
                <a:lnTo>
                  <a:pt x="257271" y="1956214"/>
                </a:lnTo>
                <a:lnTo>
                  <a:pt x="287832" y="1993594"/>
                </a:lnTo>
                <a:lnTo>
                  <a:pt x="319835" y="2029716"/>
                </a:lnTo>
                <a:lnTo>
                  <a:pt x="353237" y="2064538"/>
                </a:lnTo>
                <a:lnTo>
                  <a:pt x="387994" y="2098016"/>
                </a:lnTo>
                <a:lnTo>
                  <a:pt x="424063" y="2130105"/>
                </a:lnTo>
                <a:lnTo>
                  <a:pt x="461399" y="2160764"/>
                </a:lnTo>
                <a:lnTo>
                  <a:pt x="499961" y="2189949"/>
                </a:lnTo>
                <a:lnTo>
                  <a:pt x="539702" y="2217615"/>
                </a:lnTo>
                <a:lnTo>
                  <a:pt x="580581" y="2243720"/>
                </a:lnTo>
                <a:lnTo>
                  <a:pt x="622553" y="2268220"/>
                </a:lnTo>
                <a:lnTo>
                  <a:pt x="625600" y="2217126"/>
                </a:lnTo>
                <a:lnTo>
                  <a:pt x="630750" y="2166621"/>
                </a:lnTo>
                <a:lnTo>
                  <a:pt x="637958" y="2116750"/>
                </a:lnTo>
                <a:lnTo>
                  <a:pt x="647182" y="2067554"/>
                </a:lnTo>
                <a:lnTo>
                  <a:pt x="658379" y="2019078"/>
                </a:lnTo>
                <a:lnTo>
                  <a:pt x="671504" y="1971364"/>
                </a:lnTo>
                <a:lnTo>
                  <a:pt x="686515" y="1924456"/>
                </a:lnTo>
                <a:lnTo>
                  <a:pt x="703369" y="1878397"/>
                </a:lnTo>
                <a:lnTo>
                  <a:pt x="722021" y="1833230"/>
                </a:lnTo>
                <a:lnTo>
                  <a:pt x="742429" y="1788999"/>
                </a:lnTo>
                <a:lnTo>
                  <a:pt x="764550" y="1745746"/>
                </a:lnTo>
                <a:lnTo>
                  <a:pt x="788339" y="1703516"/>
                </a:lnTo>
                <a:lnTo>
                  <a:pt x="813753" y="1662350"/>
                </a:lnTo>
                <a:lnTo>
                  <a:pt x="840750" y="1622294"/>
                </a:lnTo>
                <a:lnTo>
                  <a:pt x="869286" y="1583389"/>
                </a:lnTo>
                <a:lnTo>
                  <a:pt x="899317" y="1545679"/>
                </a:lnTo>
                <a:lnTo>
                  <a:pt x="930801" y="1509207"/>
                </a:lnTo>
                <a:lnTo>
                  <a:pt x="963693" y="1474017"/>
                </a:lnTo>
                <a:lnTo>
                  <a:pt x="997950" y="1440152"/>
                </a:lnTo>
                <a:lnTo>
                  <a:pt x="1033530" y="1407655"/>
                </a:lnTo>
                <a:lnTo>
                  <a:pt x="1070388" y="1376570"/>
                </a:lnTo>
                <a:lnTo>
                  <a:pt x="1108481" y="1346939"/>
                </a:lnTo>
                <a:lnTo>
                  <a:pt x="1147767" y="1318805"/>
                </a:lnTo>
                <a:lnTo>
                  <a:pt x="1188201" y="1292213"/>
                </a:lnTo>
                <a:lnTo>
                  <a:pt x="1229740" y="1267206"/>
                </a:lnTo>
                <a:lnTo>
                  <a:pt x="1271536" y="1244197"/>
                </a:lnTo>
                <a:lnTo>
                  <a:pt x="1314306" y="1222794"/>
                </a:lnTo>
                <a:lnTo>
                  <a:pt x="1358011" y="1203037"/>
                </a:lnTo>
                <a:lnTo>
                  <a:pt x="1402613" y="1184967"/>
                </a:lnTo>
                <a:lnTo>
                  <a:pt x="1448071" y="1168626"/>
                </a:lnTo>
                <a:lnTo>
                  <a:pt x="1494345" y="1154054"/>
                </a:lnTo>
                <a:lnTo>
                  <a:pt x="1541397" y="1141292"/>
                </a:lnTo>
                <a:lnTo>
                  <a:pt x="1589187" y="1130382"/>
                </a:lnTo>
                <a:lnTo>
                  <a:pt x="1637674" y="1121363"/>
                </a:lnTo>
                <a:lnTo>
                  <a:pt x="1686821" y="1114277"/>
                </a:lnTo>
                <a:lnTo>
                  <a:pt x="1736586" y="1109165"/>
                </a:lnTo>
                <a:lnTo>
                  <a:pt x="1786931" y="1106068"/>
                </a:lnTo>
                <a:lnTo>
                  <a:pt x="1837816" y="1105027"/>
                </a:lnTo>
                <a:lnTo>
                  <a:pt x="1891418" y="1106180"/>
                </a:lnTo>
                <a:lnTo>
                  <a:pt x="1944431" y="1109611"/>
                </a:lnTo>
                <a:lnTo>
                  <a:pt x="1996807" y="1115272"/>
                </a:lnTo>
                <a:lnTo>
                  <a:pt x="2048495" y="1123117"/>
                </a:lnTo>
                <a:lnTo>
                  <a:pt x="2099449" y="1133100"/>
                </a:lnTo>
                <a:lnTo>
                  <a:pt x="2149617" y="1145174"/>
                </a:lnTo>
                <a:lnTo>
                  <a:pt x="2198953" y="1159294"/>
                </a:lnTo>
                <a:lnTo>
                  <a:pt x="2247406" y="1175413"/>
                </a:lnTo>
                <a:lnTo>
                  <a:pt x="2294927" y="1193484"/>
                </a:lnTo>
                <a:lnTo>
                  <a:pt x="2341469" y="1213462"/>
                </a:lnTo>
                <a:lnTo>
                  <a:pt x="2386981" y="1235299"/>
                </a:lnTo>
                <a:lnTo>
                  <a:pt x="2431415" y="1258951"/>
                </a:lnTo>
                <a:lnTo>
                  <a:pt x="2431768" y="1246967"/>
                </a:lnTo>
                <a:lnTo>
                  <a:pt x="2431383" y="1163395"/>
                </a:lnTo>
                <a:lnTo>
                  <a:pt x="2428646" y="1116309"/>
                </a:lnTo>
                <a:lnTo>
                  <a:pt x="2424124" y="1069720"/>
                </a:lnTo>
                <a:lnTo>
                  <a:pt x="2417852" y="1023662"/>
                </a:lnTo>
                <a:lnTo>
                  <a:pt x="2409864" y="978169"/>
                </a:lnTo>
                <a:lnTo>
                  <a:pt x="2400193" y="933274"/>
                </a:lnTo>
                <a:lnTo>
                  <a:pt x="2388874" y="889011"/>
                </a:lnTo>
                <a:lnTo>
                  <a:pt x="2375939" y="845414"/>
                </a:lnTo>
                <a:lnTo>
                  <a:pt x="2361423" y="802517"/>
                </a:lnTo>
                <a:lnTo>
                  <a:pt x="2345359" y="760353"/>
                </a:lnTo>
                <a:lnTo>
                  <a:pt x="2327782" y="718956"/>
                </a:lnTo>
                <a:lnTo>
                  <a:pt x="2308725" y="678359"/>
                </a:lnTo>
                <a:lnTo>
                  <a:pt x="2288221" y="638597"/>
                </a:lnTo>
                <a:lnTo>
                  <a:pt x="2266305" y="599703"/>
                </a:lnTo>
                <a:lnTo>
                  <a:pt x="2243010" y="561711"/>
                </a:lnTo>
                <a:lnTo>
                  <a:pt x="2218371" y="524654"/>
                </a:lnTo>
                <a:lnTo>
                  <a:pt x="2192420" y="488567"/>
                </a:lnTo>
                <a:lnTo>
                  <a:pt x="2165191" y="453482"/>
                </a:lnTo>
                <a:lnTo>
                  <a:pt x="2136719" y="419434"/>
                </a:lnTo>
                <a:lnTo>
                  <a:pt x="2107038" y="386457"/>
                </a:lnTo>
                <a:lnTo>
                  <a:pt x="2076180" y="354583"/>
                </a:lnTo>
                <a:lnTo>
                  <a:pt x="2044179" y="323848"/>
                </a:lnTo>
                <a:lnTo>
                  <a:pt x="2011070" y="294284"/>
                </a:lnTo>
                <a:lnTo>
                  <a:pt x="1976887" y="265925"/>
                </a:lnTo>
                <a:lnTo>
                  <a:pt x="1941662" y="238806"/>
                </a:lnTo>
                <a:lnTo>
                  <a:pt x="1905430" y="212958"/>
                </a:lnTo>
                <a:lnTo>
                  <a:pt x="1868224" y="188418"/>
                </a:lnTo>
                <a:lnTo>
                  <a:pt x="1830079" y="165217"/>
                </a:lnTo>
                <a:lnTo>
                  <a:pt x="1791028" y="143390"/>
                </a:lnTo>
                <a:lnTo>
                  <a:pt x="1751104" y="122971"/>
                </a:lnTo>
                <a:lnTo>
                  <a:pt x="1710342" y="103993"/>
                </a:lnTo>
                <a:lnTo>
                  <a:pt x="1668775" y="86490"/>
                </a:lnTo>
                <a:lnTo>
                  <a:pt x="1626438" y="70496"/>
                </a:lnTo>
                <a:lnTo>
                  <a:pt x="1583363" y="56044"/>
                </a:lnTo>
                <a:lnTo>
                  <a:pt x="1539585" y="43168"/>
                </a:lnTo>
                <a:lnTo>
                  <a:pt x="1495137" y="31902"/>
                </a:lnTo>
                <a:lnTo>
                  <a:pt x="1450053" y="22279"/>
                </a:lnTo>
                <a:lnTo>
                  <a:pt x="1404367" y="14334"/>
                </a:lnTo>
                <a:lnTo>
                  <a:pt x="1358113" y="8100"/>
                </a:lnTo>
                <a:lnTo>
                  <a:pt x="1311325" y="3610"/>
                </a:lnTo>
                <a:lnTo>
                  <a:pt x="1264035" y="899"/>
                </a:lnTo>
                <a:lnTo>
                  <a:pt x="1216278" y="0"/>
                </a:lnTo>
                <a:close/>
              </a:path>
            </a:pathLst>
          </a:custGeom>
          <a:solidFill xmlns:a="http://schemas.openxmlformats.org/drawingml/2006/main">
            <a:srgbClr val="4471C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EFBA4E9-9C56-4A70-9F34-36673BD9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6400" y="3091434"/>
            <a:ext cx="1216660" cy="1152525"/>
          </a:xfrm>
          <a:custGeom xmlns:a="http://schemas.openxmlformats.org/drawingml/2006/main">
            <a:rect l="l" t="t" r="r" b="b"/>
            <a:pathLst>
              <a:path w="1216659" h="1152525">
                <a:moveTo>
                  <a:pt x="608457" y="0"/>
                </a:moveTo>
                <a:lnTo>
                  <a:pt x="566827" y="24959"/>
                </a:lnTo>
                <a:lnTo>
                  <a:pt x="526307" y="51498"/>
                </a:lnTo>
                <a:lnTo>
                  <a:pt x="486939" y="79574"/>
                </a:lnTo>
                <a:lnTo>
                  <a:pt x="448767" y="109144"/>
                </a:lnTo>
                <a:lnTo>
                  <a:pt x="411833" y="140164"/>
                </a:lnTo>
                <a:lnTo>
                  <a:pt x="376181" y="172591"/>
                </a:lnTo>
                <a:lnTo>
                  <a:pt x="341855" y="206383"/>
                </a:lnTo>
                <a:lnTo>
                  <a:pt x="308898" y="241496"/>
                </a:lnTo>
                <a:lnTo>
                  <a:pt x="277352" y="277888"/>
                </a:lnTo>
                <a:lnTo>
                  <a:pt x="247262" y="315514"/>
                </a:lnTo>
                <a:lnTo>
                  <a:pt x="218671" y="354333"/>
                </a:lnTo>
                <a:lnTo>
                  <a:pt x="191621" y="394301"/>
                </a:lnTo>
                <a:lnTo>
                  <a:pt x="166157" y="435375"/>
                </a:lnTo>
                <a:lnTo>
                  <a:pt x="142322" y="477511"/>
                </a:lnTo>
                <a:lnTo>
                  <a:pt x="120158" y="520668"/>
                </a:lnTo>
                <a:lnTo>
                  <a:pt x="99709" y="564801"/>
                </a:lnTo>
                <a:lnTo>
                  <a:pt x="81019" y="609869"/>
                </a:lnTo>
                <a:lnTo>
                  <a:pt x="64131" y="655827"/>
                </a:lnTo>
                <a:lnTo>
                  <a:pt x="49087" y="702632"/>
                </a:lnTo>
                <a:lnTo>
                  <a:pt x="35932" y="750242"/>
                </a:lnTo>
                <a:lnTo>
                  <a:pt x="24709" y="798614"/>
                </a:lnTo>
                <a:lnTo>
                  <a:pt x="15461" y="847704"/>
                </a:lnTo>
                <a:lnTo>
                  <a:pt x="8231" y="897470"/>
                </a:lnTo>
                <a:lnTo>
                  <a:pt x="3063" y="947867"/>
                </a:lnTo>
                <a:lnTo>
                  <a:pt x="0" y="998854"/>
                </a:lnTo>
                <a:lnTo>
                  <a:pt x="44529" y="1022418"/>
                </a:lnTo>
                <a:lnTo>
                  <a:pt x="90137" y="1044183"/>
                </a:lnTo>
                <a:lnTo>
                  <a:pt x="136775" y="1064101"/>
                </a:lnTo>
                <a:lnTo>
                  <a:pt x="184394" y="1082124"/>
                </a:lnTo>
                <a:lnTo>
                  <a:pt x="232947" y="1098206"/>
                </a:lnTo>
                <a:lnTo>
                  <a:pt x="282384" y="1112297"/>
                </a:lnTo>
                <a:lnTo>
                  <a:pt x="332657" y="1124352"/>
                </a:lnTo>
                <a:lnTo>
                  <a:pt x="383718" y="1134321"/>
                </a:lnTo>
                <a:lnTo>
                  <a:pt x="435518" y="1142158"/>
                </a:lnTo>
                <a:lnTo>
                  <a:pt x="488009" y="1147815"/>
                </a:lnTo>
                <a:lnTo>
                  <a:pt x="541141" y="1151244"/>
                </a:lnTo>
                <a:lnTo>
                  <a:pt x="594867" y="1152397"/>
                </a:lnTo>
                <a:lnTo>
                  <a:pt x="646949" y="1151313"/>
                </a:lnTo>
                <a:lnTo>
                  <a:pt x="698477" y="1148090"/>
                </a:lnTo>
                <a:lnTo>
                  <a:pt x="749407" y="1142769"/>
                </a:lnTo>
                <a:lnTo>
                  <a:pt x="799696" y="1135394"/>
                </a:lnTo>
                <a:lnTo>
                  <a:pt x="849299" y="1126008"/>
                </a:lnTo>
                <a:lnTo>
                  <a:pt x="898172" y="1114652"/>
                </a:lnTo>
                <a:lnTo>
                  <a:pt x="946271" y="1101370"/>
                </a:lnTo>
                <a:lnTo>
                  <a:pt x="993553" y="1086204"/>
                </a:lnTo>
                <a:lnTo>
                  <a:pt x="1039973" y="1069198"/>
                </a:lnTo>
                <a:lnTo>
                  <a:pt x="1085486" y="1050393"/>
                </a:lnTo>
                <a:lnTo>
                  <a:pt x="1130050" y="1029832"/>
                </a:lnTo>
                <a:lnTo>
                  <a:pt x="1173620" y="1007559"/>
                </a:lnTo>
                <a:lnTo>
                  <a:pt x="1216152" y="983614"/>
                </a:lnTo>
                <a:lnTo>
                  <a:pt x="1212481" y="933418"/>
                </a:lnTo>
                <a:lnTo>
                  <a:pt x="1206772" y="883805"/>
                </a:lnTo>
                <a:lnTo>
                  <a:pt x="1199064" y="834819"/>
                </a:lnTo>
                <a:lnTo>
                  <a:pt x="1189401" y="786501"/>
                </a:lnTo>
                <a:lnTo>
                  <a:pt x="1177823" y="738892"/>
                </a:lnTo>
                <a:lnTo>
                  <a:pt x="1164372" y="692034"/>
                </a:lnTo>
                <a:lnTo>
                  <a:pt x="1149091" y="645969"/>
                </a:lnTo>
                <a:lnTo>
                  <a:pt x="1132020" y="600739"/>
                </a:lnTo>
                <a:lnTo>
                  <a:pt x="1113201" y="556386"/>
                </a:lnTo>
                <a:lnTo>
                  <a:pt x="1092677" y="512950"/>
                </a:lnTo>
                <a:lnTo>
                  <a:pt x="1070488" y="470475"/>
                </a:lnTo>
                <a:lnTo>
                  <a:pt x="1046677" y="429002"/>
                </a:lnTo>
                <a:lnTo>
                  <a:pt x="1021285" y="388572"/>
                </a:lnTo>
                <a:lnTo>
                  <a:pt x="994354" y="349227"/>
                </a:lnTo>
                <a:lnTo>
                  <a:pt x="965926" y="311009"/>
                </a:lnTo>
                <a:lnTo>
                  <a:pt x="936042" y="273960"/>
                </a:lnTo>
                <a:lnTo>
                  <a:pt x="904744" y="238122"/>
                </a:lnTo>
                <a:lnTo>
                  <a:pt x="872073" y="203535"/>
                </a:lnTo>
                <a:lnTo>
                  <a:pt x="838072" y="170243"/>
                </a:lnTo>
                <a:lnTo>
                  <a:pt x="802782" y="138286"/>
                </a:lnTo>
                <a:lnTo>
                  <a:pt x="766244" y="107707"/>
                </a:lnTo>
                <a:lnTo>
                  <a:pt x="728501" y="78547"/>
                </a:lnTo>
                <a:lnTo>
                  <a:pt x="689595" y="50848"/>
                </a:lnTo>
                <a:lnTo>
                  <a:pt x="649566" y="24651"/>
                </a:lnTo>
                <a:lnTo>
                  <a:pt x="608457" y="0"/>
                </a:lnTo>
                <a:close/>
              </a:path>
            </a:pathLst>
          </a:custGeom>
          <a:solidFill xmlns:a="http://schemas.openxmlformats.org/drawingml/2006/main">
            <a:srgbClr val="EC7C3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73274CB-9E94-4401-87CE-7E318B51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9047" y="2926842"/>
            <a:ext cx="1811020" cy="2423795"/>
          </a:xfrm>
          <a:custGeom xmlns:a="http://schemas.openxmlformats.org/drawingml/2006/main">
            <a:rect l="l" t="t" r="r" b="b"/>
            <a:pathLst>
              <a:path w="1811020" h="2423795">
                <a:moveTo>
                  <a:pt x="603503" y="0"/>
                </a:moveTo>
                <a:lnTo>
                  <a:pt x="552995" y="1039"/>
                </a:lnTo>
                <a:lnTo>
                  <a:pt x="503019" y="4131"/>
                </a:lnTo>
                <a:lnTo>
                  <a:pt x="453615" y="9236"/>
                </a:lnTo>
                <a:lnTo>
                  <a:pt x="404824" y="16315"/>
                </a:lnTo>
                <a:lnTo>
                  <a:pt x="356688" y="25327"/>
                </a:lnTo>
                <a:lnTo>
                  <a:pt x="309245" y="36234"/>
                </a:lnTo>
                <a:lnTo>
                  <a:pt x="262538" y="48996"/>
                </a:lnTo>
                <a:lnTo>
                  <a:pt x="216606" y="63573"/>
                </a:lnTo>
                <a:lnTo>
                  <a:pt x="171490" y="79926"/>
                </a:lnTo>
                <a:lnTo>
                  <a:pt x="127231" y="98016"/>
                </a:lnTo>
                <a:lnTo>
                  <a:pt x="83869" y="117802"/>
                </a:lnTo>
                <a:lnTo>
                  <a:pt x="41445" y="139245"/>
                </a:lnTo>
                <a:lnTo>
                  <a:pt x="0" y="162306"/>
                </a:lnTo>
                <a:lnTo>
                  <a:pt x="40746" y="187020"/>
                </a:lnTo>
                <a:lnTo>
                  <a:pt x="80419" y="213283"/>
                </a:lnTo>
                <a:lnTo>
                  <a:pt x="118977" y="241053"/>
                </a:lnTo>
                <a:lnTo>
                  <a:pt x="156379" y="270287"/>
                </a:lnTo>
                <a:lnTo>
                  <a:pt x="192583" y="300944"/>
                </a:lnTo>
                <a:lnTo>
                  <a:pt x="227549" y="332982"/>
                </a:lnTo>
                <a:lnTo>
                  <a:pt x="261236" y="366360"/>
                </a:lnTo>
                <a:lnTo>
                  <a:pt x="293601" y="401037"/>
                </a:lnTo>
                <a:lnTo>
                  <a:pt x="324605" y="436969"/>
                </a:lnTo>
                <a:lnTo>
                  <a:pt x="354206" y="474116"/>
                </a:lnTo>
                <a:lnTo>
                  <a:pt x="382362" y="512436"/>
                </a:lnTo>
                <a:lnTo>
                  <a:pt x="409033" y="551887"/>
                </a:lnTo>
                <a:lnTo>
                  <a:pt x="434177" y="592427"/>
                </a:lnTo>
                <a:lnTo>
                  <a:pt x="457754" y="634015"/>
                </a:lnTo>
                <a:lnTo>
                  <a:pt x="479721" y="676610"/>
                </a:lnTo>
                <a:lnTo>
                  <a:pt x="500039" y="720169"/>
                </a:lnTo>
                <a:lnTo>
                  <a:pt x="518665" y="764650"/>
                </a:lnTo>
                <a:lnTo>
                  <a:pt x="535559" y="810012"/>
                </a:lnTo>
                <a:lnTo>
                  <a:pt x="550679" y="856214"/>
                </a:lnTo>
                <a:lnTo>
                  <a:pt x="563985" y="903213"/>
                </a:lnTo>
                <a:lnTo>
                  <a:pt x="575435" y="950969"/>
                </a:lnTo>
                <a:lnTo>
                  <a:pt x="584988" y="999438"/>
                </a:lnTo>
                <a:lnTo>
                  <a:pt x="592602" y="1048580"/>
                </a:lnTo>
                <a:lnTo>
                  <a:pt x="598238" y="1098353"/>
                </a:lnTo>
                <a:lnTo>
                  <a:pt x="601852" y="1148715"/>
                </a:lnTo>
                <a:lnTo>
                  <a:pt x="603503" y="1211834"/>
                </a:lnTo>
                <a:lnTo>
                  <a:pt x="602433" y="1263331"/>
                </a:lnTo>
                <a:lnTo>
                  <a:pt x="599250" y="1314281"/>
                </a:lnTo>
                <a:lnTo>
                  <a:pt x="593997" y="1364641"/>
                </a:lnTo>
                <a:lnTo>
                  <a:pt x="586717" y="1414367"/>
                </a:lnTo>
                <a:lnTo>
                  <a:pt x="577452" y="1463417"/>
                </a:lnTo>
                <a:lnTo>
                  <a:pt x="566245" y="1511747"/>
                </a:lnTo>
                <a:lnTo>
                  <a:pt x="553139" y="1559317"/>
                </a:lnTo>
                <a:lnTo>
                  <a:pt x="538176" y="1606081"/>
                </a:lnTo>
                <a:lnTo>
                  <a:pt x="521399" y="1651999"/>
                </a:lnTo>
                <a:lnTo>
                  <a:pt x="502852" y="1697026"/>
                </a:lnTo>
                <a:lnTo>
                  <a:pt x="482575" y="1741120"/>
                </a:lnTo>
                <a:lnTo>
                  <a:pt x="460612" y="1784239"/>
                </a:lnTo>
                <a:lnTo>
                  <a:pt x="437006" y="1826339"/>
                </a:lnTo>
                <a:lnTo>
                  <a:pt x="411800" y="1867378"/>
                </a:lnTo>
                <a:lnTo>
                  <a:pt x="385035" y="1907313"/>
                </a:lnTo>
                <a:lnTo>
                  <a:pt x="356756" y="1946100"/>
                </a:lnTo>
                <a:lnTo>
                  <a:pt x="327003" y="1983699"/>
                </a:lnTo>
                <a:lnTo>
                  <a:pt x="295821" y="2020065"/>
                </a:lnTo>
                <a:lnTo>
                  <a:pt x="263251" y="2055155"/>
                </a:lnTo>
                <a:lnTo>
                  <a:pt x="229336" y="2088928"/>
                </a:lnTo>
                <a:lnTo>
                  <a:pt x="194120" y="2121340"/>
                </a:lnTo>
                <a:lnTo>
                  <a:pt x="157644" y="2152348"/>
                </a:lnTo>
                <a:lnTo>
                  <a:pt x="119951" y="2181909"/>
                </a:lnTo>
                <a:lnTo>
                  <a:pt x="81084" y="2209982"/>
                </a:lnTo>
                <a:lnTo>
                  <a:pt x="41086" y="2236523"/>
                </a:lnTo>
                <a:lnTo>
                  <a:pt x="0" y="2261489"/>
                </a:lnTo>
                <a:lnTo>
                  <a:pt x="41470" y="2284524"/>
                </a:lnTo>
                <a:lnTo>
                  <a:pt x="83911" y="2305951"/>
                </a:lnTo>
                <a:lnTo>
                  <a:pt x="127283" y="2325726"/>
                </a:lnTo>
                <a:lnTo>
                  <a:pt x="171546" y="2343812"/>
                </a:lnTo>
                <a:lnTo>
                  <a:pt x="216661" y="2360165"/>
                </a:lnTo>
                <a:lnTo>
                  <a:pt x="262589" y="2374747"/>
                </a:lnTo>
                <a:lnTo>
                  <a:pt x="309289" y="2387516"/>
                </a:lnTo>
                <a:lnTo>
                  <a:pt x="356722" y="2398432"/>
                </a:lnTo>
                <a:lnTo>
                  <a:pt x="404849" y="2407454"/>
                </a:lnTo>
                <a:lnTo>
                  <a:pt x="453631" y="2414542"/>
                </a:lnTo>
                <a:lnTo>
                  <a:pt x="503026" y="2419655"/>
                </a:lnTo>
                <a:lnTo>
                  <a:pt x="552997" y="2422753"/>
                </a:lnTo>
                <a:lnTo>
                  <a:pt x="603503" y="2423795"/>
                </a:lnTo>
                <a:lnTo>
                  <a:pt x="652049" y="2422832"/>
                </a:lnTo>
                <a:lnTo>
                  <a:pt x="700109" y="2419969"/>
                </a:lnTo>
                <a:lnTo>
                  <a:pt x="747646" y="2415241"/>
                </a:lnTo>
                <a:lnTo>
                  <a:pt x="794623" y="2408685"/>
                </a:lnTo>
                <a:lnTo>
                  <a:pt x="841007" y="2400337"/>
                </a:lnTo>
                <a:lnTo>
                  <a:pt x="886759" y="2390233"/>
                </a:lnTo>
                <a:lnTo>
                  <a:pt x="931844" y="2378410"/>
                </a:lnTo>
                <a:lnTo>
                  <a:pt x="976227" y="2364903"/>
                </a:lnTo>
                <a:lnTo>
                  <a:pt x="1019870" y="2349748"/>
                </a:lnTo>
                <a:lnTo>
                  <a:pt x="1062738" y="2332983"/>
                </a:lnTo>
                <a:lnTo>
                  <a:pt x="1104796" y="2314643"/>
                </a:lnTo>
                <a:lnTo>
                  <a:pt x="1146006" y="2294765"/>
                </a:lnTo>
                <a:lnTo>
                  <a:pt x="1186332" y="2273384"/>
                </a:lnTo>
                <a:lnTo>
                  <a:pt x="1225740" y="2250537"/>
                </a:lnTo>
                <a:lnTo>
                  <a:pt x="1264192" y="2226260"/>
                </a:lnTo>
                <a:lnTo>
                  <a:pt x="1301653" y="2200590"/>
                </a:lnTo>
                <a:lnTo>
                  <a:pt x="1338086" y="2173562"/>
                </a:lnTo>
                <a:lnTo>
                  <a:pt x="1373456" y="2145213"/>
                </a:lnTo>
                <a:lnTo>
                  <a:pt x="1407726" y="2115579"/>
                </a:lnTo>
                <a:lnTo>
                  <a:pt x="1440861" y="2084696"/>
                </a:lnTo>
                <a:lnTo>
                  <a:pt x="1472824" y="2052601"/>
                </a:lnTo>
                <a:lnTo>
                  <a:pt x="1503579" y="2019329"/>
                </a:lnTo>
                <a:lnTo>
                  <a:pt x="1533091" y="1984917"/>
                </a:lnTo>
                <a:lnTo>
                  <a:pt x="1561322" y="1949401"/>
                </a:lnTo>
                <a:lnTo>
                  <a:pt x="1588238" y="1912818"/>
                </a:lnTo>
                <a:lnTo>
                  <a:pt x="1613802" y="1875203"/>
                </a:lnTo>
                <a:lnTo>
                  <a:pt x="1637978" y="1836593"/>
                </a:lnTo>
                <a:lnTo>
                  <a:pt x="1660730" y="1797024"/>
                </a:lnTo>
                <a:lnTo>
                  <a:pt x="1682022" y="1756532"/>
                </a:lnTo>
                <a:lnTo>
                  <a:pt x="1701817" y="1715153"/>
                </a:lnTo>
                <a:lnTo>
                  <a:pt x="1720081" y="1672924"/>
                </a:lnTo>
                <a:lnTo>
                  <a:pt x="1736776" y="1629881"/>
                </a:lnTo>
                <a:lnTo>
                  <a:pt x="1751867" y="1586060"/>
                </a:lnTo>
                <a:lnTo>
                  <a:pt x="1765317" y="1541497"/>
                </a:lnTo>
                <a:lnTo>
                  <a:pt x="1777091" y="1496229"/>
                </a:lnTo>
                <a:lnTo>
                  <a:pt x="1787153" y="1450292"/>
                </a:lnTo>
                <a:lnTo>
                  <a:pt x="1795466" y="1403721"/>
                </a:lnTo>
                <a:lnTo>
                  <a:pt x="1801994" y="1356554"/>
                </a:lnTo>
                <a:lnTo>
                  <a:pt x="1806702" y="1308826"/>
                </a:lnTo>
                <a:lnTo>
                  <a:pt x="1809553" y="1260574"/>
                </a:lnTo>
                <a:lnTo>
                  <a:pt x="1810511" y="1211834"/>
                </a:lnTo>
                <a:lnTo>
                  <a:pt x="1809413" y="1159654"/>
                </a:lnTo>
                <a:lnTo>
                  <a:pt x="1806147" y="1108038"/>
                </a:lnTo>
                <a:lnTo>
                  <a:pt x="1800758" y="1057029"/>
                </a:lnTo>
                <a:lnTo>
                  <a:pt x="1793290" y="1006672"/>
                </a:lnTo>
                <a:lnTo>
                  <a:pt x="1783788" y="957012"/>
                </a:lnTo>
                <a:lnTo>
                  <a:pt x="1772295" y="908093"/>
                </a:lnTo>
                <a:lnTo>
                  <a:pt x="1758855" y="859960"/>
                </a:lnTo>
                <a:lnTo>
                  <a:pt x="1743514" y="812657"/>
                </a:lnTo>
                <a:lnTo>
                  <a:pt x="1726314" y="766228"/>
                </a:lnTo>
                <a:lnTo>
                  <a:pt x="1707302" y="720719"/>
                </a:lnTo>
                <a:lnTo>
                  <a:pt x="1686519" y="676174"/>
                </a:lnTo>
                <a:lnTo>
                  <a:pt x="1664012" y="632637"/>
                </a:lnTo>
                <a:lnTo>
                  <a:pt x="1639824" y="590153"/>
                </a:lnTo>
                <a:lnTo>
                  <a:pt x="1613998" y="548766"/>
                </a:lnTo>
                <a:lnTo>
                  <a:pt x="1586581" y="508521"/>
                </a:lnTo>
                <a:lnTo>
                  <a:pt x="1557615" y="469462"/>
                </a:lnTo>
                <a:lnTo>
                  <a:pt x="1527145" y="431634"/>
                </a:lnTo>
                <a:lnTo>
                  <a:pt x="1495215" y="395082"/>
                </a:lnTo>
                <a:lnTo>
                  <a:pt x="1461870" y="359850"/>
                </a:lnTo>
                <a:lnTo>
                  <a:pt x="1427153" y="325982"/>
                </a:lnTo>
                <a:lnTo>
                  <a:pt x="1391109" y="293523"/>
                </a:lnTo>
                <a:lnTo>
                  <a:pt x="1353782" y="262518"/>
                </a:lnTo>
                <a:lnTo>
                  <a:pt x="1315217" y="233011"/>
                </a:lnTo>
                <a:lnTo>
                  <a:pt x="1275456" y="205047"/>
                </a:lnTo>
                <a:lnTo>
                  <a:pt x="1234546" y="178669"/>
                </a:lnTo>
                <a:lnTo>
                  <a:pt x="1192529" y="153924"/>
                </a:lnTo>
                <a:lnTo>
                  <a:pt x="1148421" y="130272"/>
                </a:lnTo>
                <a:lnTo>
                  <a:pt x="1103249" y="108435"/>
                </a:lnTo>
                <a:lnTo>
                  <a:pt x="1057060" y="88457"/>
                </a:lnTo>
                <a:lnTo>
                  <a:pt x="1009903" y="70386"/>
                </a:lnTo>
                <a:lnTo>
                  <a:pt x="961826" y="54267"/>
                </a:lnTo>
                <a:lnTo>
                  <a:pt x="912876" y="40147"/>
                </a:lnTo>
                <a:lnTo>
                  <a:pt x="863099" y="28073"/>
                </a:lnTo>
                <a:lnTo>
                  <a:pt x="812546" y="18090"/>
                </a:lnTo>
                <a:lnTo>
                  <a:pt x="761261" y="10245"/>
                </a:lnTo>
                <a:lnTo>
                  <a:pt x="709295" y="4584"/>
                </a:lnTo>
                <a:lnTo>
                  <a:pt x="656693" y="1153"/>
                </a:lnTo>
                <a:lnTo>
                  <a:pt x="603503" y="0"/>
                </a:lnTo>
                <a:close/>
              </a:path>
            </a:pathLst>
          </a:custGeom>
          <a:solidFill xmlns:a="http://schemas.openxmlformats.org/drawingml/2006/main">
            <a:srgbClr val="00B8F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A6145157-6F2E-4696-BADE-01A7D1DA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9391" y="3100578"/>
            <a:ext cx="2423160" cy="2250440"/>
          </a:xfrm>
          <a:custGeom xmlns:a="http://schemas.openxmlformats.org/drawingml/2006/main">
            <a:rect l="l" t="t" r="r" b="b"/>
            <a:pathLst>
              <a:path w="2423159" h="2250440">
                <a:moveTo>
                  <a:pt x="593979" y="0"/>
                </a:moveTo>
                <a:lnTo>
                  <a:pt x="553448" y="25073"/>
                </a:lnTo>
                <a:lnTo>
                  <a:pt x="514003" y="51672"/>
                </a:lnTo>
                <a:lnTo>
                  <a:pt x="475685" y="79757"/>
                </a:lnTo>
                <a:lnTo>
                  <a:pt x="438536" y="109286"/>
                </a:lnTo>
                <a:lnTo>
                  <a:pt x="402596" y="140218"/>
                </a:lnTo>
                <a:lnTo>
                  <a:pt x="367906" y="172510"/>
                </a:lnTo>
                <a:lnTo>
                  <a:pt x="334508" y="206123"/>
                </a:lnTo>
                <a:lnTo>
                  <a:pt x="302443" y="241013"/>
                </a:lnTo>
                <a:lnTo>
                  <a:pt x="271751" y="277141"/>
                </a:lnTo>
                <a:lnTo>
                  <a:pt x="242474" y="314465"/>
                </a:lnTo>
                <a:lnTo>
                  <a:pt x="214653" y="352943"/>
                </a:lnTo>
                <a:lnTo>
                  <a:pt x="188330" y="392534"/>
                </a:lnTo>
                <a:lnTo>
                  <a:pt x="163544" y="433197"/>
                </a:lnTo>
                <a:lnTo>
                  <a:pt x="140337" y="474889"/>
                </a:lnTo>
                <a:lnTo>
                  <a:pt x="118751" y="517571"/>
                </a:lnTo>
                <a:lnTo>
                  <a:pt x="98826" y="561201"/>
                </a:lnTo>
                <a:lnTo>
                  <a:pt x="80604" y="605736"/>
                </a:lnTo>
                <a:lnTo>
                  <a:pt x="64125" y="651136"/>
                </a:lnTo>
                <a:lnTo>
                  <a:pt x="49432" y="697360"/>
                </a:lnTo>
                <a:lnTo>
                  <a:pt x="36564" y="744366"/>
                </a:lnTo>
                <a:lnTo>
                  <a:pt x="25562" y="792113"/>
                </a:lnTo>
                <a:lnTo>
                  <a:pt x="16469" y="840559"/>
                </a:lnTo>
                <a:lnTo>
                  <a:pt x="9325" y="889663"/>
                </a:lnTo>
                <a:lnTo>
                  <a:pt x="4172" y="939384"/>
                </a:lnTo>
                <a:lnTo>
                  <a:pt x="1049" y="989680"/>
                </a:lnTo>
                <a:lnTo>
                  <a:pt x="0" y="1040511"/>
                </a:lnTo>
                <a:lnTo>
                  <a:pt x="961" y="1089158"/>
                </a:lnTo>
                <a:lnTo>
                  <a:pt x="3823" y="1137318"/>
                </a:lnTo>
                <a:lnTo>
                  <a:pt x="8549" y="1184955"/>
                </a:lnTo>
                <a:lnTo>
                  <a:pt x="15102" y="1232031"/>
                </a:lnTo>
                <a:lnTo>
                  <a:pt x="23446" y="1278512"/>
                </a:lnTo>
                <a:lnTo>
                  <a:pt x="33546" y="1324360"/>
                </a:lnTo>
                <a:lnTo>
                  <a:pt x="45364" y="1369540"/>
                </a:lnTo>
                <a:lnTo>
                  <a:pt x="58865" y="1414016"/>
                </a:lnTo>
                <a:lnTo>
                  <a:pt x="74013" y="1457751"/>
                </a:lnTo>
                <a:lnTo>
                  <a:pt x="90771" y="1500709"/>
                </a:lnTo>
                <a:lnTo>
                  <a:pt x="109103" y="1542855"/>
                </a:lnTo>
                <a:lnTo>
                  <a:pt x="128973" y="1584152"/>
                </a:lnTo>
                <a:lnTo>
                  <a:pt x="150345" y="1624563"/>
                </a:lnTo>
                <a:lnTo>
                  <a:pt x="173183" y="1664054"/>
                </a:lnTo>
                <a:lnTo>
                  <a:pt x="197450" y="1702587"/>
                </a:lnTo>
                <a:lnTo>
                  <a:pt x="223111" y="1740126"/>
                </a:lnTo>
                <a:lnTo>
                  <a:pt x="250128" y="1776636"/>
                </a:lnTo>
                <a:lnTo>
                  <a:pt x="278466" y="1812081"/>
                </a:lnTo>
                <a:lnTo>
                  <a:pt x="308089" y="1846423"/>
                </a:lnTo>
                <a:lnTo>
                  <a:pt x="338961" y="1879628"/>
                </a:lnTo>
                <a:lnTo>
                  <a:pt x="371045" y="1911658"/>
                </a:lnTo>
                <a:lnTo>
                  <a:pt x="404304" y="1942478"/>
                </a:lnTo>
                <a:lnTo>
                  <a:pt x="438704" y="1972052"/>
                </a:lnTo>
                <a:lnTo>
                  <a:pt x="474208" y="2000343"/>
                </a:lnTo>
                <a:lnTo>
                  <a:pt x="510779" y="2027316"/>
                </a:lnTo>
                <a:lnTo>
                  <a:pt x="548382" y="2052934"/>
                </a:lnTo>
                <a:lnTo>
                  <a:pt x="586980" y="2077161"/>
                </a:lnTo>
                <a:lnTo>
                  <a:pt x="626536" y="2099960"/>
                </a:lnTo>
                <a:lnTo>
                  <a:pt x="667016" y="2121297"/>
                </a:lnTo>
                <a:lnTo>
                  <a:pt x="708382" y="2141135"/>
                </a:lnTo>
                <a:lnTo>
                  <a:pt x="750599" y="2159437"/>
                </a:lnTo>
                <a:lnTo>
                  <a:pt x="793630" y="2176167"/>
                </a:lnTo>
                <a:lnTo>
                  <a:pt x="837439" y="2191290"/>
                </a:lnTo>
                <a:lnTo>
                  <a:pt x="881990" y="2204769"/>
                </a:lnTo>
                <a:lnTo>
                  <a:pt x="927246" y="2216567"/>
                </a:lnTo>
                <a:lnTo>
                  <a:pt x="973173" y="2226650"/>
                </a:lnTo>
                <a:lnTo>
                  <a:pt x="1019732" y="2234981"/>
                </a:lnTo>
                <a:lnTo>
                  <a:pt x="1066889" y="2241523"/>
                </a:lnTo>
                <a:lnTo>
                  <a:pt x="1114606" y="2246241"/>
                </a:lnTo>
                <a:lnTo>
                  <a:pt x="1162849" y="2249098"/>
                </a:lnTo>
                <a:lnTo>
                  <a:pt x="1211580" y="2250059"/>
                </a:lnTo>
                <a:lnTo>
                  <a:pt x="1262264" y="2249019"/>
                </a:lnTo>
                <a:lnTo>
                  <a:pt x="1312416" y="2245928"/>
                </a:lnTo>
                <a:lnTo>
                  <a:pt x="1361997" y="2240825"/>
                </a:lnTo>
                <a:lnTo>
                  <a:pt x="1410966" y="2233751"/>
                </a:lnTo>
                <a:lnTo>
                  <a:pt x="1459282" y="2224745"/>
                </a:lnTo>
                <a:lnTo>
                  <a:pt x="1506905" y="2213849"/>
                </a:lnTo>
                <a:lnTo>
                  <a:pt x="1553796" y="2201102"/>
                </a:lnTo>
                <a:lnTo>
                  <a:pt x="1599913" y="2186544"/>
                </a:lnTo>
                <a:lnTo>
                  <a:pt x="1645218" y="2170216"/>
                </a:lnTo>
                <a:lnTo>
                  <a:pt x="1689668" y="2152158"/>
                </a:lnTo>
                <a:lnTo>
                  <a:pt x="1733225" y="2132410"/>
                </a:lnTo>
                <a:lnTo>
                  <a:pt x="1775848" y="2111013"/>
                </a:lnTo>
                <a:lnTo>
                  <a:pt x="1817497" y="2088007"/>
                </a:lnTo>
                <a:lnTo>
                  <a:pt x="1858755" y="2063087"/>
                </a:lnTo>
                <a:lnTo>
                  <a:pt x="1898917" y="2036597"/>
                </a:lnTo>
                <a:lnTo>
                  <a:pt x="1937940" y="2008579"/>
                </a:lnTo>
                <a:lnTo>
                  <a:pt x="1975782" y="1979076"/>
                </a:lnTo>
                <a:lnTo>
                  <a:pt x="2012399" y="1948130"/>
                </a:lnTo>
                <a:lnTo>
                  <a:pt x="2047749" y="1915784"/>
                </a:lnTo>
                <a:lnTo>
                  <a:pt x="2081790" y="1882081"/>
                </a:lnTo>
                <a:lnTo>
                  <a:pt x="2114479" y="1847064"/>
                </a:lnTo>
                <a:lnTo>
                  <a:pt x="2145774" y="1810774"/>
                </a:lnTo>
                <a:lnTo>
                  <a:pt x="2175631" y="1773255"/>
                </a:lnTo>
                <a:lnTo>
                  <a:pt x="2204009" y="1734548"/>
                </a:lnTo>
                <a:lnTo>
                  <a:pt x="2230864" y="1694698"/>
                </a:lnTo>
                <a:lnTo>
                  <a:pt x="2256154" y="1653746"/>
                </a:lnTo>
                <a:lnTo>
                  <a:pt x="2279838" y="1611735"/>
                </a:lnTo>
                <a:lnTo>
                  <a:pt x="2301871" y="1568707"/>
                </a:lnTo>
                <a:lnTo>
                  <a:pt x="2322211" y="1524706"/>
                </a:lnTo>
                <a:lnTo>
                  <a:pt x="2340817" y="1479773"/>
                </a:lnTo>
                <a:lnTo>
                  <a:pt x="2357644" y="1433952"/>
                </a:lnTo>
                <a:lnTo>
                  <a:pt x="2372652" y="1387285"/>
                </a:lnTo>
                <a:lnTo>
                  <a:pt x="2385796" y="1339815"/>
                </a:lnTo>
                <a:lnTo>
                  <a:pt x="2397035" y="1291584"/>
                </a:lnTo>
                <a:lnTo>
                  <a:pt x="2406327" y="1242635"/>
                </a:lnTo>
                <a:lnTo>
                  <a:pt x="2413627" y="1193011"/>
                </a:lnTo>
                <a:lnTo>
                  <a:pt x="2418895" y="1142753"/>
                </a:lnTo>
                <a:lnTo>
                  <a:pt x="2422086" y="1091906"/>
                </a:lnTo>
                <a:lnTo>
                  <a:pt x="2423160" y="1040511"/>
                </a:lnTo>
                <a:lnTo>
                  <a:pt x="2423060" y="1024647"/>
                </a:lnTo>
                <a:lnTo>
                  <a:pt x="2422195" y="993112"/>
                </a:lnTo>
                <a:lnTo>
                  <a:pt x="2421382" y="977392"/>
                </a:lnTo>
                <a:lnTo>
                  <a:pt x="2379091" y="1001338"/>
                </a:lnTo>
                <a:lnTo>
                  <a:pt x="2335774" y="1023617"/>
                </a:lnTo>
                <a:lnTo>
                  <a:pt x="2291474" y="1044187"/>
                </a:lnTo>
                <a:lnTo>
                  <a:pt x="2246234" y="1063003"/>
                </a:lnTo>
                <a:lnTo>
                  <a:pt x="2200095" y="1080023"/>
                </a:lnTo>
                <a:lnTo>
                  <a:pt x="2153102" y="1095203"/>
                </a:lnTo>
                <a:lnTo>
                  <a:pt x="2105295" y="1108500"/>
                </a:lnTo>
                <a:lnTo>
                  <a:pt x="2056719" y="1119870"/>
                </a:lnTo>
                <a:lnTo>
                  <a:pt x="2007415" y="1129270"/>
                </a:lnTo>
                <a:lnTo>
                  <a:pt x="1957427" y="1136656"/>
                </a:lnTo>
                <a:lnTo>
                  <a:pt x="1906797" y="1141986"/>
                </a:lnTo>
                <a:lnTo>
                  <a:pt x="1855567" y="1145215"/>
                </a:lnTo>
                <a:lnTo>
                  <a:pt x="1803781" y="1146302"/>
                </a:lnTo>
                <a:lnTo>
                  <a:pt x="1750372" y="1145148"/>
                </a:lnTo>
                <a:lnTo>
                  <a:pt x="1697556" y="1141718"/>
                </a:lnTo>
                <a:lnTo>
                  <a:pt x="1645380" y="1136060"/>
                </a:lnTo>
                <a:lnTo>
                  <a:pt x="1593892" y="1128220"/>
                </a:lnTo>
                <a:lnTo>
                  <a:pt x="1543139" y="1118246"/>
                </a:lnTo>
                <a:lnTo>
                  <a:pt x="1493170" y="1106185"/>
                </a:lnTo>
                <a:lnTo>
                  <a:pt x="1444032" y="1092084"/>
                </a:lnTo>
                <a:lnTo>
                  <a:pt x="1395772" y="1075991"/>
                </a:lnTo>
                <a:lnTo>
                  <a:pt x="1348438" y="1057951"/>
                </a:lnTo>
                <a:lnTo>
                  <a:pt x="1302078" y="1038013"/>
                </a:lnTo>
                <a:lnTo>
                  <a:pt x="1256739" y="1016224"/>
                </a:lnTo>
                <a:lnTo>
                  <a:pt x="1212469" y="992632"/>
                </a:lnTo>
                <a:lnTo>
                  <a:pt x="1170662" y="968163"/>
                </a:lnTo>
                <a:lnTo>
                  <a:pt x="1129945" y="942090"/>
                </a:lnTo>
                <a:lnTo>
                  <a:pt x="1090361" y="914458"/>
                </a:lnTo>
                <a:lnTo>
                  <a:pt x="1051953" y="885309"/>
                </a:lnTo>
                <a:lnTo>
                  <a:pt x="1014765" y="854687"/>
                </a:lnTo>
                <a:lnTo>
                  <a:pt x="978840" y="822636"/>
                </a:lnTo>
                <a:lnTo>
                  <a:pt x="944221" y="789199"/>
                </a:lnTo>
                <a:lnTo>
                  <a:pt x="910953" y="754419"/>
                </a:lnTo>
                <a:lnTo>
                  <a:pt x="879078" y="718341"/>
                </a:lnTo>
                <a:lnTo>
                  <a:pt x="848639" y="681008"/>
                </a:lnTo>
                <a:lnTo>
                  <a:pt x="819680" y="642463"/>
                </a:lnTo>
                <a:lnTo>
                  <a:pt x="792245" y="602750"/>
                </a:lnTo>
                <a:lnTo>
                  <a:pt x="766377" y="561912"/>
                </a:lnTo>
                <a:lnTo>
                  <a:pt x="742120" y="519994"/>
                </a:lnTo>
                <a:lnTo>
                  <a:pt x="719515" y="477038"/>
                </a:lnTo>
                <a:lnTo>
                  <a:pt x="698609" y="433088"/>
                </a:lnTo>
                <a:lnTo>
                  <a:pt x="679442" y="388188"/>
                </a:lnTo>
                <a:lnTo>
                  <a:pt x="662060" y="342381"/>
                </a:lnTo>
                <a:lnTo>
                  <a:pt x="646505" y="295710"/>
                </a:lnTo>
                <a:lnTo>
                  <a:pt x="632820" y="248220"/>
                </a:lnTo>
                <a:lnTo>
                  <a:pt x="621050" y="199954"/>
                </a:lnTo>
                <a:lnTo>
                  <a:pt x="611237" y="150956"/>
                </a:lnTo>
                <a:lnTo>
                  <a:pt x="603426" y="101268"/>
                </a:lnTo>
                <a:lnTo>
                  <a:pt x="597658" y="50935"/>
                </a:lnTo>
                <a:lnTo>
                  <a:pt x="593979" y="0"/>
                </a:lnTo>
                <a:close/>
              </a:path>
            </a:pathLst>
          </a:custGeom>
          <a:solidFill xmlns:a="http://schemas.openxmlformats.org/drawingml/2006/main">
            <a:srgbClr val="ACEA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DD50581-A507-415A-AA18-409BA1D3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1267" y="1751457"/>
            <a:ext cx="10213975" cy="2762250"/>
          </a:xfrm>
          <a:custGeom xmlns:a="http://schemas.openxmlformats.org/drawingml/2006/main">
            <a:rect l="l" t="t" r="r" b="b"/>
            <a:pathLst>
              <a:path w="10213975" h="2762250">
                <a:moveTo>
                  <a:pt x="7013448" y="1600707"/>
                </a:moveTo>
                <a:lnTo>
                  <a:pt x="7579740" y="1033526"/>
                </a:lnTo>
                <a:lnTo>
                  <a:pt x="10213848" y="1033526"/>
                </a:lnTo>
              </a:path>
              <a:path w="10213975" h="2762250">
                <a:moveTo>
                  <a:pt x="3639311" y="567181"/>
                </a:moveTo>
                <a:lnTo>
                  <a:pt x="3073019" y="0"/>
                </a:lnTo>
                <a:lnTo>
                  <a:pt x="438912" y="0"/>
                </a:lnTo>
              </a:path>
              <a:path w="10213975" h="2762250">
                <a:moveTo>
                  <a:pt x="3200399" y="2762249"/>
                </a:moveTo>
                <a:lnTo>
                  <a:pt x="2634107" y="2195194"/>
                </a:lnTo>
                <a:lnTo>
                  <a:pt x="0" y="2195194"/>
                </a:lnTo>
              </a:path>
            </a:pathLst>
          </a:custGeom>
          <a:ln xmlns:a="http://schemas.openxmlformats.org/drawingml/2006/main" w="12700">
            <a:solidFill>
              <a:srgbClr val="B1B1B1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85150F65-DC66-43AB-A3DC-6C930C99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749" y="1832434"/>
            <a:ext cx="2303780" cy="882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39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740"/>
              </a:spcBef>
              <a:buNone/>
            </a:pPr>
            <a:r>
              <a:rPr sz="1500" b="1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Regulators</a:t>
            </a:r>
            <a:r>
              <a:rPr sz="1500" b="1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&amp;</a:t>
            </a:r>
            <a:r>
              <a:rPr sz="1500" b="1" spc="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governance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318135" algn="just">
              <a:lnSpc>
                <a:spcPct val="111200"/>
              </a:lnSpc>
              <a:spcBef>
                <a:spcPts val="295"/>
              </a:spcBef>
              <a:buNone/>
            </a:pP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Need</a:t>
            </a:r>
            <a:r>
              <a:rPr sz="1000" spc="-3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auditable</a:t>
            </a:r>
            <a:r>
              <a:rPr sz="1000" spc="-3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lineage,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versioning,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monitoring</a:t>
            </a:r>
            <a:r>
              <a:rPr sz="1000" spc="-3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000" spc="-3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000" spc="-2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recorded</a:t>
            </a:r>
            <a:r>
              <a:rPr sz="1000" spc="-3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human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decision</a:t>
            </a:r>
            <a:r>
              <a:rPr sz="1000" spc="-5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000" spc="-5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every</a:t>
            </a:r>
            <a:r>
              <a:rPr sz="1000" spc="2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use.</a:t>
            </a:r>
            <a:endParaRPr sz="1000">
              <a:latin typeface="Segoe UI"/>
              <a:ea typeface="Segoe UI"/>
              <a:cs typeface="Segoe UI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51DBB03-122B-4BAB-B5DC-ED8B6D93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56" y="4005110"/>
            <a:ext cx="2345055" cy="883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461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745"/>
              </a:spcBef>
              <a:buNone/>
            </a:pPr>
            <a:r>
              <a:rPr sz="1500" b="1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Clinicians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11100"/>
              </a:lnSpc>
              <a:spcBef>
                <a:spcPts val="300"/>
              </a:spcBef>
              <a:buNone/>
            </a:pP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Need</a:t>
            </a:r>
            <a:r>
              <a:rPr sz="1000" spc="1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an</a:t>
            </a:r>
            <a:r>
              <a:rPr sz="1000" spc="5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interpretable,</a:t>
            </a:r>
            <a:r>
              <a:rPr sz="1000" spc="-5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calibrated</a:t>
            </a:r>
            <a:r>
              <a:rPr sz="1000" spc="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score</a:t>
            </a:r>
            <a:r>
              <a:rPr sz="1000" spc="1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in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an</a:t>
            </a:r>
            <a:r>
              <a:rPr sz="1000" spc="-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approved</a:t>
            </a:r>
            <a:r>
              <a:rPr sz="1000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workflow—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while</a:t>
            </a:r>
            <a:r>
              <a:rPr sz="1000" spc="3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retaining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final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accountability.</a:t>
            </a:r>
            <a:endParaRPr sz="1000">
              <a:latin typeface="Segoe UI"/>
              <a:ea typeface="Segoe UI"/>
              <a:cs typeface="Segoe UI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E268DF47-7279-41A1-AF08-E20927B8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308" y="2806968"/>
            <a:ext cx="2370455" cy="881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33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735"/>
              </a:spcBef>
              <a:buNone/>
            </a:pPr>
            <a:r>
              <a:rPr sz="1500" b="1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Patients</a:t>
            </a:r>
            <a:endParaRPr sz="1500"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12700" marR="5080">
              <a:lnSpc>
                <a:spcPct val="111200"/>
              </a:lnSpc>
              <a:spcBef>
                <a:spcPts val="300"/>
              </a:spcBef>
              <a:buNone/>
            </a:pP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Need</a:t>
            </a:r>
            <a:r>
              <a:rPr sz="1000" spc="-3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</a:t>
            </a:r>
            <a:r>
              <a:rPr sz="1000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clear</a:t>
            </a:r>
            <a:r>
              <a:rPr sz="1000" spc="-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explanation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of</a:t>
            </a:r>
            <a:r>
              <a:rPr sz="1000" spc="-4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the</a:t>
            </a:r>
            <a:r>
              <a:rPr sz="1000" spc="-4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score,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its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uncertainty</a:t>
            </a:r>
            <a:r>
              <a:rPr sz="1000" spc="-3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and</a:t>
            </a:r>
            <a:r>
              <a:rPr sz="1000" spc="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how</a:t>
            </a:r>
            <a:r>
              <a:rPr sz="1000" spc="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it</a:t>
            </a:r>
            <a:r>
              <a:rPr sz="1000" spc="5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influenced—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or</a:t>
            </a:r>
            <a:r>
              <a:rPr sz="1000" spc="4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 spc="-2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can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be</a:t>
            </a:r>
            <a:r>
              <a:rPr sz="1000" spc="-15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00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challenged</a:t>
            </a:r>
            <a:r>
              <a:rPr sz="1000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 in—</a:t>
            </a:r>
            <a:r>
              <a:rPr sz="1000" spc="-2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care.</a:t>
            </a:r>
            <a:endParaRPr sz="1000">
              <a:latin typeface="Segoe UI"/>
              <a:ea typeface="Segoe UI"/>
              <a:cs typeface="Segoe UI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B551C5E-C95C-4B5D-A025-87BFB1D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4460303"/>
            <a:ext cx="697230" cy="212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sz="1200" b="1" spc="-10">
                <a:solidFill>
                  <a:srgbClr val="44536A"/>
                </a:solidFill>
                <a:latin typeface="Segoe UI"/>
                <a:ea typeface="Segoe UI"/>
                <a:cs typeface="Segoe UI"/>
              </a:rPr>
              <a:t>Clinicians</a:t>
            </a:r>
            <a:endParaRPr sz="1200">
              <a:latin typeface="Segoe UI"/>
              <a:ea typeface="Segoe UI"/>
              <a:cs typeface="Segoe UI"/>
            </a:endParaRP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6F97F65-9278-4141-B9AF-D2F3F9E8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704" y="3586607"/>
            <a:ext cx="598805" cy="212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sz="120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Patients</a:t>
            </a:r>
            <a:endParaRPr sz="1200">
              <a:latin typeface="Segoe UI"/>
              <a:ea typeface="Segoe UI"/>
              <a:cs typeface="Segoe UI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8BE74FCB-B241-4255-95F9-4AA58749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615" y="2603690"/>
            <a:ext cx="76771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5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Governance</a:t>
            </a:r>
            <a:endParaRPr sz="1050">
              <a:latin typeface="Segoe UI"/>
              <a:ea typeface="Segoe UI"/>
              <a:cs typeface="Segoe UI"/>
            </a:endParaRP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92E5755F-B7B9-4F07-ABA1-D5D73E7E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536" y="3465972"/>
            <a:ext cx="560705" cy="50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6675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525"/>
              </a:spcBef>
              <a:buNone/>
            </a:pPr>
            <a:r>
              <a:rPr sz="1200" b="1" spc="-1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Trusted</a:t>
            </a:r>
            <a:endParaRPr sz="1200"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ctr">
              <a:lnSpc>
                <a:spcPct val="100000"/>
              </a:lnSpc>
              <a:spcBef>
                <a:spcPts val="434"/>
              </a:spcBef>
              <a:buNone/>
            </a:pPr>
            <a:r>
              <a:rPr sz="1200" b="1" spc="-25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use</a:t>
            </a:r>
            <a:endParaRPr sz="1200">
              <a:latin typeface="Segoe UI"/>
              <a:ea typeface="Segoe UI"/>
              <a:cs typeface="Segoe UI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57B97E02-474A-46FF-834B-092AA961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7334" y="1552828"/>
            <a:ext cx="2245995" cy="1465580"/>
          </a:xfrm>
          <a:custGeom xmlns:a="http://schemas.openxmlformats.org/drawingml/2006/main">
            <a:rect l="l" t="t" r="r" b="b"/>
            <a:pathLst>
              <a:path w="2245995" h="1465580">
                <a:moveTo>
                  <a:pt x="2201463" y="1389500"/>
                </a:moveTo>
                <a:lnTo>
                  <a:pt x="2169921" y="1390396"/>
                </a:lnTo>
                <a:lnTo>
                  <a:pt x="2210181" y="1465453"/>
                </a:lnTo>
                <a:lnTo>
                  <a:pt x="2239515" y="1402207"/>
                </a:lnTo>
                <a:lnTo>
                  <a:pt x="2202053" y="1402207"/>
                </a:lnTo>
                <a:lnTo>
                  <a:pt x="2201505" y="1390396"/>
                </a:lnTo>
                <a:lnTo>
                  <a:pt x="2201463" y="1389500"/>
                </a:lnTo>
                <a:close/>
              </a:path>
              <a:path w="2245995" h="1465580">
                <a:moveTo>
                  <a:pt x="2214099" y="1389142"/>
                </a:moveTo>
                <a:lnTo>
                  <a:pt x="2201463" y="1389500"/>
                </a:lnTo>
                <a:lnTo>
                  <a:pt x="2202029" y="1401699"/>
                </a:lnTo>
                <a:lnTo>
                  <a:pt x="2202053" y="1402207"/>
                </a:lnTo>
                <a:lnTo>
                  <a:pt x="2214625" y="1401699"/>
                </a:lnTo>
                <a:lnTo>
                  <a:pt x="2214151" y="1390396"/>
                </a:lnTo>
                <a:lnTo>
                  <a:pt x="2214099" y="1389142"/>
                </a:lnTo>
                <a:close/>
              </a:path>
              <a:path w="2245995" h="1465580">
                <a:moveTo>
                  <a:pt x="2245994" y="1388237"/>
                </a:moveTo>
                <a:lnTo>
                  <a:pt x="2214099" y="1389142"/>
                </a:lnTo>
                <a:lnTo>
                  <a:pt x="2214625" y="1401699"/>
                </a:lnTo>
                <a:lnTo>
                  <a:pt x="2202053" y="1402207"/>
                </a:lnTo>
                <a:lnTo>
                  <a:pt x="2239515" y="1402207"/>
                </a:lnTo>
                <a:lnTo>
                  <a:pt x="2245994" y="1388237"/>
                </a:lnTo>
                <a:close/>
              </a:path>
              <a:path w="2245995" h="1465580">
                <a:moveTo>
                  <a:pt x="1864539" y="530688"/>
                </a:moveTo>
                <a:lnTo>
                  <a:pt x="1910886" y="589136"/>
                </a:lnTo>
                <a:lnTo>
                  <a:pt x="1949353" y="643001"/>
                </a:lnTo>
                <a:lnTo>
                  <a:pt x="1954180" y="649927"/>
                </a:lnTo>
                <a:lnTo>
                  <a:pt x="1954468" y="650187"/>
                </a:lnTo>
                <a:lnTo>
                  <a:pt x="1994535" y="712978"/>
                </a:lnTo>
                <a:lnTo>
                  <a:pt x="2018833" y="754790"/>
                </a:lnTo>
                <a:lnTo>
                  <a:pt x="2039721" y="793750"/>
                </a:lnTo>
                <a:lnTo>
                  <a:pt x="2042689" y="799521"/>
                </a:lnTo>
                <a:lnTo>
                  <a:pt x="2042887" y="799669"/>
                </a:lnTo>
                <a:lnTo>
                  <a:pt x="2064639" y="843915"/>
                </a:lnTo>
                <a:lnTo>
                  <a:pt x="2084959" y="889000"/>
                </a:lnTo>
                <a:lnTo>
                  <a:pt x="2103755" y="934593"/>
                </a:lnTo>
                <a:lnTo>
                  <a:pt x="2120632" y="979888"/>
                </a:lnTo>
                <a:lnTo>
                  <a:pt x="2135281" y="1023747"/>
                </a:lnTo>
                <a:lnTo>
                  <a:pt x="2136445" y="1027456"/>
                </a:lnTo>
                <a:lnTo>
                  <a:pt x="2136583" y="1027663"/>
                </a:lnTo>
                <a:lnTo>
                  <a:pt x="2150134" y="1073298"/>
                </a:lnTo>
                <a:lnTo>
                  <a:pt x="2162166" y="1119505"/>
                </a:lnTo>
                <a:lnTo>
                  <a:pt x="2162885" y="1122462"/>
                </a:lnTo>
                <a:lnTo>
                  <a:pt x="2162983" y="1122668"/>
                </a:lnTo>
                <a:lnTo>
                  <a:pt x="2173605" y="1170559"/>
                </a:lnTo>
                <a:lnTo>
                  <a:pt x="2182477" y="1216914"/>
                </a:lnTo>
                <a:lnTo>
                  <a:pt x="2182843" y="1218995"/>
                </a:lnTo>
                <a:lnTo>
                  <a:pt x="2182907" y="1219194"/>
                </a:lnTo>
                <a:lnTo>
                  <a:pt x="2190368" y="1267841"/>
                </a:lnTo>
                <a:lnTo>
                  <a:pt x="2196196" y="1316864"/>
                </a:lnTo>
                <a:lnTo>
                  <a:pt x="2200316" y="1365377"/>
                </a:lnTo>
                <a:lnTo>
                  <a:pt x="2201463" y="1389500"/>
                </a:lnTo>
                <a:lnTo>
                  <a:pt x="2214099" y="1389142"/>
                </a:lnTo>
                <a:lnTo>
                  <a:pt x="2213157" y="1366692"/>
                </a:lnTo>
                <a:lnTo>
                  <a:pt x="2213101" y="1365377"/>
                </a:lnTo>
                <a:lnTo>
                  <a:pt x="2209055" y="1317306"/>
                </a:lnTo>
                <a:lnTo>
                  <a:pt x="2202941" y="1266190"/>
                </a:lnTo>
                <a:lnTo>
                  <a:pt x="2195448" y="1216914"/>
                </a:lnTo>
                <a:lnTo>
                  <a:pt x="2186050" y="1168019"/>
                </a:lnTo>
                <a:lnTo>
                  <a:pt x="2175256" y="1119505"/>
                </a:lnTo>
                <a:lnTo>
                  <a:pt x="2162810" y="1071372"/>
                </a:lnTo>
                <a:lnTo>
                  <a:pt x="2148586" y="1023747"/>
                </a:lnTo>
                <a:lnTo>
                  <a:pt x="2132965" y="976630"/>
                </a:lnTo>
                <a:lnTo>
                  <a:pt x="2115566" y="930021"/>
                </a:lnTo>
                <a:lnTo>
                  <a:pt x="2096642" y="884047"/>
                </a:lnTo>
                <a:lnTo>
                  <a:pt x="2076195" y="838581"/>
                </a:lnTo>
                <a:lnTo>
                  <a:pt x="2054097" y="793750"/>
                </a:lnTo>
                <a:lnTo>
                  <a:pt x="2030603" y="749808"/>
                </a:lnTo>
                <a:lnTo>
                  <a:pt x="2005330" y="706374"/>
                </a:lnTo>
                <a:lnTo>
                  <a:pt x="1964816" y="643001"/>
                </a:lnTo>
                <a:lnTo>
                  <a:pt x="1921637" y="582295"/>
                </a:lnTo>
                <a:lnTo>
                  <a:pt x="1882199" y="532369"/>
                </a:lnTo>
                <a:lnTo>
                  <a:pt x="1866013" y="532369"/>
                </a:lnTo>
                <a:lnTo>
                  <a:pt x="1864539" y="530688"/>
                </a:lnTo>
                <a:close/>
              </a:path>
              <a:path w="2245995" h="1465580">
                <a:moveTo>
                  <a:pt x="1233013" y="94029"/>
                </a:moveTo>
                <a:lnTo>
                  <a:pt x="1300257" y="119360"/>
                </a:lnTo>
                <a:lnTo>
                  <a:pt x="1362910" y="146600"/>
                </a:lnTo>
                <a:lnTo>
                  <a:pt x="1363501" y="146906"/>
                </a:lnTo>
                <a:lnTo>
                  <a:pt x="1363853" y="147063"/>
                </a:lnTo>
                <a:lnTo>
                  <a:pt x="1426439" y="177800"/>
                </a:lnTo>
                <a:lnTo>
                  <a:pt x="1487534" y="211571"/>
                </a:lnTo>
                <a:lnTo>
                  <a:pt x="1546669" y="248232"/>
                </a:lnTo>
                <a:lnTo>
                  <a:pt x="1606209" y="289223"/>
                </a:lnTo>
                <a:lnTo>
                  <a:pt x="1661475" y="331438"/>
                </a:lnTo>
                <a:lnTo>
                  <a:pt x="1661674" y="331574"/>
                </a:lnTo>
                <a:lnTo>
                  <a:pt x="1714623" y="376366"/>
                </a:lnTo>
                <a:lnTo>
                  <a:pt x="1768213" y="426338"/>
                </a:lnTo>
                <a:lnTo>
                  <a:pt x="1818139" y="477774"/>
                </a:lnTo>
                <a:lnTo>
                  <a:pt x="1866013" y="532369"/>
                </a:lnTo>
                <a:lnTo>
                  <a:pt x="1882199" y="532369"/>
                </a:lnTo>
                <a:lnTo>
                  <a:pt x="1827530" y="469265"/>
                </a:lnTo>
                <a:lnTo>
                  <a:pt x="1776984" y="417195"/>
                </a:lnTo>
                <a:lnTo>
                  <a:pt x="1724279" y="367919"/>
                </a:lnTo>
                <a:lnTo>
                  <a:pt x="1669541" y="321563"/>
                </a:lnTo>
                <a:lnTo>
                  <a:pt x="1612772" y="278257"/>
                </a:lnTo>
                <a:lnTo>
                  <a:pt x="1554225" y="237998"/>
                </a:lnTo>
                <a:lnTo>
                  <a:pt x="1494028" y="200660"/>
                </a:lnTo>
                <a:lnTo>
                  <a:pt x="1432306" y="166497"/>
                </a:lnTo>
                <a:lnTo>
                  <a:pt x="1369187" y="135382"/>
                </a:lnTo>
                <a:lnTo>
                  <a:pt x="1304670" y="107442"/>
                </a:lnTo>
                <a:lnTo>
                  <a:pt x="1270819" y="94698"/>
                </a:lnTo>
                <a:lnTo>
                  <a:pt x="1235079" y="94698"/>
                </a:lnTo>
                <a:lnTo>
                  <a:pt x="1233013" y="94029"/>
                </a:lnTo>
                <a:close/>
              </a:path>
              <a:path w="2245995" h="1465580">
                <a:moveTo>
                  <a:pt x="757047" y="0"/>
                </a:moveTo>
                <a:lnTo>
                  <a:pt x="686562" y="1650"/>
                </a:lnTo>
                <a:lnTo>
                  <a:pt x="615950" y="6731"/>
                </a:lnTo>
                <a:lnTo>
                  <a:pt x="545591" y="15240"/>
                </a:lnTo>
                <a:lnTo>
                  <a:pt x="474493" y="27432"/>
                </a:lnTo>
                <a:lnTo>
                  <a:pt x="474665" y="27432"/>
                </a:lnTo>
                <a:lnTo>
                  <a:pt x="405256" y="42925"/>
                </a:lnTo>
                <a:lnTo>
                  <a:pt x="335788" y="62103"/>
                </a:lnTo>
                <a:lnTo>
                  <a:pt x="266953" y="84709"/>
                </a:lnTo>
                <a:lnTo>
                  <a:pt x="198754" y="111125"/>
                </a:lnTo>
                <a:lnTo>
                  <a:pt x="131444" y="141097"/>
                </a:lnTo>
                <a:lnTo>
                  <a:pt x="65024" y="174879"/>
                </a:lnTo>
                <a:lnTo>
                  <a:pt x="0" y="212217"/>
                </a:lnTo>
                <a:lnTo>
                  <a:pt x="6350" y="223138"/>
                </a:lnTo>
                <a:lnTo>
                  <a:pt x="71025" y="186055"/>
                </a:lnTo>
                <a:lnTo>
                  <a:pt x="136782" y="152654"/>
                </a:lnTo>
                <a:lnTo>
                  <a:pt x="203221" y="123026"/>
                </a:lnTo>
                <a:lnTo>
                  <a:pt x="271070" y="96774"/>
                </a:lnTo>
                <a:lnTo>
                  <a:pt x="338529" y="74520"/>
                </a:lnTo>
                <a:lnTo>
                  <a:pt x="339259" y="74337"/>
                </a:lnTo>
                <a:lnTo>
                  <a:pt x="407896" y="55342"/>
                </a:lnTo>
                <a:lnTo>
                  <a:pt x="407751" y="55342"/>
                </a:lnTo>
                <a:lnTo>
                  <a:pt x="476962" y="39931"/>
                </a:lnTo>
                <a:lnTo>
                  <a:pt x="477209" y="39931"/>
                </a:lnTo>
                <a:lnTo>
                  <a:pt x="547074" y="27855"/>
                </a:lnTo>
                <a:lnTo>
                  <a:pt x="546888" y="27855"/>
                </a:lnTo>
                <a:lnTo>
                  <a:pt x="616742" y="19475"/>
                </a:lnTo>
                <a:lnTo>
                  <a:pt x="616342" y="19475"/>
                </a:lnTo>
                <a:lnTo>
                  <a:pt x="686944" y="14378"/>
                </a:lnTo>
                <a:lnTo>
                  <a:pt x="685778" y="14378"/>
                </a:lnTo>
                <a:lnTo>
                  <a:pt x="757037" y="12703"/>
                </a:lnTo>
                <a:lnTo>
                  <a:pt x="943590" y="12703"/>
                </a:lnTo>
                <a:lnTo>
                  <a:pt x="897509" y="6985"/>
                </a:lnTo>
                <a:lnTo>
                  <a:pt x="827404" y="1905"/>
                </a:lnTo>
                <a:lnTo>
                  <a:pt x="757047" y="0"/>
                </a:lnTo>
                <a:close/>
              </a:path>
              <a:path w="2245995" h="1465580">
                <a:moveTo>
                  <a:pt x="943590" y="12703"/>
                </a:moveTo>
                <a:lnTo>
                  <a:pt x="757037" y="12703"/>
                </a:lnTo>
                <a:lnTo>
                  <a:pt x="827573" y="14623"/>
                </a:lnTo>
                <a:lnTo>
                  <a:pt x="826896" y="14623"/>
                </a:lnTo>
                <a:lnTo>
                  <a:pt x="896787" y="19715"/>
                </a:lnTo>
                <a:lnTo>
                  <a:pt x="896364" y="19715"/>
                </a:lnTo>
                <a:lnTo>
                  <a:pt x="965796" y="28235"/>
                </a:lnTo>
                <a:lnTo>
                  <a:pt x="965449" y="28235"/>
                </a:lnTo>
                <a:lnTo>
                  <a:pt x="1034222" y="39931"/>
                </a:lnTo>
                <a:lnTo>
                  <a:pt x="1033898" y="39931"/>
                </a:lnTo>
                <a:lnTo>
                  <a:pt x="1103307" y="55342"/>
                </a:lnTo>
                <a:lnTo>
                  <a:pt x="1102767" y="55342"/>
                </a:lnTo>
                <a:lnTo>
                  <a:pt x="1168766" y="73238"/>
                </a:lnTo>
                <a:lnTo>
                  <a:pt x="1235079" y="94698"/>
                </a:lnTo>
                <a:lnTo>
                  <a:pt x="1270819" y="94698"/>
                </a:lnTo>
                <a:lnTo>
                  <a:pt x="1172210" y="60960"/>
                </a:lnTo>
                <a:lnTo>
                  <a:pt x="1104645" y="42672"/>
                </a:lnTo>
                <a:lnTo>
                  <a:pt x="1036192" y="27432"/>
                </a:lnTo>
                <a:lnTo>
                  <a:pt x="967104" y="15621"/>
                </a:lnTo>
                <a:lnTo>
                  <a:pt x="943590" y="12703"/>
                </a:lnTo>
                <a:close/>
              </a:path>
              <a:path w="2245995" h="1465580">
                <a:moveTo>
                  <a:pt x="1168794" y="73238"/>
                </a:moveTo>
                <a:lnTo>
                  <a:pt x="1168631" y="73238"/>
                </a:lnTo>
                <a:lnTo>
                  <a:pt x="1169640" y="73512"/>
                </a:lnTo>
                <a:lnTo>
                  <a:pt x="1168794" y="73238"/>
                </a:lnTo>
                <a:close/>
              </a:path>
              <a:path w="2245995" h="1465580">
                <a:moveTo>
                  <a:pt x="477285" y="39931"/>
                </a:moveTo>
                <a:lnTo>
                  <a:pt x="476962" y="39931"/>
                </a:lnTo>
                <a:lnTo>
                  <a:pt x="476104" y="40122"/>
                </a:lnTo>
                <a:lnTo>
                  <a:pt x="477285" y="39931"/>
                </a:lnTo>
                <a:close/>
              </a:path>
            </a:pathLst>
          </a:custGeom>
          <a:solidFill xmlns:a="http://schemas.openxmlformats.org/drawingml/2006/main">
            <a:srgbClr val="00319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02FFF5D6-3956-4E3E-B8FB-62C77CD8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1615" y="2350642"/>
            <a:ext cx="356870" cy="338455"/>
          </a:xfrm>
          <a:custGeom xmlns:a="http://schemas.openxmlformats.org/drawingml/2006/main">
            <a:rect l="l" t="t" r="r" b="b"/>
            <a:pathLst>
              <a:path w="356870" h="338455">
                <a:moveTo>
                  <a:pt x="323723" y="286639"/>
                </a:moveTo>
                <a:lnTo>
                  <a:pt x="32893" y="286639"/>
                </a:lnTo>
                <a:lnTo>
                  <a:pt x="32893" y="296037"/>
                </a:lnTo>
                <a:lnTo>
                  <a:pt x="0" y="319532"/>
                </a:lnTo>
                <a:lnTo>
                  <a:pt x="0" y="338328"/>
                </a:lnTo>
                <a:lnTo>
                  <a:pt x="356616" y="338328"/>
                </a:lnTo>
                <a:lnTo>
                  <a:pt x="356616" y="319532"/>
                </a:lnTo>
                <a:lnTo>
                  <a:pt x="323723" y="296037"/>
                </a:lnTo>
                <a:lnTo>
                  <a:pt x="323723" y="286639"/>
                </a:lnTo>
                <a:close/>
              </a:path>
              <a:path w="356870" h="338455">
                <a:moveTo>
                  <a:pt x="79756" y="126873"/>
                </a:moveTo>
                <a:lnTo>
                  <a:pt x="51562" y="126873"/>
                </a:lnTo>
                <a:lnTo>
                  <a:pt x="51562" y="286639"/>
                </a:lnTo>
                <a:lnTo>
                  <a:pt x="79756" y="286639"/>
                </a:lnTo>
                <a:lnTo>
                  <a:pt x="79756" y="126873"/>
                </a:lnTo>
                <a:close/>
              </a:path>
              <a:path w="356870" h="338455">
                <a:moveTo>
                  <a:pt x="136017" y="126873"/>
                </a:moveTo>
                <a:lnTo>
                  <a:pt x="107950" y="126873"/>
                </a:lnTo>
                <a:lnTo>
                  <a:pt x="107950" y="286639"/>
                </a:lnTo>
                <a:lnTo>
                  <a:pt x="136017" y="286639"/>
                </a:lnTo>
                <a:lnTo>
                  <a:pt x="136017" y="126873"/>
                </a:lnTo>
                <a:close/>
              </a:path>
              <a:path w="356870" h="338455">
                <a:moveTo>
                  <a:pt x="192405" y="126873"/>
                </a:moveTo>
                <a:lnTo>
                  <a:pt x="164211" y="126873"/>
                </a:lnTo>
                <a:lnTo>
                  <a:pt x="164211" y="286639"/>
                </a:lnTo>
                <a:lnTo>
                  <a:pt x="192405" y="286639"/>
                </a:lnTo>
                <a:lnTo>
                  <a:pt x="192405" y="126873"/>
                </a:lnTo>
                <a:close/>
              </a:path>
              <a:path w="356870" h="338455">
                <a:moveTo>
                  <a:pt x="248666" y="126873"/>
                </a:moveTo>
                <a:lnTo>
                  <a:pt x="220599" y="126873"/>
                </a:lnTo>
                <a:lnTo>
                  <a:pt x="220599" y="286639"/>
                </a:lnTo>
                <a:lnTo>
                  <a:pt x="248666" y="286639"/>
                </a:lnTo>
                <a:lnTo>
                  <a:pt x="248666" y="126873"/>
                </a:lnTo>
                <a:close/>
              </a:path>
              <a:path w="356870" h="338455">
                <a:moveTo>
                  <a:pt x="305054" y="126873"/>
                </a:moveTo>
                <a:lnTo>
                  <a:pt x="276860" y="126873"/>
                </a:lnTo>
                <a:lnTo>
                  <a:pt x="276860" y="286639"/>
                </a:lnTo>
                <a:lnTo>
                  <a:pt x="305054" y="286639"/>
                </a:lnTo>
                <a:lnTo>
                  <a:pt x="305054" y="126873"/>
                </a:lnTo>
                <a:close/>
              </a:path>
              <a:path w="356870" h="338455">
                <a:moveTo>
                  <a:pt x="323723" y="117475"/>
                </a:moveTo>
                <a:lnTo>
                  <a:pt x="32893" y="117475"/>
                </a:lnTo>
                <a:lnTo>
                  <a:pt x="32893" y="126873"/>
                </a:lnTo>
                <a:lnTo>
                  <a:pt x="323723" y="126873"/>
                </a:lnTo>
                <a:lnTo>
                  <a:pt x="323723" y="117475"/>
                </a:lnTo>
                <a:close/>
              </a:path>
              <a:path w="356870" h="338455">
                <a:moveTo>
                  <a:pt x="337820" y="89281"/>
                </a:moveTo>
                <a:lnTo>
                  <a:pt x="18796" y="89281"/>
                </a:lnTo>
                <a:lnTo>
                  <a:pt x="18796" y="117475"/>
                </a:lnTo>
                <a:lnTo>
                  <a:pt x="337820" y="117475"/>
                </a:lnTo>
                <a:lnTo>
                  <a:pt x="337820" y="89281"/>
                </a:lnTo>
                <a:close/>
              </a:path>
              <a:path w="356870" h="338455">
                <a:moveTo>
                  <a:pt x="178308" y="0"/>
                </a:moveTo>
                <a:lnTo>
                  <a:pt x="32893" y="89281"/>
                </a:lnTo>
                <a:lnTo>
                  <a:pt x="323723" y="89281"/>
                </a:lnTo>
                <a:lnTo>
                  <a:pt x="308416" y="79883"/>
                </a:lnTo>
                <a:lnTo>
                  <a:pt x="173609" y="79883"/>
                </a:lnTo>
                <a:lnTo>
                  <a:pt x="166332" y="78392"/>
                </a:lnTo>
                <a:lnTo>
                  <a:pt x="160353" y="74342"/>
                </a:lnTo>
                <a:lnTo>
                  <a:pt x="156303" y="68363"/>
                </a:lnTo>
                <a:lnTo>
                  <a:pt x="154812" y="61087"/>
                </a:lnTo>
                <a:lnTo>
                  <a:pt x="156303" y="53756"/>
                </a:lnTo>
                <a:lnTo>
                  <a:pt x="160353" y="47783"/>
                </a:lnTo>
                <a:lnTo>
                  <a:pt x="166332" y="43763"/>
                </a:lnTo>
                <a:lnTo>
                  <a:pt x="173609" y="42291"/>
                </a:lnTo>
                <a:lnTo>
                  <a:pt x="247188" y="42291"/>
                </a:lnTo>
                <a:lnTo>
                  <a:pt x="178308" y="0"/>
                </a:lnTo>
                <a:close/>
              </a:path>
              <a:path w="356870" h="338455">
                <a:moveTo>
                  <a:pt x="247188" y="42291"/>
                </a:moveTo>
                <a:lnTo>
                  <a:pt x="173609" y="42291"/>
                </a:lnTo>
                <a:lnTo>
                  <a:pt x="180885" y="43763"/>
                </a:lnTo>
                <a:lnTo>
                  <a:pt x="186864" y="47783"/>
                </a:lnTo>
                <a:lnTo>
                  <a:pt x="190914" y="53756"/>
                </a:lnTo>
                <a:lnTo>
                  <a:pt x="192405" y="61087"/>
                </a:lnTo>
                <a:lnTo>
                  <a:pt x="190914" y="68363"/>
                </a:lnTo>
                <a:lnTo>
                  <a:pt x="186864" y="74342"/>
                </a:lnTo>
                <a:lnTo>
                  <a:pt x="180885" y="78392"/>
                </a:lnTo>
                <a:lnTo>
                  <a:pt x="173609" y="79883"/>
                </a:lnTo>
                <a:lnTo>
                  <a:pt x="308416" y="79883"/>
                </a:lnTo>
                <a:lnTo>
                  <a:pt x="247188" y="422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063EA952-A992-43F7-8E91-15B7F259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0386" y="3880865"/>
            <a:ext cx="2025650" cy="1737360"/>
          </a:xfrm>
          <a:custGeom xmlns:a="http://schemas.openxmlformats.org/drawingml/2006/main">
            <a:rect l="l" t="t" r="r" b="b"/>
            <a:pathLst>
              <a:path w="2025650" h="1737360">
                <a:moveTo>
                  <a:pt x="74599" y="1637672"/>
                </a:moveTo>
                <a:lnTo>
                  <a:pt x="73087" y="1641474"/>
                </a:lnTo>
                <a:lnTo>
                  <a:pt x="69978" y="1649499"/>
                </a:lnTo>
                <a:lnTo>
                  <a:pt x="98935" y="1660143"/>
                </a:lnTo>
                <a:lnTo>
                  <a:pt x="149862" y="1676272"/>
                </a:lnTo>
                <a:lnTo>
                  <a:pt x="201297" y="1690623"/>
                </a:lnTo>
                <a:lnTo>
                  <a:pt x="253113" y="1702942"/>
                </a:lnTo>
                <a:lnTo>
                  <a:pt x="305437" y="1713420"/>
                </a:lnTo>
                <a:lnTo>
                  <a:pt x="357888" y="1721929"/>
                </a:lnTo>
                <a:lnTo>
                  <a:pt x="410720" y="1728533"/>
                </a:lnTo>
                <a:lnTo>
                  <a:pt x="463679" y="1733219"/>
                </a:lnTo>
                <a:lnTo>
                  <a:pt x="516765" y="1735988"/>
                </a:lnTo>
                <a:lnTo>
                  <a:pt x="570105" y="1736750"/>
                </a:lnTo>
                <a:lnTo>
                  <a:pt x="623445" y="1735607"/>
                </a:lnTo>
                <a:lnTo>
                  <a:pt x="676658" y="1732457"/>
                </a:lnTo>
                <a:lnTo>
                  <a:pt x="729871" y="1727377"/>
                </a:lnTo>
                <a:lnTo>
                  <a:pt x="754841" y="1724050"/>
                </a:lnTo>
                <a:lnTo>
                  <a:pt x="570105" y="1724050"/>
                </a:lnTo>
                <a:lnTo>
                  <a:pt x="518029" y="1723301"/>
                </a:lnTo>
                <a:lnTo>
                  <a:pt x="517400" y="1723301"/>
                </a:lnTo>
                <a:lnTo>
                  <a:pt x="464709" y="1720559"/>
                </a:lnTo>
                <a:lnTo>
                  <a:pt x="412117" y="1715909"/>
                </a:lnTo>
                <a:lnTo>
                  <a:pt x="359965" y="1709396"/>
                </a:lnTo>
                <a:lnTo>
                  <a:pt x="307716" y="1700951"/>
                </a:lnTo>
                <a:lnTo>
                  <a:pt x="307924" y="1700951"/>
                </a:lnTo>
                <a:lnTo>
                  <a:pt x="256087" y="1690623"/>
                </a:lnTo>
                <a:lnTo>
                  <a:pt x="204555" y="1678409"/>
                </a:lnTo>
                <a:lnTo>
                  <a:pt x="153626" y="1664184"/>
                </a:lnTo>
                <a:lnTo>
                  <a:pt x="103051" y="1648168"/>
                </a:lnTo>
                <a:lnTo>
                  <a:pt x="74599" y="1637672"/>
                </a:lnTo>
                <a:close/>
              </a:path>
              <a:path w="2025650" h="1737360">
                <a:moveTo>
                  <a:pt x="835187" y="1698486"/>
                </a:moveTo>
                <a:lnTo>
                  <a:pt x="780698" y="1707795"/>
                </a:lnTo>
                <a:lnTo>
                  <a:pt x="728334" y="1714779"/>
                </a:lnTo>
                <a:lnTo>
                  <a:pt x="675769" y="1719783"/>
                </a:lnTo>
                <a:lnTo>
                  <a:pt x="622937" y="1722920"/>
                </a:lnTo>
                <a:lnTo>
                  <a:pt x="570105" y="1724050"/>
                </a:lnTo>
                <a:lnTo>
                  <a:pt x="754841" y="1724050"/>
                </a:lnTo>
                <a:lnTo>
                  <a:pt x="782957" y="1720303"/>
                </a:lnTo>
                <a:lnTo>
                  <a:pt x="835916" y="1711299"/>
                </a:lnTo>
                <a:lnTo>
                  <a:pt x="893711" y="1698820"/>
                </a:lnTo>
                <a:lnTo>
                  <a:pt x="833645" y="1698820"/>
                </a:lnTo>
                <a:lnTo>
                  <a:pt x="835187" y="1698486"/>
                </a:lnTo>
                <a:close/>
              </a:path>
              <a:path w="2025650" h="1737360">
                <a:moveTo>
                  <a:pt x="307969" y="1700951"/>
                </a:moveTo>
                <a:lnTo>
                  <a:pt x="307716" y="1700951"/>
                </a:lnTo>
                <a:lnTo>
                  <a:pt x="308816" y="1701128"/>
                </a:lnTo>
                <a:lnTo>
                  <a:pt x="307969" y="1700951"/>
                </a:lnTo>
                <a:close/>
              </a:path>
              <a:path w="2025650" h="1737360">
                <a:moveTo>
                  <a:pt x="1999998" y="0"/>
                </a:moveTo>
                <a:lnTo>
                  <a:pt x="1987552" y="2031"/>
                </a:lnTo>
                <a:lnTo>
                  <a:pt x="1999224" y="74294"/>
                </a:lnTo>
                <a:lnTo>
                  <a:pt x="1999623" y="77029"/>
                </a:lnTo>
                <a:lnTo>
                  <a:pt x="2007501" y="148462"/>
                </a:lnTo>
                <a:lnTo>
                  <a:pt x="2012024" y="222249"/>
                </a:lnTo>
                <a:lnTo>
                  <a:pt x="2012822" y="295223"/>
                </a:lnTo>
                <a:lnTo>
                  <a:pt x="2009797" y="367062"/>
                </a:lnTo>
                <a:lnTo>
                  <a:pt x="2003334" y="438690"/>
                </a:lnTo>
                <a:lnTo>
                  <a:pt x="2003390" y="438924"/>
                </a:lnTo>
                <a:lnTo>
                  <a:pt x="2003185" y="440181"/>
                </a:lnTo>
                <a:lnTo>
                  <a:pt x="2003132" y="440765"/>
                </a:lnTo>
                <a:lnTo>
                  <a:pt x="1993592" y="509013"/>
                </a:lnTo>
                <a:lnTo>
                  <a:pt x="1993521" y="509150"/>
                </a:lnTo>
                <a:lnTo>
                  <a:pt x="1980294" y="578728"/>
                </a:lnTo>
                <a:lnTo>
                  <a:pt x="1980184" y="579127"/>
                </a:lnTo>
                <a:lnTo>
                  <a:pt x="1963296" y="648741"/>
                </a:lnTo>
                <a:lnTo>
                  <a:pt x="1943525" y="715985"/>
                </a:lnTo>
                <a:lnTo>
                  <a:pt x="1920593" y="781882"/>
                </a:lnTo>
                <a:lnTo>
                  <a:pt x="1894933" y="845597"/>
                </a:lnTo>
                <a:lnTo>
                  <a:pt x="1865621" y="909573"/>
                </a:lnTo>
                <a:lnTo>
                  <a:pt x="1833506" y="971549"/>
                </a:lnTo>
                <a:lnTo>
                  <a:pt x="1798663" y="1031415"/>
                </a:lnTo>
                <a:lnTo>
                  <a:pt x="1760839" y="1090182"/>
                </a:lnTo>
                <a:lnTo>
                  <a:pt x="1760718" y="1090311"/>
                </a:lnTo>
                <a:lnTo>
                  <a:pt x="1720236" y="1146885"/>
                </a:lnTo>
                <a:lnTo>
                  <a:pt x="1719567" y="1147794"/>
                </a:lnTo>
                <a:lnTo>
                  <a:pt x="1677044" y="1201560"/>
                </a:lnTo>
                <a:lnTo>
                  <a:pt x="1676977" y="1201744"/>
                </a:lnTo>
                <a:lnTo>
                  <a:pt x="1632381" y="1252886"/>
                </a:lnTo>
                <a:lnTo>
                  <a:pt x="1582940" y="1304527"/>
                </a:lnTo>
                <a:lnTo>
                  <a:pt x="1532275" y="1352571"/>
                </a:lnTo>
                <a:lnTo>
                  <a:pt x="1532075" y="1352729"/>
                </a:lnTo>
                <a:lnTo>
                  <a:pt x="1531108" y="1353645"/>
                </a:lnTo>
                <a:lnTo>
                  <a:pt x="1479193" y="1398167"/>
                </a:lnTo>
                <a:lnTo>
                  <a:pt x="1478992" y="1398314"/>
                </a:lnTo>
                <a:lnTo>
                  <a:pt x="1478130" y="1399053"/>
                </a:lnTo>
                <a:lnTo>
                  <a:pt x="1423819" y="1441354"/>
                </a:lnTo>
                <a:lnTo>
                  <a:pt x="1423681" y="1441484"/>
                </a:lnTo>
                <a:lnTo>
                  <a:pt x="1366303" y="1481759"/>
                </a:lnTo>
                <a:lnTo>
                  <a:pt x="1365971" y="1481896"/>
                </a:lnTo>
                <a:lnTo>
                  <a:pt x="1305956" y="1519834"/>
                </a:lnTo>
                <a:lnTo>
                  <a:pt x="1244437" y="1554511"/>
                </a:lnTo>
                <a:lnTo>
                  <a:pt x="1180305" y="1586737"/>
                </a:lnTo>
                <a:lnTo>
                  <a:pt x="1114560" y="1615651"/>
                </a:lnTo>
                <a:lnTo>
                  <a:pt x="1046851" y="1641474"/>
                </a:lnTo>
                <a:lnTo>
                  <a:pt x="977304" y="1663953"/>
                </a:lnTo>
                <a:lnTo>
                  <a:pt x="906152" y="1683129"/>
                </a:lnTo>
                <a:lnTo>
                  <a:pt x="905952" y="1683129"/>
                </a:lnTo>
                <a:lnTo>
                  <a:pt x="833645" y="1698820"/>
                </a:lnTo>
                <a:lnTo>
                  <a:pt x="893711" y="1698820"/>
                </a:lnTo>
                <a:lnTo>
                  <a:pt x="909322" y="1695449"/>
                </a:lnTo>
                <a:lnTo>
                  <a:pt x="980731" y="1676272"/>
                </a:lnTo>
                <a:lnTo>
                  <a:pt x="1051308" y="1653285"/>
                </a:lnTo>
                <a:lnTo>
                  <a:pt x="1119507" y="1627377"/>
                </a:lnTo>
                <a:lnTo>
                  <a:pt x="1185928" y="1598167"/>
                </a:lnTo>
                <a:lnTo>
                  <a:pt x="1250317" y="1565782"/>
                </a:lnTo>
                <a:lnTo>
                  <a:pt x="1312801" y="1530476"/>
                </a:lnTo>
                <a:lnTo>
                  <a:pt x="1373126" y="1492376"/>
                </a:lnTo>
                <a:lnTo>
                  <a:pt x="1431292" y="1451609"/>
                </a:lnTo>
                <a:lnTo>
                  <a:pt x="1487172" y="1408048"/>
                </a:lnTo>
                <a:lnTo>
                  <a:pt x="1540766" y="1362074"/>
                </a:lnTo>
                <a:lnTo>
                  <a:pt x="1591947" y="1313560"/>
                </a:lnTo>
                <a:lnTo>
                  <a:pt x="1640588" y="1262760"/>
                </a:lnTo>
                <a:lnTo>
                  <a:pt x="1686816" y="1209674"/>
                </a:lnTo>
                <a:lnTo>
                  <a:pt x="1730377" y="1154683"/>
                </a:lnTo>
                <a:lnTo>
                  <a:pt x="1771144" y="1097533"/>
                </a:lnTo>
                <a:lnTo>
                  <a:pt x="1809244" y="1038478"/>
                </a:lnTo>
                <a:lnTo>
                  <a:pt x="1844550" y="977772"/>
                </a:lnTo>
                <a:lnTo>
                  <a:pt x="1876935" y="915288"/>
                </a:lnTo>
                <a:lnTo>
                  <a:pt x="1906399" y="851280"/>
                </a:lnTo>
                <a:lnTo>
                  <a:pt x="1932688" y="785748"/>
                </a:lnTo>
                <a:lnTo>
                  <a:pt x="1955929" y="718946"/>
                </a:lnTo>
                <a:lnTo>
                  <a:pt x="1975868" y="650874"/>
                </a:lnTo>
                <a:lnTo>
                  <a:pt x="1992632" y="581659"/>
                </a:lnTo>
                <a:lnTo>
                  <a:pt x="2006094" y="511428"/>
                </a:lnTo>
                <a:lnTo>
                  <a:pt x="2015919" y="440765"/>
                </a:lnTo>
                <a:lnTo>
                  <a:pt x="2016000" y="440181"/>
                </a:lnTo>
                <a:lnTo>
                  <a:pt x="2022477" y="368299"/>
                </a:lnTo>
                <a:lnTo>
                  <a:pt x="2025398" y="295528"/>
                </a:lnTo>
                <a:lnTo>
                  <a:pt x="2024643" y="222938"/>
                </a:lnTo>
                <a:lnTo>
                  <a:pt x="2024636" y="222249"/>
                </a:lnTo>
                <a:lnTo>
                  <a:pt x="2020419" y="150198"/>
                </a:lnTo>
                <a:lnTo>
                  <a:pt x="2020318" y="148462"/>
                </a:lnTo>
                <a:lnTo>
                  <a:pt x="2012063" y="74294"/>
                </a:lnTo>
                <a:lnTo>
                  <a:pt x="1999998" y="0"/>
                </a:lnTo>
                <a:close/>
              </a:path>
              <a:path w="2025650" h="1737360">
                <a:moveTo>
                  <a:pt x="254023" y="1690144"/>
                </a:moveTo>
                <a:lnTo>
                  <a:pt x="256074" y="1690623"/>
                </a:lnTo>
                <a:lnTo>
                  <a:pt x="256413" y="1690623"/>
                </a:lnTo>
                <a:lnTo>
                  <a:pt x="254023" y="1690144"/>
                </a:lnTo>
                <a:close/>
              </a:path>
              <a:path w="2025650" h="1737360">
                <a:moveTo>
                  <a:pt x="85981" y="1608200"/>
                </a:moveTo>
                <a:lnTo>
                  <a:pt x="0" y="1616310"/>
                </a:lnTo>
                <a:lnTo>
                  <a:pt x="1243" y="1616310"/>
                </a:lnTo>
                <a:lnTo>
                  <a:pt x="58422" y="1679320"/>
                </a:lnTo>
                <a:lnTo>
                  <a:pt x="69978" y="1649499"/>
                </a:lnTo>
                <a:lnTo>
                  <a:pt x="58168" y="1645157"/>
                </a:lnTo>
                <a:lnTo>
                  <a:pt x="62486" y="1633219"/>
                </a:lnTo>
                <a:lnTo>
                  <a:pt x="76286" y="1633219"/>
                </a:lnTo>
                <a:lnTo>
                  <a:pt x="85981" y="1608200"/>
                </a:lnTo>
                <a:close/>
              </a:path>
              <a:path w="2025650" h="1737360">
                <a:moveTo>
                  <a:pt x="203019" y="1677988"/>
                </a:moveTo>
                <a:lnTo>
                  <a:pt x="204555" y="1678409"/>
                </a:lnTo>
                <a:lnTo>
                  <a:pt x="204785" y="1678409"/>
                </a:lnTo>
                <a:lnTo>
                  <a:pt x="203019" y="1677988"/>
                </a:lnTo>
                <a:close/>
              </a:path>
              <a:path w="2025650" h="1737360">
                <a:moveTo>
                  <a:pt x="152965" y="1663953"/>
                </a:moveTo>
                <a:lnTo>
                  <a:pt x="153626" y="1664184"/>
                </a:lnTo>
                <a:lnTo>
                  <a:pt x="153789" y="1664184"/>
                </a:lnTo>
                <a:lnTo>
                  <a:pt x="152965" y="1663953"/>
                </a:lnTo>
                <a:close/>
              </a:path>
              <a:path w="2025650" h="1737360">
                <a:moveTo>
                  <a:pt x="62486" y="1633219"/>
                </a:moveTo>
                <a:lnTo>
                  <a:pt x="58168" y="1645157"/>
                </a:lnTo>
                <a:lnTo>
                  <a:pt x="69978" y="1649499"/>
                </a:lnTo>
                <a:lnTo>
                  <a:pt x="74561" y="1637672"/>
                </a:lnTo>
                <a:lnTo>
                  <a:pt x="62486" y="1633219"/>
                </a:lnTo>
                <a:close/>
              </a:path>
              <a:path w="2025650" h="1737360">
                <a:moveTo>
                  <a:pt x="76286" y="1633219"/>
                </a:moveTo>
                <a:lnTo>
                  <a:pt x="62486" y="1633219"/>
                </a:lnTo>
                <a:lnTo>
                  <a:pt x="74599" y="1637672"/>
                </a:lnTo>
                <a:lnTo>
                  <a:pt x="76286" y="1633219"/>
                </a:lnTo>
                <a:close/>
              </a:path>
              <a:path w="2025650" h="1737360">
                <a:moveTo>
                  <a:pt x="1114586" y="1615651"/>
                </a:moveTo>
                <a:lnTo>
                  <a:pt x="1114361" y="1615651"/>
                </a:lnTo>
                <a:lnTo>
                  <a:pt x="1112859" y="1616310"/>
                </a:lnTo>
                <a:lnTo>
                  <a:pt x="1114586" y="1615651"/>
                </a:lnTo>
                <a:close/>
              </a:path>
              <a:path w="2025650" h="1737360">
                <a:moveTo>
                  <a:pt x="1367356" y="1481021"/>
                </a:moveTo>
                <a:lnTo>
                  <a:pt x="1365972" y="1481896"/>
                </a:lnTo>
                <a:lnTo>
                  <a:pt x="1366303" y="1481759"/>
                </a:lnTo>
                <a:lnTo>
                  <a:pt x="1367356" y="1481021"/>
                </a:lnTo>
                <a:close/>
              </a:path>
              <a:path w="2025650" h="1737360">
                <a:moveTo>
                  <a:pt x="1677137" y="1201560"/>
                </a:moveTo>
                <a:lnTo>
                  <a:pt x="1677000" y="1201560"/>
                </a:lnTo>
                <a:lnTo>
                  <a:pt x="1675504" y="1203450"/>
                </a:lnTo>
                <a:lnTo>
                  <a:pt x="1677137" y="1201560"/>
                </a:lnTo>
                <a:close/>
              </a:path>
            </a:pathLst>
          </a:custGeom>
          <a:solidFill xmlns:a="http://schemas.openxmlformats.org/drawingml/2006/main">
            <a:srgbClr val="00319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2090C783-0AF6-4FF5-9E5D-C45F9CEC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3720" y="4381042"/>
            <a:ext cx="283845" cy="338455"/>
          </a:xfrm>
          <a:custGeom xmlns:a="http://schemas.openxmlformats.org/drawingml/2006/main">
            <a:rect l="l" t="t" r="r" b="b"/>
            <a:pathLst>
              <a:path w="283845" h="338454">
                <a:moveTo>
                  <a:pt x="237744" y="76"/>
                </a:moveTo>
                <a:lnTo>
                  <a:pt x="193929" y="76"/>
                </a:lnTo>
                <a:lnTo>
                  <a:pt x="193929" y="202133"/>
                </a:lnTo>
                <a:lnTo>
                  <a:pt x="193929" y="242392"/>
                </a:lnTo>
                <a:lnTo>
                  <a:pt x="51308" y="242392"/>
                </a:lnTo>
                <a:lnTo>
                  <a:pt x="51308" y="202133"/>
                </a:lnTo>
                <a:lnTo>
                  <a:pt x="83820" y="179882"/>
                </a:lnTo>
                <a:lnTo>
                  <a:pt x="122555" y="172415"/>
                </a:lnTo>
                <a:lnTo>
                  <a:pt x="129908" y="172974"/>
                </a:lnTo>
                <a:lnTo>
                  <a:pt x="170141" y="183680"/>
                </a:lnTo>
                <a:lnTo>
                  <a:pt x="193929" y="202133"/>
                </a:lnTo>
                <a:lnTo>
                  <a:pt x="193929" y="76"/>
                </a:lnTo>
                <a:lnTo>
                  <a:pt x="157988" y="76"/>
                </a:lnTo>
                <a:lnTo>
                  <a:pt x="157988" y="128473"/>
                </a:lnTo>
                <a:lnTo>
                  <a:pt x="155244" y="142062"/>
                </a:lnTo>
                <a:lnTo>
                  <a:pt x="155219" y="142227"/>
                </a:lnTo>
                <a:lnTo>
                  <a:pt x="147739" y="153111"/>
                </a:lnTo>
                <a:lnTo>
                  <a:pt x="147650" y="153263"/>
                </a:lnTo>
                <a:lnTo>
                  <a:pt x="136385" y="160604"/>
                </a:lnTo>
                <a:lnTo>
                  <a:pt x="122555" y="163271"/>
                </a:lnTo>
                <a:lnTo>
                  <a:pt x="109029" y="160604"/>
                </a:lnTo>
                <a:lnTo>
                  <a:pt x="108839" y="160604"/>
                </a:lnTo>
                <a:lnTo>
                  <a:pt x="97497" y="153111"/>
                </a:lnTo>
                <a:lnTo>
                  <a:pt x="90017" y="142227"/>
                </a:lnTo>
                <a:lnTo>
                  <a:pt x="89903" y="142062"/>
                </a:lnTo>
                <a:lnTo>
                  <a:pt x="87122" y="128473"/>
                </a:lnTo>
                <a:lnTo>
                  <a:pt x="89903" y="114973"/>
                </a:lnTo>
                <a:lnTo>
                  <a:pt x="97497" y="103949"/>
                </a:lnTo>
                <a:lnTo>
                  <a:pt x="108762" y="96532"/>
                </a:lnTo>
                <a:lnTo>
                  <a:pt x="122555" y="93802"/>
                </a:lnTo>
                <a:lnTo>
                  <a:pt x="136385" y="96532"/>
                </a:lnTo>
                <a:lnTo>
                  <a:pt x="147650" y="103949"/>
                </a:lnTo>
                <a:lnTo>
                  <a:pt x="155219" y="114973"/>
                </a:lnTo>
                <a:lnTo>
                  <a:pt x="157988" y="128473"/>
                </a:lnTo>
                <a:lnTo>
                  <a:pt x="157988" y="76"/>
                </a:lnTo>
                <a:lnTo>
                  <a:pt x="18669" y="76"/>
                </a:lnTo>
                <a:lnTo>
                  <a:pt x="11404" y="1511"/>
                </a:lnTo>
                <a:lnTo>
                  <a:pt x="5473" y="5422"/>
                </a:lnTo>
                <a:lnTo>
                  <a:pt x="1460" y="11226"/>
                </a:lnTo>
                <a:lnTo>
                  <a:pt x="0" y="18364"/>
                </a:lnTo>
                <a:lnTo>
                  <a:pt x="0" y="320116"/>
                </a:lnTo>
                <a:lnTo>
                  <a:pt x="1460" y="327215"/>
                </a:lnTo>
                <a:lnTo>
                  <a:pt x="5473" y="333032"/>
                </a:lnTo>
                <a:lnTo>
                  <a:pt x="11404" y="336969"/>
                </a:lnTo>
                <a:lnTo>
                  <a:pt x="18669" y="338404"/>
                </a:lnTo>
                <a:lnTo>
                  <a:pt x="237744" y="338404"/>
                </a:lnTo>
                <a:lnTo>
                  <a:pt x="237744" y="242392"/>
                </a:lnTo>
                <a:lnTo>
                  <a:pt x="237744" y="172415"/>
                </a:lnTo>
                <a:lnTo>
                  <a:pt x="237744" y="163271"/>
                </a:lnTo>
                <a:lnTo>
                  <a:pt x="237744" y="93802"/>
                </a:lnTo>
                <a:lnTo>
                  <a:pt x="237744" y="76"/>
                </a:lnTo>
                <a:close/>
              </a:path>
              <a:path w="283845" h="338454">
                <a:moveTo>
                  <a:pt x="283464" y="0"/>
                </a:moveTo>
                <a:lnTo>
                  <a:pt x="256032" y="0"/>
                </a:lnTo>
                <a:lnTo>
                  <a:pt x="256032" y="338404"/>
                </a:lnTo>
                <a:lnTo>
                  <a:pt x="283464" y="338404"/>
                </a:lnTo>
                <a:lnTo>
                  <a:pt x="28346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6B87FFAB-F3A9-4847-9C6F-1393A49F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84757" y="2901695"/>
            <a:ext cx="839469" cy="2573020"/>
          </a:xfrm>
          <a:custGeom xmlns:a="http://schemas.openxmlformats.org/drawingml/2006/main">
            <a:rect l="l" t="t" r="r" b="b"/>
            <a:pathLst>
              <a:path w="839470" h="2573020">
                <a:moveTo>
                  <a:pt x="646974" y="36003"/>
                </a:moveTo>
                <a:lnTo>
                  <a:pt x="577844" y="84962"/>
                </a:lnTo>
                <a:lnTo>
                  <a:pt x="535934" y="118109"/>
                </a:lnTo>
                <a:lnTo>
                  <a:pt x="495167" y="152780"/>
                </a:lnTo>
                <a:lnTo>
                  <a:pt x="455924" y="188849"/>
                </a:lnTo>
                <a:lnTo>
                  <a:pt x="417951" y="226313"/>
                </a:lnTo>
                <a:lnTo>
                  <a:pt x="381248" y="265049"/>
                </a:lnTo>
                <a:lnTo>
                  <a:pt x="346196" y="305180"/>
                </a:lnTo>
                <a:lnTo>
                  <a:pt x="312541" y="346582"/>
                </a:lnTo>
                <a:lnTo>
                  <a:pt x="280410" y="389127"/>
                </a:lnTo>
                <a:lnTo>
                  <a:pt x="249676" y="432942"/>
                </a:lnTo>
                <a:lnTo>
                  <a:pt x="220720" y="477900"/>
                </a:lnTo>
                <a:lnTo>
                  <a:pt x="193161" y="524001"/>
                </a:lnTo>
                <a:lnTo>
                  <a:pt x="167507" y="571118"/>
                </a:lnTo>
                <a:lnTo>
                  <a:pt x="143377" y="619251"/>
                </a:lnTo>
                <a:lnTo>
                  <a:pt x="112516" y="688086"/>
                </a:lnTo>
                <a:lnTo>
                  <a:pt x="85719" y="757681"/>
                </a:lnTo>
                <a:lnTo>
                  <a:pt x="62478" y="827912"/>
                </a:lnTo>
                <a:lnTo>
                  <a:pt x="43047" y="898524"/>
                </a:lnTo>
                <a:lnTo>
                  <a:pt x="27172" y="969517"/>
                </a:lnTo>
                <a:lnTo>
                  <a:pt x="15107" y="1040891"/>
                </a:lnTo>
                <a:lnTo>
                  <a:pt x="6570" y="1111449"/>
                </a:lnTo>
                <a:lnTo>
                  <a:pt x="6471" y="1112265"/>
                </a:lnTo>
                <a:lnTo>
                  <a:pt x="1518" y="1183512"/>
                </a:lnTo>
                <a:lnTo>
                  <a:pt x="0" y="1254505"/>
                </a:lnTo>
                <a:lnTo>
                  <a:pt x="2000" y="1324724"/>
                </a:lnTo>
                <a:lnTo>
                  <a:pt x="2026" y="1325626"/>
                </a:lnTo>
                <a:lnTo>
                  <a:pt x="7225" y="1394451"/>
                </a:lnTo>
                <a:lnTo>
                  <a:pt x="7255" y="1394842"/>
                </a:lnTo>
                <a:lnTo>
                  <a:pt x="16123" y="1466341"/>
                </a:lnTo>
                <a:lnTo>
                  <a:pt x="28188" y="1535810"/>
                </a:lnTo>
                <a:lnTo>
                  <a:pt x="43555" y="1604517"/>
                </a:lnTo>
                <a:lnTo>
                  <a:pt x="62224" y="1672335"/>
                </a:lnTo>
                <a:lnTo>
                  <a:pt x="84068" y="1739137"/>
                </a:lnTo>
                <a:lnTo>
                  <a:pt x="108960" y="1804796"/>
                </a:lnTo>
                <a:lnTo>
                  <a:pt x="137154" y="1869312"/>
                </a:lnTo>
                <a:lnTo>
                  <a:pt x="168269" y="1932431"/>
                </a:lnTo>
                <a:lnTo>
                  <a:pt x="202559" y="1994027"/>
                </a:lnTo>
                <a:lnTo>
                  <a:pt x="239770" y="2053970"/>
                </a:lnTo>
                <a:lnTo>
                  <a:pt x="280029" y="2112264"/>
                </a:lnTo>
                <a:lnTo>
                  <a:pt x="322955" y="2168779"/>
                </a:lnTo>
                <a:lnTo>
                  <a:pt x="368802" y="2223135"/>
                </a:lnTo>
                <a:lnTo>
                  <a:pt x="417570" y="2275585"/>
                </a:lnTo>
                <a:lnTo>
                  <a:pt x="469132" y="2325751"/>
                </a:lnTo>
                <a:lnTo>
                  <a:pt x="523361" y="2373503"/>
                </a:lnTo>
                <a:lnTo>
                  <a:pt x="580130" y="2418841"/>
                </a:lnTo>
                <a:lnTo>
                  <a:pt x="639820" y="2461514"/>
                </a:lnTo>
                <a:lnTo>
                  <a:pt x="701796" y="2501518"/>
                </a:lnTo>
                <a:lnTo>
                  <a:pt x="766566" y="2538603"/>
                </a:lnTo>
                <a:lnTo>
                  <a:pt x="833622" y="2572892"/>
                </a:lnTo>
                <a:lnTo>
                  <a:pt x="839337" y="2561463"/>
                </a:lnTo>
                <a:lnTo>
                  <a:pt x="772827" y="2527575"/>
                </a:lnTo>
                <a:lnTo>
                  <a:pt x="708615" y="2490792"/>
                </a:lnTo>
                <a:lnTo>
                  <a:pt x="708327" y="2490513"/>
                </a:lnTo>
                <a:lnTo>
                  <a:pt x="647000" y="2451040"/>
                </a:lnTo>
                <a:lnTo>
                  <a:pt x="587741" y="2408586"/>
                </a:lnTo>
                <a:lnTo>
                  <a:pt x="531605" y="2363819"/>
                </a:lnTo>
                <a:lnTo>
                  <a:pt x="477634" y="2316226"/>
                </a:lnTo>
                <a:lnTo>
                  <a:pt x="426604" y="2266568"/>
                </a:lnTo>
                <a:lnTo>
                  <a:pt x="378616" y="2215072"/>
                </a:lnTo>
                <a:lnTo>
                  <a:pt x="332970" y="2160862"/>
                </a:lnTo>
                <a:lnTo>
                  <a:pt x="290166" y="2104666"/>
                </a:lnTo>
                <a:lnTo>
                  <a:pt x="250297" y="2046999"/>
                </a:lnTo>
                <a:lnTo>
                  <a:pt x="213334" y="1987185"/>
                </a:lnTo>
                <a:lnTo>
                  <a:pt x="180033" y="1927391"/>
                </a:lnTo>
                <a:lnTo>
                  <a:pt x="179810" y="1926940"/>
                </a:lnTo>
                <a:lnTo>
                  <a:pt x="179667" y="1926734"/>
                </a:lnTo>
                <a:lnTo>
                  <a:pt x="148584" y="1863852"/>
                </a:lnTo>
                <a:lnTo>
                  <a:pt x="120771" y="1800068"/>
                </a:lnTo>
                <a:lnTo>
                  <a:pt x="96333" y="1735555"/>
                </a:lnTo>
                <a:lnTo>
                  <a:pt x="96189" y="1735058"/>
                </a:lnTo>
                <a:lnTo>
                  <a:pt x="96046" y="1734680"/>
                </a:lnTo>
                <a:lnTo>
                  <a:pt x="74421" y="1668755"/>
                </a:lnTo>
                <a:lnTo>
                  <a:pt x="56104" y="1602055"/>
                </a:lnTo>
                <a:lnTo>
                  <a:pt x="40650" y="1533506"/>
                </a:lnTo>
                <a:lnTo>
                  <a:pt x="28712" y="1464679"/>
                </a:lnTo>
                <a:lnTo>
                  <a:pt x="19945" y="1395091"/>
                </a:lnTo>
                <a:lnTo>
                  <a:pt x="14657" y="1325626"/>
                </a:lnTo>
                <a:lnTo>
                  <a:pt x="12704" y="1254886"/>
                </a:lnTo>
                <a:lnTo>
                  <a:pt x="14210" y="1184260"/>
                </a:lnTo>
                <a:lnTo>
                  <a:pt x="19058" y="1113543"/>
                </a:lnTo>
                <a:lnTo>
                  <a:pt x="27570" y="1043444"/>
                </a:lnTo>
                <a:lnTo>
                  <a:pt x="27680" y="1042893"/>
                </a:lnTo>
                <a:lnTo>
                  <a:pt x="27722" y="1042550"/>
                </a:lnTo>
                <a:lnTo>
                  <a:pt x="39637" y="972195"/>
                </a:lnTo>
                <a:lnTo>
                  <a:pt x="55250" y="901714"/>
                </a:lnTo>
                <a:lnTo>
                  <a:pt x="74554" y="831737"/>
                </a:lnTo>
                <a:lnTo>
                  <a:pt x="97531" y="762126"/>
                </a:lnTo>
                <a:lnTo>
                  <a:pt x="124225" y="693175"/>
                </a:lnTo>
                <a:lnTo>
                  <a:pt x="154820" y="624839"/>
                </a:lnTo>
                <a:lnTo>
                  <a:pt x="178683" y="577088"/>
                </a:lnTo>
                <a:lnTo>
                  <a:pt x="204070" y="530587"/>
                </a:lnTo>
                <a:lnTo>
                  <a:pt x="231059" y="485270"/>
                </a:lnTo>
                <a:lnTo>
                  <a:pt x="259648" y="440813"/>
                </a:lnTo>
                <a:lnTo>
                  <a:pt x="289857" y="397693"/>
                </a:lnTo>
                <a:lnTo>
                  <a:pt x="321533" y="355709"/>
                </a:lnTo>
                <a:lnTo>
                  <a:pt x="356179" y="313058"/>
                </a:lnTo>
                <a:lnTo>
                  <a:pt x="390646" y="273684"/>
                </a:lnTo>
                <a:lnTo>
                  <a:pt x="426968" y="235203"/>
                </a:lnTo>
                <a:lnTo>
                  <a:pt x="464535" y="198143"/>
                </a:lnTo>
                <a:lnTo>
                  <a:pt x="503375" y="162455"/>
                </a:lnTo>
                <a:lnTo>
                  <a:pt x="503522" y="162455"/>
                </a:lnTo>
                <a:lnTo>
                  <a:pt x="544039" y="127843"/>
                </a:lnTo>
                <a:lnTo>
                  <a:pt x="585002" y="95461"/>
                </a:lnTo>
                <a:lnTo>
                  <a:pt x="628231" y="63792"/>
                </a:lnTo>
                <a:lnTo>
                  <a:pt x="629221" y="63111"/>
                </a:lnTo>
                <a:lnTo>
                  <a:pt x="653806" y="46652"/>
                </a:lnTo>
                <a:lnTo>
                  <a:pt x="646974" y="36003"/>
                </a:lnTo>
                <a:close/>
              </a:path>
              <a:path w="839470" h="2573020">
                <a:moveTo>
                  <a:pt x="708327" y="2490513"/>
                </a:moveTo>
                <a:lnTo>
                  <a:pt x="708615" y="2490792"/>
                </a:lnTo>
                <a:lnTo>
                  <a:pt x="709943" y="2491553"/>
                </a:lnTo>
                <a:lnTo>
                  <a:pt x="708804" y="2490792"/>
                </a:lnTo>
                <a:lnTo>
                  <a:pt x="708327" y="2490513"/>
                </a:lnTo>
                <a:close/>
              </a:path>
              <a:path w="839470" h="2573020">
                <a:moveTo>
                  <a:pt x="503538" y="162455"/>
                </a:moveTo>
                <a:lnTo>
                  <a:pt x="503375" y="162455"/>
                </a:lnTo>
                <a:lnTo>
                  <a:pt x="501413" y="164258"/>
                </a:lnTo>
                <a:lnTo>
                  <a:pt x="503538" y="162455"/>
                </a:lnTo>
                <a:close/>
              </a:path>
              <a:path w="839470" h="2573020">
                <a:moveTo>
                  <a:pt x="697126" y="28955"/>
                </a:moveTo>
                <a:lnTo>
                  <a:pt x="657473" y="28955"/>
                </a:lnTo>
                <a:lnTo>
                  <a:pt x="664458" y="39496"/>
                </a:lnTo>
                <a:lnTo>
                  <a:pt x="653806" y="46652"/>
                </a:lnTo>
                <a:lnTo>
                  <a:pt x="670808" y="73151"/>
                </a:lnTo>
                <a:lnTo>
                  <a:pt x="697126" y="28955"/>
                </a:lnTo>
                <a:close/>
              </a:path>
              <a:path w="839470" h="2573020">
                <a:moveTo>
                  <a:pt x="657473" y="28955"/>
                </a:moveTo>
                <a:lnTo>
                  <a:pt x="646974" y="36003"/>
                </a:lnTo>
                <a:lnTo>
                  <a:pt x="653806" y="46652"/>
                </a:lnTo>
                <a:lnTo>
                  <a:pt x="664458" y="39496"/>
                </a:lnTo>
                <a:lnTo>
                  <a:pt x="657473" y="28955"/>
                </a:lnTo>
                <a:close/>
              </a:path>
              <a:path w="839470" h="2573020">
                <a:moveTo>
                  <a:pt x="714369" y="0"/>
                </a:moveTo>
                <a:lnTo>
                  <a:pt x="629660" y="9016"/>
                </a:lnTo>
                <a:lnTo>
                  <a:pt x="646974" y="36003"/>
                </a:lnTo>
                <a:lnTo>
                  <a:pt x="657473" y="28955"/>
                </a:lnTo>
                <a:lnTo>
                  <a:pt x="697126" y="28955"/>
                </a:lnTo>
                <a:lnTo>
                  <a:pt x="714369" y="0"/>
                </a:lnTo>
                <a:close/>
              </a:path>
            </a:pathLst>
          </a:custGeom>
          <a:solidFill xmlns:a="http://schemas.openxmlformats.org/drawingml/2006/main">
            <a:srgbClr val="003193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02621F48-8DF4-475F-B49A-6846BD78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1728" y="4024375"/>
            <a:ext cx="338455" cy="292735"/>
          </a:xfrm>
          <a:custGeom xmlns:a="http://schemas.openxmlformats.org/drawingml/2006/main">
            <a:rect l="l" t="t" r="r" b="b"/>
            <a:pathLst>
              <a:path w="338454" h="292735">
                <a:moveTo>
                  <a:pt x="338328" y="155448"/>
                </a:moveTo>
                <a:lnTo>
                  <a:pt x="194564" y="155448"/>
                </a:lnTo>
                <a:lnTo>
                  <a:pt x="194564" y="164084"/>
                </a:lnTo>
                <a:lnTo>
                  <a:pt x="194564" y="173482"/>
                </a:lnTo>
                <a:lnTo>
                  <a:pt x="186944" y="181229"/>
                </a:lnTo>
                <a:lnTo>
                  <a:pt x="151384" y="181229"/>
                </a:lnTo>
                <a:lnTo>
                  <a:pt x="143764" y="173482"/>
                </a:lnTo>
                <a:lnTo>
                  <a:pt x="143764" y="155448"/>
                </a:lnTo>
                <a:lnTo>
                  <a:pt x="0" y="155448"/>
                </a:lnTo>
                <a:lnTo>
                  <a:pt x="0" y="284988"/>
                </a:lnTo>
                <a:lnTo>
                  <a:pt x="7620" y="292608"/>
                </a:lnTo>
                <a:lnTo>
                  <a:pt x="330708" y="292608"/>
                </a:lnTo>
                <a:lnTo>
                  <a:pt x="338328" y="284988"/>
                </a:lnTo>
                <a:lnTo>
                  <a:pt x="338328" y="155448"/>
                </a:lnTo>
                <a:close/>
              </a:path>
              <a:path w="338454" h="292735">
                <a:moveTo>
                  <a:pt x="338328" y="62611"/>
                </a:moveTo>
                <a:lnTo>
                  <a:pt x="330708" y="55245"/>
                </a:lnTo>
                <a:lnTo>
                  <a:pt x="236855" y="55245"/>
                </a:lnTo>
                <a:lnTo>
                  <a:pt x="236855" y="28702"/>
                </a:lnTo>
                <a:lnTo>
                  <a:pt x="235991" y="24511"/>
                </a:lnTo>
                <a:lnTo>
                  <a:pt x="234543" y="17475"/>
                </a:lnTo>
                <a:lnTo>
                  <a:pt x="228244" y="8356"/>
                </a:lnTo>
                <a:lnTo>
                  <a:pt x="218846" y="2235"/>
                </a:lnTo>
                <a:lnTo>
                  <a:pt x="211455" y="812"/>
                </a:lnTo>
                <a:lnTo>
                  <a:pt x="211455" y="26162"/>
                </a:lnTo>
                <a:lnTo>
                  <a:pt x="211455" y="55245"/>
                </a:lnTo>
                <a:lnTo>
                  <a:pt x="126873" y="55245"/>
                </a:lnTo>
                <a:lnTo>
                  <a:pt x="126873" y="26162"/>
                </a:lnTo>
                <a:lnTo>
                  <a:pt x="128524" y="24511"/>
                </a:lnTo>
                <a:lnTo>
                  <a:pt x="209804" y="24511"/>
                </a:lnTo>
                <a:lnTo>
                  <a:pt x="211455" y="26162"/>
                </a:lnTo>
                <a:lnTo>
                  <a:pt x="211455" y="812"/>
                </a:lnTo>
                <a:lnTo>
                  <a:pt x="207264" y="0"/>
                </a:lnTo>
                <a:lnTo>
                  <a:pt x="131064" y="0"/>
                </a:lnTo>
                <a:lnTo>
                  <a:pt x="119468" y="2235"/>
                </a:lnTo>
                <a:lnTo>
                  <a:pt x="110070" y="8356"/>
                </a:lnTo>
                <a:lnTo>
                  <a:pt x="103771" y="17475"/>
                </a:lnTo>
                <a:lnTo>
                  <a:pt x="101473" y="28702"/>
                </a:lnTo>
                <a:lnTo>
                  <a:pt x="101473" y="55245"/>
                </a:lnTo>
                <a:lnTo>
                  <a:pt x="7620" y="55245"/>
                </a:lnTo>
                <a:lnTo>
                  <a:pt x="0" y="62611"/>
                </a:lnTo>
                <a:lnTo>
                  <a:pt x="0" y="137160"/>
                </a:lnTo>
                <a:lnTo>
                  <a:pt x="143764" y="137160"/>
                </a:lnTo>
                <a:lnTo>
                  <a:pt x="143764" y="129032"/>
                </a:lnTo>
                <a:lnTo>
                  <a:pt x="194564" y="129032"/>
                </a:lnTo>
                <a:lnTo>
                  <a:pt x="194564" y="137160"/>
                </a:lnTo>
                <a:lnTo>
                  <a:pt x="338328" y="137160"/>
                </a:lnTo>
                <a:lnTo>
                  <a:pt x="338328" y="129032"/>
                </a:lnTo>
                <a:lnTo>
                  <a:pt x="338328" y="62611"/>
                </a:lnTo>
                <a:close/>
              </a:path>
            </a:pathLst>
          </a:custGeom>
          <a:solidFill xmlns:a="http://schemas.openxmlformats.org/drawingml/2006/main">
            <a:srgbClr val="EC7C3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29062078"/>
      </p:ext>
    </p:extLst>
  </p:cSld>
</p:sld>
</file>

<file path=ppt/slides/slide1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edff2c91040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1AA1E7A5-BC36-4AD3-8F3B-0E8F5E96E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9492" y="380492"/>
            <a:ext cx="4415790" cy="948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413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3460"/>
              </a:lnSpc>
              <a:spcBef>
                <a:spcPts val="505"/>
              </a:spcBef>
              <a:buNone/>
            </a:pPr>
            <a:r>
              <a:rPr>
                <a:solidFill>
                  <a:srgbClr val="003E34"/>
                </a:solidFill>
              </a:rPr>
              <a:t>Fabric</a:t>
            </a:r>
            <a:r>
              <a:rPr spc="75">
                <a:solidFill>
                  <a:srgbClr val="003E34"/>
                </a:solidFill>
              </a:rPr>
              <a:t> </a:t>
            </a:r>
            <a:r>
              <a:rPr>
                <a:solidFill>
                  <a:srgbClr val="003E34"/>
                </a:solidFill>
              </a:rPr>
              <a:t>Healthcare</a:t>
            </a:r>
            <a:r>
              <a:rPr spc="80">
                <a:solidFill>
                  <a:srgbClr val="003E34"/>
                </a:solidFill>
              </a:rPr>
              <a:t> </a:t>
            </a:r>
            <a:r>
              <a:rPr spc="-20">
                <a:solidFill>
                  <a:srgbClr val="003E34"/>
                </a:solidFill>
              </a:rPr>
              <a:t>Data </a:t>
            </a:r>
            <a:r>
              <a:rPr spc="-10">
                <a:solidFill>
                  <a:srgbClr val="003E34"/>
                </a:solidFill>
              </a:rPr>
              <a:t>Solutions</a:t>
            </a:r>
          </a:p>
        </p:txBody>
      </p:sp>
      <p:pic>
        <p:nvPicPr>
          <p:cNvPr id="8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019e0a89c4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983" y="1609763"/>
            <a:ext cx="9966960" cy="46645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66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2E5D573-825D-4BFA-A936-D8563F58F4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7194" y="1572971"/>
            <a:ext cx="10543540" cy="14211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9906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5190"/>
              </a:lnSpc>
              <a:spcBef>
                <a:spcPts val="780"/>
              </a:spcBef>
              <a:buNone/>
            </a:pPr>
            <a:r>
              <a:rPr sz="4800"/>
              <a:t>The</a:t>
            </a:r>
            <a:r>
              <a:rPr sz="4800" spc="-114"/>
              <a:t> </a:t>
            </a:r>
            <a:r>
              <a:rPr sz="4800"/>
              <a:t>case:</a:t>
            </a:r>
            <a:r>
              <a:rPr sz="4800" spc="-55"/>
              <a:t> </a:t>
            </a:r>
            <a:r>
              <a:rPr sz="4800"/>
              <a:t>knee</a:t>
            </a:r>
            <a:r>
              <a:rPr sz="4800" spc="-105"/>
              <a:t> </a:t>
            </a:r>
            <a:r>
              <a:rPr sz="4800"/>
              <a:t>replacement</a:t>
            </a:r>
            <a:r>
              <a:rPr sz="4800" spc="-55"/>
              <a:t> </a:t>
            </a:r>
            <a:r>
              <a:rPr sz="4800"/>
              <a:t>on</a:t>
            </a:r>
            <a:r>
              <a:rPr sz="4800" spc="-80"/>
              <a:t> </a:t>
            </a:r>
            <a:r>
              <a:rPr sz="4800" spc="-25"/>
              <a:t>NHS </a:t>
            </a:r>
            <a:r>
              <a:rPr sz="4800" spc="-10"/>
              <a:t>PROMs</a:t>
            </a:r>
            <a:endParaRPr sz="4800"/>
          </a:p>
        </p:txBody>
      </p:sp>
    </p:spTree>
    <p:extLst>
      <p:ext uri="{BB962C8B-B14F-4D97-AF65-F5344CB8AC3E}">
        <p14:creationId xmlns:p14="http://schemas.microsoft.com/office/powerpoint/2010/main" val="15590685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B13F2-85C5-4CAE-BF45-C65CFA9B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C75EE-4400-4333-8933-2EBB277F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19848-FB16-4B10-935C-F3473AF4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68B27-7BEB-4C47-8BCC-1B00E66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95173-1F25-4864-BEC0-A3D5D3E0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75E6F-D211-429C-AB73-7383668A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NHS PROMs: the prediction starts before surgery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3C582-48CF-4BFA-849F-38AF57F0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A pre-operative cohort, a six-month outcome, and a clinically meaningful threshold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88559-C989-4503-A0C6-25496A27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One row per episode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BDE95-9A2F-4C27-8BD3-3D66AEE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7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Pre-operative OKS, EQ-5D-3L, comorbidities, mobility and provider context form the feature set. The outcome arrives when the patient returns the questionnaire six months later.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FFE78-D6C2-4CC2-ABC8-269966BF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266950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4A4A1-F8FD-4DDD-902D-4A032B24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PRE-OPERATIVE 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2BE7A-5559-49FA-B503-3CB5A767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2266950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BB347-387C-4095-9A90-4A88F568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 AT 6 MONTHS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ec1bab694400d"/>
          <a:stretch xmlns:a="http://schemas.openxmlformats.org/drawingml/2006/main"/>
        </p:blipFill>
        <p:spPr>
          <a:xfrm xmlns:a="http://schemas.openxmlformats.org/drawingml/2006/main">
            <a:off x="5157659" y="1619250"/>
            <a:ext cx="6162932" cy="4000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1651B-40C6-4FF3-8473-B9C4B40E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150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knee cohort concentrates around a positive change, which makes the “poor outcome” definition a clinical choice rather than a generic label.</a:t>
            </a:r>
          </a:p>
        </p:txBody>
      </p:sp>
    </p:spTree>
    <p:extLst>
      <p:ext uri="{BB962C8B-B14F-4D97-AF65-F5344CB8AC3E}">
        <p14:creationId xmlns:p14="http://schemas.microsoft.com/office/powerpoint/2010/main" val="1244004920"/>
      </p:ext>
    </p:extLst>
  </p:cSld>
</p:sld>
</file>

<file path=ppt/slides/slide16.xml><?xml version="1.0" encoding="utf-8"?>
<p:sld xmlns:p="http://schemas.openxmlformats.org/presentationml/2006/main" showMasterSp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52" name="object 11"/>
          <p:cNvGraphicFramePr/>
          <p:nvPr/>
        </p:nvGraphicFramePr>
        <p:xfrm>
          <a:off xmlns:a="http://schemas.openxmlformats.org/drawingml/2006/main" x="8970264" y="1792693"/>
          <a:ext xmlns:a="http://schemas.openxmlformats.org/drawingml/2006/main" cx="2152015" cy="201803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70"/>
                <a:gridCol w="210184"/>
                <a:gridCol w="210185"/>
                <a:gridCol w="210184"/>
                <a:gridCol w="214630"/>
                <a:gridCol w="210184"/>
                <a:gridCol w="210184"/>
                <a:gridCol w="210185"/>
                <a:gridCol w="214630"/>
                <a:gridCol w="191769"/>
              </a:tblGrid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</a:tr>
            </a:tbl>
          </a:graphicData>
        </a:graphic>
      </p:graphicFrame>
      <p:pic>
        <p:nvPicPr>
          <p:cNvPr id="53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0122eb81a4b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81277" y="2009864"/>
            <a:ext cx="180791" cy="122526"/>
          </a:xfrm>
          <a:prstGeom xmlns:a="http://schemas.openxmlformats.org/drawingml/2006/main" prst="rect">
            <a:avLst/>
          </a:prstGeom>
        </p:spPr>
      </p:pic>
      <p:pic>
        <p:nvPicPr>
          <p:cNvPr id="54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793f8d0e94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75074" y="1600132"/>
            <a:ext cx="65497" cy="67569"/>
          </a:xfrm>
          <a:prstGeom xmlns:a="http://schemas.openxmlformats.org/drawingml/2006/main" prst="rect">
            <a:avLst/>
          </a:prstGeom>
        </p:spPr>
      </p:pic>
      <p:pic>
        <p:nvPicPr>
          <p:cNvPr id="55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c1ab8ba51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601197" y="1600160"/>
            <a:ext cx="65908" cy="67898"/>
          </a:xfrm>
          <a:prstGeom xmlns:a="http://schemas.openxmlformats.org/drawingml/2006/main" prst="rect">
            <a:avLst/>
          </a:prstGeom>
        </p:spPr>
      </p:pic>
      <p:graphicFrame>
        <p:nvGraphicFramePr>
          <p:cNvPr id="56" name="object 23"/>
          <p:cNvGraphicFramePr/>
          <p:nvPr/>
        </p:nvGraphicFramePr>
        <p:xfrm>
          <a:off xmlns:a="http://schemas.openxmlformats.org/drawingml/2006/main" x="6382511" y="1792693"/>
          <a:ext xmlns:a="http://schemas.openxmlformats.org/drawingml/2006/main" cx="2152015" cy="201803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850"/>
                <a:gridCol w="210820"/>
                <a:gridCol w="215264"/>
                <a:gridCol w="210820"/>
                <a:gridCol w="210819"/>
                <a:gridCol w="210819"/>
                <a:gridCol w="210819"/>
                <a:gridCol w="210819"/>
                <a:gridCol w="210819"/>
                <a:gridCol w="192405"/>
              </a:tblGrid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0B8F5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E48E1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1E48E1"/>
                    </a:solidFill>
                  </a:tcPr>
                </a:tc>
              </a:tr>
            </a:tbl>
          </a:graphicData>
        </a:graphic>
      </p:graphicFrame>
      <p:pic>
        <p:nvPicPr>
          <p:cNvPr id="57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1a5996d824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97887" y="5241937"/>
            <a:ext cx="132282" cy="134142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BBE41F-D125-453D-B0EF-B055ABF0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9D5D4C-894D-437F-8187-C972CAC6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730D62-4505-44CF-B782-3CDDC673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C59045-3F08-4EC9-B5B7-94541E13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FA19C9-2912-4CA4-949D-89A57DA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D216E8-8A1E-4398-A5C0-89E8DF1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What counts as a poor outcome?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23342B-E5DE-41CE-81EA-D29F1CAB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Oxford Knee Score runs from 0 to 48. A 7-point improvement is used as the minimum clinically important difference.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4796CE-A9EA-4F4B-9094-65DCE5DF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381500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16CCBE-7D8E-4BDB-B917-15A4A50C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0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OKS at six months − OKS before surgery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DF125C-DB5C-453C-BD85-0935F925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12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62E29"/>
                </a:solidFill>
                <a:latin typeface="Aptos"/>
                <a:ea typeface="Aptos"/>
                <a:cs typeface="Aptos"/>
              </a:rPr>
              <a:t>&lt; 7 points</a:t>
            </a:r>
          </a:p>
          <a:p xmlns:a="http://schemas.openxmlformats.org/drawingml/2006/main">
            <a:pPr algn="l">
              <a:defRPr sz="1650" b="0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62E29"/>
                </a:solidFill>
                <a:latin typeface="Aptos"/>
                <a:ea typeface="Aptos"/>
                <a:cs typeface="Aptos"/>
              </a:rPr>
              <a:t>Poor outcome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62E29"/>
                </a:solidFill>
                <a:latin typeface="Aptos"/>
                <a:ea typeface="Aptos"/>
                <a:cs typeface="Aptos"/>
              </a:rPr>
              <a:t>≥ 7 points</a:t>
            </a:r>
          </a:p>
          <a:p xmlns:a="http://schemas.openxmlformats.org/drawingml/2006/main">
            <a:pPr algn="l">
              <a:defRPr sz="1650" b="0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62E29"/>
                </a:solidFill>
                <a:latin typeface="Aptos"/>
                <a:ea typeface="Aptos"/>
                <a:cs typeface="Aptos"/>
              </a:rPr>
              <a:t>Meaningful improvement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A2D85A-D3E8-4DB5-B7BE-626B9857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1238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BB1FF8-AF2D-4912-AC97-E514A4CD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67125"/>
            <a:ext cx="2000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2577C7-6E36-4D21-9506-4C02B0FF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model only receives information available before the decision to operate.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74173D-A3E5-4459-AA7D-8745BE06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238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That keeps the score suitable for a pre-operative conversation. It does not diagnose a patient or decide treatment.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E51DD6-750A-4568-9B99-089AC7F4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993C04-F060-4EDF-85DD-D4A9CF2E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339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CLINICAL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837237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0A149-FF3E-4A91-9CFC-5ED5D435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257EB-267F-4E35-80E2-BAB21A86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9B02B-1C5B-4936-BF38-99A1AC54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13290-E62A-46EC-9317-B062DCF2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ADFC8-84D9-4AE1-B645-72B35936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FD07F-8DCC-40B8-9CC1-A4B7355A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Exploration drove the modelling choices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90D8C-6D7D-476D-A321-C70D54B0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notebook outputs keep the choices inspectable instead of hiding them inside training code.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ffa45822340ac"/>
          <a:stretch xmlns:a="http://schemas.openxmlformats.org/drawingml/2006/main"/>
        </p:blipFill>
        <p:spPr>
          <a:xfrm xmlns:a="http://schemas.openxmlformats.org/drawingml/2006/main">
            <a:off x="523875" y="1494664"/>
            <a:ext cx="7096125" cy="442112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04A0B-B97E-4EAB-BF87-52542463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3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Three questions before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680F9-66E8-409B-BE75-4A5503D1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How common is the poor-outcome class?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Which variables are missing by design?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Which threshold fits the capacity for follow-up?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D64BB-6FF9-4739-AC39-F99310B2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86375"/>
            <a:ext cx="3286125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1F1DE-A733-4FA1-BFB1-8CBBFD62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53050"/>
            <a:ext cx="3057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NOTEBOOK 31: READ-ONLY EXPLORATION</a:t>
            </a:r>
          </a:p>
        </p:txBody>
      </p:sp>
    </p:spTree>
    <p:extLst>
      <p:ext uri="{BB962C8B-B14F-4D97-AF65-F5344CB8AC3E}">
        <p14:creationId xmlns:p14="http://schemas.microsoft.com/office/powerpoint/2010/main" val="17333172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844F8-6F72-47D8-A6CC-4C9D86DE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2FCE6-8BD5-4D2A-B956-DF7586BD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5409F-AF8D-43FD-9860-2F43246F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553B7-ED1E-4DAD-B763-0486F87B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58490-0DAB-4E1D-B4DD-BAFFFB5E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FCED3-1E20-4DCA-87F9-08005C8C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Train and test split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CF44A-9141-4EE8-A3ED-46CC8F1C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preprocessing pipeline is fitted on training data only. The held-out set stays untouched until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75650-7AFD-48EE-9F54-E5758E0B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6F3F7-9553-496D-8CC9-7BA71D9C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0FCCA-02D8-4CCA-9980-0C45033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Stratified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632CB-90BF-4ECF-B5D0-09C900C7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Preserve the poor-outcome rate in both 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60D63-EE8F-4F6A-A15B-B68FFC51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9075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66789-D310-4EF1-93F3-84A9A186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C3B15-F23B-43E4-99AD-3E08918E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48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Fit transforms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882A6-EE77-42F3-AED0-2D57FFBA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385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Imputation and encoding learn from training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CBA08-79C9-4BAF-B3B3-98D933F8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7A013-5721-4A81-9758-EF419DF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541EE-FC0E-4FA0-9DDC-5874F44A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Evaluate once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641FA-1FBE-48F4-B4CD-76CA028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Use the held-out cohort for model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D2648-E142-460E-80B5-F138368C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1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Leakage prevention is part of the model design, not a last-minute validation check.</a:t>
            </a:r>
          </a:p>
        </p:txBody>
      </p:sp>
    </p:spTree>
    <p:extLst>
      <p:ext uri="{BB962C8B-B14F-4D97-AF65-F5344CB8AC3E}">
        <p14:creationId xmlns:p14="http://schemas.microsoft.com/office/powerpoint/2010/main" val="18846113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A1F6A-261D-4431-B237-C1199D9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B6769-D61A-46AF-B302-3BA36430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2366D-C002-4041-93DA-1520BBCA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FB449-654A-45D5-90C7-8496DD88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942FC-6740-4D5A-A0AF-A42DA60A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542E3-830B-402F-803E-9607E68C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Model selection favoured an explainable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8A6B2-705D-40C6-B4BE-C9998F2D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experiment compared linear baselines, tree models and an Explainable Boosting Machine.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c32e9aceb41a1"/>
          <a:stretch xmlns:a="http://schemas.openxmlformats.org/drawingml/2006/main"/>
        </p:blipFill>
        <p:spPr>
          <a:xfrm xmlns:a="http://schemas.openxmlformats.org/drawingml/2006/main">
            <a:off x="552450" y="2699495"/>
            <a:ext cx="6762750" cy="210670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5C0E6-6C75-436A-8A9F-D94561EF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Why the EBM?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4EE18-C168-418B-A1DE-839DCC6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33650"/>
            <a:ext cx="3190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It provides a calibrated risk score and a direct explanation of how each input shifts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That lets clinicians inspect both the model-wide pattern and the individual prediction.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D3F4A-E61C-4439-B7E0-B11E98FB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DE91F-28E0-4247-9C47-4A375DAF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01967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GLASSBOX MODEL</a:t>
            </a:r>
          </a:p>
        </p:txBody>
      </p:sp>
    </p:spTree>
    <p:extLst>
      <p:ext uri="{BB962C8B-B14F-4D97-AF65-F5344CB8AC3E}">
        <p14:creationId xmlns:p14="http://schemas.microsoft.com/office/powerpoint/2010/main" val="15218894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81E5F-FEA7-41AE-A630-DCD6E6DE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1C7AC-C280-4622-8A63-867F30FF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74C95-70A1-46DF-BEF7-7D9EA77B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A10FA-259D-407A-B492-3435C694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C53B9-7579-481F-8347-E8385859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37CDD-406F-4004-A326-3BD9FCAF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Performance depends on the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F8A1F-5282-46BC-9445-443AADBD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Precision rises as the flagging threshold rises. Recall falls. The operating point is a care-pathway decision.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8f8b65bc9452d"/>
          <a:stretch xmlns:a="http://schemas.openxmlformats.org/drawingml/2006/main"/>
        </p:blipFill>
        <p:spPr>
          <a:xfrm xmlns:a="http://schemas.openxmlformats.org/drawingml/2006/main">
            <a:off x="608210" y="1524000"/>
            <a:ext cx="6651230" cy="4457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5AAFB-AF98-4C56-BFA2-320ECF95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94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A score is not a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61F81-C535-4D0C-9EE0-B156297D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model estimates risk. The service chooses the threshold based on how many patients it can support and the cost of missed cases.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C9215-E9F2-4977-82B4-35369D31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181350" cy="1095375"/>
          </a:xfrm>
          <a:prstGeom xmlns:a="http://schemas.openxmlformats.org/drawingml/2006/main" prst="roundRect">
            <a:avLst>
              <a:gd name="adj" fmla="val 6957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B05A7-DA54-4814-A443-24E5693B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Threshold</a:t>
            </a:r>
          </a:p>
          <a:p xmlns:a="http://schemas.openxmlformats.org/drawingml/2006/main">
            <a:pPr algn="ctr">
              <a:defRPr sz="18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Policy choice</a:t>
            </a:r>
          </a:p>
        </p:txBody>
      </p:sp>
    </p:spTree>
    <p:extLst>
      <p:ext uri="{BB962C8B-B14F-4D97-AF65-F5344CB8AC3E}">
        <p14:creationId xmlns:p14="http://schemas.microsoft.com/office/powerpoint/2010/main" val="6044124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4F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F6893-D9E5-439D-9F9B-DE459780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44693-1684-4847-AFE5-168AC4A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1F663-30CE-4A2E-A45F-CB0C065D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376FF-3BB1-4F09-8BE4-6B18621E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600F5-719A-4651-A331-A2E2A555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F3F07-2102-4004-9411-305D9325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A model a clinician can argue with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348AE-9C02-4254-86C7-334EBAF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behaviour, local explanations, and calibration</a:t>
            </a:r>
          </a:p>
        </p:txBody>
      </p:sp>
    </p:spTree>
    <p:extLst>
      <p:ext uri="{BB962C8B-B14F-4D97-AF65-F5344CB8AC3E}">
        <p14:creationId xmlns:p14="http://schemas.microsoft.com/office/powerpoint/2010/main" val="18876510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08043-1E83-43A1-8336-BAFEF819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2F198-F4D3-4A4D-A928-45399094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0EE1B-D739-453A-98BF-3CD88812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9A373-6204-4A79-9390-CDCABD3E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67DC6-A12F-41BD-B4E5-721BD1A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D5D1E-1C09-48E9-9774-FA8B2670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Calibration makes a risk score interpretable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4F8EB-C9FB-470D-9221-92BAED9D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When the model estimates 34%, the observed poor-outcome rate should be close to 34% for similar patients.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f2cc8c86e4651"/>
          <a:stretch xmlns:a="http://schemas.openxmlformats.org/drawingml/2006/main"/>
        </p:blipFill>
        <p:spPr>
          <a:xfrm xmlns:a="http://schemas.openxmlformats.org/drawingml/2006/main">
            <a:off x="619125" y="2174328"/>
            <a:ext cx="7620000" cy="289034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ABB27-DE6C-4878-99EE-50436E4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4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A probability needs a reality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50FCE-C402-451E-885E-44482255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333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curve follows the diagonal closely across the observed probability range. The distribution shows most patients below high-risk territory.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A784E-9EA9-4DEA-83C4-4BEDCBC8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95875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C3104-55D0-49AD-A1A3-E8233A8D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625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CALIBRATED EBM</a:t>
            </a:r>
          </a:p>
        </p:txBody>
      </p:sp>
    </p:spTree>
    <p:extLst>
      <p:ext uri="{BB962C8B-B14F-4D97-AF65-F5344CB8AC3E}">
        <p14:creationId xmlns:p14="http://schemas.microsoft.com/office/powerpoint/2010/main" val="12888980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5571E-CC6A-4C5E-8389-4D978FCF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141D0-DDFE-4D7A-9665-B94C7EFB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F3F85-9162-4FAE-ABE1-9971DD55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017C1-6476-4A13-88FF-E3EADD34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0F076-7995-4C92-AD15-D62D0045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F3A18-E777-49F9-8675-BB6D7559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Each patient receives a local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4DAEA-4E15-44AA-8A7D-559E1B16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model exposes signed feature contributions instead of a black-box score.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cf2a524d54859"/>
          <a:stretch xmlns:a="http://schemas.openxmlformats.org/drawingml/2006/main"/>
        </p:blipFill>
        <p:spPr>
          <a:xfrm xmlns:a="http://schemas.openxmlformats.org/drawingml/2006/main">
            <a:off x="455512" y="1571625"/>
            <a:ext cx="8232976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CEC44-299D-47AE-BED5-F16685B2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7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What changes the conversation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197E7-25B5-46C6-AEE8-5128EEB0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14625"/>
            <a:ext cx="219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clinician can see which pre-operative factors push risk up or down, then decide whether the result fits the patient’s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23EED-4E1F-4313-848D-5F21C225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EA6DF-F1BB-4E4E-8BFB-1406D574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196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EXPLANATION</a:t>
            </a:r>
          </a:p>
        </p:txBody>
      </p:sp>
    </p:spTree>
    <p:extLst>
      <p:ext uri="{BB962C8B-B14F-4D97-AF65-F5344CB8AC3E}">
        <p14:creationId xmlns:p14="http://schemas.microsoft.com/office/powerpoint/2010/main" val="20908512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3B482-2C07-4E83-B99E-D157C648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2E5DA-E105-4325-9590-9362E53A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A5556-E09A-45A0-9BA4-FBCCD3AE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E210B-1A5D-46D3-8383-D1D8203F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819CD-5501-4986-960D-DCFB5A89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84F9A-63A0-4A46-A47E-3F79143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Global patterns remain inspectable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A4397-B554-4BF4-A1E3-A52E450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A transparent model supports a discussion about patterns across the cohort as well as a discussion about one patient.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41b9308984903"/>
          <a:stretch xmlns:a="http://schemas.openxmlformats.org/drawingml/2006/main"/>
        </p:blipFill>
        <p:spPr>
          <a:xfrm xmlns:a="http://schemas.openxmlformats.org/drawingml/2006/main">
            <a:off x="1064475" y="1524000"/>
            <a:ext cx="6100650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8A181-6F6B-40D2-B7FB-595534BE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1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Two views of the same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D6019-55AD-461E-B837-01CA3556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Global view</a:t>
            </a:r>
          </a:p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Which pre-operative features matter most across the cohort?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Local view</a:t>
            </a:r>
          </a:p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Why did this patient receive this score?</a:t>
            </a:r>
          </a:p>
        </p:txBody>
      </p:sp>
    </p:spTree>
    <p:extLst>
      <p:ext uri="{BB962C8B-B14F-4D97-AF65-F5344CB8AC3E}">
        <p14:creationId xmlns:p14="http://schemas.microsoft.com/office/powerpoint/2010/main" val="10463582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E38C4-53C4-41DC-915A-9462B7DD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63D19-433F-4E25-949A-96D231F7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B984C-9348-466A-A8E5-D9AAE906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CFE1D-1E2F-4324-9F83-9E55F675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ABE19-5B6A-4F51-9DDB-446F51E5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7E396-B7DA-40DC-B835-FEB31AE2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A score must survive an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F43A4-DD7A-47B6-9CEF-8BC737B0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model record joins the data version, feature set, threshold and model version to the clinical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47184-807B-48F4-BDF3-541395D9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05125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C6285-1DED-4628-B753-4ED3B2C4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Gold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1B81C-701D-4314-AEF1-B714839C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Delta 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45F5B-B0CE-4223-83CA-6CF89344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76600"/>
            <a:ext cx="30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146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9E43A-EB90-4148-B059-E9F72908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05125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C9900-C1AE-4CC3-991D-3FFFB5D1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Training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B2A4F-07F9-489A-9677-9CF8D9E5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52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9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Parameters +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F4239-AAB8-44B6-A051-9BB481BE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76600"/>
            <a:ext cx="30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146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8F587-C5DF-40E6-8935-CE358DDC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05125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D69AF-ED72-4D9E-86A3-A5272FEE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Registered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0CD60-8D19-4244-9763-78A22EC7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52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Version + tags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F7F981-508D-404E-A26D-ACA6F53F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76600"/>
            <a:ext cx="30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146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1BC5B-0553-4FC1-BD9A-6E7830B6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734B3-2A9E-4C3C-B1B7-7C0A32CC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Patient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4C3B3-E73E-4285-9AB9-A881EE4B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52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Risk + explanation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75983-6988-475E-BB5D-F90AB8A3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76600"/>
            <a:ext cx="30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146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0475E-DD1D-435D-B1C5-32C7037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05125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73597-9EC9-4D05-A007-444C5973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Review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B5A10-1E3B-4517-9F8E-4F53ACC6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52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Clinician 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DE1F2-80FC-4248-A4D4-EE4AC669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“Which input created this score, and who acted on it?”</a:t>
            </a:r>
          </a:p>
        </p:txBody>
      </p:sp>
    </p:spTree>
    <p:extLst>
      <p:ext uri="{BB962C8B-B14F-4D97-AF65-F5344CB8AC3E}">
        <p14:creationId xmlns:p14="http://schemas.microsoft.com/office/powerpoint/2010/main" val="19458704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7A48B-8CE5-4226-A67C-051920E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23C6E-5C7A-43C9-8016-7FB81D82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07C4B-66DA-4BB5-8573-6C08A1A0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42621-369E-46BF-A975-80F3CB08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A4862-F03A-4FC8-980E-4202649B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E38BD-D96F-48EF-B370-199126F0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From experiment to registered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06A08-5C21-4EA3-A5D2-FB1DB020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Fabric keeps the training lineage and the deployable model in the same governed estate.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0FBCD-5ED4-48F9-9368-8868FB17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ML experiment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CD147-66A1-471E-9726-5C1DD18A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252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Each training run records metrics and explicit tags such as data version and interpretability.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8933A-E216-4002-A3C3-79EC2ABA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81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Registered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E66FE-C1C0-4D99-889F-D7B8C82E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24125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selected calibrated EBM receives a version and a champion alias before it reaches scoring.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DD4C5-867F-4BEF-B46B-D244410D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81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Scored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1F236-0CFD-413C-899E-2CC441E9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241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Batch scoring writes risk and explanation tables that the clinician app reads.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047B5-11F2-4EF0-998A-304F809E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05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44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88F07-C05A-42B3-9D6F-E6E3412F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44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69885-D33D-4855-9043-7C22DC23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714DC-B2E8-4D6F-9760-17B8166E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No model file needs to leave the estate to reach the workflow.</a:t>
            </a:r>
          </a:p>
        </p:txBody>
      </p:sp>
    </p:spTree>
    <p:extLst>
      <p:ext uri="{BB962C8B-B14F-4D97-AF65-F5344CB8AC3E}">
        <p14:creationId xmlns:p14="http://schemas.microsoft.com/office/powerpoint/2010/main" val="5168191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4F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EFAEA-CFF6-4499-8DFD-BB7197E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AD33C-7813-4440-9C6B-B1F915A7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F221A-7C44-403A-AE60-1BFD150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3469F-3D1D-4D7B-9253-95C93C53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0B56B-1928-4E3C-AFD6-448ED6D6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5C544-9BBB-4A9F-A9C9-E218B907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Delivery inside the governed estate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B448E-D162-45F2-B39B-1A412FD0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385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Versioned model · scored cohort · clinician workflow · access policy</a:t>
            </a:r>
          </a:p>
        </p:txBody>
      </p:sp>
    </p:spTree>
    <p:extLst>
      <p:ext uri="{BB962C8B-B14F-4D97-AF65-F5344CB8AC3E}">
        <p14:creationId xmlns:p14="http://schemas.microsoft.com/office/powerpoint/2010/main" val="861412796"/>
      </p:ext>
    </p:extLst>
  </p:cSld>
</p:sld>
</file>

<file path=ppt/slides/slide28.xml><?xml version="1.0" encoding="utf-8"?>
<p:sld xmlns:p="http://schemas.openxmlformats.org/presentationml/2006/main" showMasterSp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26250a91d4a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21CCB-4C8F-4624-8D19-A688F591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5E699-AA7A-4B03-8790-43ABC9BD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183D8-E32B-4011-8F2A-9CF524E0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5FFBD-3079-413C-B230-B337ECD0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B892F-948C-4640-A45F-91317F2C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F9764-49DC-41C0-8B0E-9A07AB36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score carries its own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FAD6E-397D-4CEA-AA85-D1E8A222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endpoint response brings risk, threshold, top contributions and lineage metadata together.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5E989-AA07-4D8E-B727-0816E5B8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57225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EE10F-0384-4FAE-A9D5-CA8A1078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5524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"episode_id": "…",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"risk": 0.34,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"threshold": 0.50,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"flagged": false,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"contributions": [ … ],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"model_version": "champion",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"gold_table_version": 7</a:t>
            </a:r>
          </a:p>
          <a:p xmlns:a="http://schemas.openxmlformats.org/drawingml/2006/main">
            <a:pPr algn="l">
              <a:defRPr sz="16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116DF-FA5A-4A55-AC2C-A27CFC76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2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response is designed for the next human question: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200AC-B62F-4D90-B2A0-34C39DB1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037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3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“Why this score?”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“Which model and data version produced it?”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“Was the patient flagged at the active threshold?”</a:t>
            </a:r>
          </a:p>
        </p:txBody>
      </p:sp>
    </p:spTree>
    <p:extLst>
      <p:ext uri="{BB962C8B-B14F-4D97-AF65-F5344CB8AC3E}">
        <p14:creationId xmlns:p14="http://schemas.microsoft.com/office/powerpoint/2010/main" val="15115110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AABD8-B896-4EEF-8A65-125CCCDF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3D3C8-D5B7-4ECC-B721-6E6CAB62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00DC7-2882-467E-8052-7D77DCA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51337-B9C1-427B-9FE7-D83C2B90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2BE43-00EE-4C49-B884-D8750D9D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A5302-CE86-4EAF-AC74-2C43C78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clinician app turns a score into a review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C6BCE-BEC3-409B-85E5-B6B75623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app uses the scored cohort and explanation tables, without exposing a generic model interface to a clinician.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F842F-8CF6-4C40-BCB7-60955032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476750" cy="3905250"/>
          </a:xfrm>
          <a:prstGeom xmlns:a="http://schemas.openxmlformats.org/drawingml/2006/main" prst="roundRect">
            <a:avLst>
              <a:gd name="adj" fmla="val 1951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96A52-7B7D-4911-BE99-D7E4CE0F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478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Patient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89C66-7448-4F9E-BC30-E860EA99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17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Risk band</a:t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High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Why?</a:t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Reduced mobility</a:t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Baseline pain</a:t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Prior surgery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Record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B710D-DC14-4A9A-B056-6C40FE9F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56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workflow supports judgement, not automation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70373-792C-493C-8EB1-19337C6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A model score identifies a patient for review. The clinician sees the explanation, adds context and records the decision. The app does not make the care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A328E-C67B-4481-86E4-85FA62FB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3524250" cy="381000"/>
          </a:xfrm>
          <a:prstGeom xmlns:a="http://schemas.openxmlformats.org/drawingml/2006/main" prst="roundRect">
            <a:avLst>
              <a:gd name="adj" fmla="val 20000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F5E1B-94FD-48A6-8728-A9A06046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24425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+ EXPLANATION + DECISION</a:t>
            </a:r>
          </a:p>
        </p:txBody>
      </p:sp>
    </p:spTree>
    <p:extLst>
      <p:ext uri="{BB962C8B-B14F-4D97-AF65-F5344CB8AC3E}">
        <p14:creationId xmlns:p14="http://schemas.microsoft.com/office/powerpoint/2010/main" val="4197938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4D762-E1FE-48E4-8EE0-4435453A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D9C60-0926-403B-9DAB-1423B655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1DD9E-1F72-42FE-A0FC-97D33BC2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D7A70-A958-40FC-93E8-C22552F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33257-257E-4BB6-8E97-8AF64732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CB718-685F-49D5-B3F5-FA1C4DF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Row-level security sits beside the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3564A-18B9-4B58-8541-0EE73A1C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access rule is evaluated by Data API Builder before a patient row reaches the app.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BDE2F-D4B3-4F34-B918-2512A6C9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4619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CBDBF-E3BB-4DC3-90A5-6B817DFD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952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policy: (claims, item) =&gt;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claims.sub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.eq(item.assignedClinicianId)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.or(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  claims.email.eq(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    item.assignedClinicianEmail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  )</a:t>
            </a:r>
          </a:p>
          <a:p xmlns:a="http://schemas.openxmlformats.org/drawingml/2006/main">
            <a:pPr algn="l">
              <a:defRPr sz="1350" b="0">
                <a:solidFill>
                  <a:srgbClr val="E8F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5F2"/>
                </a:solidFill>
                <a:latin typeface="Aptos"/>
                <a:ea typeface="Aptos"/>
                <a:cs typeface="Aptos"/>
              </a:rPr>
              <a:t>    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3CF0A-28C3-478E-9CB8-13B51A20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4E4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94E4E"/>
                </a:solidFill>
                <a:latin typeface="Aptos"/>
                <a:ea typeface="Aptos"/>
                <a:cs typeface="Aptos"/>
              </a:rPr>
              <a:t>No client-side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D98DD-DDEF-4579-B5AF-D3F67361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Filtering in the frontend only hides rows in one screen. The data policy protects every request, including deep links and API calls.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44ACF-63D9-4444-ACA0-2CF4B29C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3333750" cy="381000"/>
          </a:xfrm>
          <a:prstGeom xmlns:a="http://schemas.openxmlformats.org/drawingml/2006/main" prst="roundRect">
            <a:avLst>
              <a:gd name="adj" fmla="val 2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062BD-FD27-4F68-A13F-4F7EB9E4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958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ENFORCED IN DATA API BUILDER</a:t>
            </a:r>
          </a:p>
        </p:txBody>
      </p:sp>
    </p:spTree>
    <p:extLst>
      <p:ext uri="{BB962C8B-B14F-4D97-AF65-F5344CB8AC3E}">
        <p14:creationId xmlns:p14="http://schemas.microsoft.com/office/powerpoint/2010/main" val="94399128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D0B86-8DFC-4975-9F46-2EF4F25F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347E0-C872-4E32-8395-4E645DD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EE0F9-A117-44F1-92FB-F01D2DC0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1E871-441A-44AA-AF5F-D7A7EA49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69EEC-51E3-4431-81B7-3BDD8538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70720-EF1F-4BF4-8752-426524F0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A grounded answer, or none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C18F2-6810-40A7-8154-05369C8A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agent can answer from the governed model outputs and provider context, with the same permission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A89E3-59AF-4D61-BE35-67BF2551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D254A-C5CB-4EB3-83A5-20BE6506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28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DA88B-5DEA-4B0C-B060-A1877DF2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766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Which patients are flagged and why?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8846D-5741-4D6F-84AB-4CC7786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8A057-0E20-4F40-AE33-C327FB0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69AD8-F533-4295-9C7D-9FEE783A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28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Semantic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63A0F-730B-4098-BDDC-17FF4A52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Risk, explanation and provider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53179-8E30-46BB-BF71-2D09A3FD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D0676-B248-482E-998E-FCB1D70F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62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6414D-0A7C-41DB-8E39-403D5CEE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28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Permission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9B18D-6951-480F-A4B4-4AF2CF9C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766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Caller can only see assigned patients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27424-59F6-4028-AF2E-D8D176EE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20254-D550-4FC7-A5F3-3BE5C073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2286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93A97-BF36-42DA-847F-264BCF4C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FAA9C6-EC1E-4AC7-9A1B-E017C72A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766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Cited, scoped 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5DFA6-EFCB-401C-A42A-27270837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The answer should remain traceable to the scored tables and the caller’s permissions.</a:t>
            </a:r>
          </a:p>
        </p:txBody>
      </p:sp>
    </p:spTree>
    <p:extLst>
      <p:ext uri="{BB962C8B-B14F-4D97-AF65-F5344CB8AC3E}">
        <p14:creationId xmlns:p14="http://schemas.microsoft.com/office/powerpoint/2010/main" val="1181268173"/>
      </p:ext>
    </p:extLst>
  </p:cSld>
</p:sld>
</file>

<file path=ppt/slides/slide32.xml><?xml version="1.0" encoding="utf-8"?>
<p:sld xmlns:p="http://schemas.openxmlformats.org/presentationml/2006/main" showMasterSp="0">
  <p:cSld>
    <p:bg>
      <p:bgPr>
        <a:solidFill xmlns:a="http://schemas.openxmlformats.org/drawingml/2006/main">
          <a:srgbClr val="004F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fff7c32dd47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EA5EA-B149-4564-B21E-DA03A221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0344F-C807-413A-8FC0-493255FE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C015D-B41F-469D-8D7C-838AB5FC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02D93-A7DE-423C-96C9-E8373646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7396A-E1C3-400C-95FF-A558EE2C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F771C-2DB4-4CF6-BB0E-C067A141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The missing layer is delivery with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5F9B4-9170-4C8A-9B54-92ECDACD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9527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42EF2-F288-47AA-BA99-5C4B6808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Clinician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72DEB-3E9E-47BD-A840-AA619D53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Risk, explanation and a recorded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4FF3C-93B7-4A77-95C6-9FE22E61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29527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F856A-54CA-443A-97E3-2257FFB5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Patient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F76FD-F2AE-4EC4-B182-47EDBB87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clear, calibrated probability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16F5B-9FA2-449D-B064-A83D6248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29527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B1815-2AE4-48A0-99FD-F2776366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Regulator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C1B8D-6779-4CCB-9CBC-F24A9794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Lineage, model version and access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7C3B9-DECE-424C-8DE5-4A11FB7A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Data, analytics and decision remain in one governed place.</a:t>
            </a:r>
          </a:p>
        </p:txBody>
      </p:sp>
    </p:spTree>
    <p:extLst>
      <p:ext uri="{BB962C8B-B14F-4D97-AF65-F5344CB8AC3E}">
        <p14:creationId xmlns:p14="http://schemas.microsoft.com/office/powerpoint/2010/main" val="189975786"/>
      </p:ext>
    </p:extLst>
  </p:cSld>
</p:sld>
</file>

<file path=ppt/slides/slide33.xml><?xml version="1.0" encoding="utf-8"?>
<p:sld xmlns:p="http://schemas.openxmlformats.org/presentationml/2006/main" showMasterSp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730e9823840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"/>
            <a:ext cx="12188952" cy="68579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1DACB-04BE-4DC5-8F45-EC57C56D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A9B2-BB90-43C2-A3EE-08EFBA9E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8A6CC-4977-4A5B-9B86-EC9B20B3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53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EUROPEAN MICROSOFT FABRIC · SQL COMMUNITY CONFERENCE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BF4AE-5BC9-43EB-820D-79D4D58B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34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#FABCON EUROPE     #SQLCON EUROPE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BB43A-14E8-46A2-BD2E-7D8B5C1C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DEB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BE8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6DC84-07B7-4A7A-94B6-E089C9AF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4F46"/>
                </a:solidFill>
                <a:latin typeface="Aptos"/>
                <a:ea typeface="Aptos"/>
                <a:cs typeface="Aptos"/>
              </a:rPr>
              <a:t>What transfers to the next 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EF6B3-BA97-4DE9-8876-9BA8B80A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The reusable work is not only the model. It is the governed path from data to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FA0F4-E711-43FF-AECE-A0030A55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94B3F-2E75-4C8F-8B07-BB0F9A87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Version the inputs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6D283-FB46-4263-B0B3-40978187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002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Record the Delta table and feature-set version with each 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DC837-6397-485A-BEB7-74D81E1C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1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D02A2-7852-4E81-84E8-527E6BF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F05DA-EC01-4D5D-85FB-62A8463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Make explanations first-class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3ADBE-BE3A-4B92-9991-D7439BDC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384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Store local explanations beside the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F51CE-D192-42F2-83D8-E7A645CB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1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682E0-7042-4530-AFE1-2E31DBD7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DC8DC-7A10-448E-8448-618E4F33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Treat thresholds as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23489-E5AF-482A-847C-B66F5BD5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766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Connect flagging volume to the care pathway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C5093-72DB-4B40-9F88-5F12E95D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1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F248C-D0B1-49F8-A8F6-B625FB8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093918-F4E8-489D-AAF7-0433EC1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Enforce access in the data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5D548-A447-4712-8A45-5E264A04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Do not rely on a frontend filter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0CBB31-C4D0-4104-8158-B01B7EF3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1D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FBFE73-F42F-427A-86B5-536DFE09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0A7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0A7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2B0D0C-84EB-4AA6-81BD-84914237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E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2E29"/>
                </a:solidFill>
                <a:latin typeface="Aptos"/>
                <a:ea typeface="Aptos"/>
                <a:cs typeface="Aptos"/>
              </a:rPr>
              <a:t>Keep a usable fallback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EA87B0-0D00-4464-9C63-AF5F7CF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530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60"/>
                </a:solidFill>
                <a:latin typeface="Aptos"/>
                <a:ea typeface="Aptos"/>
                <a:cs typeface="Aptos"/>
              </a:rPr>
              <a:t>Pre-run notebooks and offline app mode for the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7D2C7E-6902-40E0-8004-1EDDA233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864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1DE"/>
            </a:solidFill>
          </a:ln>
        </p:spPr>
      </p:sp>
    </p:spTree>
    <p:extLst>
      <p:ext uri="{BB962C8B-B14F-4D97-AF65-F5344CB8AC3E}">
        <p14:creationId xmlns:p14="http://schemas.microsoft.com/office/powerpoint/2010/main" val="1710050640"/>
      </p:ext>
    </p:extLst>
  </p:cSld>
</p:sld>
</file>

<file path=ppt/slides/slide34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7aa4e21914b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35886"/>
            <a:ext cx="12188952" cy="457310"/>
          </a:xfrm>
          <a:prstGeom xmlns:a="http://schemas.openxmlformats.org/drawingml/2006/main" prst="rect">
            <a:avLst/>
          </a:prstGeom>
        </p:spPr>
      </p:pic>
      <p:pic>
        <p:nvPicPr>
          <p:cNvPr id="1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bb3e7168745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864795"/>
            <a:ext cx="12188952" cy="4581415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D8765D-9CCC-4340-85A6-A655AC04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025" y="2344816"/>
            <a:ext cx="3375025" cy="478155"/>
          </a:xfrm>
          <a:custGeom xmlns:a="http://schemas.openxmlformats.org/drawingml/2006/main">
            <a:rect l="l" t="t" r="r" b="b"/>
            <a:pathLst>
              <a:path w="3375025" h="478155">
                <a:moveTo>
                  <a:pt x="3374507" y="478097"/>
                </a:moveTo>
                <a:lnTo>
                  <a:pt x="0" y="478097"/>
                </a:lnTo>
                <a:lnTo>
                  <a:pt x="0" y="0"/>
                </a:lnTo>
                <a:lnTo>
                  <a:pt x="3374507" y="0"/>
                </a:lnTo>
                <a:lnTo>
                  <a:pt x="3374507" y="478097"/>
                </a:lnTo>
                <a:close/>
              </a:path>
            </a:pathLst>
          </a:custGeom>
          <a:solidFill xmlns:a="http://schemas.openxmlformats.org/drawingml/2006/main">
            <a:srgbClr val="002A21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D7F4088-B9E4-4B73-A5AA-565D56A17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4096" y="2136258"/>
            <a:ext cx="3424554" cy="829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5250" b="0" spc="-615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Please</a:t>
            </a:r>
            <a:r>
              <a:rPr sz="5250" b="0" spc="135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5250" b="0" spc="-64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rate</a:t>
            </a:r>
            <a:endParaRPr sz="5250">
              <a:latin typeface="Arial Black"/>
              <a:ea typeface="Arial Black"/>
              <a:cs typeface="Arial Black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3C6C6CC-0AE3-4172-9CEF-5B2B9DFC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11" y="2989207"/>
            <a:ext cx="3628390" cy="490855"/>
          </a:xfrm>
          <a:custGeom xmlns:a="http://schemas.openxmlformats.org/drawingml/2006/main">
            <a:rect l="l" t="t" r="r" b="b"/>
            <a:pathLst>
              <a:path w="3628390" h="490854">
                <a:moveTo>
                  <a:pt x="3628010" y="490569"/>
                </a:moveTo>
                <a:lnTo>
                  <a:pt x="0" y="490569"/>
                </a:lnTo>
                <a:lnTo>
                  <a:pt x="0" y="0"/>
                </a:lnTo>
                <a:lnTo>
                  <a:pt x="3628010" y="0"/>
                </a:lnTo>
                <a:lnTo>
                  <a:pt x="3628010" y="490569"/>
                </a:lnTo>
                <a:close/>
              </a:path>
            </a:pathLst>
          </a:custGeom>
          <a:solidFill xmlns:a="http://schemas.openxmlformats.org/drawingml/2006/main">
            <a:srgbClr val="01342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CE65E0D-5781-4C2D-B681-6D2B421D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57" y="2787347"/>
            <a:ext cx="3644265" cy="83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5300" spc="-55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this</a:t>
            </a:r>
            <a:r>
              <a:rPr sz="5300" spc="-14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5300" spc="-585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session</a:t>
            </a:r>
            <a:endParaRPr sz="5300">
              <a:latin typeface="Arial Black"/>
              <a:ea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6882066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2026-09-17T19:41:39.6740000Z</dcterms:created>
  <dcterms:modified xsi:type="dcterms:W3CDTF">2026-09-17T19:41:39.6740000Z</dcterms:modified>
</coreProperties>
</file>