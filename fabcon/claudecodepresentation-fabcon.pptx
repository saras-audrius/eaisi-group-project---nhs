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media/image10.jpg" ContentType="image/jpg"/>
  <Override PartName="/ppt/media/image14.jpg" ContentType="image/jpg"/>
  <Override PartName="/ppt/media/image15.jpg" ContentType="image/jpg"/>
  <Override PartName="/ppt/media/image2.jpg" ContentType="image/jpg"/>
  <Override PartName="/ppt/media/image20.jpg" ContentType="image/jpg"/>
  <Override PartName="/ppt/media/image21.jpg" ContentType="image/jpg"/>
  <Override PartName="/ppt/media/image26.jpg" ContentType="image/jpg"/>
  <Override PartName="/ppt/media/image27.jpg" ContentType="image/jpg"/>
  <Override PartName="/ppt/media/image3.jpg" ContentType="image/jpg"/>
  <Override PartName="/ppt/media/image4.jpg" ContentType="image/jpg"/>
  <Override PartName="/ppt/media/image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90" r:id="rId22"/>
    <p:sldId id="261" r:id="rId11"/>
    <p:sldId id="262" r:id="rId12"/>
    <p:sldId id="263" r:id="rId13"/>
    <p:sldId id="264" r:id="rId14"/>
    <p:sldId id="265" r:id="rId15"/>
    <p:sldId id="266" r:id="rId16"/>
    <p:sldId id="267" r:id="rId17"/>
    <p:sldId id="268" r:id="rId18"/>
    <p:sldId id="269" r:id="rId19"/>
    <p:sldId id="291" r:id="rId23"/>
    <p:sldId id="292"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 id="307" r:id="rId21"/>
    <p:sldId id="308" r:id="rId40"/>
    <p:sldId id="309" r:id="rId41"/>
    <p:sldId id="310" r:id="rId42"/>
    <p:sldId id="311" r:id="rId43"/>
    <p:sldId id="312" r:id="rId44"/>
    <p:sldId id="313" r:id="rId45"/>
    <p:sldId id="314" r:id="rId46"/>
    <p:sldId id="315" r:id="rId47"/>
    <p:sldId id="316" r:id="rId48"/>
    <p:sldId id="317" r:id="rId49"/>
    <p:sldId id="318" r:id="rId50"/>
    <p:sldId id="319" r:id="rId51"/>
    <p:sldId id="320" r:id="rId52"/>
    <p:sldId id="321" r:id="rId53"/>
    <p:sldId id="322" r:id="rId54"/>
    <p:sldId id="289" r:id="rId39"/>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1" Type="http://schemas.openxmlformats.org/officeDocument/2006/relationships/slide" Target="slides/slide33.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15.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6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Three ways a machine learns, by what it learns from. Ours is supervised: we have past patients with a known outcome, so the computer learns the link between what we knew before surgery and what happened after.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data plainly. Same questionnaire twice: before surgery and six months after. One row per operation. It sits in the Lakehouse as bronze, silver and gold tables. The counts come from the training run on gold version 51.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will ask about. Take the groups one at a time. The Oxford Knee Score is the key one: 12 questions, 0 to 48, lower is worse. EQ-5D is general health. Twelve long-term conditions. Then patient context and the hospital. The after-surgery answers only build the label.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Level-set the room in one picture. Features on the left, a model fitted on past patients, a probability out, then a cut-off turns it into a decision. The cut-off is a service choice, not a model output.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predicts a number, classification predicts a category. We chose classification because the decision is binary and the 7-point threshold has a clinical meaning. Next slide explains the 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label came from patients, not from a curve. Seven points is the smallest change a patient notices. About one in six patients falls at or below it — 16.5% in our data. Patients with no six-month questionnaire get no label and are left out of training; the old analysis counted them as poor outcomes by mistake, and the Fabric pipeline fixed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data was cleaned in three steps. The one detail worth a sentence is the code 9: it means not answered everywhere except the twelve condition flags, where it means no. Gold is the table everything downstream reads.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gap. Suppressed by NHS: keep as not recorded, never guess. Skipped by the patient: fill in with MICE, fitted on training data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engineering in plain terms. Comorbidity count: one number for overall burden, because several conditions together slow recovery. The three Oxford sub-scores: what a physiotherapist reasons about, and less noisy than single questions; the individual items stay in too. Provider: 294 codes would be 294 sparse columns, so we mapped them to teaching hospital, sector and region from public NHS reference data. Thin categories merged so they can be learned from. Everything after surgery is removed to avoid leakage. All of this is plain arithmetic per row, so it happens before the split.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imbalance in plain words: one in six is a poor outcome, 16.5 percent. A model that ignores them looks accurate and helps nobody. Rare outcomes are harder to learn, and the probabilities come out low for everyone, so the usual 50 percent cut-off does not apply. We used class weighting, stratified splits, and metrics that look at the minority class.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mistakes. A false positive means telling a patient with a good outlook not to operate; that is the expensive one. A false negative means a patient has surgery and gains less than hoped, but usually still gains something. So precision first, recall as the price we track.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the trade-off concrete. A higher cut-off buys precision with recall. Read the second row: at 0.62 four flags in five are right, but 4,055 poor outcomes still go past us. The service chooses the row, not the data scientist.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first. Then imputation, encoding and the choice of settings happen inside the training set, using five-fold cross-validation. The test set is touched once. Three checks run before any model is fitted.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models, same split, same metrics. Logistic regression is the floor. Random forest is the strong black box. The EBM wins on both: average precision 0.390 against 0.378, and a calibration error of 0.004 where the other two sit near 0.28.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experiment item. One parent run for the session, one child per model, and the calibrated run that ships. Each run has parameters, metrics, tags and the model file. Autologging is off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groups of tags. The data group turns trained on gold into trained on gold as of version 7. The governance group is where a named clinician signs off, after training, without re-running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makes the number actionable. Of a hundred patients scored 34 percent, about thirty-four should have a poor outcome. Our EBM was already close — 0.0042 down to 0.0032 — while the random forest sits at 0.278. The check is the point: an uncalibrated probability must never reach a clinician.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item is what everything downstream binds to. Versions, tags, a signature. Four automated gates write gate status. A named clinician sets approved by, later.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for the list, real-time for the single patient. Both use the champion tag, so promoting a new version changes both at once.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contributions, the model version and the data version travel with every score. That is what makes the number traceable.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Experiment, filter by tag, model item, the data version query, then one call to the endpoint. Fallback: the batch scoring run.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EBM is additive: one curve per variable, added up. The explanation is the model itself. SHAP on a random forest is a separate model of the model. That difference is what a regulator will ask about.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patient, six bars. They add up to her score; that is arithmetic, not an analogy. Replace the values with a real patient from the Fabric run before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Holding precision at 80% puts the cut-off at 0.62. On a thousand patients that is twelve flagged, two of them unnecessary, and 156 poor outcomes still missed. Say the missed number out loud — it is the honest part. Then the subgroup and decision-curve checks, and the choice recorded on the model version.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Rayfin: describe the data model, run one command, and you get a database, an API, sign-in and hosting inside the workspace. The important detail is where security lives: on the data entity, enforced before a row leaves Fabric.</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screens. Worklist, patient, decision, ask. The decision record with overrides is the oversight record. Demo it live; the offline build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learnings. Read them out; each has a slide behind it earlier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the regulation to practice. Each row is something the AI Act or GDPR asks for, what it means on the ward, and where in the build we did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closing argument. One estate: the data never leaves. Machine learning is built in, with experiments, registry and endpoints as governed items. Delivery, including the app and the agent, stays inside the same permissions. Leave this slide up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150" b="1" i="0">
                <a:solidFill>
                  <a:srgbClr val="BB9F45"/>
                </a:solidFill>
                <a:latin typeface="Arial"/>
                <a:cs typeface="Arial"/>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Arial MT"/>
                <a:cs typeface="Arial MT"/>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BB9F45"/>
                </a:solidFill>
                <a:latin typeface="Arial"/>
                <a:cs typeface="Arial"/>
              </a:defRPr>
            </a:lvl1pPr>
          </a:lstStyle>
          <a:p/>
        </p:txBody>
      </p:sp>
      <p:sp>
        <p:nvSpPr>
          <p:cNvPr id="3" name="Holder 3"/>
          <p:cNvSpPr>
            <a:spLocks noGrp="1"/>
          </p:cNvSpPr>
          <p:nvPr>
            <p:ph type="body" idx="1"/>
          </p:nvPr>
        </p:nvSpPr>
        <p:spPr/>
        <p:txBody>
          <a:bodyPr lIns="0" tIns="0" rIns="0" bIns="0"/>
          <a:lstStyle>
            <a:lvl1pPr>
              <a:defRPr sz="2800" b="0" i="0">
                <a:solidFill>
                  <a:schemeClr val="tx1"/>
                </a:solidFill>
                <a:latin typeface="Arial MT"/>
                <a:cs typeface="Arial MT"/>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BB9F45"/>
                </a:solidFill>
                <a:latin typeface="Arial"/>
                <a:cs typeface="Arial"/>
              </a:defRPr>
            </a:lvl1pPr>
          </a:lstStyle>
          <a:p/>
        </p:txBody>
      </p:sp>
      <p:sp>
        <p:nvSpPr>
          <p:cNvPr id="3" name="Holder 3"/>
          <p:cNvSpPr>
            <a:spLocks noGrp="1"/>
          </p:cNvSpPr>
          <p:nvPr>
            <p:ph idx="2" sz="half"/>
          </p:nvPr>
        </p:nvSpPr>
        <p:spPr>
          <a:xfrm>
            <a:off x="996696" y="1847595"/>
            <a:ext cx="3374390" cy="3512185"/>
          </a:xfrm>
          <a:prstGeom prst="rect">
            <a:avLst/>
          </a:prstGeom>
        </p:spPr>
        <p:txBody>
          <a:bodyPr wrap="square" lIns="0" tIns="0" rIns="0" bIns="0">
            <a:spAutoFit/>
          </a:bodyPr>
          <a:lstStyle>
            <a:lvl1pPr>
              <a:defRPr sz="1500" b="1" i="0">
                <a:solidFill>
                  <a:schemeClr val="bg1"/>
                </a:solidFill>
                <a:latin typeface="Segoe UI"/>
                <a:cs typeface="Segoe UI"/>
              </a:defRPr>
            </a:lvl1pPr>
          </a:lstStyle>
          <a:p/>
        </p:txBody>
      </p:sp>
      <p:sp>
        <p:nvSpPr>
          <p:cNvPr id="4" name="Holder 4"/>
          <p:cNvSpPr>
            <a:spLocks noGrp="1"/>
          </p:cNvSpPr>
          <p:nvPr>
            <p:ph idx="3" sz="half"/>
          </p:nvPr>
        </p:nvSpPr>
        <p:spPr>
          <a:xfrm>
            <a:off x="8001000" y="1399336"/>
            <a:ext cx="3200400" cy="4399915"/>
          </a:xfrm>
          <a:prstGeom prst="rect">
            <a:avLst/>
          </a:prstGeom>
        </p:spPr>
        <p:txBody>
          <a:bodyPr wrap="square" lIns="0" tIns="0" rIns="0" bIns="0">
            <a:spAutoFit/>
          </a:bodyPr>
          <a:lstStyle>
            <a:lvl1pPr>
              <a:defRPr b="0" i="0">
                <a:solidFill>
                  <a:schemeClr val="tx1"/>
                </a:solidFill>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showMasterSp="0">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62"/>
            <a:ext cx="12188952" cy="6857937"/>
          </a:xfrm>
          <a:prstGeom prst="rect">
            <a:avLst/>
          </a:prstGeom>
        </p:spPr>
      </p:pic>
      <p:sp>
        <p:nvSpPr>
          <p:cNvPr id="2" name="Holder 2"/>
          <p:cNvSpPr>
            <a:spLocks noGrp="1"/>
          </p:cNvSpPr>
          <p:nvPr>
            <p:ph type="title"/>
          </p:nvPr>
        </p:nvSpPr>
        <p:spPr/>
        <p:txBody>
          <a:bodyPr lIns="0" tIns="0" rIns="0" bIns="0"/>
          <a:lstStyle>
            <a:lvl1pPr>
              <a:defRPr sz="3150" b="1" i="0">
                <a:solidFill>
                  <a:srgbClr val="BB9F45"/>
                </a:solidFill>
                <a:latin typeface="Arial"/>
                <a:cs typeface="Arial"/>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62"/>
            <a:ext cx="12188952" cy="6857937"/>
          </a:xfrm>
          <a:prstGeom prst="rect">
            <a:avLst/>
          </a:prstGeom>
        </p:spPr>
      </p:pic>
      <p:sp>
        <p:nvSpPr>
          <p:cNvPr id="2" name="Holder 2"/>
          <p:cNvSpPr>
            <a:spLocks noGrp="1"/>
          </p:cNvSpPr>
          <p:nvPr>
            <p:ph type="title"/>
          </p:nvPr>
        </p:nvSpPr>
        <p:spPr>
          <a:xfrm>
            <a:off x="817511" y="218135"/>
            <a:ext cx="10587240" cy="1209471"/>
          </a:xfrm>
          <a:prstGeom prst="rect">
            <a:avLst/>
          </a:prstGeom>
        </p:spPr>
        <p:txBody>
          <a:bodyPr wrap="square" lIns="0" tIns="0" rIns="0" bIns="0">
            <a:spAutoFit/>
          </a:bodyPr>
          <a:lstStyle>
            <a:lvl1pPr>
              <a:defRPr sz="3150" b="1" i="0">
                <a:solidFill>
                  <a:srgbClr val="BB9F45"/>
                </a:solidFill>
                <a:latin typeface="Arial"/>
                <a:cs typeface="Arial"/>
              </a:defRPr>
            </a:lvl1pPr>
          </a:lstStyle>
          <a:p/>
        </p:txBody>
      </p:sp>
      <p:sp>
        <p:nvSpPr>
          <p:cNvPr id="3" name="Holder 3"/>
          <p:cNvSpPr>
            <a:spLocks noGrp="1"/>
          </p:cNvSpPr>
          <p:nvPr>
            <p:ph type="body" idx="1"/>
          </p:nvPr>
        </p:nvSpPr>
        <p:spPr>
          <a:xfrm>
            <a:off x="6239890" y="2893250"/>
            <a:ext cx="5161915" cy="2633345"/>
          </a:xfrm>
          <a:prstGeom prst="rect">
            <a:avLst/>
          </a:prstGeom>
        </p:spPr>
        <p:txBody>
          <a:bodyPr wrap="square" lIns="0" tIns="0" rIns="0" bIns="0">
            <a:spAutoFit/>
          </a:bodyPr>
          <a:lstStyle>
            <a:lvl1pPr>
              <a:defRPr sz="2800" b="0" i="0">
                <a:solidFill>
                  <a:schemeClr val="tx1"/>
                </a:solidFill>
                <a:latin typeface="Arial MT"/>
                <a:cs typeface="Arial MT"/>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jpg"/><Relationship Id="rId8"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jpg"/><Relationship Id="rId3" Type="http://schemas.openxmlformats.org/officeDocument/2006/relationships/image" Target="../media/image2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97863" y="1261870"/>
            <a:ext cx="1371600" cy="1335024"/>
          </a:xfrm>
          <a:prstGeom prst="rect">
            <a:avLst/>
          </a:prstGeom>
        </p:spPr>
      </p:pic>
      <p:pic>
        <p:nvPicPr>
          <p:cNvPr id="3" name="object 3"/>
          <p:cNvPicPr/>
          <p:nvPr/>
        </p:nvPicPr>
        <p:blipFill>
          <a:blip r:embed="rId3" cstate="print"/>
          <a:stretch>
            <a:fillRect/>
          </a:stretch>
        </p:blipFill>
        <p:spPr>
          <a:xfrm>
            <a:off x="4507991" y="457198"/>
            <a:ext cx="7680959" cy="6400800"/>
          </a:xfrm>
          <a:prstGeom prst="rect">
            <a:avLst/>
          </a:prstGeom>
        </p:spPr>
      </p:pic>
      <p:sp>
        <p:nvSpPr>
          <p:cNvPr id="4" name="object 4" descr="$PPTXTitle"/>
          <p:cNvSpPr txBox="1">
            <a:spLocks noGrp="1"/>
          </p:cNvSpPr>
          <p:nvPr>
            <p:ph type="title"/>
          </p:nvPr>
        </p:nvSpPr>
        <p:spPr>
          <a:xfrm>
            <a:off x="1148092" y="2790950"/>
            <a:ext cx="2680970" cy="726440"/>
          </a:xfrm>
          <a:prstGeom prst="rect"/>
        </p:spPr>
        <p:txBody>
          <a:bodyPr wrap="square" lIns="0" tIns="12700" rIns="0" bIns="0" rtlCol="0" vert="horz">
            <a:spAutoFit/>
          </a:bodyPr>
          <a:lstStyle/>
          <a:p>
            <a:pPr marL="12700">
              <a:lnSpc>
                <a:spcPct val="100000"/>
              </a:lnSpc>
              <a:spcBef>
                <a:spcPts val="100"/>
              </a:spcBef>
            </a:pPr>
            <a:r>
              <a:rPr dirty="0" sz="4600" spc="-630" b="0">
                <a:solidFill>
                  <a:srgbClr val="007B5D"/>
                </a:solidFill>
                <a:latin typeface="Arial MT"/>
                <a:cs typeface="Arial MT"/>
              </a:rPr>
              <a:t>EUROPEAN</a:t>
            </a:r>
            <a:endParaRPr sz="4600">
              <a:latin typeface="Arial MT"/>
              <a:cs typeface="Arial MT"/>
            </a:endParaRPr>
          </a:p>
        </p:txBody>
      </p:sp>
      <p:sp>
        <p:nvSpPr>
          <p:cNvPr id="5" name="object 5"/>
          <p:cNvSpPr txBox="1"/>
          <p:nvPr/>
        </p:nvSpPr>
        <p:spPr>
          <a:xfrm>
            <a:off x="1152498" y="3250944"/>
            <a:ext cx="3114040" cy="734060"/>
          </a:xfrm>
          <a:prstGeom prst="rect">
            <a:avLst/>
          </a:prstGeom>
        </p:spPr>
        <p:txBody>
          <a:bodyPr wrap="square" lIns="0" tIns="12700" rIns="0" bIns="0" rtlCol="0" vert="horz">
            <a:spAutoFit/>
          </a:bodyPr>
          <a:lstStyle/>
          <a:p>
            <a:pPr marL="12700">
              <a:lnSpc>
                <a:spcPct val="100000"/>
              </a:lnSpc>
              <a:spcBef>
                <a:spcPts val="100"/>
              </a:spcBef>
            </a:pPr>
            <a:r>
              <a:rPr dirty="0" sz="4650" spc="-430">
                <a:solidFill>
                  <a:srgbClr val="012A46"/>
                </a:solidFill>
                <a:latin typeface="Arial Black"/>
                <a:cs typeface="Arial Black"/>
              </a:rPr>
              <a:t>MICROOFT</a:t>
            </a:r>
            <a:endParaRPr sz="4650">
              <a:latin typeface="Arial Black"/>
              <a:cs typeface="Arial Black"/>
            </a:endParaRPr>
          </a:p>
        </p:txBody>
      </p:sp>
      <p:sp>
        <p:nvSpPr>
          <p:cNvPr id="6" name="object 6"/>
          <p:cNvSpPr txBox="1"/>
          <p:nvPr/>
        </p:nvSpPr>
        <p:spPr>
          <a:xfrm>
            <a:off x="1150949" y="3723638"/>
            <a:ext cx="3171190" cy="726440"/>
          </a:xfrm>
          <a:prstGeom prst="rect">
            <a:avLst/>
          </a:prstGeom>
        </p:spPr>
        <p:txBody>
          <a:bodyPr wrap="square" lIns="0" tIns="12700" rIns="0" bIns="0" rtlCol="0" vert="horz">
            <a:spAutoFit/>
          </a:bodyPr>
          <a:lstStyle/>
          <a:p>
            <a:pPr marL="12700">
              <a:lnSpc>
                <a:spcPct val="100000"/>
              </a:lnSpc>
              <a:spcBef>
                <a:spcPts val="100"/>
              </a:spcBef>
            </a:pPr>
            <a:r>
              <a:rPr dirty="0" sz="4600" spc="-775">
                <a:solidFill>
                  <a:srgbClr val="002849"/>
                </a:solidFill>
                <a:latin typeface="Arial Black"/>
                <a:cs typeface="Arial Black"/>
              </a:rPr>
              <a:t>FABRIC</a:t>
            </a:r>
            <a:r>
              <a:rPr dirty="0" sz="4600" spc="385">
                <a:solidFill>
                  <a:srgbClr val="002849"/>
                </a:solidFill>
                <a:latin typeface="Arial Black"/>
                <a:cs typeface="Arial Black"/>
              </a:rPr>
              <a:t> </a:t>
            </a:r>
            <a:r>
              <a:rPr dirty="0" sz="4600" spc="-409">
                <a:solidFill>
                  <a:srgbClr val="002A4B"/>
                </a:solidFill>
                <a:latin typeface="Arial Black"/>
                <a:cs typeface="Arial Black"/>
              </a:rPr>
              <a:t>SäL</a:t>
            </a:r>
            <a:endParaRPr sz="4600">
              <a:latin typeface="Arial Black"/>
              <a:cs typeface="Arial Black"/>
            </a:endParaRPr>
          </a:p>
        </p:txBody>
      </p:sp>
      <p:sp>
        <p:nvSpPr>
          <p:cNvPr id="7" name="object 7"/>
          <p:cNvSpPr txBox="1"/>
          <p:nvPr/>
        </p:nvSpPr>
        <p:spPr>
          <a:xfrm>
            <a:off x="1161284" y="4257292"/>
            <a:ext cx="2885440" cy="398780"/>
          </a:xfrm>
          <a:prstGeom prst="rect">
            <a:avLst/>
          </a:prstGeom>
        </p:spPr>
        <p:txBody>
          <a:bodyPr wrap="square" lIns="0" tIns="12700" rIns="0" bIns="0" rtlCol="0" vert="horz">
            <a:spAutoFit/>
          </a:bodyPr>
          <a:lstStyle/>
          <a:p>
            <a:pPr marL="12700">
              <a:lnSpc>
                <a:spcPct val="100000"/>
              </a:lnSpc>
              <a:spcBef>
                <a:spcPts val="100"/>
              </a:spcBef>
            </a:pPr>
            <a:r>
              <a:rPr dirty="0" sz="2450" spc="-409">
                <a:solidFill>
                  <a:srgbClr val="1D1D1D"/>
                </a:solidFill>
                <a:latin typeface="Arial Black"/>
                <a:cs typeface="Arial Black"/>
              </a:rPr>
              <a:t>CoitmunityConfeænce</a:t>
            </a:r>
            <a:endParaRPr sz="2450">
              <a:latin typeface="Arial Black"/>
              <a:cs typeface="Arial Black"/>
            </a:endParaRPr>
          </a:p>
        </p:txBody>
      </p:sp>
      <p:sp>
        <p:nvSpPr>
          <p:cNvPr id="8" name="object 8"/>
          <p:cNvSpPr txBox="1"/>
          <p:nvPr/>
        </p:nvSpPr>
        <p:spPr>
          <a:xfrm>
            <a:off x="1174772" y="5440171"/>
            <a:ext cx="2386330" cy="579755"/>
          </a:xfrm>
          <a:prstGeom prst="rect">
            <a:avLst/>
          </a:prstGeom>
        </p:spPr>
        <p:txBody>
          <a:bodyPr wrap="square" lIns="0" tIns="12700" rIns="0" bIns="0" rtlCol="0" vert="horz">
            <a:spAutoFit/>
          </a:bodyPr>
          <a:lstStyle/>
          <a:p>
            <a:pPr marL="12700">
              <a:lnSpc>
                <a:spcPts val="2270"/>
              </a:lnSpc>
              <a:spcBef>
                <a:spcPts val="100"/>
              </a:spcBef>
            </a:pPr>
            <a:r>
              <a:rPr dirty="0" sz="2100" spc="-290">
                <a:solidFill>
                  <a:srgbClr val="9A933A"/>
                </a:solidFill>
                <a:latin typeface="Arial MT"/>
                <a:cs typeface="Arial MT"/>
              </a:rPr>
              <a:t>BARCELONA</a:t>
            </a:r>
            <a:endParaRPr sz="2100">
              <a:latin typeface="Arial MT"/>
              <a:cs typeface="Arial MT"/>
            </a:endParaRPr>
          </a:p>
          <a:p>
            <a:pPr marL="947419">
              <a:lnSpc>
                <a:spcPts val="2090"/>
              </a:lnSpc>
            </a:pPr>
            <a:r>
              <a:rPr dirty="0" sz="1950">
                <a:solidFill>
                  <a:srgbClr val="979075"/>
                </a:solidFill>
                <a:latin typeface="Arial MT"/>
                <a:cs typeface="Arial MT"/>
              </a:rPr>
              <a:t>-</a:t>
            </a:r>
            <a:r>
              <a:rPr dirty="0" sz="1950" spc="60">
                <a:solidFill>
                  <a:srgbClr val="979075"/>
                </a:solidFill>
                <a:latin typeface="Arial MT"/>
                <a:cs typeface="Arial MT"/>
              </a:rPr>
              <a:t> </a:t>
            </a:r>
            <a:r>
              <a:rPr dirty="0" sz="1950" spc="-185">
                <a:solidFill>
                  <a:srgbClr val="908A50"/>
                </a:solidFill>
                <a:latin typeface="Arial MT"/>
                <a:cs typeface="Arial MT"/>
              </a:rPr>
              <a:t>01</a:t>
            </a:r>
            <a:r>
              <a:rPr dirty="0" sz="1950" spc="-5">
                <a:solidFill>
                  <a:srgbClr val="908A50"/>
                </a:solidFill>
                <a:latin typeface="Arial MT"/>
                <a:cs typeface="Arial MT"/>
              </a:rPr>
              <a:t> </a:t>
            </a:r>
            <a:r>
              <a:rPr dirty="0" sz="1950" spc="-295">
                <a:solidFill>
                  <a:srgbClr val="8C824B"/>
                </a:solidFill>
                <a:latin typeface="Arial MT"/>
                <a:cs typeface="Arial MT"/>
              </a:rPr>
              <a:t>OCT</a:t>
            </a:r>
            <a:r>
              <a:rPr dirty="0" sz="1950" spc="85">
                <a:solidFill>
                  <a:srgbClr val="8C824B"/>
                </a:solidFill>
                <a:latin typeface="Arial MT"/>
                <a:cs typeface="Arial MT"/>
              </a:rPr>
              <a:t> </a:t>
            </a:r>
            <a:r>
              <a:rPr dirty="0" sz="1950" spc="-135">
                <a:solidFill>
                  <a:srgbClr val="8E8C1F"/>
                </a:solidFill>
                <a:latin typeface="Arial MT"/>
                <a:cs typeface="Arial MT"/>
              </a:rPr>
              <a:t>2026</a:t>
            </a:r>
            <a:endParaRPr sz="195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2"/>
            <a:ext cx="12189460" cy="6858000"/>
            <a:chOff x="0" y="12"/>
            <a:chExt cx="12189460" cy="6858000"/>
          </a:xfrm>
        </p:grpSpPr>
        <p:pic>
          <p:nvPicPr>
            <p:cNvPr id="3" name="object 3"/>
            <p:cNvPicPr/>
            <p:nvPr/>
          </p:nvPicPr>
          <p:blipFill>
            <a:blip r:embed="rId2" cstate="print"/>
            <a:stretch>
              <a:fillRect/>
            </a:stretch>
          </p:blipFill>
          <p:spPr>
            <a:xfrm>
              <a:off x="0" y="62"/>
              <a:ext cx="12188952" cy="6857937"/>
            </a:xfrm>
            <a:prstGeom prst="rect">
              <a:avLst/>
            </a:prstGeom>
          </p:spPr>
        </p:pic>
        <p:sp>
          <p:nvSpPr>
            <p:cNvPr id="4" name="object 4"/>
            <p:cNvSpPr/>
            <p:nvPr/>
          </p:nvSpPr>
          <p:spPr>
            <a:xfrm>
              <a:off x="0" y="12"/>
              <a:ext cx="12189460" cy="475615"/>
            </a:xfrm>
            <a:custGeom>
              <a:avLst/>
              <a:gdLst/>
              <a:ahLst/>
              <a:cxnLst/>
              <a:rect l="l" t="t" r="r" b="b"/>
              <a:pathLst>
                <a:path w="12189460" h="475615">
                  <a:moveTo>
                    <a:pt x="12188952" y="0"/>
                  </a:moveTo>
                  <a:lnTo>
                    <a:pt x="0" y="0"/>
                  </a:lnTo>
                  <a:lnTo>
                    <a:pt x="0" y="475602"/>
                  </a:lnTo>
                  <a:lnTo>
                    <a:pt x="12188952" y="475602"/>
                  </a:lnTo>
                  <a:lnTo>
                    <a:pt x="12188952" y="0"/>
                  </a:lnTo>
                  <a:close/>
                </a:path>
              </a:pathLst>
            </a:custGeom>
            <a:solidFill>
              <a:srgbClr val="BB9F45"/>
            </a:solidFill>
          </p:spPr>
          <p:txBody>
            <a:bodyPr wrap="square" lIns="0" tIns="0" rIns="0" bIns="0" rtlCol="0"/>
            <a:lstStyle/>
            <a:p/>
          </p:txBody>
        </p:sp>
      </p:grpSp>
      <p:sp>
        <p:nvSpPr>
          <p:cNvPr id="5" name="object 5" descr="$PPTXTitle"/>
          <p:cNvSpPr txBox="1">
            <a:spLocks noGrp="1"/>
          </p:cNvSpPr>
          <p:nvPr>
            <p:ph type="title"/>
          </p:nvPr>
        </p:nvSpPr>
        <p:spPr>
          <a:xfrm>
            <a:off x="687603" y="1322019"/>
            <a:ext cx="7356475" cy="2042795"/>
          </a:xfrm>
          <a:prstGeom prst="rect"/>
        </p:spPr>
        <p:txBody>
          <a:bodyPr wrap="square" lIns="0" tIns="9525" rIns="0" bIns="0" rtlCol="0" vert="horz">
            <a:spAutoFit/>
          </a:bodyPr>
          <a:lstStyle/>
          <a:p>
            <a:pPr marL="12700" marR="5080">
              <a:lnSpc>
                <a:spcPct val="100400"/>
              </a:lnSpc>
              <a:spcBef>
                <a:spcPts val="75"/>
              </a:spcBef>
            </a:pPr>
            <a:r>
              <a:rPr dirty="0" sz="4400">
                <a:solidFill>
                  <a:srgbClr val="F1F1F1"/>
                </a:solidFill>
                <a:latin typeface="Segoe UI"/>
                <a:cs typeface="Segoe UI"/>
              </a:rPr>
              <a:t>From</a:t>
            </a:r>
            <a:r>
              <a:rPr dirty="0" sz="4400" spc="-55">
                <a:solidFill>
                  <a:srgbClr val="F1F1F1"/>
                </a:solidFill>
                <a:latin typeface="Segoe UI"/>
                <a:cs typeface="Segoe UI"/>
              </a:rPr>
              <a:t> </a:t>
            </a:r>
            <a:r>
              <a:rPr dirty="0" sz="4400">
                <a:solidFill>
                  <a:srgbClr val="F1F1F1"/>
                </a:solidFill>
                <a:latin typeface="Segoe UI"/>
                <a:cs typeface="Segoe UI"/>
              </a:rPr>
              <a:t>Notebook</a:t>
            </a:r>
            <a:r>
              <a:rPr dirty="0" sz="4400" spc="-65">
                <a:solidFill>
                  <a:srgbClr val="F1F1F1"/>
                </a:solidFill>
                <a:latin typeface="Segoe UI"/>
                <a:cs typeface="Segoe UI"/>
              </a:rPr>
              <a:t> </a:t>
            </a:r>
            <a:r>
              <a:rPr dirty="0" sz="4400">
                <a:solidFill>
                  <a:srgbClr val="F1F1F1"/>
                </a:solidFill>
                <a:latin typeface="Segoe UI"/>
                <a:cs typeface="Segoe UI"/>
              </a:rPr>
              <a:t>to</a:t>
            </a:r>
            <a:r>
              <a:rPr dirty="0" sz="4400" spc="-80">
                <a:solidFill>
                  <a:srgbClr val="F1F1F1"/>
                </a:solidFill>
                <a:latin typeface="Segoe UI"/>
                <a:cs typeface="Segoe UI"/>
              </a:rPr>
              <a:t> </a:t>
            </a:r>
            <a:r>
              <a:rPr dirty="0" sz="4400" spc="-10">
                <a:solidFill>
                  <a:srgbClr val="F1F1F1"/>
                </a:solidFill>
                <a:latin typeface="Segoe UI"/>
                <a:cs typeface="Segoe UI"/>
              </a:rPr>
              <a:t>Bedside: </a:t>
            </a:r>
            <a:r>
              <a:rPr dirty="0" sz="4400">
                <a:solidFill>
                  <a:srgbClr val="F1F1F1"/>
                </a:solidFill>
                <a:latin typeface="Segoe UI"/>
                <a:cs typeface="Segoe UI"/>
              </a:rPr>
              <a:t>Building</a:t>
            </a:r>
            <a:r>
              <a:rPr dirty="0" sz="4400" spc="-70">
                <a:solidFill>
                  <a:srgbClr val="F1F1F1"/>
                </a:solidFill>
                <a:latin typeface="Segoe UI"/>
                <a:cs typeface="Segoe UI"/>
              </a:rPr>
              <a:t> </a:t>
            </a:r>
            <a:r>
              <a:rPr dirty="0" sz="4400">
                <a:solidFill>
                  <a:srgbClr val="F1F1F1"/>
                </a:solidFill>
                <a:latin typeface="Segoe UI"/>
                <a:cs typeface="Segoe UI"/>
              </a:rPr>
              <a:t>a</a:t>
            </a:r>
            <a:r>
              <a:rPr dirty="0" sz="4400" spc="-125">
                <a:solidFill>
                  <a:srgbClr val="F1F1F1"/>
                </a:solidFill>
                <a:latin typeface="Segoe UI"/>
                <a:cs typeface="Segoe UI"/>
              </a:rPr>
              <a:t> </a:t>
            </a:r>
            <a:r>
              <a:rPr dirty="0" sz="4400">
                <a:solidFill>
                  <a:srgbClr val="F1F1F1"/>
                </a:solidFill>
                <a:latin typeface="Segoe UI"/>
                <a:cs typeface="Segoe UI"/>
              </a:rPr>
              <a:t>Clinical</a:t>
            </a:r>
            <a:r>
              <a:rPr dirty="0" sz="4400" spc="-85">
                <a:solidFill>
                  <a:srgbClr val="F1F1F1"/>
                </a:solidFill>
                <a:latin typeface="Segoe UI"/>
                <a:cs typeface="Segoe UI"/>
              </a:rPr>
              <a:t> </a:t>
            </a:r>
            <a:r>
              <a:rPr dirty="0" sz="4400" spc="-20">
                <a:solidFill>
                  <a:srgbClr val="F1F1F1"/>
                </a:solidFill>
                <a:latin typeface="Segoe UI"/>
                <a:cs typeface="Segoe UI"/>
              </a:rPr>
              <a:t>Risk </a:t>
            </a:r>
            <a:r>
              <a:rPr dirty="0" sz="4400">
                <a:solidFill>
                  <a:srgbClr val="F1F1F1"/>
                </a:solidFill>
                <a:latin typeface="Segoe UI"/>
                <a:cs typeface="Segoe UI"/>
              </a:rPr>
              <a:t>Prediction</a:t>
            </a:r>
            <a:r>
              <a:rPr dirty="0" sz="4400" spc="-90">
                <a:solidFill>
                  <a:srgbClr val="F1F1F1"/>
                </a:solidFill>
                <a:latin typeface="Segoe UI"/>
                <a:cs typeface="Segoe UI"/>
              </a:rPr>
              <a:t> </a:t>
            </a:r>
            <a:r>
              <a:rPr dirty="0" sz="4400">
                <a:solidFill>
                  <a:srgbClr val="F1F1F1"/>
                </a:solidFill>
                <a:latin typeface="Segoe UI"/>
                <a:cs typeface="Segoe UI"/>
              </a:rPr>
              <a:t>Pipeline</a:t>
            </a:r>
            <a:r>
              <a:rPr dirty="0" sz="4400" spc="-75">
                <a:solidFill>
                  <a:srgbClr val="F1F1F1"/>
                </a:solidFill>
                <a:latin typeface="Segoe UI"/>
                <a:cs typeface="Segoe UI"/>
              </a:rPr>
              <a:t> </a:t>
            </a:r>
            <a:r>
              <a:rPr dirty="0" sz="4400">
                <a:solidFill>
                  <a:srgbClr val="F1F1F1"/>
                </a:solidFill>
                <a:latin typeface="Segoe UI"/>
                <a:cs typeface="Segoe UI"/>
              </a:rPr>
              <a:t>in</a:t>
            </a:r>
            <a:r>
              <a:rPr dirty="0" sz="4400" spc="-5">
                <a:solidFill>
                  <a:srgbClr val="F1F1F1"/>
                </a:solidFill>
                <a:latin typeface="Segoe UI"/>
                <a:cs typeface="Segoe UI"/>
              </a:rPr>
              <a:t> </a:t>
            </a:r>
            <a:r>
              <a:rPr dirty="0" sz="4400" spc="-10">
                <a:solidFill>
                  <a:srgbClr val="F1F1F1"/>
                </a:solidFill>
                <a:latin typeface="Segoe UI"/>
                <a:cs typeface="Segoe UI"/>
              </a:rPr>
              <a:t>Fabric</a:t>
            </a:r>
            <a:endParaRPr sz="4400">
              <a:latin typeface="Segoe UI"/>
              <a:cs typeface="Segoe UI"/>
            </a:endParaRPr>
          </a:p>
        </p:txBody>
      </p:sp>
      <p:sp>
        <p:nvSpPr>
          <p:cNvPr id="6" name="object 6"/>
          <p:cNvSpPr txBox="1"/>
          <p:nvPr/>
        </p:nvSpPr>
        <p:spPr>
          <a:xfrm>
            <a:off x="3644265" y="63944"/>
            <a:ext cx="4980305" cy="333375"/>
          </a:xfrm>
          <a:prstGeom prst="rect">
            <a:avLst/>
          </a:prstGeom>
        </p:spPr>
        <p:txBody>
          <a:bodyPr wrap="square" lIns="0" tIns="14604" rIns="0" bIns="0" rtlCol="0" vert="horz">
            <a:spAutoFit/>
          </a:bodyPr>
          <a:lstStyle/>
          <a:p>
            <a:pPr marL="12700">
              <a:lnSpc>
                <a:spcPct val="100000"/>
              </a:lnSpc>
              <a:spcBef>
                <a:spcPts val="114"/>
              </a:spcBef>
            </a:pPr>
            <a:r>
              <a:rPr dirty="0" sz="2000" spc="60">
                <a:solidFill>
                  <a:srgbClr val="125B44"/>
                </a:solidFill>
                <a:latin typeface="Arial MT"/>
                <a:cs typeface="Arial MT"/>
              </a:rPr>
              <a:t>Do</a:t>
            </a:r>
            <a:r>
              <a:rPr dirty="0" sz="2000" spc="130">
                <a:solidFill>
                  <a:srgbClr val="125B44"/>
                </a:solidFill>
                <a:latin typeface="Arial MT"/>
                <a:cs typeface="Arial MT"/>
              </a:rPr>
              <a:t> </a:t>
            </a:r>
            <a:r>
              <a:rPr dirty="0" sz="2000" spc="65">
                <a:solidFill>
                  <a:srgbClr val="125B44"/>
                </a:solidFill>
                <a:latin typeface="Arial MT"/>
                <a:cs typeface="Arial MT"/>
              </a:rPr>
              <a:t>not</a:t>
            </a:r>
            <a:r>
              <a:rPr dirty="0" sz="2000" spc="190">
                <a:solidFill>
                  <a:srgbClr val="125B44"/>
                </a:solidFill>
                <a:latin typeface="Arial MT"/>
                <a:cs typeface="Arial MT"/>
              </a:rPr>
              <a:t> </a:t>
            </a:r>
            <a:r>
              <a:rPr dirty="0" sz="2000" spc="70">
                <a:solidFill>
                  <a:srgbClr val="125B44"/>
                </a:solidFill>
                <a:latin typeface="Arial MT"/>
                <a:cs typeface="Arial MT"/>
              </a:rPr>
              <a:t>record</a:t>
            </a:r>
            <a:r>
              <a:rPr dirty="0" sz="2000" spc="204">
                <a:solidFill>
                  <a:srgbClr val="125B44"/>
                </a:solidFill>
                <a:latin typeface="Arial MT"/>
                <a:cs typeface="Arial MT"/>
              </a:rPr>
              <a:t> </a:t>
            </a:r>
            <a:r>
              <a:rPr dirty="0" sz="2000" spc="50">
                <a:solidFill>
                  <a:srgbClr val="125B44"/>
                </a:solidFill>
                <a:latin typeface="Arial MT"/>
                <a:cs typeface="Arial MT"/>
              </a:rPr>
              <a:t>or</a:t>
            </a:r>
            <a:r>
              <a:rPr dirty="0" sz="2000" spc="225">
                <a:solidFill>
                  <a:srgbClr val="125B44"/>
                </a:solidFill>
                <a:latin typeface="Arial MT"/>
                <a:cs typeface="Arial MT"/>
              </a:rPr>
              <a:t> </a:t>
            </a:r>
            <a:r>
              <a:rPr dirty="0" sz="2000" spc="75">
                <a:solidFill>
                  <a:srgbClr val="125B44"/>
                </a:solidFill>
                <a:latin typeface="Arial MT"/>
                <a:cs typeface="Arial MT"/>
              </a:rPr>
              <a:t>livestream</a:t>
            </a:r>
            <a:r>
              <a:rPr dirty="0" sz="2000" spc="225">
                <a:solidFill>
                  <a:srgbClr val="125B44"/>
                </a:solidFill>
                <a:latin typeface="Arial MT"/>
                <a:cs typeface="Arial MT"/>
              </a:rPr>
              <a:t> </a:t>
            </a:r>
            <a:r>
              <a:rPr dirty="0" sz="2000" spc="55">
                <a:solidFill>
                  <a:srgbClr val="125B44"/>
                </a:solidFill>
                <a:latin typeface="Arial MT"/>
                <a:cs typeface="Arial MT"/>
              </a:rPr>
              <a:t>this</a:t>
            </a:r>
            <a:r>
              <a:rPr dirty="0" sz="2000" spc="250">
                <a:solidFill>
                  <a:srgbClr val="125B44"/>
                </a:solidFill>
                <a:latin typeface="Arial MT"/>
                <a:cs typeface="Arial MT"/>
              </a:rPr>
              <a:t> </a:t>
            </a:r>
            <a:r>
              <a:rPr dirty="0" sz="2000" spc="65">
                <a:solidFill>
                  <a:srgbClr val="125B44"/>
                </a:solidFill>
                <a:latin typeface="Arial MT"/>
                <a:cs typeface="Arial MT"/>
              </a:rPr>
              <a:t>session</a:t>
            </a:r>
            <a:endParaRPr sz="2000">
              <a:latin typeface="Arial MT"/>
              <a:cs typeface="Arial MT"/>
            </a:endParaRPr>
          </a:p>
        </p:txBody>
      </p:sp>
      <p:sp>
        <p:nvSpPr>
          <p:cNvPr id="7" name="object 7"/>
          <p:cNvSpPr txBox="1"/>
          <p:nvPr/>
        </p:nvSpPr>
        <p:spPr>
          <a:xfrm>
            <a:off x="5908166" y="3776090"/>
            <a:ext cx="2625725" cy="947419"/>
          </a:xfrm>
          <a:prstGeom prst="rect">
            <a:avLst/>
          </a:prstGeom>
        </p:spPr>
        <p:txBody>
          <a:bodyPr wrap="square" lIns="0" tIns="15240" rIns="0" bIns="0" rtlCol="0" vert="horz">
            <a:spAutoFit/>
          </a:bodyPr>
          <a:lstStyle/>
          <a:p>
            <a:pPr marL="12700">
              <a:lnSpc>
                <a:spcPts val="2390"/>
              </a:lnSpc>
              <a:spcBef>
                <a:spcPts val="120"/>
              </a:spcBef>
            </a:pPr>
            <a:r>
              <a:rPr dirty="0" sz="2000" b="1">
                <a:solidFill>
                  <a:srgbClr val="BB9F45"/>
                </a:solidFill>
                <a:latin typeface="Arial"/>
                <a:cs typeface="Arial"/>
              </a:rPr>
              <a:t>Manu</a:t>
            </a:r>
            <a:r>
              <a:rPr dirty="0" sz="2000" spc="-50" b="1">
                <a:solidFill>
                  <a:srgbClr val="BB9F45"/>
                </a:solidFill>
                <a:latin typeface="Arial"/>
                <a:cs typeface="Arial"/>
              </a:rPr>
              <a:t> </a:t>
            </a:r>
            <a:r>
              <a:rPr dirty="0" sz="2000" spc="-10" b="1">
                <a:solidFill>
                  <a:srgbClr val="BB9F45"/>
                </a:solidFill>
                <a:latin typeface="Arial"/>
                <a:cs typeface="Arial"/>
              </a:rPr>
              <a:t>Huygens</a:t>
            </a:r>
            <a:endParaRPr sz="2000">
              <a:latin typeface="Arial"/>
              <a:cs typeface="Arial"/>
            </a:endParaRPr>
          </a:p>
          <a:p>
            <a:pPr marL="12700">
              <a:lnSpc>
                <a:spcPts val="2390"/>
              </a:lnSpc>
            </a:pPr>
            <a:r>
              <a:rPr dirty="0" sz="2000">
                <a:solidFill>
                  <a:srgbClr val="BB9F45"/>
                </a:solidFill>
                <a:latin typeface="Arial MT"/>
                <a:cs typeface="Arial MT"/>
              </a:rPr>
              <a:t>Cloud</a:t>
            </a:r>
            <a:r>
              <a:rPr dirty="0" sz="2000" spc="-60">
                <a:solidFill>
                  <a:srgbClr val="BB9F45"/>
                </a:solidFill>
                <a:latin typeface="Arial MT"/>
                <a:cs typeface="Arial MT"/>
              </a:rPr>
              <a:t> </a:t>
            </a:r>
            <a:r>
              <a:rPr dirty="0" sz="2000">
                <a:solidFill>
                  <a:srgbClr val="BB9F45"/>
                </a:solidFill>
                <a:latin typeface="Arial MT"/>
                <a:cs typeface="Arial MT"/>
              </a:rPr>
              <a:t>&amp; Data</a:t>
            </a:r>
            <a:r>
              <a:rPr dirty="0" sz="2000" spc="-60">
                <a:solidFill>
                  <a:srgbClr val="BB9F45"/>
                </a:solidFill>
                <a:latin typeface="Arial MT"/>
                <a:cs typeface="Arial MT"/>
              </a:rPr>
              <a:t> </a:t>
            </a:r>
            <a:r>
              <a:rPr dirty="0" sz="2000" spc="-10">
                <a:solidFill>
                  <a:srgbClr val="BB9F45"/>
                </a:solidFill>
                <a:latin typeface="Arial MT"/>
                <a:cs typeface="Arial MT"/>
              </a:rPr>
              <a:t>Engineer</a:t>
            </a:r>
            <a:endParaRPr sz="2000">
              <a:latin typeface="Arial MT"/>
              <a:cs typeface="Arial MT"/>
            </a:endParaRPr>
          </a:p>
          <a:p>
            <a:pPr marL="12700">
              <a:lnSpc>
                <a:spcPct val="100000"/>
              </a:lnSpc>
              <a:spcBef>
                <a:spcPts val="50"/>
              </a:spcBef>
            </a:pPr>
            <a:r>
              <a:rPr dirty="0" sz="2000">
                <a:solidFill>
                  <a:srgbClr val="BB9F45"/>
                </a:solidFill>
                <a:latin typeface="Arial MT"/>
                <a:cs typeface="Arial MT"/>
              </a:rPr>
              <a:t>KPMG</a:t>
            </a:r>
            <a:r>
              <a:rPr dirty="0" sz="2000" spc="-65">
                <a:solidFill>
                  <a:srgbClr val="BB9F45"/>
                </a:solidFill>
                <a:latin typeface="Arial MT"/>
                <a:cs typeface="Arial MT"/>
              </a:rPr>
              <a:t> </a:t>
            </a:r>
            <a:r>
              <a:rPr dirty="0" sz="2000" spc="-10">
                <a:solidFill>
                  <a:srgbClr val="BB9F45"/>
                </a:solidFill>
                <a:latin typeface="Arial MT"/>
                <a:cs typeface="Arial MT"/>
              </a:rPr>
              <a:t>Netherlands</a:t>
            </a:r>
            <a:endParaRPr sz="2000">
              <a:latin typeface="Arial MT"/>
              <a:cs typeface="Arial MT"/>
            </a:endParaRPr>
          </a:p>
        </p:txBody>
      </p:sp>
      <p:pic>
        <p:nvPicPr>
          <p:cNvPr id="8" name="object 8"/>
          <p:cNvPicPr/>
          <p:nvPr/>
        </p:nvPicPr>
        <p:blipFill>
          <a:blip r:embed="rId3" cstate="print"/>
          <a:stretch>
            <a:fillRect/>
          </a:stretch>
        </p:blipFill>
        <p:spPr>
          <a:xfrm>
            <a:off x="1783079" y="4902377"/>
            <a:ext cx="320039" cy="329260"/>
          </a:xfrm>
          <a:prstGeom prst="rect">
            <a:avLst/>
          </a:prstGeom>
        </p:spPr>
      </p:pic>
      <p:sp>
        <p:nvSpPr>
          <p:cNvPr id="9" name="object 9"/>
          <p:cNvSpPr txBox="1"/>
          <p:nvPr/>
        </p:nvSpPr>
        <p:spPr>
          <a:xfrm>
            <a:off x="1798447" y="3742372"/>
            <a:ext cx="2209800" cy="1438275"/>
          </a:xfrm>
          <a:prstGeom prst="rect">
            <a:avLst/>
          </a:prstGeom>
        </p:spPr>
        <p:txBody>
          <a:bodyPr wrap="square" lIns="0" tIns="14604" rIns="0" bIns="0" rtlCol="0" vert="horz">
            <a:spAutoFit/>
          </a:bodyPr>
          <a:lstStyle/>
          <a:p>
            <a:pPr marL="12700">
              <a:lnSpc>
                <a:spcPts val="2390"/>
              </a:lnSpc>
              <a:spcBef>
                <a:spcPts val="114"/>
              </a:spcBef>
            </a:pPr>
            <a:r>
              <a:rPr dirty="0" sz="2000" b="1">
                <a:solidFill>
                  <a:srgbClr val="BB9F45"/>
                </a:solidFill>
                <a:latin typeface="Arial"/>
                <a:cs typeface="Arial"/>
              </a:rPr>
              <a:t>Audrius</a:t>
            </a:r>
            <a:r>
              <a:rPr dirty="0" sz="2000" spc="-65" b="1">
                <a:solidFill>
                  <a:srgbClr val="BB9F45"/>
                </a:solidFill>
                <a:latin typeface="Arial"/>
                <a:cs typeface="Arial"/>
              </a:rPr>
              <a:t> </a:t>
            </a:r>
            <a:r>
              <a:rPr dirty="0" sz="2000" spc="-20" b="1">
                <a:solidFill>
                  <a:srgbClr val="BB9F45"/>
                </a:solidFill>
                <a:latin typeface="Arial"/>
                <a:cs typeface="Arial"/>
              </a:rPr>
              <a:t>Šaras</a:t>
            </a:r>
            <a:endParaRPr sz="2000">
              <a:latin typeface="Arial"/>
              <a:cs typeface="Arial"/>
            </a:endParaRPr>
          </a:p>
          <a:p>
            <a:pPr marL="12700">
              <a:lnSpc>
                <a:spcPts val="2390"/>
              </a:lnSpc>
            </a:pPr>
            <a:r>
              <a:rPr dirty="0" sz="2000">
                <a:solidFill>
                  <a:srgbClr val="BB9F45"/>
                </a:solidFill>
                <a:latin typeface="Arial MT"/>
                <a:cs typeface="Arial MT"/>
              </a:rPr>
              <a:t>AI</a:t>
            </a:r>
            <a:r>
              <a:rPr dirty="0" sz="2000" spc="-40">
                <a:solidFill>
                  <a:srgbClr val="BB9F45"/>
                </a:solidFill>
                <a:latin typeface="Arial MT"/>
                <a:cs typeface="Arial MT"/>
              </a:rPr>
              <a:t> </a:t>
            </a:r>
            <a:r>
              <a:rPr dirty="0" sz="2000">
                <a:solidFill>
                  <a:srgbClr val="BB9F45"/>
                </a:solidFill>
                <a:latin typeface="Arial MT"/>
                <a:cs typeface="Arial MT"/>
              </a:rPr>
              <a:t>&amp;</a:t>
            </a:r>
            <a:r>
              <a:rPr dirty="0" sz="2000" spc="-35">
                <a:solidFill>
                  <a:srgbClr val="BB9F45"/>
                </a:solidFill>
                <a:latin typeface="Arial MT"/>
                <a:cs typeface="Arial MT"/>
              </a:rPr>
              <a:t> </a:t>
            </a:r>
            <a:r>
              <a:rPr dirty="0" sz="2000">
                <a:solidFill>
                  <a:srgbClr val="BB9F45"/>
                </a:solidFill>
                <a:latin typeface="Arial MT"/>
                <a:cs typeface="Arial MT"/>
              </a:rPr>
              <a:t>Data</a:t>
            </a:r>
            <a:r>
              <a:rPr dirty="0" sz="2000" spc="-30">
                <a:solidFill>
                  <a:srgbClr val="BB9F45"/>
                </a:solidFill>
                <a:latin typeface="Arial MT"/>
                <a:cs typeface="Arial MT"/>
              </a:rPr>
              <a:t> </a:t>
            </a:r>
            <a:r>
              <a:rPr dirty="0" sz="2000" spc="-10">
                <a:solidFill>
                  <a:srgbClr val="BB9F45"/>
                </a:solidFill>
                <a:latin typeface="Arial MT"/>
                <a:cs typeface="Arial MT"/>
              </a:rPr>
              <a:t>Engineer</a:t>
            </a:r>
            <a:endParaRPr sz="2000">
              <a:latin typeface="Arial MT"/>
              <a:cs typeface="Arial MT"/>
            </a:endParaRPr>
          </a:p>
          <a:p>
            <a:pPr marL="12700">
              <a:lnSpc>
                <a:spcPct val="100000"/>
              </a:lnSpc>
              <a:spcBef>
                <a:spcPts val="55"/>
              </a:spcBef>
            </a:pPr>
            <a:r>
              <a:rPr dirty="0" sz="2000">
                <a:solidFill>
                  <a:srgbClr val="BB9F45"/>
                </a:solidFill>
                <a:latin typeface="Arial MT"/>
                <a:cs typeface="Arial MT"/>
              </a:rPr>
              <a:t>KPMG</a:t>
            </a:r>
            <a:r>
              <a:rPr dirty="0" sz="2000" spc="-75">
                <a:solidFill>
                  <a:srgbClr val="BB9F45"/>
                </a:solidFill>
                <a:latin typeface="Arial MT"/>
                <a:cs typeface="Arial MT"/>
              </a:rPr>
              <a:t> </a:t>
            </a:r>
            <a:r>
              <a:rPr dirty="0" sz="2000" spc="-10">
                <a:solidFill>
                  <a:srgbClr val="BB9F45"/>
                </a:solidFill>
                <a:latin typeface="Arial MT"/>
                <a:cs typeface="Arial MT"/>
              </a:rPr>
              <a:t>Netherlands</a:t>
            </a:r>
            <a:endParaRPr sz="2000">
              <a:latin typeface="Arial MT"/>
              <a:cs typeface="Arial MT"/>
            </a:endParaRPr>
          </a:p>
          <a:p>
            <a:pPr marL="460375">
              <a:lnSpc>
                <a:spcPct val="100000"/>
              </a:lnSpc>
              <a:spcBef>
                <a:spcPts val="2250"/>
              </a:spcBef>
            </a:pPr>
            <a:r>
              <a:rPr dirty="0" sz="1350" spc="-10">
                <a:solidFill>
                  <a:srgbClr val="FFFFFF"/>
                </a:solidFill>
                <a:latin typeface="Segoe UI"/>
                <a:cs typeface="Segoe UI"/>
              </a:rPr>
              <a:t>/sarasaudrius</a:t>
            </a:r>
            <a:endParaRPr sz="1350">
              <a:latin typeface="Segoe UI"/>
              <a:cs typeface="Segoe UI"/>
            </a:endParaRPr>
          </a:p>
        </p:txBody>
      </p:sp>
      <p:grpSp>
        <p:nvGrpSpPr>
          <p:cNvPr id="10" name="object 10"/>
          <p:cNvGrpSpPr/>
          <p:nvPr/>
        </p:nvGrpSpPr>
        <p:grpSpPr>
          <a:xfrm>
            <a:off x="292608" y="3767328"/>
            <a:ext cx="5907405" cy="1861185"/>
            <a:chOff x="292608" y="3767328"/>
            <a:chExt cx="5907405" cy="1861185"/>
          </a:xfrm>
        </p:grpSpPr>
        <p:pic>
          <p:nvPicPr>
            <p:cNvPr id="11" name="object 11"/>
            <p:cNvPicPr/>
            <p:nvPr/>
          </p:nvPicPr>
          <p:blipFill>
            <a:blip r:embed="rId3" cstate="print"/>
            <a:stretch>
              <a:fillRect/>
            </a:stretch>
          </p:blipFill>
          <p:spPr>
            <a:xfrm>
              <a:off x="5870448" y="4920666"/>
              <a:ext cx="329184" cy="329260"/>
            </a:xfrm>
            <a:prstGeom prst="rect">
              <a:avLst/>
            </a:prstGeom>
          </p:spPr>
        </p:pic>
        <p:pic>
          <p:nvPicPr>
            <p:cNvPr id="12" name="object 12" descr="Profile image"/>
            <p:cNvPicPr/>
            <p:nvPr/>
          </p:nvPicPr>
          <p:blipFill>
            <a:blip r:embed="rId4" cstate="print"/>
            <a:stretch>
              <a:fillRect/>
            </a:stretch>
          </p:blipFill>
          <p:spPr>
            <a:xfrm>
              <a:off x="4398263" y="3831336"/>
              <a:ext cx="1531619" cy="1796795"/>
            </a:xfrm>
            <a:prstGeom prst="rect">
              <a:avLst/>
            </a:prstGeom>
          </p:spPr>
        </p:pic>
        <p:pic>
          <p:nvPicPr>
            <p:cNvPr id="13" name="object 13" descr="Profile image"/>
            <p:cNvPicPr/>
            <p:nvPr/>
          </p:nvPicPr>
          <p:blipFill>
            <a:blip r:embed="rId5" cstate="print"/>
            <a:stretch>
              <a:fillRect/>
            </a:stretch>
          </p:blipFill>
          <p:spPr>
            <a:xfrm>
              <a:off x="292608" y="3767328"/>
              <a:ext cx="1531620" cy="1796795"/>
            </a:xfrm>
            <a:prstGeom prst="rect">
              <a:avLst/>
            </a:prstGeom>
          </p:spPr>
        </p:pic>
      </p:grpSp>
      <p:sp>
        <p:nvSpPr>
          <p:cNvPr id="14" name="object 14"/>
          <p:cNvSpPr txBox="1"/>
          <p:nvPr/>
        </p:nvSpPr>
        <p:spPr>
          <a:xfrm>
            <a:off x="6341745" y="4964112"/>
            <a:ext cx="93345" cy="234315"/>
          </a:xfrm>
          <a:prstGeom prst="rect">
            <a:avLst/>
          </a:prstGeom>
        </p:spPr>
        <p:txBody>
          <a:bodyPr wrap="square" lIns="0" tIns="15240" rIns="0" bIns="0" rtlCol="0" vert="horz">
            <a:spAutoFit/>
          </a:bodyPr>
          <a:lstStyle/>
          <a:p>
            <a:pPr marL="12700">
              <a:lnSpc>
                <a:spcPct val="100000"/>
              </a:lnSpc>
              <a:spcBef>
                <a:spcPts val="120"/>
              </a:spcBef>
            </a:pPr>
            <a:r>
              <a:rPr dirty="0" sz="1350" spc="-50">
                <a:solidFill>
                  <a:srgbClr val="FFFFFF"/>
                </a:solidFill>
                <a:latin typeface="Segoe UI"/>
                <a:cs typeface="Segoe UI"/>
              </a:rPr>
              <a:t>/</a:t>
            </a:r>
            <a:endParaRPr sz="1350">
              <a:latin typeface="Segoe UI"/>
              <a:cs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prstGeom prst="rect"/>
        </p:spPr>
        <p:txBody>
          <a:bodyPr wrap="square" lIns="0" tIns="16510" rIns="0" bIns="0" rtlCol="0" vert="horz">
            <a:spAutoFit/>
          </a:bodyPr>
          <a:lstStyle/>
          <a:p>
            <a:pPr marL="112395">
              <a:lnSpc>
                <a:spcPct val="100000"/>
              </a:lnSpc>
              <a:spcBef>
                <a:spcPts val="130"/>
              </a:spcBef>
            </a:pPr>
            <a:r>
              <a:rPr dirty="0" sz="4800" spc="-10">
                <a:latin typeface="Segoe UI"/>
                <a:cs typeface="Segoe UI"/>
              </a:rPr>
              <a:t>Agenda</a:t>
            </a:r>
            <a:endParaRPr sz="4800">
              <a:latin typeface="Segoe UI"/>
              <a:cs typeface="Segoe UI"/>
            </a:endParaRPr>
          </a:p>
        </p:txBody>
      </p:sp>
      <p:graphicFrame>
        <p:nvGraphicFramePr>
          <p:cNvPr id="4" name="object 4"/>
          <p:cNvGraphicFramePr>
            <a:graphicFrameLocks noGrp="1"/>
          </p:cNvGraphicFramePr>
          <p:nvPr/>
        </p:nvGraphicFramePr>
        <p:xfrm>
          <a:off x="953592" y="1468629"/>
          <a:ext cx="5141595" cy="3500000"/>
        </p:xfrm>
        <a:graphic>
          <a:graphicData uri="http://schemas.openxmlformats.org/drawingml/2006/table">
            <a:tbl>
              <a:tblPr firstRow="1" bandRow="1">
                <a:tableStyleId>{2D5ABB26-0587-4C30-8999-92F81FD0307C}</a:tableStyleId>
              </a:tblPr>
              <a:tblGrid>
                <a:gridCol w="557530"/>
                <a:gridCol w="3959860"/>
                <a:gridCol w="547370"/>
              </a:tblGrid>
              <a:tr h="500000">
                <a:tc>
                  <a:txBody>
                    <a:bodyPr/>
                    <a:lstStyle/>
                    <a:p>
                      <a:pPr algn="ctr" marR="10795">
                        <a:lnSpc>
                          <a:spcPct val="100000"/>
                        </a:lnSpc>
                        <a:spcBef>
                          <a:spcPts val="270"/>
                        </a:spcBef>
                      </a:pPr>
                      <a:r>
                        <a:rPr dirty="0" sz="3150" spc="-25" b="1">
                          <a:solidFill>
                            <a:srgbClr val="BB9F45"/>
                          </a:solidFill>
                          <a:latin typeface="Segoe UI"/>
                          <a:cs typeface="Segoe UI"/>
                        </a:rPr>
                        <a:t>01</a:t>
                      </a:r>
                      <a:endParaRPr sz="3150">
                        <a:latin typeface="Segoe UI"/>
                        <a:cs typeface="Segoe UI"/>
                      </a:endParaRPr>
                    </a:p>
                  </a:txBody>
                  <a:tcPr marL="0" marR="0" marB="0" marT="34290"/>
                </a:tc>
                <a:tc>
                  <a:txBody>
                    <a:bodyPr/>
                    <a:lstStyle/>
                    <a:p>
                      <a:pPr marL="50165">
                        <a:lnSpc>
                          <a:spcPct val="100000"/>
                        </a:lnSpc>
                        <a:spcBef>
                          <a:spcPts val="5"/>
                        </a:spcBef>
                      </a:pPr>
                      <a:r>
                        <a:rPr dirty="0" sz="1550">
                          <a:solidFill>
                            <a:srgbClr val="BB9F45"/>
                          </a:solidFill>
                          <a:latin typeface="Segoe UI"/>
                          <a:cs typeface="Segoe UI"/>
                        </a:rPr>
                        <a:t>Fabric Data Science &amp; ML</a:t>
                      </a:r>
                      <a:endParaRPr sz="1550">
                        <a:latin typeface="Segoe UI"/>
                        <a:cs typeface="Segoe UI"/>
                      </a:endParaRPr>
                    </a:p>
                  </a:txBody>
                  <a:tcPr marL="0" marR="0" marB="0" marT="8255"/>
                </a:tc>
                <a:tc>
                  <a:txBody>
                    <a:bodyPr/>
                    <a:lstStyle/>
                    <a:p>
                      <a:pPr algn="r" marR="24130">
                        <a:lnSpc>
                          <a:spcPct val="100000"/>
                        </a:lnSpc>
                        <a:spcBef>
                          <a:spcPts val="5"/>
                        </a:spcBef>
                      </a:pPr>
                      <a:r>
                        <a:rPr dirty="0" sz="1550" spc="-25">
                          <a:solidFill>
                            <a:srgbClr val="BB9F45"/>
                          </a:solidFill>
                          <a:latin typeface="Segoe UI"/>
                          <a:cs typeface="Segoe UI"/>
                        </a:rPr>
                        <a:t>5</a:t>
                      </a:r>
                      <a:endParaRPr sz="1550">
                        <a:latin typeface="Segoe UI"/>
                        <a:cs typeface="Segoe UI"/>
                      </a:endParaRPr>
                    </a:p>
                  </a:txBody>
                  <a:tcPr marL="0" marR="0" marB="0" marT="8255"/>
                </a:tc>
              </a:tr>
              <a:tr h="500000">
                <a:tc>
                  <a:txBody>
                    <a:bodyPr/>
                    <a:lstStyle/>
                    <a:p>
                      <a:pPr algn="ctr" marR="10795">
                        <a:lnSpc>
                          <a:spcPct val="100000"/>
                        </a:lnSpc>
                        <a:spcBef>
                          <a:spcPts val="259"/>
                        </a:spcBef>
                      </a:pPr>
                      <a:r>
                        <a:rPr dirty="0" sz="3150" spc="-25" b="1">
                          <a:solidFill>
                            <a:srgbClr val="BB9F45"/>
                          </a:solidFill>
                          <a:latin typeface="Segoe UI"/>
                          <a:cs typeface="Segoe UI"/>
                        </a:rPr>
                        <a:t>02</a:t>
                      </a:r>
                      <a:endParaRPr sz="3150">
                        <a:latin typeface="Segoe UI"/>
                        <a:cs typeface="Segoe UI"/>
                      </a:endParaRPr>
                    </a:p>
                  </a:txBody>
                  <a:tcPr marL="0" marR="0" marB="0" marT="33019"/>
                </a:tc>
                <a:tc>
                  <a:txBody>
                    <a:bodyPr/>
                    <a:lstStyle/>
                    <a:p>
                      <a:pPr marL="50165">
                        <a:lnSpc>
                          <a:spcPct val="100000"/>
                        </a:lnSpc>
                      </a:pPr>
                      <a:r>
                        <a:rPr dirty="0" sz="1550">
                          <a:solidFill>
                            <a:srgbClr val="BB9F45"/>
                          </a:solidFill>
                          <a:latin typeface="Segoe UI"/>
                          <a:cs typeface="Segoe UI"/>
                        </a:rPr>
                        <a:t>Prediction models in EU healthcare</a:t>
                      </a:r>
                      <a:endParaRPr sz="1550">
                        <a:latin typeface="Segoe UI"/>
                        <a:cs typeface="Segoe UI"/>
                      </a:endParaRPr>
                    </a:p>
                  </a:txBody>
                  <a:tcPr marL="0" marR="0" marB="0" marT="6985"/>
                </a:tc>
                <a:tc>
                  <a:txBody>
                    <a:bodyPr/>
                    <a:lstStyle/>
                    <a:p>
                      <a:pPr algn="r" marR="24130">
                        <a:lnSpc>
                          <a:spcPct val="100000"/>
                        </a:lnSpc>
                      </a:pPr>
                      <a:r>
                        <a:rPr dirty="0" sz="1550" spc="-25">
                          <a:solidFill>
                            <a:srgbClr val="BB9F45"/>
                          </a:solidFill>
                          <a:latin typeface="Segoe UI"/>
                          <a:cs typeface="Segoe UI"/>
                        </a:rPr>
                        <a:t>8</a:t>
                      </a:r>
                      <a:endParaRPr sz="1550">
                        <a:latin typeface="Segoe UI"/>
                        <a:cs typeface="Segoe UI"/>
                      </a:endParaRPr>
                    </a:p>
                  </a:txBody>
                  <a:tcPr marL="0" marR="0" marB="0" marT="6985"/>
                </a:tc>
              </a:tr>
              <a:tr h="500000">
                <a:tc>
                  <a:txBody>
                    <a:bodyPr/>
                    <a:lstStyle/>
                    <a:p>
                      <a:pPr algn="ctr" marR="10795">
                        <a:lnSpc>
                          <a:spcPct val="100000"/>
                        </a:lnSpc>
                        <a:spcBef>
                          <a:spcPts val="520"/>
                        </a:spcBef>
                      </a:pPr>
                      <a:r>
                        <a:rPr dirty="0" sz="3150" spc="-25" b="1">
                          <a:solidFill>
                            <a:srgbClr val="BB9F45"/>
                          </a:solidFill>
                          <a:latin typeface="Segoe UI"/>
                          <a:cs typeface="Segoe UI"/>
                        </a:rPr>
                        <a:t>03</a:t>
                      </a:r>
                      <a:endParaRPr sz="3150">
                        <a:latin typeface="Segoe UI"/>
                        <a:cs typeface="Segoe UI"/>
                      </a:endParaRPr>
                    </a:p>
                  </a:txBody>
                  <a:tcPr marL="0" marR="0" marB="0" marT="66040"/>
                </a:tc>
                <a:tc>
                  <a:txBody>
                    <a:bodyPr/>
                    <a:lstStyle/>
                    <a:p>
                      <a:pPr marL="50165" marR="269875">
                        <a:lnSpc>
                          <a:spcPct val="100800"/>
                        </a:lnSpc>
                        <a:spcBef>
                          <a:spcPts val="1110"/>
                        </a:spcBef>
                      </a:pPr>
                      <a:r>
                        <a:rPr dirty="0" sz="1550">
                          <a:solidFill>
                            <a:srgbClr val="BB9F45"/>
                          </a:solidFill>
                          <a:latin typeface="Segoe UI"/>
                          <a:cs typeface="Segoe UI"/>
                        </a:rPr>
                        <a:t>The data and the problem</a:t>
                      </a:r>
                      <a:endParaRPr sz="1550">
                        <a:latin typeface="Segoe UI"/>
                        <a:cs typeface="Segoe UI"/>
                      </a:endParaRPr>
                    </a:p>
                  </a:txBody>
                  <a:tcPr marL="0" marR="0" marB="0" marT="140970"/>
                </a:tc>
                <a:tc>
                  <a:txBody>
                    <a:bodyPr/>
                    <a:lstStyle/>
                    <a:p>
                      <a:pPr algn="r" marR="24130">
                        <a:lnSpc>
                          <a:spcPct val="100000"/>
                        </a:lnSpc>
                      </a:pPr>
                      <a:r>
                        <a:rPr dirty="0" sz="1550" spc="-25">
                          <a:solidFill>
                            <a:srgbClr val="BB9F45"/>
                          </a:solidFill>
                          <a:latin typeface="Segoe UI"/>
                          <a:cs typeface="Segoe UI"/>
                        </a:rPr>
                        <a:t>13</a:t>
                      </a:r>
                      <a:endParaRPr sz="1550">
                        <a:latin typeface="Segoe UI"/>
                        <a:cs typeface="Segoe UI"/>
                      </a:endParaRPr>
                    </a:p>
                  </a:txBody>
                  <a:tcPr marL="0" marR="0" marB="0" marT="40005"/>
                </a:tc>
              </a:tr>
              <a:tr h="500000">
                <a:tc>
                  <a:txBody>
                    <a:bodyPr/>
                    <a:lstStyle/>
                    <a:p>
                      <a:pPr algn="ctr" marR="10795">
                        <a:lnSpc>
                          <a:spcPct val="100000"/>
                        </a:lnSpc>
                        <a:spcBef>
                          <a:spcPts val="275"/>
                        </a:spcBef>
                      </a:pPr>
                      <a:r>
                        <a:rPr dirty="0" sz="3150" spc="-25" b="1">
                          <a:solidFill>
                            <a:srgbClr val="BB9F45"/>
                          </a:solidFill>
                          <a:latin typeface="Segoe UI"/>
                          <a:cs typeface="Segoe UI"/>
                        </a:rPr>
                        <a:t>04</a:t>
                      </a:r>
                      <a:endParaRPr sz="3150">
                        <a:latin typeface="Segoe UI"/>
                        <a:cs typeface="Segoe UI"/>
                      </a:endParaRPr>
                    </a:p>
                  </a:txBody>
                  <a:tcPr marL="0" marR="0" marB="0" marT="34925"/>
                </a:tc>
                <a:tc>
                  <a:txBody>
                    <a:bodyPr/>
                    <a:lstStyle/>
                    <a:p>
                      <a:pPr marL="50165">
                        <a:lnSpc>
                          <a:spcPct val="100000"/>
                        </a:lnSpc>
                      </a:pPr>
                      <a:r>
                        <a:rPr dirty="0" sz="1550">
                          <a:solidFill>
                            <a:srgbClr val="BB9F45"/>
                          </a:solidFill>
                          <a:latin typeface="Segoe UI"/>
                          <a:cs typeface="Segoe UI"/>
                        </a:rPr>
                        <a:t>Training and tracking the model in Fabric</a:t>
                      </a:r>
                      <a:endParaRPr sz="1550">
                        <a:latin typeface="Segoe UI"/>
                        <a:cs typeface="Segoe UI"/>
                      </a:endParaRPr>
                    </a:p>
                  </a:txBody>
                  <a:tcPr marL="0" marR="0" marB="0" marT="8890"/>
                </a:tc>
                <a:tc>
                  <a:txBody>
                    <a:bodyPr/>
                    <a:lstStyle/>
                    <a:p>
                      <a:pPr algn="r" marR="24130">
                        <a:lnSpc>
                          <a:spcPct val="100000"/>
                        </a:lnSpc>
                      </a:pPr>
                      <a:r>
                        <a:rPr dirty="0" sz="1550" spc="-25">
                          <a:solidFill>
                            <a:srgbClr val="BB9F45"/>
                          </a:solidFill>
                          <a:latin typeface="Segoe UI"/>
                          <a:cs typeface="Segoe UI"/>
                        </a:rPr>
                        <a:t>12</a:t>
                      </a:r>
                      <a:endParaRPr sz="1550">
                        <a:latin typeface="Segoe UI"/>
                        <a:cs typeface="Segoe UI"/>
                      </a:endParaRPr>
                    </a:p>
                  </a:txBody>
                  <a:tcPr marL="0" marR="0" marB="0" marT="8890"/>
                </a:tc>
              </a:tr>
              <a:tr h="500000">
                <a:tc>
                  <a:txBody>
                    <a:bodyPr/>
                    <a:lstStyle/>
                    <a:p>
                      <a:pPr algn="ctr" marR="10795">
                        <a:lnSpc>
                          <a:spcPct val="100000"/>
                        </a:lnSpc>
                        <a:spcBef>
                          <a:spcPts val="260"/>
                        </a:spcBef>
                      </a:pPr>
                      <a:r>
                        <a:rPr dirty="0" sz="3150" spc="-25" b="1">
                          <a:solidFill>
                            <a:srgbClr val="BB9F45"/>
                          </a:solidFill>
                          <a:latin typeface="Segoe UI"/>
                          <a:cs typeface="Segoe UI"/>
                        </a:rPr>
                        <a:t>05</a:t>
                      </a:r>
                      <a:endParaRPr sz="3150">
                        <a:latin typeface="Segoe UI"/>
                        <a:cs typeface="Segoe UI"/>
                      </a:endParaRPr>
                    </a:p>
                  </a:txBody>
                  <a:tcPr marL="0" marR="0" marB="0" marT="33020"/>
                </a:tc>
                <a:tc>
                  <a:txBody>
                    <a:bodyPr/>
                    <a:lstStyle/>
                    <a:p>
                      <a:pPr marL="50165">
                        <a:lnSpc>
                          <a:spcPct val="100000"/>
                        </a:lnSpc>
                      </a:pPr>
                      <a:r>
                        <a:rPr dirty="0" sz="1550">
                          <a:solidFill>
                            <a:srgbClr val="BB9F45"/>
                          </a:solidFill>
                          <a:latin typeface="Segoe UI"/>
                          <a:cs typeface="Segoe UI"/>
                        </a:rPr>
                        <a:t>A model a clinician can argue with</a:t>
                      </a:r>
                      <a:endParaRPr sz="1550">
                        <a:latin typeface="Segoe UI"/>
                        <a:cs typeface="Segoe UI"/>
                      </a:endParaRPr>
                    </a:p>
                  </a:txBody>
                  <a:tcPr marL="0" marR="0" marB="0" marT="6985"/>
                </a:tc>
                <a:tc>
                  <a:txBody>
                    <a:bodyPr/>
                    <a:lstStyle/>
                    <a:p>
                      <a:pPr algn="r" marR="24130">
                        <a:lnSpc>
                          <a:spcPct val="100000"/>
                        </a:lnSpc>
                      </a:pPr>
                      <a:r>
                        <a:rPr dirty="0" sz="1550" spc="-25">
                          <a:solidFill>
                            <a:srgbClr val="BB9F45"/>
                          </a:solidFill>
                          <a:latin typeface="Segoe UI"/>
                          <a:cs typeface="Segoe UI"/>
                        </a:rPr>
                        <a:t>7</a:t>
                      </a:r>
                      <a:endParaRPr sz="1550">
                        <a:latin typeface="Segoe UI"/>
                        <a:cs typeface="Segoe UI"/>
                      </a:endParaRPr>
                    </a:p>
                  </a:txBody>
                  <a:tcPr marL="0" marR="0" marB="0" marT="6985"/>
                </a:tc>
              </a:tr>
              <a:tr h="500000">
                <a:tc>
                  <a:txBody>
                    <a:bodyPr/>
                    <a:lstStyle/>
                    <a:p>
                      <a:pPr algn="ctr" marR="10795">
                        <a:lnSpc>
                          <a:spcPct val="100000"/>
                        </a:lnSpc>
                        <a:spcBef>
                          <a:spcPts val="259"/>
                        </a:spcBef>
                      </a:pPr>
                      <a:r>
                        <a:rPr dirty="0" sz="3150" spc="-25" b="1">
                          <a:solidFill>
                            <a:srgbClr val="BB9F45"/>
                          </a:solidFill>
                          <a:latin typeface="Segoe UI"/>
                          <a:cs typeface="Segoe UI"/>
                        </a:rPr>
                        <a:t>06</a:t>
                      </a:r>
                      <a:endParaRPr sz="3150">
                        <a:latin typeface="Segoe UI"/>
                        <a:cs typeface="Segoe UI"/>
                      </a:endParaRPr>
                    </a:p>
                  </a:txBody>
                  <a:tcPr marL="0" marR="0" marB="0" marT="33019"/>
                </a:tc>
                <a:tc>
                  <a:txBody>
                    <a:bodyPr/>
                    <a:lstStyle/>
                    <a:p>
                      <a:pPr marL="50165">
                        <a:lnSpc>
                          <a:spcPct val="100000"/>
                        </a:lnSpc>
                      </a:pPr>
                      <a:r>
                        <a:rPr dirty="0" sz="1550">
                          <a:solidFill>
                            <a:srgbClr val="BB9F45"/>
                          </a:solidFill>
                          <a:latin typeface="Segoe UI"/>
                          <a:cs typeface="Segoe UI"/>
                        </a:rPr>
                        <a:t>Delivery: the clinician app</a:t>
                      </a:r>
                      <a:endParaRPr sz="1550">
                        <a:latin typeface="Segoe UI"/>
                        <a:cs typeface="Segoe UI"/>
                      </a:endParaRPr>
                    </a:p>
                  </a:txBody>
                  <a:tcPr marL="0" marR="0" marB="0" marT="6985"/>
                </a:tc>
                <a:tc>
                  <a:txBody>
                    <a:bodyPr/>
                    <a:lstStyle/>
                    <a:p>
                      <a:pPr algn="r" marR="24130">
                        <a:lnSpc>
                          <a:spcPct val="100000"/>
                        </a:lnSpc>
                      </a:pPr>
                      <a:r>
                        <a:rPr dirty="0" sz="1550" spc="-25">
                          <a:solidFill>
                            <a:srgbClr val="BB9F45"/>
                          </a:solidFill>
                          <a:latin typeface="Segoe UI"/>
                          <a:cs typeface="Segoe UI"/>
                        </a:rPr>
                        <a:t>5</a:t>
                      </a:r>
                      <a:endParaRPr sz="1550">
                        <a:latin typeface="Segoe UI"/>
                        <a:cs typeface="Segoe UI"/>
                      </a:endParaRPr>
                    </a:p>
                  </a:txBody>
                  <a:tcPr marL="0" marR="0" marB="0" marT="6985"/>
                </a:tc>
              </a:tr>
              <a:tr h="500000">
                <a:tc>
                  <a:txBody>
                    <a:bodyPr/>
                    <a:lstStyle/>
                    <a:p>
                      <a:pPr algn="ctr" marR="10795">
                        <a:lnSpc>
                          <a:spcPct val="100000"/>
                        </a:lnSpc>
                        <a:spcBef>
                          <a:spcPts val="259"/>
                        </a:spcBef>
                      </a:pPr>
                      <a:r>
                        <a:rPr dirty="0" sz="3150" spc="-25" b="1">
                          <a:solidFill>
                            <a:srgbClr val="BB9F45"/>
                          </a:solidFill>
                          <a:latin typeface="Segoe UI"/>
                          <a:cs typeface="Segoe UI"/>
                        </a:rPr>
                        <a:t>07</a:t>
                      </a:r>
                      <a:endParaRPr sz="3150">
                        <a:latin typeface="Segoe UI"/>
                        <a:cs typeface="Segoe UI"/>
                      </a:endParaRPr>
                    </a:p>
                  </a:txBody>
                  <a:tcPr marL="0" marR="0" marB="0" marT="33019"/>
                </a:tc>
                <a:tc>
                  <a:txBody>
                    <a:bodyPr/>
                    <a:lstStyle/>
                    <a:p>
                      <a:pPr marL="50165">
                        <a:lnSpc>
                          <a:spcPct val="100000"/>
                        </a:lnSpc>
                      </a:pPr>
                      <a:r>
                        <a:rPr dirty="0" sz="1550">
                          <a:solidFill>
                            <a:srgbClr val="BB9F45"/>
                          </a:solidFill>
                          <a:latin typeface="Segoe UI"/>
                          <a:cs typeface="Segoe UI"/>
                        </a:rPr>
                        <a:t>Learnings</a:t>
                      </a:r>
                      <a:endParaRPr sz="1550">
                        <a:latin typeface="Segoe UI"/>
                        <a:cs typeface="Segoe UI"/>
                      </a:endParaRPr>
                    </a:p>
                  </a:txBody>
                  <a:tcPr marL="0" marR="0" marB="0" marT="6985"/>
                </a:tc>
                <a:tc>
                  <a:txBody>
                    <a:bodyPr/>
                    <a:lstStyle/>
                    <a:p>
                      <a:pPr algn="r" marR="24130">
                        <a:lnSpc>
                          <a:spcPct val="100000"/>
                        </a:lnSpc>
                      </a:pPr>
                      <a:r>
                        <a:rPr dirty="0" sz="1550" spc="-25">
                          <a:solidFill>
                            <a:srgbClr val="BB9F45"/>
                          </a:solidFill>
                          <a:latin typeface="Segoe UI"/>
                          <a:cs typeface="Segoe UI"/>
                        </a:rPr>
                        <a:t>6</a:t>
                      </a:r>
                      <a:endParaRPr sz="1550">
                        <a:latin typeface="Segoe UI"/>
                        <a:cs typeface="Segoe UI"/>
                      </a:endParaRPr>
                    </a:p>
                  </a:txBody>
                  <a:tcPr marL="0" marR="0" marB="0" marT="698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7460" y="2357831"/>
            <a:ext cx="9055100" cy="1421765"/>
          </a:xfrm>
          <a:prstGeom prst="rect"/>
        </p:spPr>
        <p:txBody>
          <a:bodyPr wrap="square" lIns="0" tIns="99060" rIns="0" bIns="0" rtlCol="0" vert="horz">
            <a:spAutoFit/>
          </a:bodyPr>
          <a:lstStyle/>
          <a:p>
            <a:pPr marL="12700" marR="5080">
              <a:lnSpc>
                <a:spcPts val="5190"/>
              </a:lnSpc>
              <a:spcBef>
                <a:spcPts val="780"/>
              </a:spcBef>
            </a:pPr>
            <a:r>
              <a:rPr dirty="0" sz="4800"/>
              <a:t>Fabric</a:t>
            </a:r>
            <a:r>
              <a:rPr dirty="0" sz="4800" spc="-80"/>
              <a:t> </a:t>
            </a:r>
            <a:r>
              <a:rPr dirty="0" sz="4800"/>
              <a:t>Data</a:t>
            </a:r>
            <a:r>
              <a:rPr dirty="0" sz="4800" spc="-65"/>
              <a:t> </a:t>
            </a:r>
            <a:r>
              <a:rPr dirty="0" sz="4800"/>
              <a:t>Science</a:t>
            </a:r>
            <a:r>
              <a:rPr dirty="0" sz="4800" spc="-65"/>
              <a:t> </a:t>
            </a:r>
            <a:r>
              <a:rPr dirty="0" sz="4800"/>
              <a:t>&amp;</a:t>
            </a:r>
            <a:r>
              <a:rPr dirty="0" sz="4800" spc="-70"/>
              <a:t> </a:t>
            </a:r>
            <a:r>
              <a:rPr dirty="0" sz="4800" spc="-10"/>
              <a:t>Machine Learning</a:t>
            </a:r>
            <a:endParaRPr sz="4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prstGeom prst="rect"/>
        </p:spPr>
        <p:txBody>
          <a:bodyPr wrap="square" lIns="0" tIns="66293" rIns="0" bIns="0" rtlCol="0" vert="horz">
            <a:spAutoFit/>
          </a:bodyPr>
          <a:lstStyle/>
          <a:p>
            <a:pPr marL="13970">
              <a:lnSpc>
                <a:spcPct val="100000"/>
              </a:lnSpc>
              <a:spcBef>
                <a:spcPts val="130"/>
              </a:spcBef>
            </a:pPr>
            <a:r>
              <a:rPr dirty="0" sz="4800">
                <a:solidFill>
                  <a:srgbClr val="003E34"/>
                </a:solidFill>
                <a:latin typeface="Segoe UI"/>
                <a:cs typeface="Segoe UI"/>
              </a:rPr>
              <a:t>ML</a:t>
            </a:r>
            <a:r>
              <a:rPr dirty="0" sz="4800" spc="-80">
                <a:solidFill>
                  <a:srgbClr val="003E34"/>
                </a:solidFill>
                <a:latin typeface="Segoe UI"/>
                <a:cs typeface="Segoe UI"/>
              </a:rPr>
              <a:t> </a:t>
            </a:r>
            <a:r>
              <a:rPr dirty="0" sz="4800">
                <a:solidFill>
                  <a:srgbClr val="003E34"/>
                </a:solidFill>
                <a:latin typeface="Segoe UI"/>
                <a:cs typeface="Segoe UI"/>
              </a:rPr>
              <a:t>as</a:t>
            </a:r>
            <a:r>
              <a:rPr dirty="0" sz="4800" spc="-25">
                <a:solidFill>
                  <a:srgbClr val="003E34"/>
                </a:solidFill>
                <a:latin typeface="Segoe UI"/>
                <a:cs typeface="Segoe UI"/>
              </a:rPr>
              <a:t> </a:t>
            </a:r>
            <a:r>
              <a:rPr dirty="0" sz="4800">
                <a:solidFill>
                  <a:srgbClr val="003E34"/>
                </a:solidFill>
                <a:latin typeface="Segoe UI"/>
                <a:cs typeface="Segoe UI"/>
              </a:rPr>
              <a:t>a</a:t>
            </a:r>
            <a:r>
              <a:rPr dirty="0" sz="4800" spc="-50">
                <a:solidFill>
                  <a:srgbClr val="003E34"/>
                </a:solidFill>
                <a:latin typeface="Segoe UI"/>
                <a:cs typeface="Segoe UI"/>
              </a:rPr>
              <a:t> </a:t>
            </a:r>
            <a:r>
              <a:rPr dirty="0" sz="4800">
                <a:solidFill>
                  <a:srgbClr val="003E34"/>
                </a:solidFill>
                <a:latin typeface="Segoe UI"/>
                <a:cs typeface="Segoe UI"/>
              </a:rPr>
              <a:t>subset</a:t>
            </a:r>
            <a:r>
              <a:rPr dirty="0" sz="4800" spc="-60">
                <a:solidFill>
                  <a:srgbClr val="003E34"/>
                </a:solidFill>
                <a:latin typeface="Segoe UI"/>
                <a:cs typeface="Segoe UI"/>
              </a:rPr>
              <a:t> </a:t>
            </a:r>
            <a:r>
              <a:rPr dirty="0" sz="4800">
                <a:solidFill>
                  <a:srgbClr val="003E34"/>
                </a:solidFill>
                <a:latin typeface="Segoe UI"/>
                <a:cs typeface="Segoe UI"/>
              </a:rPr>
              <a:t>of</a:t>
            </a:r>
            <a:r>
              <a:rPr dirty="0" sz="4800" spc="-30">
                <a:solidFill>
                  <a:srgbClr val="003E34"/>
                </a:solidFill>
                <a:latin typeface="Segoe UI"/>
                <a:cs typeface="Segoe UI"/>
              </a:rPr>
              <a:t> </a:t>
            </a:r>
            <a:r>
              <a:rPr dirty="0" sz="4800" spc="-25">
                <a:solidFill>
                  <a:srgbClr val="003E34"/>
                </a:solidFill>
                <a:latin typeface="Segoe UI"/>
                <a:cs typeface="Segoe UI"/>
              </a:rPr>
              <a:t>AI</a:t>
            </a:r>
            <a:endParaRPr sz="4800">
              <a:latin typeface="Segoe UI"/>
              <a:cs typeface="Segoe UI"/>
            </a:endParaRPr>
          </a:p>
        </p:txBody>
      </p:sp>
      <p:pic>
        <p:nvPicPr>
          <p:cNvPr id="4" name="object 4" descr="AI vs Machine Learning vs Deep Learning"/>
          <p:cNvPicPr/>
          <p:nvPr/>
        </p:nvPicPr>
        <p:blipFill>
          <a:blip r:embed="rId3" cstate="print"/>
          <a:stretch>
            <a:fillRect/>
          </a:stretch>
        </p:blipFill>
        <p:spPr>
          <a:xfrm>
            <a:off x="1572767" y="1820062"/>
            <a:ext cx="9281160" cy="38963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40735" y="6352032"/>
            <a:ext cx="9345167" cy="505968"/>
          </a:xfrm>
          <a:prstGeom prst="rect">
            <a:avLst/>
          </a:prstGeom>
        </p:spPr>
      </p:pic>
      <p:pic>
        <p:nvPicPr>
          <p:cNvPr id="3" name="object 3"/>
          <p:cNvPicPr/>
          <p:nvPr/>
        </p:nvPicPr>
        <p:blipFill>
          <a:blip r:embed="rId3" cstate="print"/>
          <a:stretch>
            <a:fillRect/>
          </a:stretch>
        </p:blipFill>
        <p:spPr>
          <a:xfrm>
            <a:off x="923544" y="2356104"/>
            <a:ext cx="10091928" cy="2886455"/>
          </a:xfrm>
          <a:prstGeom prst="rect">
            <a:avLst/>
          </a:prstGeom>
        </p:spPr>
      </p:pic>
      <p:pic>
        <p:nvPicPr>
          <p:cNvPr id="4" name="object 4"/>
          <p:cNvPicPr/>
          <p:nvPr/>
        </p:nvPicPr>
        <p:blipFill>
          <a:blip r:embed="rId4" cstate="print"/>
          <a:stretch>
            <a:fillRect/>
          </a:stretch>
        </p:blipFill>
        <p:spPr>
          <a:xfrm>
            <a:off x="1566672" y="1609344"/>
            <a:ext cx="615696" cy="627887"/>
          </a:xfrm>
          <a:prstGeom prst="rect">
            <a:avLst/>
          </a:prstGeom>
        </p:spPr>
      </p:pic>
      <p:pic>
        <p:nvPicPr>
          <p:cNvPr id="5" name="object 5"/>
          <p:cNvPicPr/>
          <p:nvPr/>
        </p:nvPicPr>
        <p:blipFill>
          <a:blip r:embed="rId5" cstate="print"/>
          <a:stretch>
            <a:fillRect/>
          </a:stretch>
        </p:blipFill>
        <p:spPr>
          <a:xfrm>
            <a:off x="5693664" y="1618488"/>
            <a:ext cx="551688" cy="554736"/>
          </a:xfrm>
          <a:prstGeom prst="rect">
            <a:avLst/>
          </a:prstGeom>
        </p:spPr>
      </p:pic>
      <p:pic>
        <p:nvPicPr>
          <p:cNvPr id="6" name="object 6"/>
          <p:cNvPicPr/>
          <p:nvPr/>
        </p:nvPicPr>
        <p:blipFill>
          <a:blip r:embed="rId6" cstate="print"/>
          <a:stretch>
            <a:fillRect/>
          </a:stretch>
        </p:blipFill>
        <p:spPr>
          <a:xfrm>
            <a:off x="9820656" y="1609344"/>
            <a:ext cx="615696" cy="627887"/>
          </a:xfrm>
          <a:prstGeom prst="rect">
            <a:avLst/>
          </a:prstGeom>
        </p:spPr>
      </p:pic>
      <p:grpSp>
        <p:nvGrpSpPr>
          <p:cNvPr id="7" name="object 7"/>
          <p:cNvGrpSpPr/>
          <p:nvPr/>
        </p:nvGrpSpPr>
        <p:grpSpPr>
          <a:xfrm>
            <a:off x="231647" y="6428232"/>
            <a:ext cx="350520" cy="344805"/>
            <a:chOff x="231647" y="6428232"/>
            <a:chExt cx="350520" cy="344805"/>
          </a:xfrm>
        </p:grpSpPr>
        <p:pic>
          <p:nvPicPr>
            <p:cNvPr id="8" name="object 8"/>
            <p:cNvPicPr/>
            <p:nvPr/>
          </p:nvPicPr>
          <p:blipFill>
            <a:blip r:embed="rId7" cstate="print"/>
            <a:stretch>
              <a:fillRect/>
            </a:stretch>
          </p:blipFill>
          <p:spPr>
            <a:xfrm>
              <a:off x="408431" y="6711696"/>
              <a:ext cx="143256" cy="60960"/>
            </a:xfrm>
            <a:prstGeom prst="rect">
              <a:avLst/>
            </a:prstGeom>
          </p:spPr>
        </p:pic>
        <p:pic>
          <p:nvPicPr>
            <p:cNvPr id="9" name="object 9"/>
            <p:cNvPicPr/>
            <p:nvPr/>
          </p:nvPicPr>
          <p:blipFill>
            <a:blip r:embed="rId8" cstate="print"/>
            <a:stretch>
              <a:fillRect/>
            </a:stretch>
          </p:blipFill>
          <p:spPr>
            <a:xfrm>
              <a:off x="231647" y="6428232"/>
              <a:ext cx="350520" cy="283464"/>
            </a:xfrm>
            <a:prstGeom prst="rect">
              <a:avLst/>
            </a:prstGeom>
          </p:spPr>
        </p:pic>
      </p:grpSp>
      <p:sp>
        <p:nvSpPr>
          <p:cNvPr id="10" name="object 10" descr="$PPTXTitle"/>
          <p:cNvSpPr txBox="1">
            <a:spLocks noGrp="1"/>
          </p:cNvSpPr>
          <p:nvPr>
            <p:ph type="title"/>
          </p:nvPr>
        </p:nvSpPr>
        <p:spPr>
          <a:prstGeom prst="rect"/>
        </p:spPr>
        <p:txBody>
          <a:bodyPr wrap="square" lIns="0" tIns="445820" rIns="0" bIns="0" rtlCol="0" vert="horz">
            <a:spAutoFit/>
          </a:bodyPr>
          <a:lstStyle/>
          <a:p>
            <a:pPr marL="104139">
              <a:lnSpc>
                <a:spcPct val="100000"/>
              </a:lnSpc>
              <a:spcBef>
                <a:spcPts val="100"/>
              </a:spcBef>
            </a:pPr>
            <a:r>
              <a:rPr dirty="0" sz="3700" spc="-815" b="0">
                <a:solidFill>
                  <a:srgbClr val="131313"/>
                </a:solidFill>
                <a:latin typeface="Arial Black"/>
                <a:cs typeface="Arial Black"/>
              </a:rPr>
              <a:t>The</a:t>
            </a:r>
            <a:r>
              <a:rPr dirty="0" sz="3700" spc="-175" b="0">
                <a:solidFill>
                  <a:srgbClr val="131313"/>
                </a:solidFill>
                <a:latin typeface="Arial Black"/>
                <a:cs typeface="Arial Black"/>
              </a:rPr>
              <a:t> </a:t>
            </a:r>
            <a:r>
              <a:rPr dirty="0" sz="3700" spc="-730" b="0">
                <a:solidFill>
                  <a:srgbClr val="131313"/>
                </a:solidFill>
                <a:latin typeface="Arial Black"/>
                <a:cs typeface="Arial Black"/>
              </a:rPr>
              <a:t>data</a:t>
            </a:r>
            <a:r>
              <a:rPr dirty="0" sz="3700" spc="-35" b="0">
                <a:solidFill>
                  <a:srgbClr val="131313"/>
                </a:solidFill>
                <a:latin typeface="Arial Black"/>
                <a:cs typeface="Arial Black"/>
              </a:rPr>
              <a:t> </a:t>
            </a:r>
            <a:r>
              <a:rPr dirty="0" sz="3700" spc="-819" b="0">
                <a:solidFill>
                  <a:srgbClr val="131313"/>
                </a:solidFill>
                <a:latin typeface="Arial Black"/>
                <a:cs typeface="Arial Black"/>
              </a:rPr>
              <a:t>science</a:t>
            </a:r>
            <a:r>
              <a:rPr dirty="0" sz="3700" spc="25" b="0">
                <a:solidFill>
                  <a:srgbClr val="131313"/>
                </a:solidFill>
                <a:latin typeface="Arial Black"/>
                <a:cs typeface="Arial Black"/>
              </a:rPr>
              <a:t> </a:t>
            </a:r>
            <a:r>
              <a:rPr dirty="0" sz="3700" spc="-795" b="0">
                <a:solidFill>
                  <a:srgbClr val="131313"/>
                </a:solidFill>
                <a:latin typeface="Arial Black"/>
                <a:cs typeface="Arial Black"/>
              </a:rPr>
              <a:t>process</a:t>
            </a:r>
            <a:endParaRPr sz="3700">
              <a:latin typeface="Arial Black"/>
              <a:cs typeface="Arial Black"/>
            </a:endParaRPr>
          </a:p>
        </p:txBody>
      </p:sp>
      <p:sp>
        <p:nvSpPr>
          <p:cNvPr id="11" name="object 11"/>
          <p:cNvSpPr txBox="1"/>
          <p:nvPr/>
        </p:nvSpPr>
        <p:spPr>
          <a:xfrm>
            <a:off x="636242" y="6366002"/>
            <a:ext cx="1995170" cy="377825"/>
          </a:xfrm>
          <a:prstGeom prst="rect">
            <a:avLst/>
          </a:prstGeom>
        </p:spPr>
        <p:txBody>
          <a:bodyPr wrap="square" lIns="0" tIns="12700" rIns="0" bIns="0" rtlCol="0" vert="horz">
            <a:spAutoFit/>
          </a:bodyPr>
          <a:lstStyle/>
          <a:p>
            <a:pPr marL="12700">
              <a:lnSpc>
                <a:spcPts val="1385"/>
              </a:lnSpc>
              <a:spcBef>
                <a:spcPts val="100"/>
              </a:spcBef>
            </a:pPr>
            <a:r>
              <a:rPr dirty="0" sz="1350" spc="-275">
                <a:solidFill>
                  <a:srgbClr val="599990"/>
                </a:solidFill>
                <a:latin typeface="Arial Black"/>
                <a:cs typeface="Arial Black"/>
              </a:rPr>
              <a:t>EUROPEAN</a:t>
            </a:r>
            <a:endParaRPr sz="1350">
              <a:latin typeface="Arial Black"/>
              <a:cs typeface="Arial Black"/>
            </a:endParaRPr>
          </a:p>
          <a:p>
            <a:pPr marL="12700">
              <a:lnSpc>
                <a:spcPts val="1385"/>
              </a:lnSpc>
            </a:pPr>
            <a:r>
              <a:rPr dirty="0" sz="1350" spc="-180">
                <a:solidFill>
                  <a:srgbClr val="012D4F"/>
                </a:solidFill>
                <a:latin typeface="Arial Black"/>
                <a:cs typeface="Arial Black"/>
              </a:rPr>
              <a:t>MICROSOFT</a:t>
            </a:r>
            <a:r>
              <a:rPr dirty="0" sz="1350" spc="-155">
                <a:solidFill>
                  <a:srgbClr val="012D4F"/>
                </a:solidFill>
                <a:latin typeface="Arial Black"/>
                <a:cs typeface="Arial Black"/>
              </a:rPr>
              <a:t> </a:t>
            </a:r>
            <a:r>
              <a:rPr dirty="0" sz="1350" spc="-180">
                <a:solidFill>
                  <a:srgbClr val="052B42"/>
                </a:solidFill>
                <a:latin typeface="Arial Black"/>
                <a:cs typeface="Arial Black"/>
              </a:rPr>
              <a:t>FABRIC</a:t>
            </a:r>
            <a:r>
              <a:rPr dirty="0" sz="1350" spc="125">
                <a:solidFill>
                  <a:srgbClr val="052B42"/>
                </a:solidFill>
                <a:latin typeface="Arial Black"/>
                <a:cs typeface="Arial Black"/>
              </a:rPr>
              <a:t> </a:t>
            </a:r>
            <a:r>
              <a:rPr dirty="0" sz="1350" spc="-90">
                <a:solidFill>
                  <a:srgbClr val="002A44"/>
                </a:solidFill>
                <a:latin typeface="Arial Black"/>
                <a:cs typeface="Arial Black"/>
              </a:rPr>
              <a:t>SQL</a:t>
            </a:r>
            <a:endParaRPr sz="1350">
              <a:latin typeface="Arial Black"/>
              <a:cs typeface="Arial Black"/>
            </a:endParaRPr>
          </a:p>
        </p:txBody>
      </p:sp>
      <p:sp>
        <p:nvSpPr>
          <p:cNvPr id="12" name="object 12"/>
          <p:cNvSpPr txBox="1"/>
          <p:nvPr/>
        </p:nvSpPr>
        <p:spPr>
          <a:xfrm>
            <a:off x="638409" y="6671056"/>
            <a:ext cx="896619" cy="132080"/>
          </a:xfrm>
          <a:prstGeom prst="rect">
            <a:avLst/>
          </a:prstGeom>
        </p:spPr>
        <p:txBody>
          <a:bodyPr wrap="square" lIns="0" tIns="12700" rIns="0" bIns="0" rtlCol="0" vert="horz">
            <a:spAutoFit/>
          </a:bodyPr>
          <a:lstStyle/>
          <a:p>
            <a:pPr marL="12700">
              <a:lnSpc>
                <a:spcPct val="100000"/>
              </a:lnSpc>
              <a:spcBef>
                <a:spcPts val="100"/>
              </a:spcBef>
            </a:pPr>
            <a:r>
              <a:rPr dirty="0" sz="700" spc="-130">
                <a:solidFill>
                  <a:srgbClr val="131313"/>
                </a:solidFill>
                <a:latin typeface="Arial Black"/>
                <a:cs typeface="Arial Black"/>
              </a:rPr>
              <a:t>Community</a:t>
            </a:r>
            <a:r>
              <a:rPr dirty="0" sz="700" spc="10">
                <a:solidFill>
                  <a:srgbClr val="131313"/>
                </a:solidFill>
                <a:latin typeface="Arial Black"/>
                <a:cs typeface="Arial Black"/>
              </a:rPr>
              <a:t> </a:t>
            </a:r>
            <a:r>
              <a:rPr dirty="0" sz="700" spc="-95">
                <a:solidFill>
                  <a:srgbClr val="0C0C0C"/>
                </a:solidFill>
                <a:latin typeface="Arial Black"/>
                <a:cs typeface="Arial Black"/>
              </a:rPr>
              <a:t>Conference</a:t>
            </a:r>
            <a:endParaRPr sz="700">
              <a:latin typeface="Arial Black"/>
              <a:cs typeface="Arial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21995" rIns="0" bIns="0" rtlCol="0" vert="horz">
            <a:spAutoFit/>
          </a:bodyPr>
          <a:lstStyle/>
          <a:p>
            <a:pPr marL="12700">
              <a:lnSpc>
                <a:spcPct val="100000"/>
              </a:lnSpc>
              <a:spcBef>
                <a:spcPts val="120"/>
              </a:spcBef>
            </a:pPr>
            <a:r>
              <a:rPr dirty="0">
                <a:solidFill>
                  <a:srgbClr val="003E34"/>
                </a:solidFill>
              </a:rPr>
              <a:t>Microsoft</a:t>
            </a:r>
            <a:r>
              <a:rPr dirty="0" spc="25">
                <a:solidFill>
                  <a:srgbClr val="003E34"/>
                </a:solidFill>
              </a:rPr>
              <a:t> </a:t>
            </a:r>
            <a:r>
              <a:rPr dirty="0">
                <a:solidFill>
                  <a:srgbClr val="003E34"/>
                </a:solidFill>
              </a:rPr>
              <a:t>Fabric</a:t>
            </a:r>
            <a:r>
              <a:rPr dirty="0" spc="40">
                <a:solidFill>
                  <a:srgbClr val="003E34"/>
                </a:solidFill>
              </a:rPr>
              <a:t> </a:t>
            </a:r>
            <a:r>
              <a:rPr dirty="0">
                <a:solidFill>
                  <a:srgbClr val="003E34"/>
                </a:solidFill>
              </a:rPr>
              <a:t>as</a:t>
            </a:r>
            <a:r>
              <a:rPr dirty="0" spc="45">
                <a:solidFill>
                  <a:srgbClr val="003E34"/>
                </a:solidFill>
              </a:rPr>
              <a:t> </a:t>
            </a:r>
            <a:r>
              <a:rPr dirty="0">
                <a:solidFill>
                  <a:srgbClr val="003E34"/>
                </a:solidFill>
              </a:rPr>
              <a:t>a</a:t>
            </a:r>
            <a:r>
              <a:rPr dirty="0" spc="45">
                <a:solidFill>
                  <a:srgbClr val="003E34"/>
                </a:solidFill>
              </a:rPr>
              <a:t> </a:t>
            </a:r>
            <a:r>
              <a:rPr dirty="0">
                <a:solidFill>
                  <a:srgbClr val="003E34"/>
                </a:solidFill>
              </a:rPr>
              <a:t>platform</a:t>
            </a:r>
            <a:r>
              <a:rPr dirty="0" spc="65">
                <a:solidFill>
                  <a:srgbClr val="003E34"/>
                </a:solidFill>
              </a:rPr>
              <a:t> </a:t>
            </a:r>
            <a:r>
              <a:rPr dirty="0">
                <a:solidFill>
                  <a:srgbClr val="003E34"/>
                </a:solidFill>
              </a:rPr>
              <a:t>for</a:t>
            </a:r>
            <a:r>
              <a:rPr dirty="0" spc="5">
                <a:solidFill>
                  <a:srgbClr val="003E34"/>
                </a:solidFill>
              </a:rPr>
              <a:t> </a:t>
            </a:r>
            <a:r>
              <a:rPr dirty="0">
                <a:solidFill>
                  <a:srgbClr val="003E34"/>
                </a:solidFill>
              </a:rPr>
              <a:t>Data</a:t>
            </a:r>
            <a:r>
              <a:rPr dirty="0" spc="45">
                <a:solidFill>
                  <a:srgbClr val="003E34"/>
                </a:solidFill>
              </a:rPr>
              <a:t> </a:t>
            </a:r>
            <a:r>
              <a:rPr dirty="0" spc="-10">
                <a:solidFill>
                  <a:srgbClr val="003E34"/>
                </a:solidFill>
              </a:rPr>
              <a:t>Science</a:t>
            </a:r>
          </a:p>
        </p:txBody>
      </p:sp>
      <p:pic>
        <p:nvPicPr>
          <p:cNvPr id="3" name="object 3"/>
          <p:cNvPicPr/>
          <p:nvPr/>
        </p:nvPicPr>
        <p:blipFill>
          <a:blip r:embed="rId2" cstate="print"/>
          <a:stretch>
            <a:fillRect/>
          </a:stretch>
        </p:blipFill>
        <p:spPr>
          <a:xfrm>
            <a:off x="4140453" y="1847595"/>
            <a:ext cx="3935476" cy="2919348"/>
          </a:xfrm>
          <a:prstGeom prst="rect">
            <a:avLst/>
          </a:prstGeom>
        </p:spPr>
      </p:pic>
      <p:sp>
        <p:nvSpPr>
          <p:cNvPr id="4" name="object 4"/>
          <p:cNvSpPr txBox="1"/>
          <p:nvPr/>
        </p:nvSpPr>
        <p:spPr>
          <a:xfrm>
            <a:off x="4654169" y="2108139"/>
            <a:ext cx="278765" cy="168910"/>
          </a:xfrm>
          <a:prstGeom prst="rect">
            <a:avLst/>
          </a:prstGeom>
        </p:spPr>
        <p:txBody>
          <a:bodyPr wrap="square" lIns="0" tIns="17145" rIns="0" bIns="0" rtlCol="0" vert="horz">
            <a:spAutoFit/>
          </a:bodyPr>
          <a:lstStyle/>
          <a:p>
            <a:pPr marL="12700">
              <a:lnSpc>
                <a:spcPct val="100000"/>
              </a:lnSpc>
              <a:spcBef>
                <a:spcPts val="135"/>
              </a:spcBef>
            </a:pPr>
            <a:r>
              <a:rPr dirty="0" sz="900" spc="-25" b="1">
                <a:solidFill>
                  <a:srgbClr val="126C5A"/>
                </a:solidFill>
                <a:latin typeface="Arial"/>
                <a:cs typeface="Arial"/>
              </a:rPr>
              <a:t>GOV</a:t>
            </a:r>
            <a:endParaRPr sz="900">
              <a:latin typeface="Arial"/>
              <a:cs typeface="Arial"/>
            </a:endParaRPr>
          </a:p>
        </p:txBody>
      </p:sp>
      <p:sp>
        <p:nvSpPr>
          <p:cNvPr id="5" name="object 5"/>
          <p:cNvSpPr txBox="1"/>
          <p:nvPr/>
        </p:nvSpPr>
        <p:spPr>
          <a:xfrm>
            <a:off x="7279767" y="2108139"/>
            <a:ext cx="242570" cy="168910"/>
          </a:xfrm>
          <a:prstGeom prst="rect">
            <a:avLst/>
          </a:prstGeom>
        </p:spPr>
        <p:txBody>
          <a:bodyPr wrap="square" lIns="0" tIns="17145" rIns="0" bIns="0" rtlCol="0" vert="horz">
            <a:spAutoFit/>
          </a:bodyPr>
          <a:lstStyle/>
          <a:p>
            <a:pPr marL="12700">
              <a:lnSpc>
                <a:spcPct val="100000"/>
              </a:lnSpc>
              <a:spcBef>
                <a:spcPts val="135"/>
              </a:spcBef>
            </a:pPr>
            <a:r>
              <a:rPr dirty="0" sz="900" spc="-25" b="1">
                <a:solidFill>
                  <a:srgbClr val="126C5A"/>
                </a:solidFill>
                <a:latin typeface="Arial"/>
                <a:cs typeface="Arial"/>
              </a:rPr>
              <a:t>E2E</a:t>
            </a:r>
            <a:endParaRPr sz="900">
              <a:latin typeface="Arial"/>
              <a:cs typeface="Arial"/>
            </a:endParaRPr>
          </a:p>
        </p:txBody>
      </p:sp>
      <p:sp>
        <p:nvSpPr>
          <p:cNvPr id="6" name="object 6"/>
          <p:cNvSpPr txBox="1"/>
          <p:nvPr/>
        </p:nvSpPr>
        <p:spPr>
          <a:xfrm>
            <a:off x="7569834" y="3205419"/>
            <a:ext cx="415925" cy="168910"/>
          </a:xfrm>
          <a:prstGeom prst="rect">
            <a:avLst/>
          </a:prstGeom>
        </p:spPr>
        <p:txBody>
          <a:bodyPr wrap="square" lIns="0" tIns="17145" rIns="0" bIns="0" rtlCol="0" vert="horz">
            <a:spAutoFit/>
          </a:bodyPr>
          <a:lstStyle/>
          <a:p>
            <a:pPr marL="12700">
              <a:lnSpc>
                <a:spcPct val="100000"/>
              </a:lnSpc>
              <a:spcBef>
                <a:spcPts val="135"/>
              </a:spcBef>
            </a:pPr>
            <a:r>
              <a:rPr dirty="0" sz="900" spc="-20" b="1">
                <a:solidFill>
                  <a:srgbClr val="126C5A"/>
                </a:solidFill>
                <a:latin typeface="Arial"/>
                <a:cs typeface="Arial"/>
              </a:rPr>
              <a:t>SCALE</a:t>
            </a:r>
            <a:endParaRPr sz="900">
              <a:latin typeface="Arial"/>
              <a:cs typeface="Arial"/>
            </a:endParaRPr>
          </a:p>
        </p:txBody>
      </p:sp>
      <p:sp>
        <p:nvSpPr>
          <p:cNvPr id="7" name="object 7"/>
          <p:cNvSpPr txBox="1"/>
          <p:nvPr/>
        </p:nvSpPr>
        <p:spPr>
          <a:xfrm>
            <a:off x="7095363" y="4389627"/>
            <a:ext cx="352425" cy="135255"/>
          </a:xfrm>
          <a:prstGeom prst="rect">
            <a:avLst/>
          </a:prstGeom>
        </p:spPr>
        <p:txBody>
          <a:bodyPr wrap="square" lIns="0" tIns="15240" rIns="0" bIns="0" rtlCol="0" vert="horz">
            <a:spAutoFit/>
          </a:bodyPr>
          <a:lstStyle/>
          <a:p>
            <a:pPr marL="12700">
              <a:lnSpc>
                <a:spcPct val="100000"/>
              </a:lnSpc>
              <a:spcBef>
                <a:spcPts val="120"/>
              </a:spcBef>
            </a:pPr>
            <a:r>
              <a:rPr dirty="0" sz="700" spc="-10" b="1">
                <a:solidFill>
                  <a:srgbClr val="126C5A"/>
                </a:solidFill>
                <a:latin typeface="Arial"/>
                <a:cs typeface="Arial"/>
              </a:rPr>
              <a:t>MLflow</a:t>
            </a:r>
            <a:endParaRPr sz="700">
              <a:latin typeface="Arial"/>
              <a:cs typeface="Arial"/>
            </a:endParaRPr>
          </a:p>
        </p:txBody>
      </p:sp>
      <p:sp>
        <p:nvSpPr>
          <p:cNvPr id="8" name="object 8"/>
          <p:cNvSpPr txBox="1"/>
          <p:nvPr/>
        </p:nvSpPr>
        <p:spPr>
          <a:xfrm>
            <a:off x="4713223" y="4398771"/>
            <a:ext cx="374015" cy="135255"/>
          </a:xfrm>
          <a:prstGeom prst="rect">
            <a:avLst/>
          </a:prstGeom>
        </p:spPr>
        <p:txBody>
          <a:bodyPr wrap="square" lIns="0" tIns="15240" rIns="0" bIns="0" rtlCol="0" vert="horz">
            <a:spAutoFit/>
          </a:bodyPr>
          <a:lstStyle/>
          <a:p>
            <a:pPr marL="12700">
              <a:lnSpc>
                <a:spcPct val="100000"/>
              </a:lnSpc>
              <a:spcBef>
                <a:spcPts val="120"/>
              </a:spcBef>
            </a:pPr>
            <a:r>
              <a:rPr dirty="0" sz="700" b="1">
                <a:solidFill>
                  <a:srgbClr val="126C5A"/>
                </a:solidFill>
                <a:latin typeface="Arial"/>
                <a:cs typeface="Arial"/>
              </a:rPr>
              <a:t>Auto</a:t>
            </a:r>
            <a:r>
              <a:rPr dirty="0" sz="700" spc="-80" b="1">
                <a:solidFill>
                  <a:srgbClr val="126C5A"/>
                </a:solidFill>
                <a:latin typeface="Arial"/>
                <a:cs typeface="Arial"/>
              </a:rPr>
              <a:t> </a:t>
            </a:r>
            <a:r>
              <a:rPr dirty="0" sz="700" spc="-25" b="1">
                <a:solidFill>
                  <a:srgbClr val="126C5A"/>
                </a:solidFill>
                <a:latin typeface="Arial"/>
                <a:cs typeface="Arial"/>
              </a:rPr>
              <a:t>ML</a:t>
            </a:r>
            <a:endParaRPr sz="700">
              <a:latin typeface="Arial"/>
              <a:cs typeface="Arial"/>
            </a:endParaRPr>
          </a:p>
        </p:txBody>
      </p:sp>
      <p:sp>
        <p:nvSpPr>
          <p:cNvPr id="9" name="object 9"/>
          <p:cNvSpPr txBox="1"/>
          <p:nvPr/>
        </p:nvSpPr>
        <p:spPr>
          <a:xfrm>
            <a:off x="4376673" y="3208466"/>
            <a:ext cx="113030" cy="135890"/>
          </a:xfrm>
          <a:prstGeom prst="rect">
            <a:avLst/>
          </a:prstGeom>
        </p:spPr>
        <p:txBody>
          <a:bodyPr wrap="square" lIns="0" tIns="15240" rIns="0" bIns="0" rtlCol="0" vert="horz">
            <a:spAutoFit/>
          </a:bodyPr>
          <a:lstStyle/>
          <a:p>
            <a:pPr marL="12700">
              <a:lnSpc>
                <a:spcPct val="100000"/>
              </a:lnSpc>
              <a:spcBef>
                <a:spcPts val="120"/>
              </a:spcBef>
            </a:pPr>
            <a:r>
              <a:rPr dirty="0" sz="700" spc="-25" b="1">
                <a:solidFill>
                  <a:srgbClr val="126C5A"/>
                </a:solidFill>
                <a:latin typeface="Arial"/>
                <a:cs typeface="Arial"/>
              </a:rPr>
              <a:t>AI</a:t>
            </a:r>
            <a:endParaRPr sz="700">
              <a:latin typeface="Arial"/>
              <a:cs typeface="Arial"/>
            </a:endParaRPr>
          </a:p>
        </p:txBody>
      </p:sp>
      <p:sp>
        <p:nvSpPr>
          <p:cNvPr id="10" name="object 10"/>
          <p:cNvSpPr txBox="1"/>
          <p:nvPr/>
        </p:nvSpPr>
        <p:spPr>
          <a:xfrm>
            <a:off x="2104008" y="1828669"/>
            <a:ext cx="2315210" cy="736600"/>
          </a:xfrm>
          <a:prstGeom prst="rect">
            <a:avLst/>
          </a:prstGeom>
        </p:spPr>
        <p:txBody>
          <a:bodyPr wrap="square" lIns="0" tIns="71120" rIns="0" bIns="0" rtlCol="0" vert="horz">
            <a:spAutoFit/>
          </a:bodyPr>
          <a:lstStyle/>
          <a:p>
            <a:pPr marL="278130">
              <a:lnSpc>
                <a:spcPct val="100000"/>
              </a:lnSpc>
              <a:spcBef>
                <a:spcPts val="560"/>
              </a:spcBef>
            </a:pPr>
            <a:r>
              <a:rPr dirty="0" sz="1200" b="1">
                <a:solidFill>
                  <a:srgbClr val="232323"/>
                </a:solidFill>
                <a:latin typeface="Arial"/>
                <a:cs typeface="Arial"/>
              </a:rPr>
              <a:t>Governance</a:t>
            </a:r>
            <a:r>
              <a:rPr dirty="0" sz="1200" spc="195" b="1">
                <a:solidFill>
                  <a:srgbClr val="232323"/>
                </a:solidFill>
                <a:latin typeface="Arial"/>
                <a:cs typeface="Arial"/>
              </a:rPr>
              <a:t> </a:t>
            </a:r>
            <a:r>
              <a:rPr dirty="0" sz="1200" b="1">
                <a:solidFill>
                  <a:srgbClr val="232323"/>
                </a:solidFill>
                <a:latin typeface="Arial"/>
                <a:cs typeface="Arial"/>
              </a:rPr>
              <a:t>&amp;</a:t>
            </a:r>
            <a:r>
              <a:rPr dirty="0" sz="1200" spc="120" b="1">
                <a:solidFill>
                  <a:srgbClr val="232323"/>
                </a:solidFill>
                <a:latin typeface="Arial"/>
                <a:cs typeface="Arial"/>
              </a:rPr>
              <a:t> </a:t>
            </a:r>
            <a:r>
              <a:rPr dirty="0" sz="1200" spc="-10" b="1">
                <a:solidFill>
                  <a:srgbClr val="232323"/>
                </a:solidFill>
                <a:latin typeface="Arial"/>
                <a:cs typeface="Arial"/>
              </a:rPr>
              <a:t>Compliance</a:t>
            </a:r>
            <a:endParaRPr sz="1200">
              <a:latin typeface="Arial"/>
              <a:cs typeface="Arial"/>
            </a:endParaRPr>
          </a:p>
          <a:p>
            <a:pPr algn="r" marR="5080">
              <a:lnSpc>
                <a:spcPct val="100000"/>
              </a:lnSpc>
              <a:spcBef>
                <a:spcPts val="375"/>
              </a:spcBef>
            </a:pPr>
            <a:r>
              <a:rPr dirty="0" sz="900">
                <a:solidFill>
                  <a:srgbClr val="4E565F"/>
                </a:solidFill>
                <a:latin typeface="Arial MT"/>
                <a:cs typeface="Arial MT"/>
              </a:rPr>
              <a:t>Role-based</a:t>
            </a:r>
            <a:r>
              <a:rPr dirty="0" sz="900" spc="120">
                <a:solidFill>
                  <a:srgbClr val="4E565F"/>
                </a:solidFill>
                <a:latin typeface="Arial MT"/>
                <a:cs typeface="Arial MT"/>
              </a:rPr>
              <a:t> </a:t>
            </a:r>
            <a:r>
              <a:rPr dirty="0" sz="900">
                <a:solidFill>
                  <a:srgbClr val="4E565F"/>
                </a:solidFill>
                <a:latin typeface="Arial MT"/>
                <a:cs typeface="Arial MT"/>
              </a:rPr>
              <a:t>access,</a:t>
            </a:r>
            <a:r>
              <a:rPr dirty="0" sz="900" spc="175">
                <a:solidFill>
                  <a:srgbClr val="4E565F"/>
                </a:solidFill>
                <a:latin typeface="Arial MT"/>
                <a:cs typeface="Arial MT"/>
              </a:rPr>
              <a:t> </a:t>
            </a:r>
            <a:r>
              <a:rPr dirty="0" sz="900">
                <a:solidFill>
                  <a:srgbClr val="4E565F"/>
                </a:solidFill>
                <a:latin typeface="Arial MT"/>
                <a:cs typeface="Arial MT"/>
              </a:rPr>
              <a:t>lineage</a:t>
            </a:r>
            <a:r>
              <a:rPr dirty="0" sz="900" spc="120">
                <a:solidFill>
                  <a:srgbClr val="4E565F"/>
                </a:solidFill>
                <a:latin typeface="Arial MT"/>
                <a:cs typeface="Arial MT"/>
              </a:rPr>
              <a:t> </a:t>
            </a:r>
            <a:r>
              <a:rPr dirty="0" sz="900">
                <a:solidFill>
                  <a:srgbClr val="4E565F"/>
                </a:solidFill>
                <a:latin typeface="Arial MT"/>
                <a:cs typeface="Arial MT"/>
              </a:rPr>
              <a:t>and</a:t>
            </a:r>
            <a:r>
              <a:rPr dirty="0" sz="900" spc="125">
                <a:solidFill>
                  <a:srgbClr val="4E565F"/>
                </a:solidFill>
                <a:latin typeface="Arial MT"/>
                <a:cs typeface="Arial MT"/>
              </a:rPr>
              <a:t> </a:t>
            </a:r>
            <a:r>
              <a:rPr dirty="0" sz="900" spc="-10">
                <a:solidFill>
                  <a:srgbClr val="4E565F"/>
                </a:solidFill>
                <a:latin typeface="Arial MT"/>
                <a:cs typeface="Arial MT"/>
              </a:rPr>
              <a:t>versioning</a:t>
            </a:r>
            <a:endParaRPr sz="900">
              <a:latin typeface="Arial MT"/>
              <a:cs typeface="Arial MT"/>
            </a:endParaRPr>
          </a:p>
          <a:p>
            <a:pPr algn="r" marR="7620">
              <a:lnSpc>
                <a:spcPct val="100000"/>
              </a:lnSpc>
              <a:spcBef>
                <a:spcPts val="70"/>
              </a:spcBef>
            </a:pPr>
            <a:r>
              <a:rPr dirty="0" sz="900">
                <a:solidFill>
                  <a:srgbClr val="4E565F"/>
                </a:solidFill>
                <a:latin typeface="Arial MT"/>
                <a:cs typeface="Arial MT"/>
              </a:rPr>
              <a:t>keep</a:t>
            </a:r>
            <a:r>
              <a:rPr dirty="0" sz="900" spc="155">
                <a:solidFill>
                  <a:srgbClr val="4E565F"/>
                </a:solidFill>
                <a:latin typeface="Arial MT"/>
                <a:cs typeface="Arial MT"/>
              </a:rPr>
              <a:t> </a:t>
            </a:r>
            <a:r>
              <a:rPr dirty="0" sz="900">
                <a:solidFill>
                  <a:srgbClr val="4E565F"/>
                </a:solidFill>
                <a:latin typeface="Arial MT"/>
                <a:cs typeface="Arial MT"/>
              </a:rPr>
              <a:t>models</a:t>
            </a:r>
            <a:r>
              <a:rPr dirty="0" sz="900" spc="125">
                <a:solidFill>
                  <a:srgbClr val="4E565F"/>
                </a:solidFill>
                <a:latin typeface="Arial MT"/>
                <a:cs typeface="Arial MT"/>
              </a:rPr>
              <a:t> </a:t>
            </a:r>
            <a:r>
              <a:rPr dirty="0" sz="900">
                <a:solidFill>
                  <a:srgbClr val="4E565F"/>
                </a:solidFill>
                <a:latin typeface="Arial MT"/>
                <a:cs typeface="Arial MT"/>
              </a:rPr>
              <a:t>secure,</a:t>
            </a:r>
            <a:r>
              <a:rPr dirty="0" sz="900" spc="120">
                <a:solidFill>
                  <a:srgbClr val="4E565F"/>
                </a:solidFill>
                <a:latin typeface="Arial MT"/>
                <a:cs typeface="Arial MT"/>
              </a:rPr>
              <a:t> </a:t>
            </a:r>
            <a:r>
              <a:rPr dirty="0" sz="900">
                <a:solidFill>
                  <a:srgbClr val="4E565F"/>
                </a:solidFill>
                <a:latin typeface="Arial MT"/>
                <a:cs typeface="Arial MT"/>
              </a:rPr>
              <a:t>auditable</a:t>
            </a:r>
            <a:r>
              <a:rPr dirty="0" sz="900" spc="155">
                <a:solidFill>
                  <a:srgbClr val="4E565F"/>
                </a:solidFill>
                <a:latin typeface="Arial MT"/>
                <a:cs typeface="Arial MT"/>
              </a:rPr>
              <a:t> </a:t>
            </a:r>
            <a:r>
              <a:rPr dirty="0" sz="900" spc="-25">
                <a:solidFill>
                  <a:srgbClr val="4E565F"/>
                </a:solidFill>
                <a:latin typeface="Arial MT"/>
                <a:cs typeface="Arial MT"/>
              </a:rPr>
              <a:t>and</a:t>
            </a:r>
            <a:endParaRPr sz="900">
              <a:latin typeface="Arial MT"/>
              <a:cs typeface="Arial MT"/>
            </a:endParaRPr>
          </a:p>
          <a:p>
            <a:pPr algn="r" marR="5715">
              <a:lnSpc>
                <a:spcPct val="100000"/>
              </a:lnSpc>
              <a:spcBef>
                <a:spcPts val="5"/>
              </a:spcBef>
            </a:pPr>
            <a:r>
              <a:rPr dirty="0" sz="900" spc="-10">
                <a:solidFill>
                  <a:srgbClr val="4E565F"/>
                </a:solidFill>
                <a:latin typeface="Arial MT"/>
                <a:cs typeface="Arial MT"/>
              </a:rPr>
              <a:t>compliant.</a:t>
            </a:r>
            <a:endParaRPr sz="900">
              <a:latin typeface="Arial MT"/>
              <a:cs typeface="Arial MT"/>
            </a:endParaRPr>
          </a:p>
        </p:txBody>
      </p:sp>
      <p:sp>
        <p:nvSpPr>
          <p:cNvPr id="11" name="object 11"/>
          <p:cNvSpPr txBox="1"/>
          <p:nvPr/>
        </p:nvSpPr>
        <p:spPr>
          <a:xfrm>
            <a:off x="7854315" y="1828669"/>
            <a:ext cx="2120900" cy="599440"/>
          </a:xfrm>
          <a:prstGeom prst="rect">
            <a:avLst/>
          </a:prstGeom>
        </p:spPr>
        <p:txBody>
          <a:bodyPr wrap="square" lIns="0" tIns="71120" rIns="0" bIns="0" rtlCol="0" vert="horz">
            <a:spAutoFit/>
          </a:bodyPr>
          <a:lstStyle/>
          <a:p>
            <a:pPr marL="12700">
              <a:lnSpc>
                <a:spcPct val="100000"/>
              </a:lnSpc>
              <a:spcBef>
                <a:spcPts val="560"/>
              </a:spcBef>
            </a:pPr>
            <a:r>
              <a:rPr dirty="0" sz="1200" b="1">
                <a:solidFill>
                  <a:srgbClr val="232323"/>
                </a:solidFill>
                <a:latin typeface="Arial"/>
                <a:cs typeface="Arial"/>
              </a:rPr>
              <a:t>End-to-End</a:t>
            </a:r>
            <a:r>
              <a:rPr dirty="0" sz="1200" spc="225" b="1">
                <a:solidFill>
                  <a:srgbClr val="232323"/>
                </a:solidFill>
                <a:latin typeface="Arial"/>
                <a:cs typeface="Arial"/>
              </a:rPr>
              <a:t> </a:t>
            </a:r>
            <a:r>
              <a:rPr dirty="0" sz="1200" spc="-10" b="1">
                <a:solidFill>
                  <a:srgbClr val="232323"/>
                </a:solidFill>
                <a:latin typeface="Arial"/>
                <a:cs typeface="Arial"/>
              </a:rPr>
              <a:t>Unification</a:t>
            </a:r>
            <a:endParaRPr sz="1200">
              <a:latin typeface="Arial"/>
              <a:cs typeface="Arial"/>
            </a:endParaRPr>
          </a:p>
          <a:p>
            <a:pPr marL="12700">
              <a:lnSpc>
                <a:spcPct val="100000"/>
              </a:lnSpc>
              <a:spcBef>
                <a:spcPts val="375"/>
              </a:spcBef>
            </a:pPr>
            <a:r>
              <a:rPr dirty="0" sz="900">
                <a:solidFill>
                  <a:srgbClr val="4E565F"/>
                </a:solidFill>
                <a:latin typeface="Arial MT"/>
                <a:cs typeface="Arial MT"/>
              </a:rPr>
              <a:t>One</a:t>
            </a:r>
            <a:r>
              <a:rPr dirty="0" sz="900" spc="65">
                <a:solidFill>
                  <a:srgbClr val="4E565F"/>
                </a:solidFill>
                <a:latin typeface="Arial MT"/>
                <a:cs typeface="Arial MT"/>
              </a:rPr>
              <a:t> </a:t>
            </a:r>
            <a:r>
              <a:rPr dirty="0" sz="900">
                <a:solidFill>
                  <a:srgbClr val="4E565F"/>
                </a:solidFill>
                <a:latin typeface="Arial MT"/>
                <a:cs typeface="Arial MT"/>
              </a:rPr>
              <a:t>platform</a:t>
            </a:r>
            <a:r>
              <a:rPr dirty="0" sz="900" spc="114">
                <a:solidFill>
                  <a:srgbClr val="4E565F"/>
                </a:solidFill>
                <a:latin typeface="Arial MT"/>
                <a:cs typeface="Arial MT"/>
              </a:rPr>
              <a:t> </a:t>
            </a:r>
            <a:r>
              <a:rPr dirty="0" sz="900">
                <a:solidFill>
                  <a:srgbClr val="4E565F"/>
                </a:solidFill>
                <a:latin typeface="Arial MT"/>
                <a:cs typeface="Arial MT"/>
              </a:rPr>
              <a:t>for</a:t>
            </a:r>
            <a:r>
              <a:rPr dirty="0" sz="900" spc="170">
                <a:solidFill>
                  <a:srgbClr val="4E565F"/>
                </a:solidFill>
                <a:latin typeface="Arial MT"/>
                <a:cs typeface="Arial MT"/>
              </a:rPr>
              <a:t> </a:t>
            </a:r>
            <a:r>
              <a:rPr dirty="0" sz="900">
                <a:solidFill>
                  <a:srgbClr val="4E565F"/>
                </a:solidFill>
                <a:latin typeface="Arial MT"/>
                <a:cs typeface="Arial MT"/>
              </a:rPr>
              <a:t>ingestion,</a:t>
            </a:r>
            <a:r>
              <a:rPr dirty="0" sz="900" spc="130">
                <a:solidFill>
                  <a:srgbClr val="4E565F"/>
                </a:solidFill>
                <a:latin typeface="Arial MT"/>
                <a:cs typeface="Arial MT"/>
              </a:rPr>
              <a:t> </a:t>
            </a:r>
            <a:r>
              <a:rPr dirty="0" sz="900" spc="-10">
                <a:solidFill>
                  <a:srgbClr val="4E565F"/>
                </a:solidFill>
                <a:latin typeface="Arial MT"/>
                <a:cs typeface="Arial MT"/>
              </a:rPr>
              <a:t>preparation,</a:t>
            </a:r>
            <a:endParaRPr sz="900">
              <a:latin typeface="Arial MT"/>
              <a:cs typeface="Arial MT"/>
            </a:endParaRPr>
          </a:p>
          <a:p>
            <a:pPr marL="12700">
              <a:lnSpc>
                <a:spcPct val="100000"/>
              </a:lnSpc>
              <a:spcBef>
                <a:spcPts val="70"/>
              </a:spcBef>
            </a:pPr>
            <a:r>
              <a:rPr dirty="0" sz="900" spc="10">
                <a:solidFill>
                  <a:srgbClr val="4E565F"/>
                </a:solidFill>
                <a:latin typeface="Arial MT"/>
                <a:cs typeface="Arial MT"/>
              </a:rPr>
              <a:t>training,</a:t>
            </a:r>
            <a:r>
              <a:rPr dirty="0" sz="900" spc="55">
                <a:solidFill>
                  <a:srgbClr val="4E565F"/>
                </a:solidFill>
                <a:latin typeface="Arial MT"/>
                <a:cs typeface="Arial MT"/>
              </a:rPr>
              <a:t> </a:t>
            </a:r>
            <a:r>
              <a:rPr dirty="0" sz="900" spc="10">
                <a:solidFill>
                  <a:srgbClr val="4E565F"/>
                </a:solidFill>
                <a:latin typeface="Arial MT"/>
                <a:cs typeface="Arial MT"/>
              </a:rPr>
              <a:t>deployment</a:t>
            </a:r>
            <a:r>
              <a:rPr dirty="0" sz="900" spc="55">
                <a:solidFill>
                  <a:srgbClr val="4E565F"/>
                </a:solidFill>
                <a:latin typeface="Arial MT"/>
                <a:cs typeface="Arial MT"/>
              </a:rPr>
              <a:t> </a:t>
            </a:r>
            <a:r>
              <a:rPr dirty="0" sz="900" spc="10">
                <a:solidFill>
                  <a:srgbClr val="4E565F"/>
                </a:solidFill>
                <a:latin typeface="Arial MT"/>
                <a:cs typeface="Arial MT"/>
              </a:rPr>
              <a:t>and</a:t>
            </a:r>
            <a:r>
              <a:rPr dirty="0" sz="900" spc="90">
                <a:solidFill>
                  <a:srgbClr val="4E565F"/>
                </a:solidFill>
                <a:latin typeface="Arial MT"/>
                <a:cs typeface="Arial MT"/>
              </a:rPr>
              <a:t> </a:t>
            </a:r>
            <a:r>
              <a:rPr dirty="0" sz="900" spc="-10">
                <a:solidFill>
                  <a:srgbClr val="4E565F"/>
                </a:solidFill>
                <a:latin typeface="Arial MT"/>
                <a:cs typeface="Arial MT"/>
              </a:rPr>
              <a:t>visualization.</a:t>
            </a:r>
            <a:endParaRPr sz="900">
              <a:latin typeface="Arial MT"/>
              <a:cs typeface="Arial MT"/>
            </a:endParaRPr>
          </a:p>
        </p:txBody>
      </p:sp>
      <p:sp>
        <p:nvSpPr>
          <p:cNvPr id="12" name="object 12"/>
          <p:cNvSpPr txBox="1"/>
          <p:nvPr/>
        </p:nvSpPr>
        <p:spPr>
          <a:xfrm>
            <a:off x="8220964" y="2953592"/>
            <a:ext cx="1461770" cy="736600"/>
          </a:xfrm>
          <a:prstGeom prst="rect">
            <a:avLst/>
          </a:prstGeom>
        </p:spPr>
        <p:txBody>
          <a:bodyPr wrap="square" lIns="0" tIns="71120" rIns="0" bIns="0" rtlCol="0" vert="horz">
            <a:spAutoFit/>
          </a:bodyPr>
          <a:lstStyle/>
          <a:p>
            <a:pPr marL="12700">
              <a:lnSpc>
                <a:spcPct val="100000"/>
              </a:lnSpc>
              <a:spcBef>
                <a:spcPts val="560"/>
              </a:spcBef>
            </a:pPr>
            <a:r>
              <a:rPr dirty="0" sz="1200" spc="-10" b="1">
                <a:solidFill>
                  <a:srgbClr val="232323"/>
                </a:solidFill>
                <a:latin typeface="Arial"/>
                <a:cs typeface="Arial"/>
              </a:rPr>
              <a:t>Scalability</a:t>
            </a:r>
            <a:endParaRPr sz="1200">
              <a:latin typeface="Arial"/>
              <a:cs typeface="Arial"/>
            </a:endParaRPr>
          </a:p>
          <a:p>
            <a:pPr algn="just" marL="12700" marR="5080">
              <a:lnSpc>
                <a:spcPct val="103400"/>
              </a:lnSpc>
              <a:spcBef>
                <a:spcPts val="335"/>
              </a:spcBef>
            </a:pPr>
            <a:r>
              <a:rPr dirty="0" sz="900" spc="10">
                <a:solidFill>
                  <a:srgbClr val="4E565F"/>
                </a:solidFill>
                <a:latin typeface="Arial MT"/>
                <a:cs typeface="Arial MT"/>
              </a:rPr>
              <a:t>Distributed</a:t>
            </a:r>
            <a:r>
              <a:rPr dirty="0" sz="900" spc="20">
                <a:solidFill>
                  <a:srgbClr val="4E565F"/>
                </a:solidFill>
                <a:latin typeface="Arial MT"/>
                <a:cs typeface="Arial MT"/>
              </a:rPr>
              <a:t> </a:t>
            </a:r>
            <a:r>
              <a:rPr dirty="0" sz="900" spc="10">
                <a:solidFill>
                  <a:srgbClr val="4E565F"/>
                </a:solidFill>
                <a:latin typeface="Arial MT"/>
                <a:cs typeface="Arial MT"/>
              </a:rPr>
              <a:t>Spark</a:t>
            </a:r>
            <a:r>
              <a:rPr dirty="0" sz="900" spc="95">
                <a:solidFill>
                  <a:srgbClr val="4E565F"/>
                </a:solidFill>
                <a:latin typeface="Arial MT"/>
                <a:cs typeface="Arial MT"/>
              </a:rPr>
              <a:t> </a:t>
            </a:r>
            <a:r>
              <a:rPr dirty="0" sz="900" spc="-10">
                <a:solidFill>
                  <a:srgbClr val="4E565F"/>
                </a:solidFill>
                <a:latin typeface="Arial MT"/>
                <a:cs typeface="Arial MT"/>
              </a:rPr>
              <a:t>compute </a:t>
            </a:r>
            <a:r>
              <a:rPr dirty="0" sz="900">
                <a:solidFill>
                  <a:srgbClr val="4E565F"/>
                </a:solidFill>
                <a:latin typeface="Arial MT"/>
                <a:cs typeface="Arial MT"/>
              </a:rPr>
              <a:t>handles</a:t>
            </a:r>
            <a:r>
              <a:rPr dirty="0" sz="900" spc="190">
                <a:solidFill>
                  <a:srgbClr val="4E565F"/>
                </a:solidFill>
                <a:latin typeface="Arial MT"/>
                <a:cs typeface="Arial MT"/>
              </a:rPr>
              <a:t> </a:t>
            </a:r>
            <a:r>
              <a:rPr dirty="0" sz="900">
                <a:solidFill>
                  <a:srgbClr val="4E565F"/>
                </a:solidFill>
                <a:latin typeface="Arial MT"/>
                <a:cs typeface="Arial MT"/>
              </a:rPr>
              <a:t>large</a:t>
            </a:r>
            <a:r>
              <a:rPr dirty="0" sz="900" spc="20">
                <a:solidFill>
                  <a:srgbClr val="4E565F"/>
                </a:solidFill>
                <a:latin typeface="Arial MT"/>
                <a:cs typeface="Arial MT"/>
              </a:rPr>
              <a:t> </a:t>
            </a:r>
            <a:r>
              <a:rPr dirty="0" sz="900">
                <a:solidFill>
                  <a:srgbClr val="4E565F"/>
                </a:solidFill>
                <a:latin typeface="Arial MT"/>
                <a:cs typeface="Arial MT"/>
              </a:rPr>
              <a:t>datasets</a:t>
            </a:r>
            <a:r>
              <a:rPr dirty="0" sz="900" spc="195">
                <a:solidFill>
                  <a:srgbClr val="4E565F"/>
                </a:solidFill>
                <a:latin typeface="Arial MT"/>
                <a:cs typeface="Arial MT"/>
              </a:rPr>
              <a:t> </a:t>
            </a:r>
            <a:r>
              <a:rPr dirty="0" sz="900" spc="-25">
                <a:solidFill>
                  <a:srgbClr val="4E565F"/>
                </a:solidFill>
                <a:latin typeface="Arial MT"/>
                <a:cs typeface="Arial MT"/>
              </a:rPr>
              <a:t>and </a:t>
            </a:r>
            <a:r>
              <a:rPr dirty="0" sz="900">
                <a:solidFill>
                  <a:srgbClr val="4E565F"/>
                </a:solidFill>
                <a:latin typeface="Arial MT"/>
                <a:cs typeface="Arial MT"/>
              </a:rPr>
              <a:t>complex</a:t>
            </a:r>
            <a:r>
              <a:rPr dirty="0" sz="900" spc="175">
                <a:solidFill>
                  <a:srgbClr val="4E565F"/>
                </a:solidFill>
                <a:latin typeface="Arial MT"/>
                <a:cs typeface="Arial MT"/>
              </a:rPr>
              <a:t> </a:t>
            </a:r>
            <a:r>
              <a:rPr dirty="0" sz="900">
                <a:solidFill>
                  <a:srgbClr val="4E565F"/>
                </a:solidFill>
                <a:latin typeface="Arial MT"/>
                <a:cs typeface="Arial MT"/>
              </a:rPr>
              <a:t>ML</a:t>
            </a:r>
            <a:r>
              <a:rPr dirty="0" sz="900" spc="5">
                <a:solidFill>
                  <a:srgbClr val="4E565F"/>
                </a:solidFill>
                <a:latin typeface="Arial MT"/>
                <a:cs typeface="Arial MT"/>
              </a:rPr>
              <a:t> </a:t>
            </a:r>
            <a:r>
              <a:rPr dirty="0" sz="900" spc="-10">
                <a:solidFill>
                  <a:srgbClr val="4E565F"/>
                </a:solidFill>
                <a:latin typeface="Arial MT"/>
                <a:cs typeface="Arial MT"/>
              </a:rPr>
              <a:t>models.</a:t>
            </a:r>
            <a:endParaRPr sz="900">
              <a:latin typeface="Arial MT"/>
              <a:cs typeface="Arial MT"/>
            </a:endParaRPr>
          </a:p>
        </p:txBody>
      </p:sp>
      <p:sp>
        <p:nvSpPr>
          <p:cNvPr id="13" name="object 13"/>
          <p:cNvSpPr txBox="1"/>
          <p:nvPr/>
        </p:nvSpPr>
        <p:spPr>
          <a:xfrm>
            <a:off x="7726933" y="4006846"/>
            <a:ext cx="2672080" cy="599440"/>
          </a:xfrm>
          <a:prstGeom prst="rect">
            <a:avLst/>
          </a:prstGeom>
        </p:spPr>
        <p:txBody>
          <a:bodyPr wrap="square" lIns="0" tIns="71120" rIns="0" bIns="0" rtlCol="0" vert="horz">
            <a:spAutoFit/>
          </a:bodyPr>
          <a:lstStyle/>
          <a:p>
            <a:pPr marL="12700">
              <a:lnSpc>
                <a:spcPct val="100000"/>
              </a:lnSpc>
              <a:spcBef>
                <a:spcPts val="560"/>
              </a:spcBef>
            </a:pPr>
            <a:r>
              <a:rPr dirty="0" sz="1200" b="1">
                <a:solidFill>
                  <a:srgbClr val="232323"/>
                </a:solidFill>
                <a:latin typeface="Arial"/>
                <a:cs typeface="Arial"/>
              </a:rPr>
              <a:t>MLflow</a:t>
            </a:r>
            <a:r>
              <a:rPr dirty="0" sz="1200" spc="130" b="1">
                <a:solidFill>
                  <a:srgbClr val="232323"/>
                </a:solidFill>
                <a:latin typeface="Arial"/>
                <a:cs typeface="Arial"/>
              </a:rPr>
              <a:t> </a:t>
            </a:r>
            <a:r>
              <a:rPr dirty="0" sz="1200" spc="-10" b="1">
                <a:solidFill>
                  <a:srgbClr val="232323"/>
                </a:solidFill>
                <a:latin typeface="Arial"/>
                <a:cs typeface="Arial"/>
              </a:rPr>
              <a:t>integration</a:t>
            </a:r>
            <a:endParaRPr sz="1200">
              <a:latin typeface="Arial"/>
              <a:cs typeface="Arial"/>
            </a:endParaRPr>
          </a:p>
          <a:p>
            <a:pPr marL="12700">
              <a:lnSpc>
                <a:spcPct val="100000"/>
              </a:lnSpc>
              <a:spcBef>
                <a:spcPts val="375"/>
              </a:spcBef>
            </a:pPr>
            <a:r>
              <a:rPr dirty="0" sz="900">
                <a:solidFill>
                  <a:srgbClr val="4E565F"/>
                </a:solidFill>
                <a:latin typeface="Arial MT"/>
                <a:cs typeface="Arial MT"/>
              </a:rPr>
              <a:t>Autolog</a:t>
            </a:r>
            <a:r>
              <a:rPr dirty="0" sz="900" spc="150">
                <a:solidFill>
                  <a:srgbClr val="4E565F"/>
                </a:solidFill>
                <a:latin typeface="Arial MT"/>
                <a:cs typeface="Arial MT"/>
              </a:rPr>
              <a:t> </a:t>
            </a:r>
            <a:r>
              <a:rPr dirty="0" sz="900">
                <a:solidFill>
                  <a:srgbClr val="4E565F"/>
                </a:solidFill>
                <a:latin typeface="Arial MT"/>
                <a:cs typeface="Arial MT"/>
              </a:rPr>
              <a:t>runs,</a:t>
            </a:r>
            <a:r>
              <a:rPr dirty="0" sz="900" spc="85">
                <a:solidFill>
                  <a:srgbClr val="4E565F"/>
                </a:solidFill>
                <a:latin typeface="Arial MT"/>
                <a:cs typeface="Arial MT"/>
              </a:rPr>
              <a:t> </a:t>
            </a:r>
            <a:r>
              <a:rPr dirty="0" sz="900">
                <a:solidFill>
                  <a:srgbClr val="4E565F"/>
                </a:solidFill>
                <a:latin typeface="Arial MT"/>
                <a:cs typeface="Arial MT"/>
              </a:rPr>
              <a:t>metrics</a:t>
            </a:r>
            <a:r>
              <a:rPr dirty="0" sz="900" spc="105">
                <a:solidFill>
                  <a:srgbClr val="4E565F"/>
                </a:solidFill>
                <a:latin typeface="Arial MT"/>
                <a:cs typeface="Arial MT"/>
              </a:rPr>
              <a:t> </a:t>
            </a:r>
            <a:r>
              <a:rPr dirty="0" sz="900">
                <a:solidFill>
                  <a:srgbClr val="4E565F"/>
                </a:solidFill>
                <a:latin typeface="Arial MT"/>
                <a:cs typeface="Arial MT"/>
              </a:rPr>
              <a:t>and</a:t>
            </a:r>
            <a:r>
              <a:rPr dirty="0" sz="900" spc="130">
                <a:solidFill>
                  <a:srgbClr val="4E565F"/>
                </a:solidFill>
                <a:latin typeface="Arial MT"/>
                <a:cs typeface="Arial MT"/>
              </a:rPr>
              <a:t> </a:t>
            </a:r>
            <a:r>
              <a:rPr dirty="0" sz="900">
                <a:solidFill>
                  <a:srgbClr val="4E565F"/>
                </a:solidFill>
                <a:latin typeface="Arial MT"/>
                <a:cs typeface="Arial MT"/>
              </a:rPr>
              <a:t>parameters</a:t>
            </a:r>
            <a:r>
              <a:rPr dirty="0" sz="900" spc="100">
                <a:solidFill>
                  <a:srgbClr val="4E565F"/>
                </a:solidFill>
                <a:latin typeface="Arial MT"/>
                <a:cs typeface="Arial MT"/>
              </a:rPr>
              <a:t> </a:t>
            </a:r>
            <a:r>
              <a:rPr dirty="0" sz="900">
                <a:solidFill>
                  <a:srgbClr val="4E565F"/>
                </a:solidFill>
                <a:latin typeface="Arial MT"/>
                <a:cs typeface="Arial MT"/>
              </a:rPr>
              <a:t>to</a:t>
            </a:r>
            <a:r>
              <a:rPr dirty="0" sz="900" spc="130">
                <a:solidFill>
                  <a:srgbClr val="4E565F"/>
                </a:solidFill>
                <a:latin typeface="Arial MT"/>
                <a:cs typeface="Arial MT"/>
              </a:rPr>
              <a:t> </a:t>
            </a:r>
            <a:r>
              <a:rPr dirty="0" sz="900" spc="-10">
                <a:solidFill>
                  <a:srgbClr val="4E565F"/>
                </a:solidFill>
                <a:latin typeface="Arial MT"/>
                <a:cs typeface="Arial MT"/>
              </a:rPr>
              <a:t>compare</a:t>
            </a:r>
            <a:endParaRPr sz="900">
              <a:latin typeface="Arial MT"/>
              <a:cs typeface="Arial MT"/>
            </a:endParaRPr>
          </a:p>
          <a:p>
            <a:pPr marL="12700">
              <a:lnSpc>
                <a:spcPct val="100000"/>
              </a:lnSpc>
              <a:spcBef>
                <a:spcPts val="70"/>
              </a:spcBef>
            </a:pPr>
            <a:r>
              <a:rPr dirty="0" sz="900">
                <a:solidFill>
                  <a:srgbClr val="4E565F"/>
                </a:solidFill>
                <a:latin typeface="Arial MT"/>
                <a:cs typeface="Arial MT"/>
              </a:rPr>
              <a:t>models</a:t>
            </a:r>
            <a:r>
              <a:rPr dirty="0" sz="900" spc="114">
                <a:solidFill>
                  <a:srgbClr val="4E565F"/>
                </a:solidFill>
                <a:latin typeface="Arial MT"/>
                <a:cs typeface="Arial MT"/>
              </a:rPr>
              <a:t> </a:t>
            </a:r>
            <a:r>
              <a:rPr dirty="0" sz="900">
                <a:solidFill>
                  <a:srgbClr val="4E565F"/>
                </a:solidFill>
                <a:latin typeface="Arial MT"/>
                <a:cs typeface="Arial MT"/>
              </a:rPr>
              <a:t>and</a:t>
            </a:r>
            <a:r>
              <a:rPr dirty="0" sz="900" spc="150">
                <a:solidFill>
                  <a:srgbClr val="4E565F"/>
                </a:solidFill>
                <a:latin typeface="Arial MT"/>
                <a:cs typeface="Arial MT"/>
              </a:rPr>
              <a:t> </a:t>
            </a:r>
            <a:r>
              <a:rPr dirty="0" sz="900">
                <a:solidFill>
                  <a:srgbClr val="4E565F"/>
                </a:solidFill>
                <a:latin typeface="Arial MT"/>
                <a:cs typeface="Arial MT"/>
              </a:rPr>
              <a:t>experiments</a:t>
            </a:r>
            <a:r>
              <a:rPr dirty="0" sz="900" spc="220">
                <a:solidFill>
                  <a:srgbClr val="4E565F"/>
                </a:solidFill>
                <a:latin typeface="Arial MT"/>
                <a:cs typeface="Arial MT"/>
              </a:rPr>
              <a:t> </a:t>
            </a:r>
            <a:r>
              <a:rPr dirty="0" sz="900">
                <a:solidFill>
                  <a:srgbClr val="4E565F"/>
                </a:solidFill>
                <a:latin typeface="Arial MT"/>
                <a:cs typeface="Arial MT"/>
              </a:rPr>
              <a:t>without</a:t>
            </a:r>
            <a:r>
              <a:rPr dirty="0" sz="900" spc="105">
                <a:solidFill>
                  <a:srgbClr val="4E565F"/>
                </a:solidFill>
                <a:latin typeface="Arial MT"/>
                <a:cs typeface="Arial MT"/>
              </a:rPr>
              <a:t> </a:t>
            </a:r>
            <a:r>
              <a:rPr dirty="0" sz="900">
                <a:solidFill>
                  <a:srgbClr val="4E565F"/>
                </a:solidFill>
                <a:latin typeface="Arial MT"/>
                <a:cs typeface="Arial MT"/>
              </a:rPr>
              <a:t>manual</a:t>
            </a:r>
            <a:r>
              <a:rPr dirty="0" sz="900" spc="175">
                <a:solidFill>
                  <a:srgbClr val="4E565F"/>
                </a:solidFill>
                <a:latin typeface="Arial MT"/>
                <a:cs typeface="Arial MT"/>
              </a:rPr>
              <a:t> </a:t>
            </a:r>
            <a:r>
              <a:rPr dirty="0" sz="900" spc="-10">
                <a:solidFill>
                  <a:srgbClr val="4E565F"/>
                </a:solidFill>
                <a:latin typeface="Arial MT"/>
                <a:cs typeface="Arial MT"/>
              </a:rPr>
              <a:t>tracking.</a:t>
            </a:r>
            <a:endParaRPr sz="900">
              <a:latin typeface="Arial MT"/>
              <a:cs typeface="Arial MT"/>
            </a:endParaRPr>
          </a:p>
        </p:txBody>
      </p:sp>
      <p:sp>
        <p:nvSpPr>
          <p:cNvPr id="14" name="object 14"/>
          <p:cNvSpPr txBox="1"/>
          <p:nvPr/>
        </p:nvSpPr>
        <p:spPr>
          <a:xfrm>
            <a:off x="2176779" y="4006846"/>
            <a:ext cx="2468245" cy="599440"/>
          </a:xfrm>
          <a:prstGeom prst="rect">
            <a:avLst/>
          </a:prstGeom>
        </p:spPr>
        <p:txBody>
          <a:bodyPr wrap="square" lIns="0" tIns="71120" rIns="0" bIns="0" rtlCol="0" vert="horz">
            <a:spAutoFit/>
          </a:bodyPr>
          <a:lstStyle/>
          <a:p>
            <a:pPr marL="1027430">
              <a:lnSpc>
                <a:spcPct val="100000"/>
              </a:lnSpc>
              <a:spcBef>
                <a:spcPts val="560"/>
              </a:spcBef>
            </a:pPr>
            <a:r>
              <a:rPr dirty="0" sz="1200" b="1">
                <a:solidFill>
                  <a:srgbClr val="232323"/>
                </a:solidFill>
                <a:latin typeface="Arial"/>
                <a:cs typeface="Arial"/>
              </a:rPr>
              <a:t>AutoML</a:t>
            </a:r>
            <a:r>
              <a:rPr dirty="0" sz="1200" spc="180" b="1">
                <a:solidFill>
                  <a:srgbClr val="232323"/>
                </a:solidFill>
                <a:latin typeface="Arial"/>
                <a:cs typeface="Arial"/>
              </a:rPr>
              <a:t> </a:t>
            </a:r>
            <a:r>
              <a:rPr dirty="0" sz="1200" b="1">
                <a:solidFill>
                  <a:srgbClr val="232323"/>
                </a:solidFill>
                <a:latin typeface="Arial"/>
                <a:cs typeface="Arial"/>
              </a:rPr>
              <a:t>(low-</a:t>
            </a:r>
            <a:r>
              <a:rPr dirty="0" sz="1200" spc="-20" b="1">
                <a:solidFill>
                  <a:srgbClr val="232323"/>
                </a:solidFill>
                <a:latin typeface="Arial"/>
                <a:cs typeface="Arial"/>
              </a:rPr>
              <a:t>code)</a:t>
            </a:r>
            <a:endParaRPr sz="1200">
              <a:latin typeface="Arial"/>
              <a:cs typeface="Arial"/>
            </a:endParaRPr>
          </a:p>
          <a:p>
            <a:pPr algn="r" marR="13970">
              <a:lnSpc>
                <a:spcPct val="100000"/>
              </a:lnSpc>
              <a:spcBef>
                <a:spcPts val="375"/>
              </a:spcBef>
            </a:pPr>
            <a:r>
              <a:rPr dirty="0" sz="900">
                <a:solidFill>
                  <a:srgbClr val="4E565F"/>
                </a:solidFill>
                <a:latin typeface="Arial MT"/>
                <a:cs typeface="Arial MT"/>
              </a:rPr>
              <a:t>Start</a:t>
            </a:r>
            <a:r>
              <a:rPr dirty="0" sz="900" spc="45">
                <a:solidFill>
                  <a:srgbClr val="4E565F"/>
                </a:solidFill>
                <a:latin typeface="Arial MT"/>
                <a:cs typeface="Arial MT"/>
              </a:rPr>
              <a:t> </a:t>
            </a:r>
            <a:r>
              <a:rPr dirty="0" sz="900">
                <a:solidFill>
                  <a:srgbClr val="4E565F"/>
                </a:solidFill>
                <a:latin typeface="Arial MT"/>
                <a:cs typeface="Arial MT"/>
              </a:rPr>
              <a:t>ML</a:t>
            </a:r>
            <a:r>
              <a:rPr dirty="0" sz="900" spc="85">
                <a:solidFill>
                  <a:srgbClr val="4E565F"/>
                </a:solidFill>
                <a:latin typeface="Arial MT"/>
                <a:cs typeface="Arial MT"/>
              </a:rPr>
              <a:t> </a:t>
            </a:r>
            <a:r>
              <a:rPr dirty="0" sz="900">
                <a:solidFill>
                  <a:srgbClr val="4E565F"/>
                </a:solidFill>
                <a:latin typeface="Arial MT"/>
                <a:cs typeface="Arial MT"/>
              </a:rPr>
              <a:t>tasks</a:t>
            </a:r>
            <a:r>
              <a:rPr dirty="0" sz="900" spc="145">
                <a:solidFill>
                  <a:srgbClr val="4E565F"/>
                </a:solidFill>
                <a:latin typeface="Arial MT"/>
                <a:cs typeface="Arial MT"/>
              </a:rPr>
              <a:t> </a:t>
            </a:r>
            <a:r>
              <a:rPr dirty="0" sz="900">
                <a:solidFill>
                  <a:srgbClr val="4E565F"/>
                </a:solidFill>
                <a:latin typeface="Arial MT"/>
                <a:cs typeface="Arial MT"/>
              </a:rPr>
              <a:t>quickly</a:t>
            </a:r>
            <a:r>
              <a:rPr dirty="0" sz="900" spc="150">
                <a:solidFill>
                  <a:srgbClr val="4E565F"/>
                </a:solidFill>
                <a:latin typeface="Arial MT"/>
                <a:cs typeface="Arial MT"/>
              </a:rPr>
              <a:t> </a:t>
            </a:r>
            <a:r>
              <a:rPr dirty="0" sz="900">
                <a:solidFill>
                  <a:srgbClr val="4E565F"/>
                </a:solidFill>
                <a:latin typeface="Arial MT"/>
                <a:cs typeface="Arial MT"/>
              </a:rPr>
              <a:t>while</a:t>
            </a:r>
            <a:r>
              <a:rPr dirty="0" sz="900" spc="85">
                <a:solidFill>
                  <a:srgbClr val="4E565F"/>
                </a:solidFill>
                <a:latin typeface="Arial MT"/>
                <a:cs typeface="Arial MT"/>
              </a:rPr>
              <a:t> </a:t>
            </a:r>
            <a:r>
              <a:rPr dirty="0" sz="900">
                <a:solidFill>
                  <a:srgbClr val="4E565F"/>
                </a:solidFill>
                <a:latin typeface="Arial MT"/>
                <a:cs typeface="Arial MT"/>
              </a:rPr>
              <a:t>Fabric</a:t>
            </a:r>
            <a:r>
              <a:rPr dirty="0" sz="900" spc="60">
                <a:solidFill>
                  <a:srgbClr val="4E565F"/>
                </a:solidFill>
                <a:latin typeface="Arial MT"/>
                <a:cs typeface="Arial MT"/>
              </a:rPr>
              <a:t> </a:t>
            </a:r>
            <a:r>
              <a:rPr dirty="0" sz="900" spc="-10">
                <a:solidFill>
                  <a:srgbClr val="4E565F"/>
                </a:solidFill>
                <a:latin typeface="Arial MT"/>
                <a:cs typeface="Arial MT"/>
              </a:rPr>
              <a:t>automates</a:t>
            </a:r>
            <a:endParaRPr sz="900">
              <a:latin typeface="Arial MT"/>
              <a:cs typeface="Arial MT"/>
            </a:endParaRPr>
          </a:p>
          <a:p>
            <a:pPr algn="r" marR="13970">
              <a:lnSpc>
                <a:spcPct val="100000"/>
              </a:lnSpc>
              <a:spcBef>
                <a:spcPts val="70"/>
              </a:spcBef>
            </a:pPr>
            <a:r>
              <a:rPr dirty="0" sz="900">
                <a:solidFill>
                  <a:srgbClr val="4E565F"/>
                </a:solidFill>
                <a:latin typeface="Arial MT"/>
                <a:cs typeface="Arial MT"/>
              </a:rPr>
              <a:t>much</a:t>
            </a:r>
            <a:r>
              <a:rPr dirty="0" sz="900" spc="70">
                <a:solidFill>
                  <a:srgbClr val="4E565F"/>
                </a:solidFill>
                <a:latin typeface="Arial MT"/>
                <a:cs typeface="Arial MT"/>
              </a:rPr>
              <a:t> </a:t>
            </a:r>
            <a:r>
              <a:rPr dirty="0" sz="900">
                <a:solidFill>
                  <a:srgbClr val="4E565F"/>
                </a:solidFill>
                <a:latin typeface="Arial MT"/>
                <a:cs typeface="Arial MT"/>
              </a:rPr>
              <a:t>of</a:t>
            </a:r>
            <a:r>
              <a:rPr dirty="0" sz="900" spc="45">
                <a:solidFill>
                  <a:srgbClr val="4E565F"/>
                </a:solidFill>
                <a:latin typeface="Arial MT"/>
                <a:cs typeface="Arial MT"/>
              </a:rPr>
              <a:t> </a:t>
            </a:r>
            <a:r>
              <a:rPr dirty="0" sz="900">
                <a:solidFill>
                  <a:srgbClr val="4E565F"/>
                </a:solidFill>
                <a:latin typeface="Arial MT"/>
                <a:cs typeface="Arial MT"/>
              </a:rPr>
              <a:t>the</a:t>
            </a:r>
            <a:r>
              <a:rPr dirty="0" sz="900" spc="70">
                <a:solidFill>
                  <a:srgbClr val="4E565F"/>
                </a:solidFill>
                <a:latin typeface="Arial MT"/>
                <a:cs typeface="Arial MT"/>
              </a:rPr>
              <a:t> </a:t>
            </a:r>
            <a:r>
              <a:rPr dirty="0" sz="900" spc="-10">
                <a:solidFill>
                  <a:srgbClr val="4E565F"/>
                </a:solidFill>
                <a:latin typeface="Arial MT"/>
                <a:cs typeface="Arial MT"/>
              </a:rPr>
              <a:t>workflow.</a:t>
            </a:r>
            <a:endParaRPr sz="900">
              <a:latin typeface="Arial MT"/>
              <a:cs typeface="Arial MT"/>
            </a:endParaRPr>
          </a:p>
        </p:txBody>
      </p:sp>
      <p:sp>
        <p:nvSpPr>
          <p:cNvPr id="15" name="object 15"/>
          <p:cNvSpPr txBox="1"/>
          <p:nvPr/>
        </p:nvSpPr>
        <p:spPr>
          <a:xfrm>
            <a:off x="2175255" y="2882299"/>
            <a:ext cx="1892935" cy="735330"/>
          </a:xfrm>
          <a:prstGeom prst="rect">
            <a:avLst/>
          </a:prstGeom>
        </p:spPr>
        <p:txBody>
          <a:bodyPr wrap="square" lIns="0" tIns="69850" rIns="0" bIns="0" rtlCol="0" vert="horz">
            <a:spAutoFit/>
          </a:bodyPr>
          <a:lstStyle/>
          <a:p>
            <a:pPr marL="421005">
              <a:lnSpc>
                <a:spcPct val="100000"/>
              </a:lnSpc>
              <a:spcBef>
                <a:spcPts val="550"/>
              </a:spcBef>
            </a:pPr>
            <a:r>
              <a:rPr dirty="0" sz="1200" b="1">
                <a:solidFill>
                  <a:srgbClr val="232323"/>
                </a:solidFill>
                <a:latin typeface="Arial"/>
                <a:cs typeface="Arial"/>
              </a:rPr>
              <a:t>AI-powered</a:t>
            </a:r>
            <a:r>
              <a:rPr dirty="0" sz="1200" spc="204" b="1">
                <a:solidFill>
                  <a:srgbClr val="232323"/>
                </a:solidFill>
                <a:latin typeface="Arial"/>
                <a:cs typeface="Arial"/>
              </a:rPr>
              <a:t> </a:t>
            </a:r>
            <a:r>
              <a:rPr dirty="0" sz="1200" spc="-10" b="1">
                <a:solidFill>
                  <a:srgbClr val="232323"/>
                </a:solidFill>
                <a:latin typeface="Arial"/>
                <a:cs typeface="Arial"/>
              </a:rPr>
              <a:t>Copilot</a:t>
            </a:r>
            <a:endParaRPr sz="1200">
              <a:latin typeface="Arial"/>
              <a:cs typeface="Arial"/>
            </a:endParaRPr>
          </a:p>
          <a:p>
            <a:pPr algn="r" marL="407670" marR="5080" indent="-395605">
              <a:lnSpc>
                <a:spcPct val="106900"/>
              </a:lnSpc>
              <a:spcBef>
                <a:spcPts val="300"/>
              </a:spcBef>
            </a:pPr>
            <a:r>
              <a:rPr dirty="0" sz="900">
                <a:solidFill>
                  <a:srgbClr val="4E565F"/>
                </a:solidFill>
                <a:latin typeface="Arial MT"/>
                <a:cs typeface="Arial MT"/>
              </a:rPr>
              <a:t>Accelerates</a:t>
            </a:r>
            <a:r>
              <a:rPr dirty="0" sz="900" spc="140">
                <a:solidFill>
                  <a:srgbClr val="4E565F"/>
                </a:solidFill>
                <a:latin typeface="Arial MT"/>
                <a:cs typeface="Arial MT"/>
              </a:rPr>
              <a:t> </a:t>
            </a:r>
            <a:r>
              <a:rPr dirty="0" sz="900">
                <a:solidFill>
                  <a:srgbClr val="4E565F"/>
                </a:solidFill>
                <a:latin typeface="Arial MT"/>
                <a:cs typeface="Arial MT"/>
              </a:rPr>
              <a:t>data-science</a:t>
            </a:r>
            <a:r>
              <a:rPr dirty="0" sz="900" spc="170">
                <a:solidFill>
                  <a:srgbClr val="4E565F"/>
                </a:solidFill>
                <a:latin typeface="Arial MT"/>
                <a:cs typeface="Arial MT"/>
              </a:rPr>
              <a:t> </a:t>
            </a:r>
            <a:r>
              <a:rPr dirty="0" sz="900">
                <a:solidFill>
                  <a:srgbClr val="4E565F"/>
                </a:solidFill>
                <a:latin typeface="Arial MT"/>
                <a:cs typeface="Arial MT"/>
              </a:rPr>
              <a:t>work</a:t>
            </a:r>
            <a:r>
              <a:rPr dirty="0" sz="900" spc="260">
                <a:solidFill>
                  <a:srgbClr val="4E565F"/>
                </a:solidFill>
                <a:latin typeface="Arial MT"/>
                <a:cs typeface="Arial MT"/>
              </a:rPr>
              <a:t> </a:t>
            </a:r>
            <a:r>
              <a:rPr dirty="0" sz="900" spc="-25">
                <a:solidFill>
                  <a:srgbClr val="4E565F"/>
                </a:solidFill>
                <a:latin typeface="Arial MT"/>
                <a:cs typeface="Arial MT"/>
              </a:rPr>
              <a:t>and </a:t>
            </a:r>
            <a:r>
              <a:rPr dirty="0" sz="900">
                <a:solidFill>
                  <a:srgbClr val="4E565F"/>
                </a:solidFill>
                <a:latin typeface="Arial MT"/>
                <a:cs typeface="Arial MT"/>
              </a:rPr>
              <a:t>makes</a:t>
            </a:r>
            <a:r>
              <a:rPr dirty="0" sz="900" spc="110">
                <a:solidFill>
                  <a:srgbClr val="4E565F"/>
                </a:solidFill>
                <a:latin typeface="Arial MT"/>
                <a:cs typeface="Arial MT"/>
              </a:rPr>
              <a:t> </a:t>
            </a:r>
            <a:r>
              <a:rPr dirty="0" sz="900">
                <a:solidFill>
                  <a:srgbClr val="4E565F"/>
                </a:solidFill>
                <a:latin typeface="Arial MT"/>
                <a:cs typeface="Arial MT"/>
              </a:rPr>
              <a:t>common</a:t>
            </a:r>
            <a:r>
              <a:rPr dirty="0" sz="900" spc="130">
                <a:solidFill>
                  <a:srgbClr val="4E565F"/>
                </a:solidFill>
                <a:latin typeface="Arial MT"/>
                <a:cs typeface="Arial MT"/>
              </a:rPr>
              <a:t> </a:t>
            </a:r>
            <a:r>
              <a:rPr dirty="0" sz="900">
                <a:solidFill>
                  <a:srgbClr val="4E565F"/>
                </a:solidFill>
                <a:latin typeface="Arial MT"/>
                <a:cs typeface="Arial MT"/>
              </a:rPr>
              <a:t>tasks</a:t>
            </a:r>
            <a:r>
              <a:rPr dirty="0" sz="900" spc="210">
                <a:solidFill>
                  <a:srgbClr val="4E565F"/>
                </a:solidFill>
                <a:latin typeface="Arial MT"/>
                <a:cs typeface="Arial MT"/>
              </a:rPr>
              <a:t> </a:t>
            </a:r>
            <a:r>
              <a:rPr dirty="0" sz="900" spc="-20">
                <a:solidFill>
                  <a:srgbClr val="4E565F"/>
                </a:solidFill>
                <a:latin typeface="Arial MT"/>
                <a:cs typeface="Arial MT"/>
              </a:rPr>
              <a:t>more</a:t>
            </a:r>
            <a:endParaRPr sz="900">
              <a:latin typeface="Arial MT"/>
              <a:cs typeface="Arial MT"/>
            </a:endParaRPr>
          </a:p>
          <a:p>
            <a:pPr algn="r" marR="12700">
              <a:lnSpc>
                <a:spcPct val="100000"/>
              </a:lnSpc>
            </a:pPr>
            <a:r>
              <a:rPr dirty="0" sz="900" spc="-10">
                <a:solidFill>
                  <a:srgbClr val="4E565F"/>
                </a:solidFill>
                <a:latin typeface="Arial MT"/>
                <a:cs typeface="Arial MT"/>
              </a:rPr>
              <a:t>accessible.</a:t>
            </a:r>
            <a:endParaRPr sz="900">
              <a:latin typeface="Arial MT"/>
              <a:cs typeface="Arial MT"/>
            </a:endParaRPr>
          </a:p>
        </p:txBody>
      </p:sp>
      <p:sp>
        <p:nvSpPr>
          <p:cNvPr id="16" name="object 16"/>
          <p:cNvSpPr txBox="1"/>
          <p:nvPr/>
        </p:nvSpPr>
        <p:spPr>
          <a:xfrm>
            <a:off x="5306948" y="2720788"/>
            <a:ext cx="1654175" cy="1026160"/>
          </a:xfrm>
          <a:prstGeom prst="rect">
            <a:avLst/>
          </a:prstGeom>
        </p:spPr>
        <p:txBody>
          <a:bodyPr wrap="square" lIns="0" tIns="133985" rIns="0" bIns="0" rtlCol="0" vert="horz">
            <a:spAutoFit/>
          </a:bodyPr>
          <a:lstStyle/>
          <a:p>
            <a:pPr marL="79375">
              <a:lnSpc>
                <a:spcPct val="100000"/>
              </a:lnSpc>
              <a:spcBef>
                <a:spcPts val="1055"/>
              </a:spcBef>
            </a:pPr>
            <a:r>
              <a:rPr dirty="0" sz="2000" b="1">
                <a:solidFill>
                  <a:srgbClr val="1BB79A"/>
                </a:solidFill>
                <a:latin typeface="Arial"/>
                <a:cs typeface="Arial"/>
              </a:rPr>
              <a:t>Fabric</a:t>
            </a:r>
            <a:r>
              <a:rPr dirty="0" sz="2000" spc="-20" b="1">
                <a:solidFill>
                  <a:srgbClr val="1BB79A"/>
                </a:solidFill>
                <a:latin typeface="Arial"/>
                <a:cs typeface="Arial"/>
              </a:rPr>
              <a:t>  </a:t>
            </a:r>
            <a:r>
              <a:rPr dirty="0" sz="2000" b="1">
                <a:solidFill>
                  <a:srgbClr val="1863B4"/>
                </a:solidFill>
                <a:latin typeface="Arial"/>
                <a:cs typeface="Arial"/>
              </a:rPr>
              <a:t>+</a:t>
            </a:r>
            <a:r>
              <a:rPr dirty="0" sz="2000" spc="475" b="1">
                <a:solidFill>
                  <a:srgbClr val="1863B4"/>
                </a:solidFill>
                <a:latin typeface="Arial"/>
                <a:cs typeface="Arial"/>
              </a:rPr>
              <a:t> </a:t>
            </a:r>
            <a:r>
              <a:rPr dirty="0" sz="2000" spc="-25" b="1">
                <a:solidFill>
                  <a:srgbClr val="1863B4"/>
                </a:solidFill>
                <a:latin typeface="Arial"/>
                <a:cs typeface="Arial"/>
              </a:rPr>
              <a:t>ML</a:t>
            </a:r>
            <a:endParaRPr sz="2000">
              <a:latin typeface="Arial"/>
              <a:cs typeface="Arial"/>
            </a:endParaRPr>
          </a:p>
          <a:p>
            <a:pPr marL="12700" marR="50800" indent="40005">
              <a:lnSpc>
                <a:spcPct val="100800"/>
              </a:lnSpc>
              <a:spcBef>
                <a:spcPts val="765"/>
              </a:spcBef>
            </a:pPr>
            <a:r>
              <a:rPr dirty="0" sz="1550" b="1">
                <a:solidFill>
                  <a:srgbClr val="232323"/>
                </a:solidFill>
                <a:latin typeface="Arial"/>
                <a:cs typeface="Arial"/>
              </a:rPr>
              <a:t>Data</a:t>
            </a:r>
            <a:r>
              <a:rPr dirty="0" sz="1550" spc="105" b="1">
                <a:solidFill>
                  <a:srgbClr val="232323"/>
                </a:solidFill>
                <a:latin typeface="Arial"/>
                <a:cs typeface="Arial"/>
              </a:rPr>
              <a:t> </a:t>
            </a:r>
            <a:r>
              <a:rPr dirty="0" sz="1550" b="1">
                <a:solidFill>
                  <a:srgbClr val="232323"/>
                </a:solidFill>
                <a:latin typeface="Arial"/>
                <a:cs typeface="Arial"/>
              </a:rPr>
              <a:t>Science</a:t>
            </a:r>
            <a:r>
              <a:rPr dirty="0" sz="1550" spc="110" b="1">
                <a:solidFill>
                  <a:srgbClr val="232323"/>
                </a:solidFill>
                <a:latin typeface="Arial"/>
                <a:cs typeface="Arial"/>
              </a:rPr>
              <a:t> </a:t>
            </a:r>
            <a:r>
              <a:rPr dirty="0" sz="1550" spc="-25" b="1">
                <a:solidFill>
                  <a:srgbClr val="232323"/>
                </a:solidFill>
                <a:latin typeface="Arial"/>
                <a:cs typeface="Arial"/>
              </a:rPr>
              <a:t>in </a:t>
            </a:r>
            <a:r>
              <a:rPr dirty="0" sz="1550" b="1">
                <a:solidFill>
                  <a:srgbClr val="232323"/>
                </a:solidFill>
                <a:latin typeface="Arial"/>
                <a:cs typeface="Arial"/>
              </a:rPr>
              <a:t>Microsoft</a:t>
            </a:r>
            <a:r>
              <a:rPr dirty="0" sz="1550" spc="185" b="1">
                <a:solidFill>
                  <a:srgbClr val="232323"/>
                </a:solidFill>
                <a:latin typeface="Arial"/>
                <a:cs typeface="Arial"/>
              </a:rPr>
              <a:t> </a:t>
            </a:r>
            <a:r>
              <a:rPr dirty="0" sz="1550" spc="-10" b="1">
                <a:solidFill>
                  <a:srgbClr val="232323"/>
                </a:solidFill>
                <a:latin typeface="Arial"/>
                <a:cs typeface="Arial"/>
              </a:rPr>
              <a:t>Fabric</a:t>
            </a:r>
            <a:endParaRPr sz="1550">
              <a:latin typeface="Arial"/>
              <a:cs typeface="Arial"/>
            </a:endParaRPr>
          </a:p>
        </p:txBody>
      </p:sp>
      <p:grpSp>
        <p:nvGrpSpPr>
          <p:cNvPr id="17" name="object 17"/>
          <p:cNvGrpSpPr/>
          <p:nvPr/>
        </p:nvGrpSpPr>
        <p:grpSpPr>
          <a:xfrm>
            <a:off x="5696711" y="2588437"/>
            <a:ext cx="1188720" cy="311150"/>
            <a:chOff x="5696711" y="2588437"/>
            <a:chExt cx="1188720" cy="311150"/>
          </a:xfrm>
        </p:grpSpPr>
        <p:pic>
          <p:nvPicPr>
            <p:cNvPr id="18" name="object 18" descr="Microsoft Edge Logo Transparent Iconmicrosoft Edge Icon Not Showing"/>
            <p:cNvPicPr/>
            <p:nvPr/>
          </p:nvPicPr>
          <p:blipFill>
            <a:blip r:embed="rId3" cstate="print"/>
            <a:stretch>
              <a:fillRect/>
            </a:stretch>
          </p:blipFill>
          <p:spPr>
            <a:xfrm>
              <a:off x="5696711" y="2588437"/>
              <a:ext cx="301751" cy="301828"/>
            </a:xfrm>
            <a:prstGeom prst="rect">
              <a:avLst/>
            </a:prstGeom>
          </p:spPr>
        </p:pic>
        <p:pic>
          <p:nvPicPr>
            <p:cNvPr id="19" name="object 19" descr="Documentazione di Microsoft Fabric - Microsoft Fabric | Microsoft Learn"/>
            <p:cNvPicPr/>
            <p:nvPr/>
          </p:nvPicPr>
          <p:blipFill>
            <a:blip r:embed="rId4" cstate="print"/>
            <a:stretch>
              <a:fillRect/>
            </a:stretch>
          </p:blipFill>
          <p:spPr>
            <a:xfrm>
              <a:off x="6583679" y="2597581"/>
              <a:ext cx="301751" cy="301828"/>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7460" y="2357831"/>
            <a:ext cx="5996305" cy="1421765"/>
          </a:xfrm>
          <a:prstGeom prst="rect"/>
        </p:spPr>
        <p:txBody>
          <a:bodyPr wrap="square" lIns="0" tIns="99060" rIns="0" bIns="0" rtlCol="0" vert="horz">
            <a:spAutoFit/>
          </a:bodyPr>
          <a:lstStyle/>
          <a:p>
            <a:pPr marL="12700" marR="5080">
              <a:lnSpc>
                <a:spcPts val="5190"/>
              </a:lnSpc>
              <a:spcBef>
                <a:spcPts val="780"/>
              </a:spcBef>
            </a:pPr>
            <a:r>
              <a:rPr dirty="0" sz="4800"/>
              <a:t>Prediction</a:t>
            </a:r>
            <a:r>
              <a:rPr dirty="0" sz="4800" spc="-140"/>
              <a:t> </a:t>
            </a:r>
            <a:r>
              <a:rPr dirty="0" sz="4800"/>
              <a:t>Models</a:t>
            </a:r>
            <a:r>
              <a:rPr dirty="0" sz="4800" spc="-140"/>
              <a:t> </a:t>
            </a:r>
            <a:r>
              <a:rPr dirty="0" sz="4800" spc="-25"/>
              <a:t>in </a:t>
            </a:r>
            <a:r>
              <a:rPr dirty="0" sz="4800" spc="-10"/>
              <a:t>Healthcare</a:t>
            </a:r>
            <a:endParaRPr sz="4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1067" y="272923"/>
            <a:ext cx="8949055" cy="948690"/>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latin typeface="Segoe UI"/>
                <a:cs typeface="Segoe UI"/>
              </a:rPr>
              <a:t>AI</a:t>
            </a:r>
            <a:r>
              <a:rPr dirty="0" spc="95">
                <a:solidFill>
                  <a:srgbClr val="003E34"/>
                </a:solidFill>
                <a:latin typeface="Segoe UI"/>
                <a:cs typeface="Segoe UI"/>
              </a:rPr>
              <a:t> </a:t>
            </a:r>
            <a:r>
              <a:rPr dirty="0">
                <a:solidFill>
                  <a:srgbClr val="003E34"/>
                </a:solidFill>
                <a:latin typeface="Segoe UI"/>
                <a:cs typeface="Segoe UI"/>
              </a:rPr>
              <a:t>and</a:t>
            </a:r>
            <a:r>
              <a:rPr dirty="0" spc="65">
                <a:solidFill>
                  <a:srgbClr val="003E34"/>
                </a:solidFill>
                <a:latin typeface="Segoe UI"/>
                <a:cs typeface="Segoe UI"/>
              </a:rPr>
              <a:t> </a:t>
            </a:r>
            <a:r>
              <a:rPr dirty="0">
                <a:solidFill>
                  <a:srgbClr val="003E34"/>
                </a:solidFill>
                <a:latin typeface="Segoe UI"/>
                <a:cs typeface="Segoe UI"/>
              </a:rPr>
              <a:t>ML</a:t>
            </a:r>
            <a:r>
              <a:rPr dirty="0" spc="50">
                <a:solidFill>
                  <a:srgbClr val="003E34"/>
                </a:solidFill>
                <a:latin typeface="Segoe UI"/>
                <a:cs typeface="Segoe UI"/>
              </a:rPr>
              <a:t> </a:t>
            </a:r>
            <a:r>
              <a:rPr dirty="0">
                <a:solidFill>
                  <a:srgbClr val="003E34"/>
                </a:solidFill>
                <a:latin typeface="Segoe UI"/>
                <a:cs typeface="Segoe UI"/>
              </a:rPr>
              <a:t>is</a:t>
            </a:r>
            <a:r>
              <a:rPr dirty="0" spc="70">
                <a:solidFill>
                  <a:srgbClr val="003E34"/>
                </a:solidFill>
                <a:latin typeface="Segoe UI"/>
                <a:cs typeface="Segoe UI"/>
              </a:rPr>
              <a:t> </a:t>
            </a:r>
            <a:r>
              <a:rPr dirty="0">
                <a:solidFill>
                  <a:srgbClr val="003E34"/>
                </a:solidFill>
                <a:latin typeface="Segoe UI"/>
                <a:cs typeface="Segoe UI"/>
              </a:rPr>
              <a:t>being</a:t>
            </a:r>
            <a:r>
              <a:rPr dirty="0" spc="70">
                <a:solidFill>
                  <a:srgbClr val="003E34"/>
                </a:solidFill>
                <a:latin typeface="Segoe UI"/>
                <a:cs typeface="Segoe UI"/>
              </a:rPr>
              <a:t> </a:t>
            </a:r>
            <a:r>
              <a:rPr dirty="0">
                <a:solidFill>
                  <a:srgbClr val="003E34"/>
                </a:solidFill>
                <a:latin typeface="Segoe UI"/>
                <a:cs typeface="Segoe UI"/>
              </a:rPr>
              <a:t>embedded</a:t>
            </a:r>
            <a:r>
              <a:rPr dirty="0" spc="70">
                <a:solidFill>
                  <a:srgbClr val="003E34"/>
                </a:solidFill>
                <a:latin typeface="Segoe UI"/>
                <a:cs typeface="Segoe UI"/>
              </a:rPr>
              <a:t> </a:t>
            </a:r>
            <a:r>
              <a:rPr dirty="0">
                <a:solidFill>
                  <a:srgbClr val="003E34"/>
                </a:solidFill>
                <a:latin typeface="Segoe UI"/>
                <a:cs typeface="Segoe UI"/>
              </a:rPr>
              <a:t>in</a:t>
            </a:r>
            <a:r>
              <a:rPr dirty="0" spc="110">
                <a:solidFill>
                  <a:srgbClr val="003E34"/>
                </a:solidFill>
                <a:latin typeface="Segoe UI"/>
                <a:cs typeface="Segoe UI"/>
              </a:rPr>
              <a:t> </a:t>
            </a:r>
            <a:r>
              <a:rPr dirty="0">
                <a:solidFill>
                  <a:srgbClr val="003E34"/>
                </a:solidFill>
                <a:latin typeface="Segoe UI"/>
                <a:cs typeface="Segoe UI"/>
              </a:rPr>
              <a:t>EU</a:t>
            </a:r>
            <a:r>
              <a:rPr dirty="0" spc="100">
                <a:solidFill>
                  <a:srgbClr val="003E34"/>
                </a:solidFill>
                <a:latin typeface="Segoe UI"/>
                <a:cs typeface="Segoe UI"/>
              </a:rPr>
              <a:t> </a:t>
            </a:r>
            <a:r>
              <a:rPr dirty="0" spc="-10">
                <a:solidFill>
                  <a:srgbClr val="003E34"/>
                </a:solidFill>
                <a:latin typeface="Segoe UI"/>
                <a:cs typeface="Segoe UI"/>
              </a:rPr>
              <a:t>healthcare systems</a:t>
            </a:r>
          </a:p>
        </p:txBody>
      </p:sp>
      <p:pic>
        <p:nvPicPr>
          <p:cNvPr id="3" name="object 3"/>
          <p:cNvPicPr/>
          <p:nvPr/>
        </p:nvPicPr>
        <p:blipFill>
          <a:blip r:embed="rId2" cstate="print"/>
          <a:stretch>
            <a:fillRect/>
          </a:stretch>
        </p:blipFill>
        <p:spPr>
          <a:xfrm>
            <a:off x="2855976" y="1996313"/>
            <a:ext cx="5992368" cy="3874135"/>
          </a:xfrm>
          <a:prstGeom prst="rect">
            <a:avLst/>
          </a:prstGeom>
        </p:spPr>
      </p:pic>
      <p:sp>
        <p:nvSpPr>
          <p:cNvPr id="4" name="object 4"/>
          <p:cNvSpPr txBox="1"/>
          <p:nvPr/>
        </p:nvSpPr>
        <p:spPr>
          <a:xfrm>
            <a:off x="4226940" y="1931270"/>
            <a:ext cx="1086485" cy="1306830"/>
          </a:xfrm>
          <a:prstGeom prst="rect">
            <a:avLst/>
          </a:prstGeom>
        </p:spPr>
        <p:txBody>
          <a:bodyPr wrap="square" lIns="0" tIns="318770" rIns="0" bIns="0" rtlCol="0" vert="horz">
            <a:spAutoFit/>
          </a:bodyPr>
          <a:lstStyle/>
          <a:p>
            <a:pPr marL="12700">
              <a:lnSpc>
                <a:spcPct val="100000"/>
              </a:lnSpc>
              <a:spcBef>
                <a:spcPts val="2510"/>
              </a:spcBef>
            </a:pPr>
            <a:r>
              <a:rPr dirty="0" sz="4400" spc="-25">
                <a:solidFill>
                  <a:srgbClr val="00338D"/>
                </a:solidFill>
                <a:latin typeface="Segoe UI"/>
                <a:cs typeface="Segoe UI"/>
              </a:rPr>
              <a:t>48%</a:t>
            </a:r>
            <a:endParaRPr sz="4400">
              <a:latin typeface="Segoe UI"/>
              <a:cs typeface="Segoe UI"/>
            </a:endParaRPr>
          </a:p>
          <a:p>
            <a:pPr marL="97790">
              <a:lnSpc>
                <a:spcPct val="100000"/>
              </a:lnSpc>
              <a:spcBef>
                <a:spcPts val="775"/>
              </a:spcBef>
            </a:pPr>
            <a:r>
              <a:rPr dirty="0" sz="1350" spc="-10" b="1">
                <a:solidFill>
                  <a:srgbClr val="00338D"/>
                </a:solidFill>
                <a:latin typeface="Segoe UI"/>
                <a:cs typeface="Segoe UI"/>
              </a:rPr>
              <a:t>Radiology</a:t>
            </a:r>
            <a:endParaRPr sz="1350">
              <a:latin typeface="Segoe UI"/>
              <a:cs typeface="Segoe UI"/>
            </a:endParaRPr>
          </a:p>
        </p:txBody>
      </p:sp>
      <p:sp>
        <p:nvSpPr>
          <p:cNvPr id="5" name="object 5"/>
          <p:cNvSpPr txBox="1"/>
          <p:nvPr/>
        </p:nvSpPr>
        <p:spPr>
          <a:xfrm>
            <a:off x="4452365" y="4073045"/>
            <a:ext cx="1087755" cy="1159510"/>
          </a:xfrm>
          <a:prstGeom prst="rect">
            <a:avLst/>
          </a:prstGeom>
        </p:spPr>
        <p:txBody>
          <a:bodyPr wrap="square" lIns="0" tIns="240029" rIns="0" bIns="0" rtlCol="0" vert="horz">
            <a:spAutoFit/>
          </a:bodyPr>
          <a:lstStyle/>
          <a:p>
            <a:pPr marL="12700">
              <a:lnSpc>
                <a:spcPct val="100000"/>
              </a:lnSpc>
              <a:spcBef>
                <a:spcPts val="1889"/>
              </a:spcBef>
            </a:pPr>
            <a:r>
              <a:rPr dirty="0" sz="4400" spc="-25">
                <a:solidFill>
                  <a:srgbClr val="FFC000"/>
                </a:solidFill>
                <a:latin typeface="Segoe UI"/>
                <a:cs typeface="Segoe UI"/>
              </a:rPr>
              <a:t>74%</a:t>
            </a:r>
            <a:endParaRPr sz="4400">
              <a:latin typeface="Segoe UI"/>
              <a:cs typeface="Segoe UI"/>
            </a:endParaRPr>
          </a:p>
          <a:p>
            <a:pPr marL="62230">
              <a:lnSpc>
                <a:spcPct val="100000"/>
              </a:lnSpc>
              <a:spcBef>
                <a:spcPts val="475"/>
              </a:spcBef>
            </a:pPr>
            <a:r>
              <a:rPr dirty="0" sz="1150" b="1">
                <a:solidFill>
                  <a:srgbClr val="FFC000"/>
                </a:solidFill>
                <a:latin typeface="Segoe UI"/>
                <a:cs typeface="Segoe UI"/>
              </a:rPr>
              <a:t>EU</a:t>
            </a:r>
            <a:r>
              <a:rPr dirty="0" sz="1150" spc="-55" b="1">
                <a:solidFill>
                  <a:srgbClr val="FFC000"/>
                </a:solidFill>
                <a:latin typeface="Segoe UI"/>
                <a:cs typeface="Segoe UI"/>
              </a:rPr>
              <a:t> </a:t>
            </a:r>
            <a:r>
              <a:rPr dirty="0" sz="1150" spc="-10" b="1">
                <a:solidFill>
                  <a:srgbClr val="FFC000"/>
                </a:solidFill>
                <a:latin typeface="Segoe UI"/>
                <a:cs typeface="Segoe UI"/>
              </a:rPr>
              <a:t>countries</a:t>
            </a:r>
            <a:endParaRPr sz="1150">
              <a:latin typeface="Segoe UI"/>
              <a:cs typeface="Segoe UI"/>
            </a:endParaRPr>
          </a:p>
        </p:txBody>
      </p:sp>
      <p:sp>
        <p:nvSpPr>
          <p:cNvPr id="6" name="object 6"/>
          <p:cNvSpPr txBox="1"/>
          <p:nvPr/>
        </p:nvSpPr>
        <p:spPr>
          <a:xfrm>
            <a:off x="6926960" y="2956729"/>
            <a:ext cx="1089660" cy="1183005"/>
          </a:xfrm>
          <a:prstGeom prst="rect">
            <a:avLst/>
          </a:prstGeom>
        </p:spPr>
        <p:txBody>
          <a:bodyPr wrap="square" lIns="0" tIns="163195" rIns="0" bIns="0" rtlCol="0" vert="horz">
            <a:spAutoFit/>
          </a:bodyPr>
          <a:lstStyle/>
          <a:p>
            <a:pPr marL="14604">
              <a:lnSpc>
                <a:spcPct val="100000"/>
              </a:lnSpc>
              <a:spcBef>
                <a:spcPts val="1285"/>
              </a:spcBef>
            </a:pPr>
            <a:r>
              <a:rPr dirty="0" sz="4400" spc="-25">
                <a:solidFill>
                  <a:srgbClr val="4471C4"/>
                </a:solidFill>
                <a:latin typeface="Segoe UI"/>
                <a:cs typeface="Segoe UI"/>
              </a:rPr>
              <a:t>94%</a:t>
            </a:r>
            <a:endParaRPr sz="4400">
              <a:latin typeface="Segoe UI"/>
              <a:cs typeface="Segoe UI"/>
            </a:endParaRPr>
          </a:p>
          <a:p>
            <a:pPr marL="12700">
              <a:lnSpc>
                <a:spcPct val="100000"/>
              </a:lnSpc>
              <a:spcBef>
                <a:spcPts val="484"/>
              </a:spcBef>
            </a:pPr>
            <a:r>
              <a:rPr dirty="0" sz="1800" spc="-10" b="1">
                <a:solidFill>
                  <a:srgbClr val="4471C4"/>
                </a:solidFill>
                <a:latin typeface="Segoe UI"/>
                <a:cs typeface="Segoe UI"/>
              </a:rPr>
              <a:t>Providers</a:t>
            </a:r>
            <a:endParaRPr sz="1800">
              <a:latin typeface="Segoe UI"/>
              <a:cs typeface="Segoe UI"/>
            </a:endParaRPr>
          </a:p>
        </p:txBody>
      </p:sp>
      <p:sp>
        <p:nvSpPr>
          <p:cNvPr id="7" name="object 7"/>
          <p:cNvSpPr txBox="1"/>
          <p:nvPr/>
        </p:nvSpPr>
        <p:spPr>
          <a:xfrm>
            <a:off x="8989441" y="1876192"/>
            <a:ext cx="2069464" cy="1224280"/>
          </a:xfrm>
          <a:prstGeom prst="rect">
            <a:avLst/>
          </a:prstGeom>
        </p:spPr>
        <p:txBody>
          <a:bodyPr wrap="square" lIns="0" tIns="108585" rIns="0" bIns="0" rtlCol="0" vert="horz">
            <a:spAutoFit/>
          </a:bodyPr>
          <a:lstStyle/>
          <a:p>
            <a:pPr marL="12700">
              <a:lnSpc>
                <a:spcPct val="100000"/>
              </a:lnSpc>
              <a:spcBef>
                <a:spcPts val="855"/>
              </a:spcBef>
            </a:pPr>
            <a:r>
              <a:rPr dirty="0" sz="1500" b="1">
                <a:solidFill>
                  <a:srgbClr val="EC7C30"/>
                </a:solidFill>
                <a:latin typeface="Segoe UI"/>
                <a:cs typeface="Segoe UI"/>
              </a:rPr>
              <a:t>Provider</a:t>
            </a:r>
            <a:r>
              <a:rPr dirty="0" sz="1500" spc="-65" b="1">
                <a:solidFill>
                  <a:srgbClr val="EC7C30"/>
                </a:solidFill>
                <a:latin typeface="Segoe UI"/>
                <a:cs typeface="Segoe UI"/>
              </a:rPr>
              <a:t> </a:t>
            </a:r>
            <a:r>
              <a:rPr dirty="0" sz="1500" spc="-10" b="1">
                <a:solidFill>
                  <a:srgbClr val="EC7C30"/>
                </a:solidFill>
                <a:latin typeface="Segoe UI"/>
                <a:cs typeface="Segoe UI"/>
              </a:rPr>
              <a:t>pipeline</a:t>
            </a:r>
            <a:endParaRPr sz="1500">
              <a:latin typeface="Segoe UI"/>
              <a:cs typeface="Segoe UI"/>
            </a:endParaRPr>
          </a:p>
          <a:p>
            <a:pPr marL="12700" marR="5080">
              <a:lnSpc>
                <a:spcPct val="100099"/>
              </a:lnSpc>
              <a:spcBef>
                <a:spcPts val="635"/>
              </a:spcBef>
            </a:pPr>
            <a:r>
              <a:rPr dirty="0" sz="1300">
                <a:solidFill>
                  <a:srgbClr val="EC7C30"/>
                </a:solidFill>
                <a:latin typeface="Segoe UI"/>
                <a:cs typeface="Segoe UI"/>
              </a:rPr>
              <a:t>94%</a:t>
            </a:r>
            <a:r>
              <a:rPr dirty="0" sz="1300" spc="-25">
                <a:solidFill>
                  <a:srgbClr val="EC7C30"/>
                </a:solidFill>
                <a:latin typeface="Segoe UI"/>
                <a:cs typeface="Segoe UI"/>
              </a:rPr>
              <a:t> </a:t>
            </a:r>
            <a:r>
              <a:rPr dirty="0" sz="1300">
                <a:solidFill>
                  <a:srgbClr val="EC7C30"/>
                </a:solidFill>
                <a:latin typeface="Segoe UI"/>
                <a:cs typeface="Segoe UI"/>
              </a:rPr>
              <a:t>of</a:t>
            </a:r>
            <a:r>
              <a:rPr dirty="0" sz="1300" spc="-20">
                <a:solidFill>
                  <a:srgbClr val="EC7C30"/>
                </a:solidFill>
                <a:latin typeface="Segoe UI"/>
                <a:cs typeface="Segoe UI"/>
              </a:rPr>
              <a:t> </a:t>
            </a:r>
            <a:r>
              <a:rPr dirty="0" sz="1300">
                <a:solidFill>
                  <a:srgbClr val="EC7C30"/>
                </a:solidFill>
                <a:latin typeface="Segoe UI"/>
                <a:cs typeface="Segoe UI"/>
              </a:rPr>
              <a:t>surveyed</a:t>
            </a:r>
            <a:r>
              <a:rPr dirty="0" sz="1300" spc="-75">
                <a:solidFill>
                  <a:srgbClr val="EC7C30"/>
                </a:solidFill>
                <a:latin typeface="Segoe UI"/>
                <a:cs typeface="Segoe UI"/>
              </a:rPr>
              <a:t> </a:t>
            </a:r>
            <a:r>
              <a:rPr dirty="0" sz="1300" spc="-25">
                <a:solidFill>
                  <a:srgbClr val="EC7C30"/>
                </a:solidFill>
                <a:latin typeface="Segoe UI"/>
                <a:cs typeface="Segoe UI"/>
              </a:rPr>
              <a:t>EU </a:t>
            </a:r>
            <a:r>
              <a:rPr dirty="0" sz="1300" spc="-10">
                <a:solidFill>
                  <a:srgbClr val="EC7C30"/>
                </a:solidFill>
                <a:latin typeface="Segoe UI"/>
                <a:cs typeface="Segoe UI"/>
              </a:rPr>
              <a:t>healthcare</a:t>
            </a:r>
            <a:r>
              <a:rPr dirty="0" sz="1300" spc="-35">
                <a:solidFill>
                  <a:srgbClr val="EC7C30"/>
                </a:solidFill>
                <a:latin typeface="Segoe UI"/>
                <a:cs typeface="Segoe UI"/>
              </a:rPr>
              <a:t> </a:t>
            </a:r>
            <a:r>
              <a:rPr dirty="0" sz="1300">
                <a:solidFill>
                  <a:srgbClr val="EC7C30"/>
                </a:solidFill>
                <a:latin typeface="Segoe UI"/>
                <a:cs typeface="Segoe UI"/>
              </a:rPr>
              <a:t>providers</a:t>
            </a:r>
            <a:r>
              <a:rPr dirty="0" sz="1300" spc="-50">
                <a:solidFill>
                  <a:srgbClr val="EC7C30"/>
                </a:solidFill>
                <a:latin typeface="Segoe UI"/>
                <a:cs typeface="Segoe UI"/>
              </a:rPr>
              <a:t> </a:t>
            </a:r>
            <a:r>
              <a:rPr dirty="0" sz="1300" spc="-10">
                <a:solidFill>
                  <a:srgbClr val="EC7C30"/>
                </a:solidFill>
                <a:latin typeface="Segoe UI"/>
                <a:cs typeface="Segoe UI"/>
              </a:rPr>
              <a:t>already </a:t>
            </a:r>
            <a:r>
              <a:rPr dirty="0" sz="1300">
                <a:solidFill>
                  <a:srgbClr val="EC7C30"/>
                </a:solidFill>
                <a:latin typeface="Segoe UI"/>
                <a:cs typeface="Segoe UI"/>
              </a:rPr>
              <a:t>use</a:t>
            </a:r>
            <a:r>
              <a:rPr dirty="0" sz="1300" spc="-35">
                <a:solidFill>
                  <a:srgbClr val="EC7C30"/>
                </a:solidFill>
                <a:latin typeface="Segoe UI"/>
                <a:cs typeface="Segoe UI"/>
              </a:rPr>
              <a:t> </a:t>
            </a:r>
            <a:r>
              <a:rPr dirty="0" sz="1300">
                <a:solidFill>
                  <a:srgbClr val="EC7C30"/>
                </a:solidFill>
                <a:latin typeface="Segoe UI"/>
                <a:cs typeface="Segoe UI"/>
              </a:rPr>
              <a:t>AI</a:t>
            </a:r>
            <a:r>
              <a:rPr dirty="0" sz="1300" spc="-55">
                <a:solidFill>
                  <a:srgbClr val="EC7C30"/>
                </a:solidFill>
                <a:latin typeface="Segoe UI"/>
                <a:cs typeface="Segoe UI"/>
              </a:rPr>
              <a:t> </a:t>
            </a:r>
            <a:r>
              <a:rPr dirty="0" sz="1300">
                <a:solidFill>
                  <a:srgbClr val="EC7C30"/>
                </a:solidFill>
                <a:latin typeface="Segoe UI"/>
                <a:cs typeface="Segoe UI"/>
              </a:rPr>
              <a:t>solutions</a:t>
            </a:r>
            <a:r>
              <a:rPr dirty="0" sz="1300" spc="-45">
                <a:solidFill>
                  <a:srgbClr val="EC7C30"/>
                </a:solidFill>
                <a:latin typeface="Segoe UI"/>
                <a:cs typeface="Segoe UI"/>
              </a:rPr>
              <a:t> </a:t>
            </a:r>
            <a:r>
              <a:rPr dirty="0" sz="1300">
                <a:solidFill>
                  <a:srgbClr val="EC7C30"/>
                </a:solidFill>
                <a:latin typeface="Segoe UI"/>
                <a:cs typeface="Segoe UI"/>
              </a:rPr>
              <a:t>or</a:t>
            </a:r>
            <a:r>
              <a:rPr dirty="0" sz="1300" spc="-20">
                <a:solidFill>
                  <a:srgbClr val="EC7C30"/>
                </a:solidFill>
                <a:latin typeface="Segoe UI"/>
                <a:cs typeface="Segoe UI"/>
              </a:rPr>
              <a:t> </a:t>
            </a:r>
            <a:r>
              <a:rPr dirty="0" sz="1300">
                <a:solidFill>
                  <a:srgbClr val="EC7C30"/>
                </a:solidFill>
                <a:latin typeface="Segoe UI"/>
                <a:cs typeface="Segoe UI"/>
              </a:rPr>
              <a:t>plan</a:t>
            </a:r>
            <a:r>
              <a:rPr dirty="0" sz="1300" spc="-20">
                <a:solidFill>
                  <a:srgbClr val="EC7C30"/>
                </a:solidFill>
                <a:latin typeface="Segoe UI"/>
                <a:cs typeface="Segoe UI"/>
              </a:rPr>
              <a:t> </a:t>
            </a:r>
            <a:r>
              <a:rPr dirty="0" sz="1300" spc="-25">
                <a:solidFill>
                  <a:srgbClr val="EC7C30"/>
                </a:solidFill>
                <a:latin typeface="Segoe UI"/>
                <a:cs typeface="Segoe UI"/>
              </a:rPr>
              <a:t>to </a:t>
            </a:r>
            <a:r>
              <a:rPr dirty="0" sz="1300">
                <a:solidFill>
                  <a:srgbClr val="EC7C30"/>
                </a:solidFill>
                <a:latin typeface="Segoe UI"/>
                <a:cs typeface="Segoe UI"/>
              </a:rPr>
              <a:t>adopt</a:t>
            </a:r>
            <a:r>
              <a:rPr dirty="0" sz="1300" spc="-35">
                <a:solidFill>
                  <a:srgbClr val="EC7C30"/>
                </a:solidFill>
                <a:latin typeface="Segoe UI"/>
                <a:cs typeface="Segoe UI"/>
              </a:rPr>
              <a:t> </a:t>
            </a:r>
            <a:r>
              <a:rPr dirty="0" sz="1300" spc="-10">
                <a:solidFill>
                  <a:srgbClr val="EC7C30"/>
                </a:solidFill>
                <a:latin typeface="Segoe UI"/>
                <a:cs typeface="Segoe UI"/>
              </a:rPr>
              <a:t>them.</a:t>
            </a:r>
            <a:endParaRPr sz="1300">
              <a:latin typeface="Segoe UI"/>
              <a:cs typeface="Segoe UI"/>
            </a:endParaRPr>
          </a:p>
        </p:txBody>
      </p:sp>
      <p:sp>
        <p:nvSpPr>
          <p:cNvPr id="8" name="object 8"/>
          <p:cNvSpPr txBox="1"/>
          <p:nvPr/>
        </p:nvSpPr>
        <p:spPr>
          <a:xfrm>
            <a:off x="1266189" y="4047194"/>
            <a:ext cx="2171065" cy="1022350"/>
          </a:xfrm>
          <a:prstGeom prst="rect">
            <a:avLst/>
          </a:prstGeom>
        </p:spPr>
        <p:txBody>
          <a:bodyPr wrap="square" lIns="0" tIns="107950" rIns="0" bIns="0" rtlCol="0" vert="horz">
            <a:spAutoFit/>
          </a:bodyPr>
          <a:lstStyle/>
          <a:p>
            <a:pPr marL="12700">
              <a:lnSpc>
                <a:spcPct val="100000"/>
              </a:lnSpc>
              <a:spcBef>
                <a:spcPts val="850"/>
              </a:spcBef>
            </a:pPr>
            <a:r>
              <a:rPr dirty="0" sz="1500" b="1">
                <a:solidFill>
                  <a:srgbClr val="EC7C30"/>
                </a:solidFill>
                <a:latin typeface="Segoe UI"/>
                <a:cs typeface="Segoe UI"/>
              </a:rPr>
              <a:t>Diagnostics</a:t>
            </a:r>
            <a:r>
              <a:rPr dirty="0" sz="1500" spc="-75" b="1">
                <a:solidFill>
                  <a:srgbClr val="EC7C30"/>
                </a:solidFill>
                <a:latin typeface="Segoe UI"/>
                <a:cs typeface="Segoe UI"/>
              </a:rPr>
              <a:t> </a:t>
            </a:r>
            <a:r>
              <a:rPr dirty="0" sz="1500" spc="-10" b="1">
                <a:solidFill>
                  <a:srgbClr val="EC7C30"/>
                </a:solidFill>
                <a:latin typeface="Segoe UI"/>
                <a:cs typeface="Segoe UI"/>
              </a:rPr>
              <a:t>spread</a:t>
            </a:r>
            <a:endParaRPr sz="1500">
              <a:latin typeface="Segoe UI"/>
              <a:cs typeface="Segoe UI"/>
            </a:endParaRPr>
          </a:p>
          <a:p>
            <a:pPr marL="12700" marR="5080">
              <a:lnSpc>
                <a:spcPct val="99400"/>
              </a:lnSpc>
              <a:spcBef>
                <a:spcPts val="645"/>
              </a:spcBef>
            </a:pPr>
            <a:r>
              <a:rPr dirty="0" sz="1300">
                <a:solidFill>
                  <a:srgbClr val="EC7C30"/>
                </a:solidFill>
                <a:latin typeface="Segoe UI"/>
                <a:cs typeface="Segoe UI"/>
              </a:rPr>
              <a:t>Nearly</a:t>
            </a:r>
            <a:r>
              <a:rPr dirty="0" sz="1300" spc="-65">
                <a:solidFill>
                  <a:srgbClr val="EC7C30"/>
                </a:solidFill>
                <a:latin typeface="Segoe UI"/>
                <a:cs typeface="Segoe UI"/>
              </a:rPr>
              <a:t> </a:t>
            </a:r>
            <a:r>
              <a:rPr dirty="0" sz="1300">
                <a:solidFill>
                  <a:srgbClr val="EC7C30"/>
                </a:solidFill>
                <a:latin typeface="Segoe UI"/>
                <a:cs typeface="Segoe UI"/>
              </a:rPr>
              <a:t>3</a:t>
            </a:r>
            <a:r>
              <a:rPr dirty="0" sz="1300" spc="5">
                <a:solidFill>
                  <a:srgbClr val="EC7C30"/>
                </a:solidFill>
                <a:latin typeface="Segoe UI"/>
                <a:cs typeface="Segoe UI"/>
              </a:rPr>
              <a:t> </a:t>
            </a:r>
            <a:r>
              <a:rPr dirty="0" sz="1300">
                <a:solidFill>
                  <a:srgbClr val="EC7C30"/>
                </a:solidFill>
                <a:latin typeface="Segoe UI"/>
                <a:cs typeface="Segoe UI"/>
              </a:rPr>
              <a:t>in</a:t>
            </a:r>
            <a:r>
              <a:rPr dirty="0" sz="1300" spc="-25">
                <a:solidFill>
                  <a:srgbClr val="EC7C30"/>
                </a:solidFill>
                <a:latin typeface="Segoe UI"/>
                <a:cs typeface="Segoe UI"/>
              </a:rPr>
              <a:t> </a:t>
            </a:r>
            <a:r>
              <a:rPr dirty="0" sz="1300">
                <a:solidFill>
                  <a:srgbClr val="EC7C30"/>
                </a:solidFill>
                <a:latin typeface="Segoe UI"/>
                <a:cs typeface="Segoe UI"/>
              </a:rPr>
              <a:t>4</a:t>
            </a:r>
            <a:r>
              <a:rPr dirty="0" sz="1300" spc="5">
                <a:solidFill>
                  <a:srgbClr val="EC7C30"/>
                </a:solidFill>
                <a:latin typeface="Segoe UI"/>
                <a:cs typeface="Segoe UI"/>
              </a:rPr>
              <a:t> </a:t>
            </a:r>
            <a:r>
              <a:rPr dirty="0" sz="1300">
                <a:solidFill>
                  <a:srgbClr val="EC7C30"/>
                </a:solidFill>
                <a:latin typeface="Segoe UI"/>
                <a:cs typeface="Segoe UI"/>
              </a:rPr>
              <a:t>EU</a:t>
            </a:r>
            <a:r>
              <a:rPr dirty="0" sz="1300" spc="-45">
                <a:solidFill>
                  <a:srgbClr val="EC7C30"/>
                </a:solidFill>
                <a:latin typeface="Segoe UI"/>
                <a:cs typeface="Segoe UI"/>
              </a:rPr>
              <a:t> </a:t>
            </a:r>
            <a:r>
              <a:rPr dirty="0" sz="1300" spc="-10">
                <a:solidFill>
                  <a:srgbClr val="EC7C30"/>
                </a:solidFill>
                <a:latin typeface="Segoe UI"/>
                <a:cs typeface="Segoe UI"/>
              </a:rPr>
              <a:t>countries </a:t>
            </a:r>
            <a:r>
              <a:rPr dirty="0" sz="1300">
                <a:solidFill>
                  <a:srgbClr val="EC7C30"/>
                </a:solidFill>
                <a:latin typeface="Segoe UI"/>
                <a:cs typeface="Segoe UI"/>
              </a:rPr>
              <a:t>report</a:t>
            </a:r>
            <a:r>
              <a:rPr dirty="0" sz="1300" spc="-45">
                <a:solidFill>
                  <a:srgbClr val="EC7C30"/>
                </a:solidFill>
                <a:latin typeface="Segoe UI"/>
                <a:cs typeface="Segoe UI"/>
              </a:rPr>
              <a:t> </a:t>
            </a:r>
            <a:r>
              <a:rPr dirty="0" sz="1300">
                <a:solidFill>
                  <a:srgbClr val="EC7C30"/>
                </a:solidFill>
                <a:latin typeface="Segoe UI"/>
                <a:cs typeface="Segoe UI"/>
              </a:rPr>
              <a:t>AI-assisted</a:t>
            </a:r>
            <a:r>
              <a:rPr dirty="0" sz="1300" spc="-75">
                <a:solidFill>
                  <a:srgbClr val="EC7C30"/>
                </a:solidFill>
                <a:latin typeface="Segoe UI"/>
                <a:cs typeface="Segoe UI"/>
              </a:rPr>
              <a:t> </a:t>
            </a:r>
            <a:r>
              <a:rPr dirty="0" sz="1300" spc="-10">
                <a:solidFill>
                  <a:srgbClr val="EC7C30"/>
                </a:solidFill>
                <a:latin typeface="Segoe UI"/>
                <a:cs typeface="Segoe UI"/>
              </a:rPr>
              <a:t>diagnostics </a:t>
            </a:r>
            <a:r>
              <a:rPr dirty="0" sz="1300">
                <a:solidFill>
                  <a:srgbClr val="EC7C30"/>
                </a:solidFill>
                <a:latin typeface="Segoe UI"/>
                <a:cs typeface="Segoe UI"/>
              </a:rPr>
              <a:t>in</a:t>
            </a:r>
            <a:r>
              <a:rPr dirty="0" sz="1300" spc="-30">
                <a:solidFill>
                  <a:srgbClr val="EC7C30"/>
                </a:solidFill>
                <a:latin typeface="Segoe UI"/>
                <a:cs typeface="Segoe UI"/>
              </a:rPr>
              <a:t> </a:t>
            </a:r>
            <a:r>
              <a:rPr dirty="0" sz="1300">
                <a:solidFill>
                  <a:srgbClr val="EC7C30"/>
                </a:solidFill>
                <a:latin typeface="Segoe UI"/>
                <a:cs typeface="Segoe UI"/>
              </a:rPr>
              <a:t>clinical</a:t>
            </a:r>
            <a:r>
              <a:rPr dirty="0" sz="1300" spc="-35">
                <a:solidFill>
                  <a:srgbClr val="EC7C30"/>
                </a:solidFill>
                <a:latin typeface="Segoe UI"/>
                <a:cs typeface="Segoe UI"/>
              </a:rPr>
              <a:t> </a:t>
            </a:r>
            <a:r>
              <a:rPr dirty="0" sz="1300" spc="-10">
                <a:solidFill>
                  <a:srgbClr val="EC7C30"/>
                </a:solidFill>
                <a:latin typeface="Segoe UI"/>
                <a:cs typeface="Segoe UI"/>
              </a:rPr>
              <a:t>settings.</a:t>
            </a:r>
            <a:endParaRPr sz="1300">
              <a:latin typeface="Segoe UI"/>
              <a:cs typeface="Segoe UI"/>
            </a:endParaRPr>
          </a:p>
        </p:txBody>
      </p:sp>
      <p:sp>
        <p:nvSpPr>
          <p:cNvPr id="9" name="object 9"/>
          <p:cNvSpPr txBox="1"/>
          <p:nvPr/>
        </p:nvSpPr>
        <p:spPr>
          <a:xfrm>
            <a:off x="1266189" y="1876192"/>
            <a:ext cx="2041525" cy="1224280"/>
          </a:xfrm>
          <a:prstGeom prst="rect">
            <a:avLst/>
          </a:prstGeom>
        </p:spPr>
        <p:txBody>
          <a:bodyPr wrap="square" lIns="0" tIns="108585" rIns="0" bIns="0" rtlCol="0" vert="horz">
            <a:spAutoFit/>
          </a:bodyPr>
          <a:lstStyle/>
          <a:p>
            <a:pPr marL="12700">
              <a:lnSpc>
                <a:spcPct val="100000"/>
              </a:lnSpc>
              <a:spcBef>
                <a:spcPts val="855"/>
              </a:spcBef>
            </a:pPr>
            <a:r>
              <a:rPr dirty="0" sz="1500" b="1">
                <a:solidFill>
                  <a:srgbClr val="EC7C30"/>
                </a:solidFill>
                <a:latin typeface="Segoe UI"/>
                <a:cs typeface="Segoe UI"/>
              </a:rPr>
              <a:t>Radiology</a:t>
            </a:r>
            <a:r>
              <a:rPr dirty="0" sz="1500" spc="-50" b="1">
                <a:solidFill>
                  <a:srgbClr val="EC7C30"/>
                </a:solidFill>
                <a:latin typeface="Segoe UI"/>
                <a:cs typeface="Segoe UI"/>
              </a:rPr>
              <a:t> </a:t>
            </a:r>
            <a:r>
              <a:rPr dirty="0" sz="1500" spc="-10" b="1">
                <a:solidFill>
                  <a:srgbClr val="EC7C30"/>
                </a:solidFill>
                <a:latin typeface="Segoe UI"/>
                <a:cs typeface="Segoe UI"/>
              </a:rPr>
              <a:t>reality</a:t>
            </a:r>
            <a:endParaRPr sz="1500">
              <a:latin typeface="Segoe UI"/>
              <a:cs typeface="Segoe UI"/>
            </a:endParaRPr>
          </a:p>
          <a:p>
            <a:pPr marL="12700" marR="5080">
              <a:lnSpc>
                <a:spcPct val="100099"/>
              </a:lnSpc>
              <a:spcBef>
                <a:spcPts val="635"/>
              </a:spcBef>
            </a:pPr>
            <a:r>
              <a:rPr dirty="0" sz="1300">
                <a:solidFill>
                  <a:srgbClr val="EC7C30"/>
                </a:solidFill>
                <a:latin typeface="Segoe UI"/>
                <a:cs typeface="Segoe UI"/>
              </a:rPr>
              <a:t>48%</a:t>
            </a:r>
            <a:r>
              <a:rPr dirty="0" sz="1300" spc="-40">
                <a:solidFill>
                  <a:srgbClr val="EC7C30"/>
                </a:solidFill>
                <a:latin typeface="Segoe UI"/>
                <a:cs typeface="Segoe UI"/>
              </a:rPr>
              <a:t> </a:t>
            </a:r>
            <a:r>
              <a:rPr dirty="0" sz="1300">
                <a:solidFill>
                  <a:srgbClr val="EC7C30"/>
                </a:solidFill>
                <a:latin typeface="Segoe UI"/>
                <a:cs typeface="Segoe UI"/>
              </a:rPr>
              <a:t>of</a:t>
            </a:r>
            <a:r>
              <a:rPr dirty="0" sz="1300" spc="-25">
                <a:solidFill>
                  <a:srgbClr val="EC7C30"/>
                </a:solidFill>
                <a:latin typeface="Segoe UI"/>
                <a:cs typeface="Segoe UI"/>
              </a:rPr>
              <a:t> </a:t>
            </a:r>
            <a:r>
              <a:rPr dirty="0" sz="1300">
                <a:solidFill>
                  <a:srgbClr val="EC7C30"/>
                </a:solidFill>
                <a:latin typeface="Segoe UI"/>
                <a:cs typeface="Segoe UI"/>
              </a:rPr>
              <a:t>572</a:t>
            </a:r>
            <a:r>
              <a:rPr dirty="0" sz="1300" spc="-30">
                <a:solidFill>
                  <a:srgbClr val="EC7C30"/>
                </a:solidFill>
                <a:latin typeface="Segoe UI"/>
                <a:cs typeface="Segoe UI"/>
              </a:rPr>
              <a:t> </a:t>
            </a:r>
            <a:r>
              <a:rPr dirty="0" sz="1300" spc="-10">
                <a:solidFill>
                  <a:srgbClr val="EC7C30"/>
                </a:solidFill>
                <a:latin typeface="Segoe UI"/>
                <a:cs typeface="Segoe UI"/>
              </a:rPr>
              <a:t>European </a:t>
            </a:r>
            <a:r>
              <a:rPr dirty="0" sz="1300">
                <a:solidFill>
                  <a:srgbClr val="EC7C30"/>
                </a:solidFill>
                <a:latin typeface="Segoe UI"/>
                <a:cs typeface="Segoe UI"/>
              </a:rPr>
              <a:t>radiology</a:t>
            </a:r>
            <a:r>
              <a:rPr dirty="0" sz="1300" spc="-5">
                <a:solidFill>
                  <a:srgbClr val="EC7C30"/>
                </a:solidFill>
                <a:latin typeface="Segoe UI"/>
                <a:cs typeface="Segoe UI"/>
              </a:rPr>
              <a:t> </a:t>
            </a:r>
            <a:r>
              <a:rPr dirty="0" sz="1300" spc="-10">
                <a:solidFill>
                  <a:srgbClr val="EC7C30"/>
                </a:solidFill>
                <a:latin typeface="Segoe UI"/>
                <a:cs typeface="Segoe UI"/>
              </a:rPr>
              <a:t>respondents</a:t>
            </a:r>
            <a:r>
              <a:rPr dirty="0" sz="1300" spc="-65">
                <a:solidFill>
                  <a:srgbClr val="EC7C30"/>
                </a:solidFill>
                <a:latin typeface="Segoe UI"/>
                <a:cs typeface="Segoe UI"/>
              </a:rPr>
              <a:t> </a:t>
            </a:r>
            <a:r>
              <a:rPr dirty="0" sz="1300" spc="-20">
                <a:solidFill>
                  <a:srgbClr val="EC7C30"/>
                </a:solidFill>
                <a:latin typeface="Segoe UI"/>
                <a:cs typeface="Segoe UI"/>
              </a:rPr>
              <a:t>used </a:t>
            </a:r>
            <a:r>
              <a:rPr dirty="0" sz="1300">
                <a:solidFill>
                  <a:srgbClr val="EC7C30"/>
                </a:solidFill>
                <a:latin typeface="Segoe UI"/>
                <a:cs typeface="Segoe UI"/>
              </a:rPr>
              <a:t>AI;</a:t>
            </a:r>
            <a:r>
              <a:rPr dirty="0" sz="1300" spc="-15">
                <a:solidFill>
                  <a:srgbClr val="EC7C30"/>
                </a:solidFill>
                <a:latin typeface="Segoe UI"/>
                <a:cs typeface="Segoe UI"/>
              </a:rPr>
              <a:t> </a:t>
            </a:r>
            <a:r>
              <a:rPr dirty="0" sz="1300">
                <a:solidFill>
                  <a:srgbClr val="EC7C30"/>
                </a:solidFill>
                <a:latin typeface="Segoe UI"/>
                <a:cs typeface="Segoe UI"/>
              </a:rPr>
              <a:t>another</a:t>
            </a:r>
            <a:r>
              <a:rPr dirty="0" sz="1300" spc="-40">
                <a:solidFill>
                  <a:srgbClr val="EC7C30"/>
                </a:solidFill>
                <a:latin typeface="Segoe UI"/>
                <a:cs typeface="Segoe UI"/>
              </a:rPr>
              <a:t> </a:t>
            </a:r>
            <a:r>
              <a:rPr dirty="0" sz="1300">
                <a:solidFill>
                  <a:srgbClr val="EC7C30"/>
                </a:solidFill>
                <a:latin typeface="Segoe UI"/>
                <a:cs typeface="Segoe UI"/>
              </a:rPr>
              <a:t>25%</a:t>
            </a:r>
            <a:r>
              <a:rPr dirty="0" sz="1300" spc="-70">
                <a:solidFill>
                  <a:srgbClr val="EC7C30"/>
                </a:solidFill>
                <a:latin typeface="Segoe UI"/>
                <a:cs typeface="Segoe UI"/>
              </a:rPr>
              <a:t> </a:t>
            </a:r>
            <a:r>
              <a:rPr dirty="0" sz="1300" spc="-10">
                <a:solidFill>
                  <a:srgbClr val="EC7C30"/>
                </a:solidFill>
                <a:latin typeface="Segoe UI"/>
                <a:cs typeface="Segoe UI"/>
              </a:rPr>
              <a:t>planned adoption.</a:t>
            </a:r>
            <a:endParaRPr sz="1300">
              <a:latin typeface="Segoe UI"/>
              <a:cs typeface="Segoe UI"/>
            </a:endParaRPr>
          </a:p>
        </p:txBody>
      </p:sp>
      <p:sp>
        <p:nvSpPr>
          <p:cNvPr id="10" name="object 10"/>
          <p:cNvSpPr txBox="1"/>
          <p:nvPr/>
        </p:nvSpPr>
        <p:spPr>
          <a:xfrm>
            <a:off x="1266189" y="5902518"/>
            <a:ext cx="7917815" cy="282575"/>
          </a:xfrm>
          <a:prstGeom prst="rect">
            <a:avLst/>
          </a:prstGeom>
        </p:spPr>
        <p:txBody>
          <a:bodyPr wrap="square" lIns="0" tIns="17145" rIns="0" bIns="0" rtlCol="0" vert="horz">
            <a:spAutoFit/>
          </a:bodyPr>
          <a:lstStyle/>
          <a:p>
            <a:pPr marL="12700">
              <a:lnSpc>
                <a:spcPct val="100000"/>
              </a:lnSpc>
              <a:spcBef>
                <a:spcPts val="135"/>
              </a:spcBef>
            </a:pPr>
            <a:r>
              <a:rPr dirty="0" sz="900" i="1">
                <a:solidFill>
                  <a:srgbClr val="4A4A4A"/>
                </a:solidFill>
                <a:latin typeface="Arial"/>
                <a:cs typeface="Arial"/>
              </a:rPr>
              <a:t>Measurement caveat: no</a:t>
            </a:r>
            <a:r>
              <a:rPr dirty="0" sz="900" spc="-45" i="1">
                <a:solidFill>
                  <a:srgbClr val="4A4A4A"/>
                </a:solidFill>
                <a:latin typeface="Arial"/>
                <a:cs typeface="Arial"/>
              </a:rPr>
              <a:t> </a:t>
            </a:r>
            <a:r>
              <a:rPr dirty="0" sz="900" i="1">
                <a:solidFill>
                  <a:srgbClr val="4A4A4A"/>
                </a:solidFill>
                <a:latin typeface="Arial"/>
                <a:cs typeface="Arial"/>
              </a:rPr>
              <a:t>harmonized</a:t>
            </a:r>
            <a:r>
              <a:rPr dirty="0" sz="900" spc="-45" i="1">
                <a:solidFill>
                  <a:srgbClr val="4A4A4A"/>
                </a:solidFill>
                <a:latin typeface="Arial"/>
                <a:cs typeface="Arial"/>
              </a:rPr>
              <a:t> </a:t>
            </a:r>
            <a:r>
              <a:rPr dirty="0" sz="900" i="1">
                <a:solidFill>
                  <a:srgbClr val="4A4A4A"/>
                </a:solidFill>
                <a:latin typeface="Arial"/>
                <a:cs typeface="Arial"/>
              </a:rPr>
              <a:t>EU</a:t>
            </a:r>
            <a:r>
              <a:rPr dirty="0" sz="900" spc="20" i="1">
                <a:solidFill>
                  <a:srgbClr val="4A4A4A"/>
                </a:solidFill>
                <a:latin typeface="Arial"/>
                <a:cs typeface="Arial"/>
              </a:rPr>
              <a:t> </a:t>
            </a:r>
            <a:r>
              <a:rPr dirty="0" sz="900" spc="-10" i="1">
                <a:solidFill>
                  <a:srgbClr val="4A4A4A"/>
                </a:solidFill>
                <a:latin typeface="Arial"/>
                <a:cs typeface="Arial"/>
              </a:rPr>
              <a:t>hospital-</a:t>
            </a:r>
            <a:r>
              <a:rPr dirty="0" sz="900" i="1">
                <a:solidFill>
                  <a:srgbClr val="4A4A4A"/>
                </a:solidFill>
                <a:latin typeface="Arial"/>
                <a:cs typeface="Arial"/>
              </a:rPr>
              <a:t>level</a:t>
            </a:r>
            <a:r>
              <a:rPr dirty="0" sz="900" spc="-5" i="1">
                <a:solidFill>
                  <a:srgbClr val="4A4A4A"/>
                </a:solidFill>
                <a:latin typeface="Arial"/>
                <a:cs typeface="Arial"/>
              </a:rPr>
              <a:t> </a:t>
            </a:r>
            <a:r>
              <a:rPr dirty="0" sz="900" i="1">
                <a:solidFill>
                  <a:srgbClr val="4A4A4A"/>
                </a:solidFill>
                <a:latin typeface="Arial"/>
                <a:cs typeface="Arial"/>
              </a:rPr>
              <a:t>adoption</a:t>
            </a:r>
            <a:r>
              <a:rPr dirty="0" sz="900" spc="-15" i="1">
                <a:solidFill>
                  <a:srgbClr val="4A4A4A"/>
                </a:solidFill>
                <a:latin typeface="Arial"/>
                <a:cs typeface="Arial"/>
              </a:rPr>
              <a:t> </a:t>
            </a:r>
            <a:r>
              <a:rPr dirty="0" sz="900" i="1">
                <a:solidFill>
                  <a:srgbClr val="4A4A4A"/>
                </a:solidFill>
                <a:latin typeface="Arial"/>
                <a:cs typeface="Arial"/>
              </a:rPr>
              <a:t>ranking</a:t>
            </a:r>
            <a:r>
              <a:rPr dirty="0" sz="900" spc="-45" i="1">
                <a:solidFill>
                  <a:srgbClr val="4A4A4A"/>
                </a:solidFill>
                <a:latin typeface="Arial"/>
                <a:cs typeface="Arial"/>
              </a:rPr>
              <a:t> </a:t>
            </a:r>
            <a:r>
              <a:rPr dirty="0" sz="900" i="1">
                <a:solidFill>
                  <a:srgbClr val="4A4A4A"/>
                </a:solidFill>
                <a:latin typeface="Arial"/>
                <a:cs typeface="Arial"/>
              </a:rPr>
              <a:t>exists; these</a:t>
            </a:r>
            <a:r>
              <a:rPr dirty="0" sz="900" spc="-45" i="1">
                <a:solidFill>
                  <a:srgbClr val="4A4A4A"/>
                </a:solidFill>
                <a:latin typeface="Arial"/>
                <a:cs typeface="Arial"/>
              </a:rPr>
              <a:t> </a:t>
            </a:r>
            <a:r>
              <a:rPr dirty="0" sz="900" i="1">
                <a:solidFill>
                  <a:srgbClr val="4A4A4A"/>
                </a:solidFill>
                <a:latin typeface="Arial"/>
                <a:cs typeface="Arial"/>
              </a:rPr>
              <a:t>indicators</a:t>
            </a:r>
            <a:r>
              <a:rPr dirty="0" sz="900" spc="-65" i="1">
                <a:solidFill>
                  <a:srgbClr val="4A4A4A"/>
                </a:solidFill>
                <a:latin typeface="Arial"/>
                <a:cs typeface="Arial"/>
              </a:rPr>
              <a:t> </a:t>
            </a:r>
            <a:r>
              <a:rPr dirty="0" sz="900" i="1">
                <a:solidFill>
                  <a:srgbClr val="4A4A4A"/>
                </a:solidFill>
                <a:latin typeface="Arial"/>
                <a:cs typeface="Arial"/>
              </a:rPr>
              <a:t>use</a:t>
            </a:r>
            <a:r>
              <a:rPr dirty="0" sz="900" spc="30" i="1">
                <a:solidFill>
                  <a:srgbClr val="4A4A4A"/>
                </a:solidFill>
                <a:latin typeface="Arial"/>
                <a:cs typeface="Arial"/>
              </a:rPr>
              <a:t> </a:t>
            </a:r>
            <a:r>
              <a:rPr dirty="0" sz="900" i="1">
                <a:solidFill>
                  <a:srgbClr val="4A4A4A"/>
                </a:solidFill>
                <a:latin typeface="Arial"/>
                <a:cs typeface="Arial"/>
              </a:rPr>
              <a:t>different</a:t>
            </a:r>
            <a:r>
              <a:rPr dirty="0" sz="900" spc="-75" i="1">
                <a:solidFill>
                  <a:srgbClr val="4A4A4A"/>
                </a:solidFill>
                <a:latin typeface="Arial"/>
                <a:cs typeface="Arial"/>
              </a:rPr>
              <a:t> </a:t>
            </a:r>
            <a:r>
              <a:rPr dirty="0" sz="900" i="1">
                <a:solidFill>
                  <a:srgbClr val="4A4A4A"/>
                </a:solidFill>
                <a:latin typeface="Arial"/>
                <a:cs typeface="Arial"/>
              </a:rPr>
              <a:t>denominators</a:t>
            </a:r>
            <a:r>
              <a:rPr dirty="0" sz="900" spc="20" i="1">
                <a:solidFill>
                  <a:srgbClr val="4A4A4A"/>
                </a:solidFill>
                <a:latin typeface="Arial"/>
                <a:cs typeface="Arial"/>
              </a:rPr>
              <a:t> </a:t>
            </a:r>
            <a:r>
              <a:rPr dirty="0" sz="900" i="1">
                <a:solidFill>
                  <a:srgbClr val="4A4A4A"/>
                </a:solidFill>
                <a:latin typeface="Arial"/>
                <a:cs typeface="Arial"/>
              </a:rPr>
              <a:t>and</a:t>
            </a:r>
            <a:r>
              <a:rPr dirty="0" sz="900" spc="-20" i="1">
                <a:solidFill>
                  <a:srgbClr val="4A4A4A"/>
                </a:solidFill>
                <a:latin typeface="Arial"/>
                <a:cs typeface="Arial"/>
              </a:rPr>
              <a:t> </a:t>
            </a:r>
            <a:r>
              <a:rPr dirty="0" sz="900" i="1">
                <a:solidFill>
                  <a:srgbClr val="4A4A4A"/>
                </a:solidFill>
                <a:latin typeface="Arial"/>
                <a:cs typeface="Arial"/>
              </a:rPr>
              <a:t>are</a:t>
            </a:r>
            <a:r>
              <a:rPr dirty="0" sz="900" spc="30" i="1">
                <a:solidFill>
                  <a:srgbClr val="4A4A4A"/>
                </a:solidFill>
                <a:latin typeface="Arial"/>
                <a:cs typeface="Arial"/>
              </a:rPr>
              <a:t> </a:t>
            </a:r>
            <a:r>
              <a:rPr dirty="0" sz="900" spc="-10" i="1">
                <a:solidFill>
                  <a:srgbClr val="4A4A4A"/>
                </a:solidFill>
                <a:latin typeface="Arial"/>
                <a:cs typeface="Arial"/>
              </a:rPr>
              <a:t>not</a:t>
            </a:r>
            <a:r>
              <a:rPr dirty="0" sz="900" i="1">
                <a:solidFill>
                  <a:srgbClr val="4A4A4A"/>
                </a:solidFill>
                <a:latin typeface="Arial"/>
                <a:cs typeface="Arial"/>
              </a:rPr>
              <a:t> directly</a:t>
            </a:r>
            <a:r>
              <a:rPr dirty="0" sz="900" spc="-65" i="1">
                <a:solidFill>
                  <a:srgbClr val="4A4A4A"/>
                </a:solidFill>
                <a:latin typeface="Arial"/>
                <a:cs typeface="Arial"/>
              </a:rPr>
              <a:t> </a:t>
            </a:r>
            <a:r>
              <a:rPr dirty="0" sz="900" spc="-10" i="1">
                <a:solidFill>
                  <a:srgbClr val="4A4A4A"/>
                </a:solidFill>
                <a:latin typeface="Arial"/>
                <a:cs typeface="Arial"/>
              </a:rPr>
              <a:t>comparable.</a:t>
            </a:r>
            <a:endParaRPr sz="900">
              <a:latin typeface="Arial"/>
              <a:cs typeface="Arial"/>
            </a:endParaRPr>
          </a:p>
          <a:p>
            <a:pPr marL="12700">
              <a:lnSpc>
                <a:spcPct val="100000"/>
              </a:lnSpc>
              <a:spcBef>
                <a:spcPts val="60"/>
              </a:spcBef>
            </a:pPr>
            <a:r>
              <a:rPr dirty="0" sz="700" spc="10">
                <a:solidFill>
                  <a:srgbClr val="5F5F5F"/>
                </a:solidFill>
                <a:latin typeface="Arial MT"/>
                <a:cs typeface="Arial MT"/>
              </a:rPr>
              <a:t>Sources:</a:t>
            </a:r>
            <a:r>
              <a:rPr dirty="0" sz="700" spc="75">
                <a:solidFill>
                  <a:srgbClr val="5F5F5F"/>
                </a:solidFill>
                <a:latin typeface="Arial MT"/>
                <a:cs typeface="Arial MT"/>
              </a:rPr>
              <a:t> </a:t>
            </a:r>
            <a:r>
              <a:rPr dirty="0" sz="700" spc="10">
                <a:solidFill>
                  <a:srgbClr val="5F5F5F"/>
                </a:solidFill>
                <a:latin typeface="Arial MT"/>
                <a:cs typeface="Arial MT"/>
              </a:rPr>
              <a:t>WHO/Europe</a:t>
            </a:r>
            <a:r>
              <a:rPr dirty="0" sz="700" spc="95">
                <a:solidFill>
                  <a:srgbClr val="5F5F5F"/>
                </a:solidFill>
                <a:latin typeface="Arial MT"/>
                <a:cs typeface="Arial MT"/>
              </a:rPr>
              <a:t> </a:t>
            </a:r>
            <a:r>
              <a:rPr dirty="0" sz="700" spc="10">
                <a:solidFill>
                  <a:srgbClr val="5F5F5F"/>
                </a:solidFill>
                <a:latin typeface="Arial MT"/>
                <a:cs typeface="Arial MT"/>
              </a:rPr>
              <a:t>EU</a:t>
            </a:r>
            <a:r>
              <a:rPr dirty="0" sz="700" spc="35">
                <a:solidFill>
                  <a:srgbClr val="5F5F5F"/>
                </a:solidFill>
                <a:latin typeface="Arial MT"/>
                <a:cs typeface="Arial MT"/>
              </a:rPr>
              <a:t> </a:t>
            </a:r>
            <a:r>
              <a:rPr dirty="0" sz="700" spc="10">
                <a:solidFill>
                  <a:srgbClr val="5F5F5F"/>
                </a:solidFill>
                <a:latin typeface="Arial MT"/>
                <a:cs typeface="Arial MT"/>
              </a:rPr>
              <a:t>readiness</a:t>
            </a:r>
            <a:r>
              <a:rPr dirty="0" sz="700" spc="50">
                <a:solidFill>
                  <a:srgbClr val="5F5F5F"/>
                </a:solidFill>
                <a:latin typeface="Arial MT"/>
                <a:cs typeface="Arial MT"/>
              </a:rPr>
              <a:t> </a:t>
            </a:r>
            <a:r>
              <a:rPr dirty="0" sz="700" spc="10">
                <a:solidFill>
                  <a:srgbClr val="5F5F5F"/>
                </a:solidFill>
                <a:latin typeface="Arial MT"/>
                <a:cs typeface="Arial MT"/>
              </a:rPr>
              <a:t>survey</a:t>
            </a:r>
            <a:r>
              <a:rPr dirty="0" sz="700" spc="105">
                <a:solidFill>
                  <a:srgbClr val="5F5F5F"/>
                </a:solidFill>
                <a:latin typeface="Arial MT"/>
                <a:cs typeface="Arial MT"/>
              </a:rPr>
              <a:t> </a:t>
            </a:r>
            <a:r>
              <a:rPr dirty="0" sz="700" spc="10">
                <a:solidFill>
                  <a:srgbClr val="5F5F5F"/>
                </a:solidFill>
                <a:latin typeface="Arial MT"/>
                <a:cs typeface="Arial MT"/>
              </a:rPr>
              <a:t>(2024–25);</a:t>
            </a:r>
            <a:r>
              <a:rPr dirty="0" sz="700" spc="105">
                <a:solidFill>
                  <a:srgbClr val="5F5F5F"/>
                </a:solidFill>
                <a:latin typeface="Arial MT"/>
                <a:cs typeface="Arial MT"/>
              </a:rPr>
              <a:t> </a:t>
            </a:r>
            <a:r>
              <a:rPr dirty="0" sz="700" spc="10">
                <a:solidFill>
                  <a:srgbClr val="5F5F5F"/>
                </a:solidFill>
                <a:latin typeface="Arial MT"/>
                <a:cs typeface="Arial MT"/>
              </a:rPr>
              <a:t>European</a:t>
            </a:r>
            <a:r>
              <a:rPr dirty="0" sz="700" spc="95">
                <a:solidFill>
                  <a:srgbClr val="5F5F5F"/>
                </a:solidFill>
                <a:latin typeface="Arial MT"/>
                <a:cs typeface="Arial MT"/>
              </a:rPr>
              <a:t> </a:t>
            </a:r>
            <a:r>
              <a:rPr dirty="0" sz="700" spc="10">
                <a:solidFill>
                  <a:srgbClr val="5F5F5F"/>
                </a:solidFill>
                <a:latin typeface="Arial MT"/>
                <a:cs typeface="Arial MT"/>
              </a:rPr>
              <a:t>Commission</a:t>
            </a:r>
            <a:r>
              <a:rPr dirty="0" sz="700" spc="95">
                <a:solidFill>
                  <a:srgbClr val="5F5F5F"/>
                </a:solidFill>
                <a:latin typeface="Arial MT"/>
                <a:cs typeface="Arial MT"/>
              </a:rPr>
              <a:t> </a:t>
            </a:r>
            <a:r>
              <a:rPr dirty="0" sz="700" spc="10">
                <a:solidFill>
                  <a:srgbClr val="5F5F5F"/>
                </a:solidFill>
                <a:latin typeface="Arial MT"/>
                <a:cs typeface="Arial MT"/>
              </a:rPr>
              <a:t>Digital</a:t>
            </a:r>
            <a:r>
              <a:rPr dirty="0" sz="700" spc="35">
                <a:solidFill>
                  <a:srgbClr val="5F5F5F"/>
                </a:solidFill>
                <a:latin typeface="Arial MT"/>
                <a:cs typeface="Arial MT"/>
              </a:rPr>
              <a:t> </a:t>
            </a:r>
            <a:r>
              <a:rPr dirty="0" sz="700" spc="10">
                <a:solidFill>
                  <a:srgbClr val="5F5F5F"/>
                </a:solidFill>
                <a:latin typeface="Arial MT"/>
                <a:cs typeface="Arial MT"/>
              </a:rPr>
              <a:t>Health</a:t>
            </a:r>
            <a:r>
              <a:rPr dirty="0" sz="700" spc="95">
                <a:solidFill>
                  <a:srgbClr val="5F5F5F"/>
                </a:solidFill>
                <a:latin typeface="Arial MT"/>
                <a:cs typeface="Arial MT"/>
              </a:rPr>
              <a:t> </a:t>
            </a:r>
            <a:r>
              <a:rPr dirty="0" sz="700" spc="10">
                <a:solidFill>
                  <a:srgbClr val="5F5F5F"/>
                </a:solidFill>
                <a:latin typeface="Arial MT"/>
                <a:cs typeface="Arial MT"/>
              </a:rPr>
              <a:t>Observ</a:t>
            </a:r>
            <a:r>
              <a:rPr dirty="0" sz="700" spc="-114">
                <a:solidFill>
                  <a:srgbClr val="5F5F5F"/>
                </a:solidFill>
                <a:latin typeface="Arial MT"/>
                <a:cs typeface="Arial MT"/>
              </a:rPr>
              <a:t> </a:t>
            </a:r>
            <a:r>
              <a:rPr dirty="0" sz="700" spc="10">
                <a:solidFill>
                  <a:srgbClr val="5F5F5F"/>
                </a:solidFill>
                <a:latin typeface="Arial MT"/>
                <a:cs typeface="Arial MT"/>
              </a:rPr>
              <a:t>atory</a:t>
            </a:r>
            <a:r>
              <a:rPr dirty="0" sz="700" spc="145">
                <a:solidFill>
                  <a:srgbClr val="5F5F5F"/>
                </a:solidFill>
                <a:latin typeface="Arial MT"/>
                <a:cs typeface="Arial MT"/>
              </a:rPr>
              <a:t> </a:t>
            </a:r>
            <a:r>
              <a:rPr dirty="0" sz="700" spc="10">
                <a:solidFill>
                  <a:srgbClr val="5F5F5F"/>
                </a:solidFill>
                <a:latin typeface="Arial MT"/>
                <a:cs typeface="Arial MT"/>
              </a:rPr>
              <a:t>(2026);</a:t>
            </a:r>
            <a:r>
              <a:rPr dirty="0" sz="700" spc="75">
                <a:solidFill>
                  <a:srgbClr val="5F5F5F"/>
                </a:solidFill>
                <a:latin typeface="Arial MT"/>
                <a:cs typeface="Arial MT"/>
              </a:rPr>
              <a:t> </a:t>
            </a:r>
            <a:r>
              <a:rPr dirty="0" sz="700" spc="10">
                <a:solidFill>
                  <a:srgbClr val="5F5F5F"/>
                </a:solidFill>
                <a:latin typeface="Arial MT"/>
                <a:cs typeface="Arial MT"/>
              </a:rPr>
              <a:t>Zanardo</a:t>
            </a:r>
            <a:r>
              <a:rPr dirty="0" sz="700" spc="95">
                <a:solidFill>
                  <a:srgbClr val="5F5F5F"/>
                </a:solidFill>
                <a:latin typeface="Arial MT"/>
                <a:cs typeface="Arial MT"/>
              </a:rPr>
              <a:t> </a:t>
            </a:r>
            <a:r>
              <a:rPr dirty="0" sz="700" spc="10">
                <a:solidFill>
                  <a:srgbClr val="5F5F5F"/>
                </a:solidFill>
                <a:latin typeface="Arial MT"/>
                <a:cs typeface="Arial MT"/>
              </a:rPr>
              <a:t>et</a:t>
            </a:r>
            <a:r>
              <a:rPr dirty="0" sz="700" spc="-15">
                <a:solidFill>
                  <a:srgbClr val="5F5F5F"/>
                </a:solidFill>
                <a:latin typeface="Arial MT"/>
                <a:cs typeface="Arial MT"/>
              </a:rPr>
              <a:t> </a:t>
            </a:r>
            <a:r>
              <a:rPr dirty="0" sz="700" spc="10">
                <a:solidFill>
                  <a:srgbClr val="5F5F5F"/>
                </a:solidFill>
                <a:latin typeface="Arial MT"/>
                <a:cs typeface="Arial MT"/>
              </a:rPr>
              <a:t>al.,</a:t>
            </a:r>
            <a:r>
              <a:rPr dirty="0" sz="700" spc="75">
                <a:solidFill>
                  <a:srgbClr val="5F5F5F"/>
                </a:solidFill>
                <a:latin typeface="Arial MT"/>
                <a:cs typeface="Arial MT"/>
              </a:rPr>
              <a:t> </a:t>
            </a:r>
            <a:r>
              <a:rPr dirty="0" sz="700" spc="10">
                <a:solidFill>
                  <a:srgbClr val="5F5F5F"/>
                </a:solidFill>
                <a:latin typeface="Arial MT"/>
                <a:cs typeface="Arial MT"/>
              </a:rPr>
              <a:t>Insights</a:t>
            </a:r>
            <a:r>
              <a:rPr dirty="0" sz="700" spc="60">
                <a:solidFill>
                  <a:srgbClr val="5F5F5F"/>
                </a:solidFill>
                <a:latin typeface="Arial MT"/>
                <a:cs typeface="Arial MT"/>
              </a:rPr>
              <a:t> </a:t>
            </a:r>
            <a:r>
              <a:rPr dirty="0" sz="700" spc="10">
                <a:solidFill>
                  <a:srgbClr val="5F5F5F"/>
                </a:solidFill>
                <a:latin typeface="Arial MT"/>
                <a:cs typeface="Arial MT"/>
              </a:rPr>
              <a:t>into</a:t>
            </a:r>
            <a:r>
              <a:rPr dirty="0" sz="700" spc="95">
                <a:solidFill>
                  <a:srgbClr val="5F5F5F"/>
                </a:solidFill>
                <a:latin typeface="Arial MT"/>
                <a:cs typeface="Arial MT"/>
              </a:rPr>
              <a:t> </a:t>
            </a:r>
            <a:r>
              <a:rPr dirty="0" sz="700" spc="10">
                <a:solidFill>
                  <a:srgbClr val="5F5F5F"/>
                </a:solidFill>
                <a:latin typeface="Arial MT"/>
                <a:cs typeface="Arial MT"/>
              </a:rPr>
              <a:t>Imaging </a:t>
            </a:r>
            <a:r>
              <a:rPr dirty="0" sz="700" spc="-10">
                <a:solidFill>
                  <a:srgbClr val="5F5F5F"/>
                </a:solidFill>
                <a:latin typeface="Arial MT"/>
                <a:cs typeface="Arial MT"/>
              </a:rPr>
              <a:t>(2024).</a:t>
            </a:r>
            <a:endParaRPr sz="70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1067" y="272923"/>
            <a:ext cx="10433685" cy="948690"/>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rPr>
              <a:t>However,</a:t>
            </a:r>
            <a:r>
              <a:rPr dirty="0" spc="-30">
                <a:solidFill>
                  <a:srgbClr val="003E34"/>
                </a:solidFill>
              </a:rPr>
              <a:t> </a:t>
            </a:r>
            <a:r>
              <a:rPr dirty="0">
                <a:solidFill>
                  <a:srgbClr val="003E34"/>
                </a:solidFill>
              </a:rPr>
              <a:t>EU</a:t>
            </a:r>
            <a:r>
              <a:rPr dirty="0" spc="20">
                <a:solidFill>
                  <a:srgbClr val="003E34"/>
                </a:solidFill>
              </a:rPr>
              <a:t> </a:t>
            </a:r>
            <a:r>
              <a:rPr dirty="0">
                <a:solidFill>
                  <a:srgbClr val="003E34"/>
                </a:solidFill>
              </a:rPr>
              <a:t>rules</a:t>
            </a:r>
            <a:r>
              <a:rPr dirty="0" spc="45">
                <a:solidFill>
                  <a:srgbClr val="003E34"/>
                </a:solidFill>
              </a:rPr>
              <a:t> </a:t>
            </a:r>
            <a:r>
              <a:rPr dirty="0">
                <a:solidFill>
                  <a:srgbClr val="003E34"/>
                </a:solidFill>
              </a:rPr>
              <a:t>turn</a:t>
            </a:r>
            <a:r>
              <a:rPr dirty="0" spc="5">
                <a:solidFill>
                  <a:srgbClr val="003E34"/>
                </a:solidFill>
              </a:rPr>
              <a:t> </a:t>
            </a:r>
            <a:r>
              <a:rPr dirty="0">
                <a:solidFill>
                  <a:srgbClr val="003E34"/>
                </a:solidFill>
              </a:rPr>
              <a:t>healthcare</a:t>
            </a:r>
            <a:r>
              <a:rPr dirty="0" spc="35">
                <a:solidFill>
                  <a:srgbClr val="003E34"/>
                </a:solidFill>
              </a:rPr>
              <a:t> </a:t>
            </a:r>
            <a:r>
              <a:rPr dirty="0">
                <a:solidFill>
                  <a:srgbClr val="003E34"/>
                </a:solidFill>
              </a:rPr>
              <a:t>ML</a:t>
            </a:r>
            <a:r>
              <a:rPr dirty="0" spc="10">
                <a:solidFill>
                  <a:srgbClr val="003E34"/>
                </a:solidFill>
              </a:rPr>
              <a:t> </a:t>
            </a:r>
            <a:r>
              <a:rPr dirty="0">
                <a:solidFill>
                  <a:srgbClr val="003E34"/>
                </a:solidFill>
              </a:rPr>
              <a:t>into</a:t>
            </a:r>
            <a:r>
              <a:rPr dirty="0" spc="85">
                <a:solidFill>
                  <a:srgbClr val="003E34"/>
                </a:solidFill>
              </a:rPr>
              <a:t> </a:t>
            </a:r>
            <a:r>
              <a:rPr dirty="0">
                <a:solidFill>
                  <a:srgbClr val="003E34"/>
                </a:solidFill>
              </a:rPr>
              <a:t>a</a:t>
            </a:r>
            <a:r>
              <a:rPr dirty="0" spc="45">
                <a:solidFill>
                  <a:srgbClr val="003E34"/>
                </a:solidFill>
              </a:rPr>
              <a:t> </a:t>
            </a:r>
            <a:r>
              <a:rPr dirty="0" spc="-10">
                <a:solidFill>
                  <a:srgbClr val="003E34"/>
                </a:solidFill>
              </a:rPr>
              <a:t>governed </a:t>
            </a:r>
            <a:r>
              <a:rPr dirty="0">
                <a:solidFill>
                  <a:srgbClr val="003E34"/>
                </a:solidFill>
              </a:rPr>
              <a:t>clinical</a:t>
            </a:r>
            <a:r>
              <a:rPr dirty="0" spc="80">
                <a:solidFill>
                  <a:srgbClr val="003E34"/>
                </a:solidFill>
              </a:rPr>
              <a:t> </a:t>
            </a:r>
            <a:r>
              <a:rPr dirty="0" spc="-10">
                <a:solidFill>
                  <a:srgbClr val="003E34"/>
                </a:solidFill>
              </a:rPr>
              <a:t>process</a:t>
            </a:r>
          </a:p>
        </p:txBody>
      </p:sp>
      <p:grpSp>
        <p:nvGrpSpPr>
          <p:cNvPr id="3" name="object 3"/>
          <p:cNvGrpSpPr/>
          <p:nvPr/>
        </p:nvGrpSpPr>
        <p:grpSpPr>
          <a:xfrm>
            <a:off x="996696" y="1399413"/>
            <a:ext cx="7004684" cy="4399915"/>
            <a:chOff x="996696" y="1399413"/>
            <a:chExt cx="7004684" cy="4399915"/>
          </a:xfrm>
        </p:grpSpPr>
        <p:sp>
          <p:nvSpPr>
            <p:cNvPr id="4" name="object 4"/>
            <p:cNvSpPr/>
            <p:nvPr/>
          </p:nvSpPr>
          <p:spPr>
            <a:xfrm>
              <a:off x="4370831" y="1637157"/>
              <a:ext cx="320040" cy="3924300"/>
            </a:xfrm>
            <a:custGeom>
              <a:avLst/>
              <a:gdLst/>
              <a:ahLst/>
              <a:cxnLst/>
              <a:rect l="l" t="t" r="r" b="b"/>
              <a:pathLst>
                <a:path w="320039" h="3924300">
                  <a:moveTo>
                    <a:pt x="320039" y="0"/>
                  </a:moveTo>
                  <a:lnTo>
                    <a:pt x="0" y="211454"/>
                  </a:lnTo>
                  <a:lnTo>
                    <a:pt x="0" y="3712336"/>
                  </a:lnTo>
                  <a:lnTo>
                    <a:pt x="320039" y="3923791"/>
                  </a:lnTo>
                  <a:lnTo>
                    <a:pt x="320039" y="0"/>
                  </a:lnTo>
                  <a:close/>
                </a:path>
              </a:pathLst>
            </a:custGeom>
            <a:solidFill>
              <a:srgbClr val="00B8F5"/>
            </a:solidFill>
          </p:spPr>
          <p:txBody>
            <a:bodyPr wrap="square" lIns="0" tIns="0" rIns="0" bIns="0" rtlCol="0"/>
            <a:lstStyle/>
            <a:p/>
          </p:txBody>
        </p:sp>
        <p:sp>
          <p:nvSpPr>
            <p:cNvPr id="5" name="object 5"/>
            <p:cNvSpPr/>
            <p:nvPr/>
          </p:nvSpPr>
          <p:spPr>
            <a:xfrm>
              <a:off x="7498080" y="1399413"/>
              <a:ext cx="502920" cy="4399915"/>
            </a:xfrm>
            <a:custGeom>
              <a:avLst/>
              <a:gdLst/>
              <a:ahLst/>
              <a:cxnLst/>
              <a:rect l="l" t="t" r="r" b="b"/>
              <a:pathLst>
                <a:path w="502920" h="4399915">
                  <a:moveTo>
                    <a:pt x="502920" y="0"/>
                  </a:moveTo>
                  <a:lnTo>
                    <a:pt x="0" y="235076"/>
                  </a:lnTo>
                  <a:lnTo>
                    <a:pt x="0" y="4164329"/>
                  </a:lnTo>
                  <a:lnTo>
                    <a:pt x="502920" y="4399330"/>
                  </a:lnTo>
                  <a:lnTo>
                    <a:pt x="502920" y="0"/>
                  </a:lnTo>
                  <a:close/>
                </a:path>
              </a:pathLst>
            </a:custGeom>
            <a:solidFill>
              <a:srgbClr val="1F49E2"/>
            </a:solidFill>
          </p:spPr>
          <p:txBody>
            <a:bodyPr wrap="square" lIns="0" tIns="0" rIns="0" bIns="0" rtlCol="0"/>
            <a:lstStyle/>
            <a:p/>
          </p:txBody>
        </p:sp>
        <p:sp>
          <p:nvSpPr>
            <p:cNvPr id="6" name="object 6"/>
            <p:cNvSpPr/>
            <p:nvPr/>
          </p:nvSpPr>
          <p:spPr>
            <a:xfrm>
              <a:off x="996696" y="1847596"/>
              <a:ext cx="3374390" cy="3512185"/>
            </a:xfrm>
            <a:custGeom>
              <a:avLst/>
              <a:gdLst/>
              <a:ahLst/>
              <a:cxnLst/>
              <a:rect l="l" t="t" r="r" b="b"/>
              <a:pathLst>
                <a:path w="3374390" h="3512185">
                  <a:moveTo>
                    <a:pt x="3374136" y="0"/>
                  </a:moveTo>
                  <a:lnTo>
                    <a:pt x="0" y="0"/>
                  </a:lnTo>
                  <a:lnTo>
                    <a:pt x="0" y="3512184"/>
                  </a:lnTo>
                  <a:lnTo>
                    <a:pt x="3374136" y="3512184"/>
                  </a:lnTo>
                  <a:lnTo>
                    <a:pt x="3374136" y="0"/>
                  </a:lnTo>
                  <a:close/>
                </a:path>
              </a:pathLst>
            </a:custGeom>
            <a:solidFill>
              <a:srgbClr val="4471C4"/>
            </a:solidFill>
          </p:spPr>
          <p:txBody>
            <a:bodyPr wrap="square" lIns="0" tIns="0" rIns="0" bIns="0" rtlCol="0"/>
            <a:lstStyle/>
            <a:p/>
          </p:txBody>
        </p:sp>
      </p:grpSp>
      <p:sp>
        <p:nvSpPr>
          <p:cNvPr id="7" name="object 7"/>
          <p:cNvSpPr txBox="1">
            <a:spLocks noGrp="1"/>
          </p:cNvSpPr>
          <p:nvPr>
            <p:ph idx="2" sz="half"/>
          </p:nvPr>
        </p:nvSpPr>
        <p:spPr>
          <a:prstGeom prst="rect"/>
        </p:spPr>
        <p:txBody>
          <a:bodyPr wrap="square" lIns="0" tIns="73660" rIns="0" bIns="0" rtlCol="0" vert="horz">
            <a:spAutoFit/>
          </a:bodyPr>
          <a:lstStyle/>
          <a:p>
            <a:pPr>
              <a:lnSpc>
                <a:spcPct val="100000"/>
              </a:lnSpc>
              <a:spcBef>
                <a:spcPts val="580"/>
              </a:spcBef>
            </a:pPr>
          </a:p>
          <a:p>
            <a:pPr marL="700405">
              <a:lnSpc>
                <a:spcPct val="100000"/>
              </a:lnSpc>
            </a:pPr>
            <a:r>
              <a:rPr dirty="0"/>
              <a:t>EU</a:t>
            </a:r>
            <a:r>
              <a:rPr dirty="0" spc="5"/>
              <a:t> </a:t>
            </a:r>
            <a:r>
              <a:rPr dirty="0"/>
              <a:t>AI</a:t>
            </a:r>
            <a:r>
              <a:rPr dirty="0" spc="-30"/>
              <a:t> </a:t>
            </a:r>
            <a:r>
              <a:rPr dirty="0" spc="-25"/>
              <a:t>Act</a:t>
            </a:r>
          </a:p>
          <a:p>
            <a:pPr marL="700405" marR="290195">
              <a:lnSpc>
                <a:spcPct val="111200"/>
              </a:lnSpc>
              <a:spcBef>
                <a:spcPts val="295"/>
              </a:spcBef>
            </a:pPr>
            <a:r>
              <a:rPr dirty="0" sz="1000" spc="-10" b="0">
                <a:latin typeface="Segoe UI"/>
                <a:cs typeface="Segoe UI"/>
              </a:rPr>
              <a:t>High-</a:t>
            </a:r>
            <a:r>
              <a:rPr dirty="0" sz="1000" b="0">
                <a:latin typeface="Segoe UI"/>
                <a:cs typeface="Segoe UI"/>
              </a:rPr>
              <a:t>risk</a:t>
            </a:r>
            <a:r>
              <a:rPr dirty="0" sz="1000" spc="-5" b="0">
                <a:latin typeface="Segoe UI"/>
                <a:cs typeface="Segoe UI"/>
              </a:rPr>
              <a:t> </a:t>
            </a:r>
            <a:r>
              <a:rPr dirty="0" sz="1000" b="0">
                <a:latin typeface="Segoe UI"/>
                <a:cs typeface="Segoe UI"/>
              </a:rPr>
              <a:t>clinical</a:t>
            </a:r>
            <a:r>
              <a:rPr dirty="0" sz="1000" spc="35" b="0">
                <a:latin typeface="Segoe UI"/>
                <a:cs typeface="Segoe UI"/>
              </a:rPr>
              <a:t> </a:t>
            </a:r>
            <a:r>
              <a:rPr dirty="0" sz="1000" b="0">
                <a:latin typeface="Segoe UI"/>
                <a:cs typeface="Segoe UI"/>
              </a:rPr>
              <a:t>decision </a:t>
            </a:r>
            <a:r>
              <a:rPr dirty="0" sz="1000" spc="-10" b="0">
                <a:latin typeface="Segoe UI"/>
                <a:cs typeface="Segoe UI"/>
              </a:rPr>
              <a:t>support</a:t>
            </a:r>
            <a:r>
              <a:rPr dirty="0" sz="1000" spc="-60" b="0">
                <a:latin typeface="Segoe UI"/>
                <a:cs typeface="Segoe UI"/>
              </a:rPr>
              <a:t> </a:t>
            </a:r>
            <a:r>
              <a:rPr dirty="0" sz="1000" spc="-10" b="0">
                <a:latin typeface="Segoe UI"/>
                <a:cs typeface="Segoe UI"/>
              </a:rPr>
              <a:t>requires </a:t>
            </a:r>
            <a:r>
              <a:rPr dirty="0" sz="1000" b="0">
                <a:latin typeface="Segoe UI"/>
                <a:cs typeface="Segoe UI"/>
              </a:rPr>
              <a:t>risk</a:t>
            </a:r>
            <a:r>
              <a:rPr dirty="0" sz="1000" spc="15" b="0">
                <a:latin typeface="Segoe UI"/>
                <a:cs typeface="Segoe UI"/>
              </a:rPr>
              <a:t> </a:t>
            </a:r>
            <a:r>
              <a:rPr dirty="0" sz="1000" b="0">
                <a:latin typeface="Segoe UI"/>
                <a:cs typeface="Segoe UI"/>
              </a:rPr>
              <a:t>management,</a:t>
            </a:r>
            <a:r>
              <a:rPr dirty="0" sz="1000" spc="10" b="0">
                <a:latin typeface="Segoe UI"/>
                <a:cs typeface="Segoe UI"/>
              </a:rPr>
              <a:t> </a:t>
            </a:r>
            <a:r>
              <a:rPr dirty="0" sz="1000" spc="-10" b="0">
                <a:latin typeface="Segoe UI"/>
                <a:cs typeface="Segoe UI"/>
              </a:rPr>
              <a:t>transparency,</a:t>
            </a:r>
            <a:r>
              <a:rPr dirty="0" sz="1000" spc="-60" b="0">
                <a:latin typeface="Segoe UI"/>
                <a:cs typeface="Segoe UI"/>
              </a:rPr>
              <a:t> </a:t>
            </a:r>
            <a:r>
              <a:rPr dirty="0" sz="1000" spc="-20" b="0">
                <a:latin typeface="Segoe UI"/>
                <a:cs typeface="Segoe UI"/>
              </a:rPr>
              <a:t>human </a:t>
            </a:r>
            <a:r>
              <a:rPr dirty="0" sz="1000" b="0">
                <a:latin typeface="Segoe UI"/>
                <a:cs typeface="Segoe UI"/>
              </a:rPr>
              <a:t>oversight</a:t>
            </a:r>
            <a:r>
              <a:rPr dirty="0" sz="1000" spc="-15" b="0">
                <a:latin typeface="Segoe UI"/>
                <a:cs typeface="Segoe UI"/>
              </a:rPr>
              <a:t> </a:t>
            </a:r>
            <a:r>
              <a:rPr dirty="0" sz="1000" b="0">
                <a:latin typeface="Segoe UI"/>
                <a:cs typeface="Segoe UI"/>
              </a:rPr>
              <a:t>and</a:t>
            </a:r>
            <a:r>
              <a:rPr dirty="0" sz="1000" spc="-80" b="0">
                <a:latin typeface="Segoe UI"/>
                <a:cs typeface="Segoe UI"/>
              </a:rPr>
              <a:t> </a:t>
            </a:r>
            <a:r>
              <a:rPr dirty="0" sz="1000" b="0">
                <a:latin typeface="Segoe UI"/>
                <a:cs typeface="Segoe UI"/>
              </a:rPr>
              <a:t>record-</a:t>
            </a:r>
            <a:r>
              <a:rPr dirty="0" sz="1000" spc="-10" b="0">
                <a:latin typeface="Segoe UI"/>
                <a:cs typeface="Segoe UI"/>
              </a:rPr>
              <a:t>keeping.</a:t>
            </a:r>
            <a:endParaRPr sz="1000">
              <a:latin typeface="Segoe UI"/>
              <a:cs typeface="Segoe UI"/>
            </a:endParaRPr>
          </a:p>
          <a:p>
            <a:pPr>
              <a:lnSpc>
                <a:spcPct val="100000"/>
              </a:lnSpc>
              <a:spcBef>
                <a:spcPts val="1225"/>
              </a:spcBef>
            </a:pPr>
            <a:endParaRPr sz="1000">
              <a:latin typeface="Segoe UI"/>
              <a:cs typeface="Segoe UI"/>
            </a:endParaRPr>
          </a:p>
          <a:p>
            <a:pPr marL="700405">
              <a:lnSpc>
                <a:spcPct val="100000"/>
              </a:lnSpc>
            </a:pPr>
            <a:r>
              <a:rPr dirty="0"/>
              <a:t>GDPR</a:t>
            </a:r>
            <a:r>
              <a:rPr dirty="0" spc="-25"/>
              <a:t> </a:t>
            </a:r>
            <a:r>
              <a:rPr dirty="0"/>
              <a:t>Article</a:t>
            </a:r>
            <a:r>
              <a:rPr dirty="0" spc="5"/>
              <a:t> </a:t>
            </a:r>
            <a:r>
              <a:rPr dirty="0" spc="-25"/>
              <a:t>22</a:t>
            </a:r>
          </a:p>
          <a:p>
            <a:pPr marL="700405" marR="241300">
              <a:lnSpc>
                <a:spcPct val="111200"/>
              </a:lnSpc>
              <a:spcBef>
                <a:spcPts val="300"/>
              </a:spcBef>
            </a:pPr>
            <a:r>
              <a:rPr dirty="0" sz="1000" b="0">
                <a:latin typeface="Segoe UI"/>
                <a:cs typeface="Segoe UI"/>
              </a:rPr>
              <a:t>People</a:t>
            </a:r>
            <a:r>
              <a:rPr dirty="0" sz="1000" spc="-30" b="0">
                <a:latin typeface="Segoe UI"/>
                <a:cs typeface="Segoe UI"/>
              </a:rPr>
              <a:t> </a:t>
            </a:r>
            <a:r>
              <a:rPr dirty="0" sz="1000" b="0">
                <a:latin typeface="Segoe UI"/>
                <a:cs typeface="Segoe UI"/>
              </a:rPr>
              <a:t>affected</a:t>
            </a:r>
            <a:r>
              <a:rPr dirty="0" sz="1000" spc="-20" b="0">
                <a:latin typeface="Segoe UI"/>
                <a:cs typeface="Segoe UI"/>
              </a:rPr>
              <a:t> </a:t>
            </a:r>
            <a:r>
              <a:rPr dirty="0" sz="1000" b="0">
                <a:latin typeface="Segoe UI"/>
                <a:cs typeface="Segoe UI"/>
              </a:rPr>
              <a:t>by</a:t>
            </a:r>
            <a:r>
              <a:rPr dirty="0" sz="1000" spc="15" b="0">
                <a:latin typeface="Segoe UI"/>
                <a:cs typeface="Segoe UI"/>
              </a:rPr>
              <a:t> </a:t>
            </a:r>
            <a:r>
              <a:rPr dirty="0" sz="1000" spc="-10" b="0">
                <a:latin typeface="Segoe UI"/>
                <a:cs typeface="Segoe UI"/>
              </a:rPr>
              <a:t>semi-automated </a:t>
            </a:r>
            <a:r>
              <a:rPr dirty="0" sz="1000" b="0">
                <a:latin typeface="Segoe UI"/>
                <a:cs typeface="Segoe UI"/>
              </a:rPr>
              <a:t>decisions need</a:t>
            </a:r>
            <a:r>
              <a:rPr dirty="0" sz="1000" spc="-20" b="0">
                <a:latin typeface="Segoe UI"/>
                <a:cs typeface="Segoe UI"/>
              </a:rPr>
              <a:t> </a:t>
            </a:r>
            <a:r>
              <a:rPr dirty="0" sz="1000" b="0">
                <a:latin typeface="Segoe UI"/>
                <a:cs typeface="Segoe UI"/>
              </a:rPr>
              <a:t>meaningful</a:t>
            </a:r>
            <a:r>
              <a:rPr dirty="0" sz="1000" spc="-30" b="0">
                <a:latin typeface="Segoe UI"/>
                <a:cs typeface="Segoe UI"/>
              </a:rPr>
              <a:t> </a:t>
            </a:r>
            <a:r>
              <a:rPr dirty="0" sz="1000" spc="-10" b="0">
                <a:latin typeface="Segoe UI"/>
                <a:cs typeface="Segoe UI"/>
              </a:rPr>
              <a:t>information</a:t>
            </a:r>
            <a:r>
              <a:rPr dirty="0" sz="1000" spc="-60" b="0">
                <a:latin typeface="Segoe UI"/>
                <a:cs typeface="Segoe UI"/>
              </a:rPr>
              <a:t> </a:t>
            </a:r>
            <a:r>
              <a:rPr dirty="0" sz="1000" spc="-25" b="0">
                <a:latin typeface="Segoe UI"/>
                <a:cs typeface="Segoe UI"/>
              </a:rPr>
              <a:t>and </a:t>
            </a:r>
            <a:r>
              <a:rPr dirty="0" sz="1000" spc="-10" b="0">
                <a:latin typeface="Segoe UI"/>
                <a:cs typeface="Segoe UI"/>
              </a:rPr>
              <a:t>safeguards.</a:t>
            </a:r>
            <a:endParaRPr sz="1000">
              <a:latin typeface="Segoe UI"/>
              <a:cs typeface="Segoe UI"/>
            </a:endParaRPr>
          </a:p>
          <a:p>
            <a:pPr>
              <a:lnSpc>
                <a:spcPct val="100000"/>
              </a:lnSpc>
              <a:spcBef>
                <a:spcPts val="1225"/>
              </a:spcBef>
            </a:pPr>
            <a:endParaRPr sz="1000">
              <a:latin typeface="Segoe UI"/>
              <a:cs typeface="Segoe UI"/>
            </a:endParaRPr>
          </a:p>
          <a:p>
            <a:pPr marL="700405">
              <a:lnSpc>
                <a:spcPct val="100000"/>
              </a:lnSpc>
            </a:pPr>
            <a:r>
              <a:rPr dirty="0"/>
              <a:t>European </a:t>
            </a:r>
            <a:r>
              <a:rPr dirty="0" spc="-10"/>
              <a:t>Health</a:t>
            </a:r>
            <a:r>
              <a:rPr dirty="0" spc="-60"/>
              <a:t> </a:t>
            </a:r>
            <a:r>
              <a:rPr dirty="0"/>
              <a:t>Data</a:t>
            </a:r>
            <a:r>
              <a:rPr dirty="0" spc="-35"/>
              <a:t> </a:t>
            </a:r>
            <a:r>
              <a:rPr dirty="0" spc="-20"/>
              <a:t>Space</a:t>
            </a:r>
          </a:p>
          <a:p>
            <a:pPr marL="700405" marR="78740">
              <a:lnSpc>
                <a:spcPct val="111200"/>
              </a:lnSpc>
              <a:spcBef>
                <a:spcPts val="295"/>
              </a:spcBef>
            </a:pPr>
            <a:r>
              <a:rPr dirty="0" sz="1000" b="0">
                <a:latin typeface="Segoe UI"/>
                <a:cs typeface="Segoe UI"/>
              </a:rPr>
              <a:t>Registry</a:t>
            </a:r>
            <a:r>
              <a:rPr dirty="0" sz="1000" spc="-65" b="0">
                <a:latin typeface="Segoe UI"/>
                <a:cs typeface="Segoe UI"/>
              </a:rPr>
              <a:t> </a:t>
            </a:r>
            <a:r>
              <a:rPr dirty="0" sz="1000" b="0">
                <a:latin typeface="Segoe UI"/>
                <a:cs typeface="Segoe UI"/>
              </a:rPr>
              <a:t>data</a:t>
            </a:r>
            <a:r>
              <a:rPr dirty="0" sz="1000" spc="-20" b="0">
                <a:latin typeface="Segoe UI"/>
                <a:cs typeface="Segoe UI"/>
              </a:rPr>
              <a:t> </a:t>
            </a:r>
            <a:r>
              <a:rPr dirty="0" sz="1000" b="0">
                <a:latin typeface="Segoe UI"/>
                <a:cs typeface="Segoe UI"/>
              </a:rPr>
              <a:t>can</a:t>
            </a:r>
            <a:r>
              <a:rPr dirty="0" sz="1000" spc="-65" b="0">
                <a:latin typeface="Segoe UI"/>
                <a:cs typeface="Segoe UI"/>
              </a:rPr>
              <a:t> </a:t>
            </a:r>
            <a:r>
              <a:rPr dirty="0" sz="1000" b="0">
                <a:latin typeface="Segoe UI"/>
                <a:cs typeface="Segoe UI"/>
              </a:rPr>
              <a:t>support secondary</a:t>
            </a:r>
            <a:r>
              <a:rPr dirty="0" sz="1000" spc="5" b="0">
                <a:latin typeface="Segoe UI"/>
                <a:cs typeface="Segoe UI"/>
              </a:rPr>
              <a:t> </a:t>
            </a:r>
            <a:r>
              <a:rPr dirty="0" sz="1000" b="0">
                <a:latin typeface="Segoe UI"/>
                <a:cs typeface="Segoe UI"/>
              </a:rPr>
              <a:t>use—</a:t>
            </a:r>
            <a:r>
              <a:rPr dirty="0" sz="1000" spc="-25" b="0">
                <a:latin typeface="Segoe UI"/>
                <a:cs typeface="Segoe UI"/>
              </a:rPr>
              <a:t>but </a:t>
            </a:r>
            <a:r>
              <a:rPr dirty="0" sz="1000" b="0">
                <a:latin typeface="Segoe UI"/>
                <a:cs typeface="Segoe UI"/>
              </a:rPr>
              <a:t>only</a:t>
            </a:r>
            <a:r>
              <a:rPr dirty="0" sz="1000" spc="-15" b="0">
                <a:latin typeface="Segoe UI"/>
                <a:cs typeface="Segoe UI"/>
              </a:rPr>
              <a:t> </a:t>
            </a:r>
            <a:r>
              <a:rPr dirty="0" sz="1000" b="0">
                <a:latin typeface="Segoe UI"/>
                <a:cs typeface="Segoe UI"/>
              </a:rPr>
              <a:t>through</a:t>
            </a:r>
            <a:r>
              <a:rPr dirty="0" sz="1000" spc="-25" b="0">
                <a:latin typeface="Segoe UI"/>
                <a:cs typeface="Segoe UI"/>
              </a:rPr>
              <a:t> </a:t>
            </a:r>
            <a:r>
              <a:rPr dirty="0" sz="1000" b="0">
                <a:latin typeface="Segoe UI"/>
                <a:cs typeface="Segoe UI"/>
              </a:rPr>
              <a:t>governed</a:t>
            </a:r>
            <a:r>
              <a:rPr dirty="0" sz="1000" spc="-45" b="0">
                <a:latin typeface="Segoe UI"/>
                <a:cs typeface="Segoe UI"/>
              </a:rPr>
              <a:t> </a:t>
            </a:r>
            <a:r>
              <a:rPr dirty="0" sz="1000" b="0">
                <a:latin typeface="Segoe UI"/>
                <a:cs typeface="Segoe UI"/>
              </a:rPr>
              <a:t>access</a:t>
            </a:r>
            <a:r>
              <a:rPr dirty="0" sz="1000" spc="-20" b="0">
                <a:latin typeface="Segoe UI"/>
                <a:cs typeface="Segoe UI"/>
              </a:rPr>
              <a:t> </a:t>
            </a:r>
            <a:r>
              <a:rPr dirty="0" sz="1000" b="0">
                <a:latin typeface="Segoe UI"/>
                <a:cs typeface="Segoe UI"/>
              </a:rPr>
              <a:t>and</a:t>
            </a:r>
            <a:r>
              <a:rPr dirty="0" sz="1000" spc="-45" b="0">
                <a:latin typeface="Segoe UI"/>
                <a:cs typeface="Segoe UI"/>
              </a:rPr>
              <a:t> </a:t>
            </a:r>
            <a:r>
              <a:rPr dirty="0" sz="1000" spc="-10" b="0">
                <a:latin typeface="Segoe UI"/>
                <a:cs typeface="Segoe UI"/>
              </a:rPr>
              <a:t>permitted purposes.</a:t>
            </a:r>
            <a:endParaRPr sz="1000">
              <a:latin typeface="Segoe UI"/>
              <a:cs typeface="Segoe UI"/>
            </a:endParaRPr>
          </a:p>
        </p:txBody>
      </p:sp>
      <p:sp>
        <p:nvSpPr>
          <p:cNvPr id="8" name="object 8"/>
          <p:cNvSpPr txBox="1"/>
          <p:nvPr/>
        </p:nvSpPr>
        <p:spPr>
          <a:xfrm>
            <a:off x="4690871" y="1637157"/>
            <a:ext cx="2807335" cy="3924300"/>
          </a:xfrm>
          <a:prstGeom prst="rect">
            <a:avLst/>
          </a:prstGeom>
          <a:solidFill>
            <a:srgbClr val="C55A11"/>
          </a:solidFill>
        </p:spPr>
        <p:txBody>
          <a:bodyPr wrap="square" lIns="0" tIns="118110" rIns="0" bIns="0" rtlCol="0" vert="horz">
            <a:spAutoFit/>
          </a:bodyPr>
          <a:lstStyle/>
          <a:p>
            <a:pPr>
              <a:lnSpc>
                <a:spcPct val="100000"/>
              </a:lnSpc>
              <a:spcBef>
                <a:spcPts val="930"/>
              </a:spcBef>
            </a:pPr>
            <a:endParaRPr sz="1800">
              <a:latin typeface="Times New Roman"/>
              <a:cs typeface="Times New Roman"/>
            </a:endParaRPr>
          </a:p>
          <a:p>
            <a:pPr marL="451484" marR="752475">
              <a:lnSpc>
                <a:spcPct val="100000"/>
              </a:lnSpc>
              <a:spcBef>
                <a:spcPts val="5"/>
              </a:spcBef>
            </a:pPr>
            <a:r>
              <a:rPr dirty="0" sz="1800" b="1">
                <a:solidFill>
                  <a:srgbClr val="FFFFFF"/>
                </a:solidFill>
                <a:latin typeface="Segoe UI"/>
                <a:cs typeface="Segoe UI"/>
              </a:rPr>
              <a:t>Impact</a:t>
            </a:r>
            <a:r>
              <a:rPr dirty="0" sz="1800" spc="-45" b="1">
                <a:solidFill>
                  <a:srgbClr val="FFFFFF"/>
                </a:solidFill>
                <a:latin typeface="Segoe UI"/>
                <a:cs typeface="Segoe UI"/>
              </a:rPr>
              <a:t> </a:t>
            </a:r>
            <a:r>
              <a:rPr dirty="0" sz="1800" b="1">
                <a:solidFill>
                  <a:srgbClr val="FFFFFF"/>
                </a:solidFill>
                <a:latin typeface="Segoe UI"/>
                <a:cs typeface="Segoe UI"/>
              </a:rPr>
              <a:t>on</a:t>
            </a:r>
            <a:r>
              <a:rPr dirty="0" sz="1800" spc="-60" b="1">
                <a:solidFill>
                  <a:srgbClr val="FFFFFF"/>
                </a:solidFill>
                <a:latin typeface="Segoe UI"/>
                <a:cs typeface="Segoe UI"/>
              </a:rPr>
              <a:t> </a:t>
            </a:r>
            <a:r>
              <a:rPr dirty="0" sz="1800" spc="-20" b="1">
                <a:solidFill>
                  <a:srgbClr val="FFFFFF"/>
                </a:solidFill>
                <a:latin typeface="Segoe UI"/>
                <a:cs typeface="Segoe UI"/>
              </a:rPr>
              <a:t>care </a:t>
            </a:r>
            <a:r>
              <a:rPr dirty="0" sz="1800" spc="-10" b="1">
                <a:solidFill>
                  <a:srgbClr val="FFFFFF"/>
                </a:solidFill>
                <a:latin typeface="Segoe UI"/>
                <a:cs typeface="Segoe UI"/>
              </a:rPr>
              <a:t>delivery</a:t>
            </a:r>
            <a:endParaRPr sz="1800">
              <a:latin typeface="Segoe UI"/>
              <a:cs typeface="Segoe UI"/>
            </a:endParaRPr>
          </a:p>
          <a:p>
            <a:pPr marL="451484" marR="182880">
              <a:lnSpc>
                <a:spcPct val="111200"/>
              </a:lnSpc>
              <a:spcBef>
                <a:spcPts val="525"/>
              </a:spcBef>
            </a:pPr>
            <a:r>
              <a:rPr dirty="0" sz="1000">
                <a:solidFill>
                  <a:srgbClr val="FFFFFF"/>
                </a:solidFill>
                <a:latin typeface="Segoe UI"/>
                <a:cs typeface="Segoe UI"/>
              </a:rPr>
              <a:t>Human</a:t>
            </a:r>
            <a:r>
              <a:rPr dirty="0" sz="1000" spc="-70">
                <a:solidFill>
                  <a:srgbClr val="FFFFFF"/>
                </a:solidFill>
                <a:latin typeface="Segoe UI"/>
                <a:cs typeface="Segoe UI"/>
              </a:rPr>
              <a:t> </a:t>
            </a:r>
            <a:r>
              <a:rPr dirty="0" sz="1000">
                <a:solidFill>
                  <a:srgbClr val="FFFFFF"/>
                </a:solidFill>
                <a:latin typeface="Segoe UI"/>
                <a:cs typeface="Segoe UI"/>
              </a:rPr>
              <a:t>oversight,</a:t>
            </a:r>
            <a:r>
              <a:rPr dirty="0" sz="1000" spc="-30">
                <a:solidFill>
                  <a:srgbClr val="FFFFFF"/>
                </a:solidFill>
                <a:latin typeface="Segoe UI"/>
                <a:cs typeface="Segoe UI"/>
              </a:rPr>
              <a:t> </a:t>
            </a:r>
            <a:r>
              <a:rPr dirty="0" sz="1000">
                <a:solidFill>
                  <a:srgbClr val="FFFFFF"/>
                </a:solidFill>
                <a:latin typeface="Segoe UI"/>
                <a:cs typeface="Segoe UI"/>
              </a:rPr>
              <a:t>transparency</a:t>
            </a:r>
            <a:r>
              <a:rPr dirty="0" sz="1000" spc="-10">
                <a:solidFill>
                  <a:srgbClr val="FFFFFF"/>
                </a:solidFill>
                <a:latin typeface="Segoe UI"/>
                <a:cs typeface="Segoe UI"/>
              </a:rPr>
              <a:t> and</a:t>
            </a:r>
            <a:r>
              <a:rPr dirty="0" sz="1000" spc="-40">
                <a:solidFill>
                  <a:srgbClr val="FFFFFF"/>
                </a:solidFill>
                <a:latin typeface="Segoe UI"/>
                <a:cs typeface="Segoe UI"/>
              </a:rPr>
              <a:t> </a:t>
            </a:r>
            <a:r>
              <a:rPr dirty="0" sz="1000" spc="-25">
                <a:solidFill>
                  <a:srgbClr val="FFFFFF"/>
                </a:solidFill>
                <a:latin typeface="Segoe UI"/>
                <a:cs typeface="Segoe UI"/>
              </a:rPr>
              <a:t>an </a:t>
            </a:r>
            <a:r>
              <a:rPr dirty="0" sz="1000">
                <a:solidFill>
                  <a:srgbClr val="FFFFFF"/>
                </a:solidFill>
                <a:latin typeface="Segoe UI"/>
                <a:cs typeface="Segoe UI"/>
              </a:rPr>
              <a:t>auditable</a:t>
            </a:r>
            <a:r>
              <a:rPr dirty="0" sz="1000" spc="-40">
                <a:solidFill>
                  <a:srgbClr val="FFFFFF"/>
                </a:solidFill>
                <a:latin typeface="Segoe UI"/>
                <a:cs typeface="Segoe UI"/>
              </a:rPr>
              <a:t> </a:t>
            </a:r>
            <a:r>
              <a:rPr dirty="0" sz="1000">
                <a:solidFill>
                  <a:srgbClr val="FFFFFF"/>
                </a:solidFill>
                <a:latin typeface="Segoe UI"/>
                <a:cs typeface="Segoe UI"/>
              </a:rPr>
              <a:t>decision</a:t>
            </a:r>
            <a:r>
              <a:rPr dirty="0" sz="1000" spc="-20">
                <a:solidFill>
                  <a:srgbClr val="FFFFFF"/>
                </a:solidFill>
                <a:latin typeface="Segoe UI"/>
                <a:cs typeface="Segoe UI"/>
              </a:rPr>
              <a:t> </a:t>
            </a:r>
            <a:r>
              <a:rPr dirty="0" sz="1000">
                <a:solidFill>
                  <a:srgbClr val="FFFFFF"/>
                </a:solidFill>
                <a:latin typeface="Segoe UI"/>
                <a:cs typeface="Segoe UI"/>
              </a:rPr>
              <a:t>become</a:t>
            </a:r>
            <a:r>
              <a:rPr dirty="0" sz="1000" spc="-40">
                <a:solidFill>
                  <a:srgbClr val="FFFFFF"/>
                </a:solidFill>
                <a:latin typeface="Segoe UI"/>
                <a:cs typeface="Segoe UI"/>
              </a:rPr>
              <a:t> </a:t>
            </a:r>
            <a:r>
              <a:rPr dirty="0" sz="1000">
                <a:solidFill>
                  <a:srgbClr val="FFFFFF"/>
                </a:solidFill>
                <a:latin typeface="Segoe UI"/>
                <a:cs typeface="Segoe UI"/>
              </a:rPr>
              <a:t>part</a:t>
            </a:r>
            <a:r>
              <a:rPr dirty="0" sz="1000" spc="-5">
                <a:solidFill>
                  <a:srgbClr val="FFFFFF"/>
                </a:solidFill>
                <a:latin typeface="Segoe UI"/>
                <a:cs typeface="Segoe UI"/>
              </a:rPr>
              <a:t> </a:t>
            </a:r>
            <a:r>
              <a:rPr dirty="0" sz="1000">
                <a:solidFill>
                  <a:srgbClr val="FFFFFF"/>
                </a:solidFill>
                <a:latin typeface="Segoe UI"/>
                <a:cs typeface="Segoe UI"/>
              </a:rPr>
              <a:t>of</a:t>
            </a:r>
            <a:r>
              <a:rPr dirty="0" sz="1000" spc="-45">
                <a:solidFill>
                  <a:srgbClr val="FFFFFF"/>
                </a:solidFill>
                <a:latin typeface="Segoe UI"/>
                <a:cs typeface="Segoe UI"/>
              </a:rPr>
              <a:t> </a:t>
            </a:r>
            <a:r>
              <a:rPr dirty="0" sz="1000" spc="-25">
                <a:solidFill>
                  <a:srgbClr val="FFFFFF"/>
                </a:solidFill>
                <a:latin typeface="Segoe UI"/>
                <a:cs typeface="Segoe UI"/>
              </a:rPr>
              <a:t>the </a:t>
            </a:r>
            <a:r>
              <a:rPr dirty="0" sz="1000">
                <a:solidFill>
                  <a:srgbClr val="FFFFFF"/>
                </a:solidFill>
                <a:latin typeface="Segoe UI"/>
                <a:cs typeface="Segoe UI"/>
              </a:rPr>
              <a:t>clinical</a:t>
            </a:r>
            <a:r>
              <a:rPr dirty="0" sz="1000" spc="-30">
                <a:solidFill>
                  <a:srgbClr val="FFFFFF"/>
                </a:solidFill>
                <a:latin typeface="Segoe UI"/>
                <a:cs typeface="Segoe UI"/>
              </a:rPr>
              <a:t> </a:t>
            </a:r>
            <a:r>
              <a:rPr dirty="0" sz="1000" spc="-10">
                <a:solidFill>
                  <a:srgbClr val="FFFFFF"/>
                </a:solidFill>
                <a:latin typeface="Segoe UI"/>
                <a:cs typeface="Segoe UI"/>
              </a:rPr>
              <a:t>workflow.</a:t>
            </a: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spcBef>
                <a:spcPts val="840"/>
              </a:spcBef>
            </a:pPr>
            <a:endParaRPr sz="1000">
              <a:latin typeface="Segoe UI"/>
              <a:cs typeface="Segoe UI"/>
            </a:endParaRPr>
          </a:p>
          <a:p>
            <a:pPr marL="426720" marR="544195">
              <a:lnSpc>
                <a:spcPct val="100000"/>
              </a:lnSpc>
            </a:pPr>
            <a:r>
              <a:rPr dirty="0" sz="1800" b="1">
                <a:solidFill>
                  <a:srgbClr val="FFFFFF"/>
                </a:solidFill>
                <a:latin typeface="Segoe UI"/>
                <a:cs typeface="Segoe UI"/>
              </a:rPr>
              <a:t>Impact</a:t>
            </a:r>
            <a:r>
              <a:rPr dirty="0" sz="1800" spc="-45" b="1">
                <a:solidFill>
                  <a:srgbClr val="FFFFFF"/>
                </a:solidFill>
                <a:latin typeface="Segoe UI"/>
                <a:cs typeface="Segoe UI"/>
              </a:rPr>
              <a:t> </a:t>
            </a:r>
            <a:r>
              <a:rPr dirty="0" sz="1800" b="1">
                <a:solidFill>
                  <a:srgbClr val="FFFFFF"/>
                </a:solidFill>
                <a:latin typeface="Segoe UI"/>
                <a:cs typeface="Segoe UI"/>
              </a:rPr>
              <a:t>on</a:t>
            </a:r>
            <a:r>
              <a:rPr dirty="0" sz="1800" spc="-65" b="1">
                <a:solidFill>
                  <a:srgbClr val="FFFFFF"/>
                </a:solidFill>
                <a:latin typeface="Segoe UI"/>
                <a:cs typeface="Segoe UI"/>
              </a:rPr>
              <a:t> </a:t>
            </a:r>
            <a:r>
              <a:rPr dirty="0" sz="1800" spc="-10" b="1">
                <a:solidFill>
                  <a:srgbClr val="FFFFFF"/>
                </a:solidFill>
                <a:latin typeface="Segoe UI"/>
                <a:cs typeface="Segoe UI"/>
              </a:rPr>
              <a:t>model delivery</a:t>
            </a:r>
            <a:endParaRPr sz="1800">
              <a:latin typeface="Segoe UI"/>
              <a:cs typeface="Segoe UI"/>
            </a:endParaRPr>
          </a:p>
          <a:p>
            <a:pPr marL="426720" marR="116839">
              <a:lnSpc>
                <a:spcPct val="111200"/>
              </a:lnSpc>
              <a:spcBef>
                <a:spcPts val="525"/>
              </a:spcBef>
            </a:pPr>
            <a:r>
              <a:rPr dirty="0" sz="1000">
                <a:solidFill>
                  <a:srgbClr val="FFFFFF"/>
                </a:solidFill>
                <a:latin typeface="Segoe UI"/>
                <a:cs typeface="Segoe UI"/>
              </a:rPr>
              <a:t>Evidence,</a:t>
            </a:r>
            <a:r>
              <a:rPr dirty="0" sz="1000" spc="5">
                <a:solidFill>
                  <a:srgbClr val="FFFFFF"/>
                </a:solidFill>
                <a:latin typeface="Segoe UI"/>
                <a:cs typeface="Segoe UI"/>
              </a:rPr>
              <a:t> </a:t>
            </a:r>
            <a:r>
              <a:rPr dirty="0" sz="1000" spc="-10">
                <a:solidFill>
                  <a:srgbClr val="FFFFFF"/>
                </a:solidFill>
                <a:latin typeface="Segoe UI"/>
                <a:cs typeface="Segoe UI"/>
              </a:rPr>
              <a:t>permissions</a:t>
            </a:r>
            <a:r>
              <a:rPr dirty="0" sz="1000" spc="10">
                <a:solidFill>
                  <a:srgbClr val="FFFFFF"/>
                </a:solidFill>
                <a:latin typeface="Segoe UI"/>
                <a:cs typeface="Segoe UI"/>
              </a:rPr>
              <a:t> </a:t>
            </a:r>
            <a:r>
              <a:rPr dirty="0" sz="1000">
                <a:solidFill>
                  <a:srgbClr val="FFFFFF"/>
                </a:solidFill>
                <a:latin typeface="Segoe UI"/>
                <a:cs typeface="Segoe UI"/>
              </a:rPr>
              <a:t>and</a:t>
            </a:r>
            <a:r>
              <a:rPr dirty="0" sz="1000" spc="-15">
                <a:solidFill>
                  <a:srgbClr val="FFFFFF"/>
                </a:solidFill>
                <a:latin typeface="Segoe UI"/>
                <a:cs typeface="Segoe UI"/>
              </a:rPr>
              <a:t> </a:t>
            </a:r>
            <a:r>
              <a:rPr dirty="0" sz="1000">
                <a:solidFill>
                  <a:srgbClr val="FFFFFF"/>
                </a:solidFill>
                <a:latin typeface="Segoe UI"/>
                <a:cs typeface="Segoe UI"/>
              </a:rPr>
              <a:t>data</a:t>
            </a:r>
            <a:r>
              <a:rPr dirty="0" sz="1000" spc="-5">
                <a:solidFill>
                  <a:srgbClr val="FFFFFF"/>
                </a:solidFill>
                <a:latin typeface="Segoe UI"/>
                <a:cs typeface="Segoe UI"/>
              </a:rPr>
              <a:t> </a:t>
            </a:r>
            <a:r>
              <a:rPr dirty="0" sz="1000" spc="-10">
                <a:solidFill>
                  <a:srgbClr val="FFFFFF"/>
                </a:solidFill>
                <a:latin typeface="Segoe UI"/>
                <a:cs typeface="Segoe UI"/>
              </a:rPr>
              <a:t>lineage </a:t>
            </a:r>
            <a:r>
              <a:rPr dirty="0" sz="1000">
                <a:solidFill>
                  <a:srgbClr val="FFFFFF"/>
                </a:solidFill>
                <a:latin typeface="Segoe UI"/>
                <a:cs typeface="Segoe UI"/>
              </a:rPr>
              <a:t>must</a:t>
            </a:r>
            <a:r>
              <a:rPr dirty="0" sz="1000" spc="-45">
                <a:solidFill>
                  <a:srgbClr val="FFFFFF"/>
                </a:solidFill>
                <a:latin typeface="Segoe UI"/>
                <a:cs typeface="Segoe UI"/>
              </a:rPr>
              <a:t> </a:t>
            </a:r>
            <a:r>
              <a:rPr dirty="0" sz="1000">
                <a:solidFill>
                  <a:srgbClr val="FFFFFF"/>
                </a:solidFill>
                <a:latin typeface="Segoe UI"/>
                <a:cs typeface="Segoe UI"/>
              </a:rPr>
              <a:t>remain</a:t>
            </a:r>
            <a:r>
              <a:rPr dirty="0" sz="1000" spc="-55">
                <a:solidFill>
                  <a:srgbClr val="FFFFFF"/>
                </a:solidFill>
                <a:latin typeface="Segoe UI"/>
                <a:cs typeface="Segoe UI"/>
              </a:rPr>
              <a:t> </a:t>
            </a:r>
            <a:r>
              <a:rPr dirty="0" sz="1000">
                <a:solidFill>
                  <a:srgbClr val="FFFFFF"/>
                </a:solidFill>
                <a:latin typeface="Segoe UI"/>
                <a:cs typeface="Segoe UI"/>
              </a:rPr>
              <a:t>clear</a:t>
            </a:r>
            <a:r>
              <a:rPr dirty="0" sz="1000" spc="20">
                <a:solidFill>
                  <a:srgbClr val="FFFFFF"/>
                </a:solidFill>
                <a:latin typeface="Segoe UI"/>
                <a:cs typeface="Segoe UI"/>
              </a:rPr>
              <a:t> </a:t>
            </a:r>
            <a:r>
              <a:rPr dirty="0" sz="1000">
                <a:solidFill>
                  <a:srgbClr val="FFFFFF"/>
                </a:solidFill>
                <a:latin typeface="Segoe UI"/>
                <a:cs typeface="Segoe UI"/>
              </a:rPr>
              <a:t>from</a:t>
            </a:r>
            <a:r>
              <a:rPr dirty="0" sz="1000" spc="-70">
                <a:solidFill>
                  <a:srgbClr val="FFFFFF"/>
                </a:solidFill>
                <a:latin typeface="Segoe UI"/>
                <a:cs typeface="Segoe UI"/>
              </a:rPr>
              <a:t> </a:t>
            </a:r>
            <a:r>
              <a:rPr dirty="0" sz="1000">
                <a:solidFill>
                  <a:srgbClr val="FFFFFF"/>
                </a:solidFill>
                <a:latin typeface="Segoe UI"/>
                <a:cs typeface="Segoe UI"/>
              </a:rPr>
              <a:t>training</a:t>
            </a:r>
            <a:r>
              <a:rPr dirty="0" sz="1000" spc="-10">
                <a:solidFill>
                  <a:srgbClr val="FFFFFF"/>
                </a:solidFill>
                <a:latin typeface="Segoe UI"/>
                <a:cs typeface="Segoe UI"/>
              </a:rPr>
              <a:t> through </a:t>
            </a:r>
            <a:r>
              <a:rPr dirty="0" sz="1000">
                <a:solidFill>
                  <a:srgbClr val="FFFFFF"/>
                </a:solidFill>
                <a:latin typeface="Segoe UI"/>
                <a:cs typeface="Segoe UI"/>
              </a:rPr>
              <a:t>clinical</a:t>
            </a:r>
            <a:r>
              <a:rPr dirty="0" sz="1000" spc="-20">
                <a:solidFill>
                  <a:srgbClr val="FFFFFF"/>
                </a:solidFill>
                <a:latin typeface="Segoe UI"/>
                <a:cs typeface="Segoe UI"/>
              </a:rPr>
              <a:t> use.</a:t>
            </a:r>
            <a:endParaRPr sz="1000">
              <a:latin typeface="Segoe UI"/>
              <a:cs typeface="Segoe UI"/>
            </a:endParaRPr>
          </a:p>
        </p:txBody>
      </p:sp>
      <p:sp>
        <p:nvSpPr>
          <p:cNvPr id="9" name="object 9"/>
          <p:cNvSpPr/>
          <p:nvPr/>
        </p:nvSpPr>
        <p:spPr>
          <a:xfrm>
            <a:off x="1179576" y="2185923"/>
            <a:ext cx="356870" cy="2479040"/>
          </a:xfrm>
          <a:custGeom>
            <a:avLst/>
            <a:gdLst/>
            <a:ahLst/>
            <a:cxnLst/>
            <a:rect l="l" t="t" r="r" b="b"/>
            <a:pathLst>
              <a:path w="356869" h="2479040">
                <a:moveTo>
                  <a:pt x="274320" y="1115822"/>
                </a:moveTo>
                <a:lnTo>
                  <a:pt x="230505" y="1115822"/>
                </a:lnTo>
                <a:lnTo>
                  <a:pt x="230505" y="1318006"/>
                </a:lnTo>
                <a:lnTo>
                  <a:pt x="230505" y="1358265"/>
                </a:lnTo>
                <a:lnTo>
                  <a:pt x="87858" y="1358265"/>
                </a:lnTo>
                <a:lnTo>
                  <a:pt x="87858" y="1318006"/>
                </a:lnTo>
                <a:lnTo>
                  <a:pt x="120357" y="1295755"/>
                </a:lnTo>
                <a:lnTo>
                  <a:pt x="159131" y="1288288"/>
                </a:lnTo>
                <a:lnTo>
                  <a:pt x="166484" y="1288834"/>
                </a:lnTo>
                <a:lnTo>
                  <a:pt x="206717" y="1299552"/>
                </a:lnTo>
                <a:lnTo>
                  <a:pt x="230505" y="1318006"/>
                </a:lnTo>
                <a:lnTo>
                  <a:pt x="230505" y="1115822"/>
                </a:lnTo>
                <a:lnTo>
                  <a:pt x="194564" y="1115822"/>
                </a:lnTo>
                <a:lnTo>
                  <a:pt x="194564" y="1244346"/>
                </a:lnTo>
                <a:lnTo>
                  <a:pt x="191820" y="1257935"/>
                </a:lnTo>
                <a:lnTo>
                  <a:pt x="191795" y="1258100"/>
                </a:lnTo>
                <a:lnTo>
                  <a:pt x="184315" y="1268984"/>
                </a:lnTo>
                <a:lnTo>
                  <a:pt x="184226" y="1269136"/>
                </a:lnTo>
                <a:lnTo>
                  <a:pt x="172961" y="1276477"/>
                </a:lnTo>
                <a:lnTo>
                  <a:pt x="159131" y="1279144"/>
                </a:lnTo>
                <a:lnTo>
                  <a:pt x="145605" y="1276477"/>
                </a:lnTo>
                <a:lnTo>
                  <a:pt x="145415" y="1276477"/>
                </a:lnTo>
                <a:lnTo>
                  <a:pt x="134073" y="1268984"/>
                </a:lnTo>
                <a:lnTo>
                  <a:pt x="126593" y="1258100"/>
                </a:lnTo>
                <a:lnTo>
                  <a:pt x="126479" y="1257935"/>
                </a:lnTo>
                <a:lnTo>
                  <a:pt x="123698" y="1244346"/>
                </a:lnTo>
                <a:lnTo>
                  <a:pt x="126479" y="1230845"/>
                </a:lnTo>
                <a:lnTo>
                  <a:pt x="134073" y="1219822"/>
                </a:lnTo>
                <a:lnTo>
                  <a:pt x="145338" y="1212405"/>
                </a:lnTo>
                <a:lnTo>
                  <a:pt x="159131" y="1209675"/>
                </a:lnTo>
                <a:lnTo>
                  <a:pt x="172961" y="1212405"/>
                </a:lnTo>
                <a:lnTo>
                  <a:pt x="184226" y="1219822"/>
                </a:lnTo>
                <a:lnTo>
                  <a:pt x="191795" y="1230845"/>
                </a:lnTo>
                <a:lnTo>
                  <a:pt x="194564" y="1244346"/>
                </a:lnTo>
                <a:lnTo>
                  <a:pt x="194564" y="1115822"/>
                </a:lnTo>
                <a:lnTo>
                  <a:pt x="55219" y="1115822"/>
                </a:lnTo>
                <a:lnTo>
                  <a:pt x="47980" y="1117282"/>
                </a:lnTo>
                <a:lnTo>
                  <a:pt x="42049" y="1121219"/>
                </a:lnTo>
                <a:lnTo>
                  <a:pt x="38036" y="1127074"/>
                </a:lnTo>
                <a:lnTo>
                  <a:pt x="36576" y="1134237"/>
                </a:lnTo>
                <a:lnTo>
                  <a:pt x="36576" y="1435989"/>
                </a:lnTo>
                <a:lnTo>
                  <a:pt x="38036" y="1443088"/>
                </a:lnTo>
                <a:lnTo>
                  <a:pt x="42049" y="1448904"/>
                </a:lnTo>
                <a:lnTo>
                  <a:pt x="47980" y="1452841"/>
                </a:lnTo>
                <a:lnTo>
                  <a:pt x="55219" y="1454277"/>
                </a:lnTo>
                <a:lnTo>
                  <a:pt x="274320" y="1454277"/>
                </a:lnTo>
                <a:lnTo>
                  <a:pt x="274320" y="1358265"/>
                </a:lnTo>
                <a:lnTo>
                  <a:pt x="274320" y="1288288"/>
                </a:lnTo>
                <a:lnTo>
                  <a:pt x="274320" y="1279144"/>
                </a:lnTo>
                <a:lnTo>
                  <a:pt x="274320" y="1209675"/>
                </a:lnTo>
                <a:lnTo>
                  <a:pt x="274320" y="1115822"/>
                </a:lnTo>
                <a:close/>
              </a:path>
              <a:path w="356869" h="2479040">
                <a:moveTo>
                  <a:pt x="320040" y="1115860"/>
                </a:moveTo>
                <a:lnTo>
                  <a:pt x="292608" y="1115860"/>
                </a:lnTo>
                <a:lnTo>
                  <a:pt x="292608" y="1454277"/>
                </a:lnTo>
                <a:lnTo>
                  <a:pt x="320040" y="1454277"/>
                </a:lnTo>
                <a:lnTo>
                  <a:pt x="320040" y="1115860"/>
                </a:lnTo>
                <a:close/>
              </a:path>
              <a:path w="356869" h="2479040">
                <a:moveTo>
                  <a:pt x="347472" y="2350643"/>
                </a:moveTo>
                <a:lnTo>
                  <a:pt x="203708" y="2350643"/>
                </a:lnTo>
                <a:lnTo>
                  <a:pt x="203708" y="2358644"/>
                </a:lnTo>
                <a:lnTo>
                  <a:pt x="203708" y="2367407"/>
                </a:lnTo>
                <a:lnTo>
                  <a:pt x="196088" y="2374646"/>
                </a:lnTo>
                <a:lnTo>
                  <a:pt x="160528" y="2374646"/>
                </a:lnTo>
                <a:lnTo>
                  <a:pt x="152908" y="2367407"/>
                </a:lnTo>
                <a:lnTo>
                  <a:pt x="152908" y="2350643"/>
                </a:lnTo>
                <a:lnTo>
                  <a:pt x="9144" y="2350643"/>
                </a:lnTo>
                <a:lnTo>
                  <a:pt x="9144" y="2471420"/>
                </a:lnTo>
                <a:lnTo>
                  <a:pt x="16751" y="2478659"/>
                </a:lnTo>
                <a:lnTo>
                  <a:pt x="339852" y="2478659"/>
                </a:lnTo>
                <a:lnTo>
                  <a:pt x="347472" y="2471420"/>
                </a:lnTo>
                <a:lnTo>
                  <a:pt x="347472" y="2350643"/>
                </a:lnTo>
                <a:close/>
              </a:path>
              <a:path w="356869" h="2479040">
                <a:moveTo>
                  <a:pt x="347472" y="2252853"/>
                </a:moveTo>
                <a:lnTo>
                  <a:pt x="339852" y="2244979"/>
                </a:lnTo>
                <a:lnTo>
                  <a:pt x="245999" y="2244979"/>
                </a:lnTo>
                <a:lnTo>
                  <a:pt x="245999" y="2216531"/>
                </a:lnTo>
                <a:lnTo>
                  <a:pt x="245160" y="2212213"/>
                </a:lnTo>
                <a:lnTo>
                  <a:pt x="243687" y="2204593"/>
                </a:lnTo>
                <a:lnTo>
                  <a:pt x="237388" y="2194915"/>
                </a:lnTo>
                <a:lnTo>
                  <a:pt x="227990" y="2188426"/>
                </a:lnTo>
                <a:lnTo>
                  <a:pt x="220599" y="2186914"/>
                </a:lnTo>
                <a:lnTo>
                  <a:pt x="220599" y="2213991"/>
                </a:lnTo>
                <a:lnTo>
                  <a:pt x="220599" y="2244979"/>
                </a:lnTo>
                <a:lnTo>
                  <a:pt x="136017" y="2244979"/>
                </a:lnTo>
                <a:lnTo>
                  <a:pt x="136017" y="2213991"/>
                </a:lnTo>
                <a:lnTo>
                  <a:pt x="137668" y="2212213"/>
                </a:lnTo>
                <a:lnTo>
                  <a:pt x="218948" y="2212213"/>
                </a:lnTo>
                <a:lnTo>
                  <a:pt x="220599" y="2213991"/>
                </a:lnTo>
                <a:lnTo>
                  <a:pt x="220599" y="2186914"/>
                </a:lnTo>
                <a:lnTo>
                  <a:pt x="216408" y="2186051"/>
                </a:lnTo>
                <a:lnTo>
                  <a:pt x="140208" y="2186051"/>
                </a:lnTo>
                <a:lnTo>
                  <a:pt x="128612" y="2188426"/>
                </a:lnTo>
                <a:lnTo>
                  <a:pt x="119214" y="2194915"/>
                </a:lnTo>
                <a:lnTo>
                  <a:pt x="112915" y="2204593"/>
                </a:lnTo>
                <a:lnTo>
                  <a:pt x="110617" y="2216531"/>
                </a:lnTo>
                <a:lnTo>
                  <a:pt x="110617" y="2244979"/>
                </a:lnTo>
                <a:lnTo>
                  <a:pt x="16751" y="2244979"/>
                </a:lnTo>
                <a:lnTo>
                  <a:pt x="9144" y="2252853"/>
                </a:lnTo>
                <a:lnTo>
                  <a:pt x="9144" y="2332355"/>
                </a:lnTo>
                <a:lnTo>
                  <a:pt x="152908" y="2332355"/>
                </a:lnTo>
                <a:lnTo>
                  <a:pt x="152908" y="2323592"/>
                </a:lnTo>
                <a:lnTo>
                  <a:pt x="203708" y="2323592"/>
                </a:lnTo>
                <a:lnTo>
                  <a:pt x="203708" y="2332355"/>
                </a:lnTo>
                <a:lnTo>
                  <a:pt x="347472" y="2332355"/>
                </a:lnTo>
                <a:lnTo>
                  <a:pt x="347472" y="2323592"/>
                </a:lnTo>
                <a:lnTo>
                  <a:pt x="347472" y="2252853"/>
                </a:lnTo>
                <a:close/>
              </a:path>
              <a:path w="356869" h="2479040">
                <a:moveTo>
                  <a:pt x="356616" y="319659"/>
                </a:moveTo>
                <a:lnTo>
                  <a:pt x="323723" y="296164"/>
                </a:lnTo>
                <a:lnTo>
                  <a:pt x="323723" y="286766"/>
                </a:lnTo>
                <a:lnTo>
                  <a:pt x="305054" y="286766"/>
                </a:lnTo>
                <a:lnTo>
                  <a:pt x="305054" y="127000"/>
                </a:lnTo>
                <a:lnTo>
                  <a:pt x="323723" y="127000"/>
                </a:lnTo>
                <a:lnTo>
                  <a:pt x="323723" y="117602"/>
                </a:lnTo>
                <a:lnTo>
                  <a:pt x="337820" y="117602"/>
                </a:lnTo>
                <a:lnTo>
                  <a:pt x="337820" y="89281"/>
                </a:lnTo>
                <a:lnTo>
                  <a:pt x="323723" y="89281"/>
                </a:lnTo>
                <a:lnTo>
                  <a:pt x="308406" y="79883"/>
                </a:lnTo>
                <a:lnTo>
                  <a:pt x="276860" y="60515"/>
                </a:lnTo>
                <a:lnTo>
                  <a:pt x="276860" y="127000"/>
                </a:lnTo>
                <a:lnTo>
                  <a:pt x="276860" y="286766"/>
                </a:lnTo>
                <a:lnTo>
                  <a:pt x="248666" y="286766"/>
                </a:lnTo>
                <a:lnTo>
                  <a:pt x="248666" y="127000"/>
                </a:lnTo>
                <a:lnTo>
                  <a:pt x="276860" y="127000"/>
                </a:lnTo>
                <a:lnTo>
                  <a:pt x="276860" y="60515"/>
                </a:lnTo>
                <a:lnTo>
                  <a:pt x="247180" y="42291"/>
                </a:lnTo>
                <a:lnTo>
                  <a:pt x="220599" y="25971"/>
                </a:lnTo>
                <a:lnTo>
                  <a:pt x="220599" y="127000"/>
                </a:lnTo>
                <a:lnTo>
                  <a:pt x="220599" y="286766"/>
                </a:lnTo>
                <a:lnTo>
                  <a:pt x="192405" y="286766"/>
                </a:lnTo>
                <a:lnTo>
                  <a:pt x="192405" y="127000"/>
                </a:lnTo>
                <a:lnTo>
                  <a:pt x="220599" y="127000"/>
                </a:lnTo>
                <a:lnTo>
                  <a:pt x="220599" y="25971"/>
                </a:lnTo>
                <a:lnTo>
                  <a:pt x="192405" y="8661"/>
                </a:lnTo>
                <a:lnTo>
                  <a:pt x="192405" y="61087"/>
                </a:lnTo>
                <a:lnTo>
                  <a:pt x="190906" y="68427"/>
                </a:lnTo>
                <a:lnTo>
                  <a:pt x="186855" y="74396"/>
                </a:lnTo>
                <a:lnTo>
                  <a:pt x="180873" y="78422"/>
                </a:lnTo>
                <a:lnTo>
                  <a:pt x="173609" y="79883"/>
                </a:lnTo>
                <a:lnTo>
                  <a:pt x="166331" y="78422"/>
                </a:lnTo>
                <a:lnTo>
                  <a:pt x="164211" y="77000"/>
                </a:lnTo>
                <a:lnTo>
                  <a:pt x="164211" y="127000"/>
                </a:lnTo>
                <a:lnTo>
                  <a:pt x="164211" y="286766"/>
                </a:lnTo>
                <a:lnTo>
                  <a:pt x="136017" y="286766"/>
                </a:lnTo>
                <a:lnTo>
                  <a:pt x="136017" y="127000"/>
                </a:lnTo>
                <a:lnTo>
                  <a:pt x="164211" y="127000"/>
                </a:lnTo>
                <a:lnTo>
                  <a:pt x="164211" y="77000"/>
                </a:lnTo>
                <a:lnTo>
                  <a:pt x="160350" y="74396"/>
                </a:lnTo>
                <a:lnTo>
                  <a:pt x="156298" y="68427"/>
                </a:lnTo>
                <a:lnTo>
                  <a:pt x="154813" y="61087"/>
                </a:lnTo>
                <a:lnTo>
                  <a:pt x="156298" y="53822"/>
                </a:lnTo>
                <a:lnTo>
                  <a:pt x="160350" y="47840"/>
                </a:lnTo>
                <a:lnTo>
                  <a:pt x="166331" y="43789"/>
                </a:lnTo>
                <a:lnTo>
                  <a:pt x="173609" y="42291"/>
                </a:lnTo>
                <a:lnTo>
                  <a:pt x="180873" y="43789"/>
                </a:lnTo>
                <a:lnTo>
                  <a:pt x="186855" y="47840"/>
                </a:lnTo>
                <a:lnTo>
                  <a:pt x="190906" y="53822"/>
                </a:lnTo>
                <a:lnTo>
                  <a:pt x="192405" y="61087"/>
                </a:lnTo>
                <a:lnTo>
                  <a:pt x="192405" y="8661"/>
                </a:lnTo>
                <a:lnTo>
                  <a:pt x="178308" y="0"/>
                </a:lnTo>
                <a:lnTo>
                  <a:pt x="107950" y="43192"/>
                </a:lnTo>
                <a:lnTo>
                  <a:pt x="107950" y="127000"/>
                </a:lnTo>
                <a:lnTo>
                  <a:pt x="107950" y="286766"/>
                </a:lnTo>
                <a:lnTo>
                  <a:pt x="79768" y="286766"/>
                </a:lnTo>
                <a:lnTo>
                  <a:pt x="79768" y="127000"/>
                </a:lnTo>
                <a:lnTo>
                  <a:pt x="107950" y="127000"/>
                </a:lnTo>
                <a:lnTo>
                  <a:pt x="107950" y="43192"/>
                </a:lnTo>
                <a:lnTo>
                  <a:pt x="32842" y="89281"/>
                </a:lnTo>
                <a:lnTo>
                  <a:pt x="18770" y="89281"/>
                </a:lnTo>
                <a:lnTo>
                  <a:pt x="18770" y="117602"/>
                </a:lnTo>
                <a:lnTo>
                  <a:pt x="32842" y="117602"/>
                </a:lnTo>
                <a:lnTo>
                  <a:pt x="32842" y="127000"/>
                </a:lnTo>
                <a:lnTo>
                  <a:pt x="51612" y="127000"/>
                </a:lnTo>
                <a:lnTo>
                  <a:pt x="51612" y="286766"/>
                </a:lnTo>
                <a:lnTo>
                  <a:pt x="32842" y="286766"/>
                </a:lnTo>
                <a:lnTo>
                  <a:pt x="32842" y="296164"/>
                </a:lnTo>
                <a:lnTo>
                  <a:pt x="0" y="319659"/>
                </a:lnTo>
                <a:lnTo>
                  <a:pt x="0" y="338455"/>
                </a:lnTo>
                <a:lnTo>
                  <a:pt x="356616" y="338455"/>
                </a:lnTo>
                <a:lnTo>
                  <a:pt x="356616" y="319659"/>
                </a:lnTo>
                <a:close/>
              </a:path>
            </a:pathLst>
          </a:custGeom>
          <a:solidFill>
            <a:srgbClr val="FFFFFF"/>
          </a:solidFill>
        </p:spPr>
        <p:txBody>
          <a:bodyPr wrap="square" lIns="0" tIns="0" rIns="0" bIns="0" rtlCol="0"/>
          <a:lstStyle/>
          <a:p/>
        </p:txBody>
      </p:sp>
      <p:sp>
        <p:nvSpPr>
          <p:cNvPr id="10" name="object 10"/>
          <p:cNvSpPr txBox="1"/>
          <p:nvPr/>
        </p:nvSpPr>
        <p:spPr>
          <a:xfrm>
            <a:off x="8001000" y="1399336"/>
            <a:ext cx="3200400" cy="4399915"/>
          </a:xfrm>
          <a:prstGeom prst="rect">
            <a:avLst/>
          </a:prstGeom>
          <a:solidFill>
            <a:srgbClr val="1F3863"/>
          </a:solidFill>
        </p:spPr>
        <p:txBody>
          <a:bodyPr wrap="square" lIns="0" tIns="0" rIns="0" bIns="0" rtlCol="0" vert="horz">
            <a:spAutoFit/>
          </a:bodyPr>
          <a:lstStyle/>
          <a:p>
            <a:pPr>
              <a:lnSpc>
                <a:spcPct val="100000"/>
              </a:lnSpc>
            </a:pPr>
            <a:endParaRPr sz="1200">
              <a:latin typeface="Times New Roman"/>
              <a:cs typeface="Times New Roman"/>
            </a:endParaRPr>
          </a:p>
          <a:p>
            <a:pPr>
              <a:lnSpc>
                <a:spcPct val="100000"/>
              </a:lnSpc>
              <a:spcBef>
                <a:spcPts val="55"/>
              </a:spcBef>
            </a:pPr>
            <a:endParaRPr sz="1200">
              <a:latin typeface="Times New Roman"/>
              <a:cs typeface="Times New Roman"/>
            </a:endParaRPr>
          </a:p>
          <a:p>
            <a:pPr marL="345440">
              <a:lnSpc>
                <a:spcPct val="100000"/>
              </a:lnSpc>
              <a:spcBef>
                <a:spcPts val="5"/>
              </a:spcBef>
            </a:pPr>
            <a:r>
              <a:rPr dirty="0" sz="1200" spc="-10" b="1">
                <a:solidFill>
                  <a:srgbClr val="B7EBF9"/>
                </a:solidFill>
                <a:latin typeface="Segoe UI"/>
                <a:cs typeface="Segoe UI"/>
              </a:rPr>
              <a:t>REQUIRED</a:t>
            </a:r>
            <a:r>
              <a:rPr dirty="0" sz="1200" spc="-65" b="1">
                <a:solidFill>
                  <a:srgbClr val="B7EBF9"/>
                </a:solidFill>
                <a:latin typeface="Segoe UI"/>
                <a:cs typeface="Segoe UI"/>
              </a:rPr>
              <a:t> </a:t>
            </a:r>
            <a:r>
              <a:rPr dirty="0" sz="1200" b="1">
                <a:solidFill>
                  <a:srgbClr val="B7EBF9"/>
                </a:solidFill>
                <a:latin typeface="Segoe UI"/>
                <a:cs typeface="Segoe UI"/>
              </a:rPr>
              <a:t>DEVELOPMENT</a:t>
            </a:r>
            <a:r>
              <a:rPr dirty="0" sz="1200" spc="-25" b="1">
                <a:solidFill>
                  <a:srgbClr val="B7EBF9"/>
                </a:solidFill>
                <a:latin typeface="Segoe UI"/>
                <a:cs typeface="Segoe UI"/>
              </a:rPr>
              <a:t> </a:t>
            </a:r>
            <a:r>
              <a:rPr dirty="0" sz="1200" spc="-10" b="1">
                <a:solidFill>
                  <a:srgbClr val="B7EBF9"/>
                </a:solidFill>
                <a:latin typeface="Segoe UI"/>
                <a:cs typeface="Segoe UI"/>
              </a:rPr>
              <a:t>ACTIONS</a:t>
            </a:r>
            <a:endParaRPr sz="1200">
              <a:latin typeface="Segoe UI"/>
              <a:cs typeface="Segoe UI"/>
            </a:endParaRPr>
          </a:p>
          <a:p>
            <a:pPr>
              <a:lnSpc>
                <a:spcPct val="100000"/>
              </a:lnSpc>
              <a:spcBef>
                <a:spcPts val="1195"/>
              </a:spcBef>
            </a:pPr>
            <a:endParaRPr sz="1200">
              <a:latin typeface="Segoe UI"/>
              <a:cs typeface="Segoe UI"/>
            </a:endParaRPr>
          </a:p>
          <a:p>
            <a:pPr marL="366395">
              <a:lnSpc>
                <a:spcPct val="100000"/>
              </a:lnSpc>
            </a:pPr>
            <a:r>
              <a:rPr dirty="0" sz="1350" b="1">
                <a:solidFill>
                  <a:srgbClr val="FFFFFF"/>
                </a:solidFill>
                <a:latin typeface="Segoe UI"/>
                <a:cs typeface="Segoe UI"/>
              </a:rPr>
              <a:t>Make</a:t>
            </a:r>
            <a:r>
              <a:rPr dirty="0" sz="1350" spc="-65" b="1">
                <a:solidFill>
                  <a:srgbClr val="FFFFFF"/>
                </a:solidFill>
                <a:latin typeface="Segoe UI"/>
                <a:cs typeface="Segoe UI"/>
              </a:rPr>
              <a:t> </a:t>
            </a:r>
            <a:r>
              <a:rPr dirty="0" sz="1350" b="1">
                <a:solidFill>
                  <a:srgbClr val="FFFFFF"/>
                </a:solidFill>
                <a:latin typeface="Segoe UI"/>
                <a:cs typeface="Segoe UI"/>
              </a:rPr>
              <a:t>decisions</a:t>
            </a:r>
            <a:r>
              <a:rPr dirty="0" sz="1350" spc="-65" b="1">
                <a:solidFill>
                  <a:srgbClr val="FFFFFF"/>
                </a:solidFill>
                <a:latin typeface="Segoe UI"/>
                <a:cs typeface="Segoe UI"/>
              </a:rPr>
              <a:t> </a:t>
            </a:r>
            <a:r>
              <a:rPr dirty="0" sz="1350" spc="-10" b="1">
                <a:solidFill>
                  <a:srgbClr val="FFFFFF"/>
                </a:solidFill>
                <a:latin typeface="Segoe UI"/>
                <a:cs typeface="Segoe UI"/>
              </a:rPr>
              <a:t>explainable</a:t>
            </a:r>
            <a:endParaRPr sz="1350">
              <a:latin typeface="Segoe UI"/>
              <a:cs typeface="Segoe UI"/>
            </a:endParaRPr>
          </a:p>
          <a:p>
            <a:pPr marL="366395" marR="271780">
              <a:lnSpc>
                <a:spcPct val="106900"/>
              </a:lnSpc>
              <a:spcBef>
                <a:spcPts val="489"/>
              </a:spcBef>
            </a:pPr>
            <a:r>
              <a:rPr dirty="0" sz="900">
                <a:solidFill>
                  <a:srgbClr val="FFFFFF"/>
                </a:solidFill>
                <a:latin typeface="Segoe UI"/>
                <a:cs typeface="Segoe UI"/>
              </a:rPr>
              <a:t>Use</a:t>
            </a:r>
            <a:r>
              <a:rPr dirty="0" sz="900" spc="105">
                <a:solidFill>
                  <a:srgbClr val="FFFFFF"/>
                </a:solidFill>
                <a:latin typeface="Segoe UI"/>
                <a:cs typeface="Segoe UI"/>
              </a:rPr>
              <a:t> </a:t>
            </a:r>
            <a:r>
              <a:rPr dirty="0" sz="900">
                <a:solidFill>
                  <a:srgbClr val="FFFFFF"/>
                </a:solidFill>
                <a:latin typeface="Segoe UI"/>
                <a:cs typeface="Segoe UI"/>
              </a:rPr>
              <a:t>an</a:t>
            </a:r>
            <a:r>
              <a:rPr dirty="0" sz="900" spc="155">
                <a:solidFill>
                  <a:srgbClr val="FFFFFF"/>
                </a:solidFill>
                <a:latin typeface="Segoe UI"/>
                <a:cs typeface="Segoe UI"/>
              </a:rPr>
              <a:t> </a:t>
            </a:r>
            <a:r>
              <a:rPr dirty="0" sz="900">
                <a:solidFill>
                  <a:srgbClr val="FFFFFF"/>
                </a:solidFill>
                <a:latin typeface="Segoe UI"/>
                <a:cs typeface="Segoe UI"/>
              </a:rPr>
              <a:t>interpretable</a:t>
            </a:r>
            <a:r>
              <a:rPr dirty="0" sz="900" spc="220">
                <a:solidFill>
                  <a:srgbClr val="FFFFFF"/>
                </a:solidFill>
                <a:latin typeface="Segoe UI"/>
                <a:cs typeface="Segoe UI"/>
              </a:rPr>
              <a:t> </a:t>
            </a:r>
            <a:r>
              <a:rPr dirty="0" sz="900">
                <a:solidFill>
                  <a:srgbClr val="FFFFFF"/>
                </a:solidFill>
                <a:latin typeface="Segoe UI"/>
                <a:cs typeface="Segoe UI"/>
              </a:rPr>
              <a:t>model,</a:t>
            </a:r>
            <a:r>
              <a:rPr dirty="0" sz="900" spc="105">
                <a:solidFill>
                  <a:srgbClr val="FFFFFF"/>
                </a:solidFill>
                <a:latin typeface="Segoe UI"/>
                <a:cs typeface="Segoe UI"/>
              </a:rPr>
              <a:t> </a:t>
            </a:r>
            <a:r>
              <a:rPr dirty="0" sz="900">
                <a:solidFill>
                  <a:srgbClr val="FFFFFF"/>
                </a:solidFill>
                <a:latin typeface="Segoe UI"/>
                <a:cs typeface="Segoe UI"/>
              </a:rPr>
              <a:t>document</a:t>
            </a:r>
            <a:r>
              <a:rPr dirty="0" sz="900" spc="155">
                <a:solidFill>
                  <a:srgbClr val="FFFFFF"/>
                </a:solidFill>
                <a:latin typeface="Segoe UI"/>
                <a:cs typeface="Segoe UI"/>
              </a:rPr>
              <a:t> </a:t>
            </a:r>
            <a:r>
              <a:rPr dirty="0" sz="900" spc="-10">
                <a:solidFill>
                  <a:srgbClr val="FFFFFF"/>
                </a:solidFill>
                <a:latin typeface="Segoe UI"/>
                <a:cs typeface="Segoe UI"/>
              </a:rPr>
              <a:t>intended </a:t>
            </a:r>
            <a:r>
              <a:rPr dirty="0" sz="900">
                <a:solidFill>
                  <a:srgbClr val="FFFFFF"/>
                </a:solidFill>
                <a:latin typeface="Segoe UI"/>
                <a:cs typeface="Segoe UI"/>
              </a:rPr>
              <a:t>use</a:t>
            </a:r>
            <a:r>
              <a:rPr dirty="0" sz="900" spc="175">
                <a:solidFill>
                  <a:srgbClr val="FFFFFF"/>
                </a:solidFill>
                <a:latin typeface="Segoe UI"/>
                <a:cs typeface="Segoe UI"/>
              </a:rPr>
              <a:t> </a:t>
            </a:r>
            <a:r>
              <a:rPr dirty="0" sz="900">
                <a:solidFill>
                  <a:srgbClr val="FFFFFF"/>
                </a:solidFill>
                <a:latin typeface="Segoe UI"/>
                <a:cs typeface="Segoe UI"/>
              </a:rPr>
              <a:t>and</a:t>
            </a:r>
            <a:r>
              <a:rPr dirty="0" sz="900" spc="90">
                <a:solidFill>
                  <a:srgbClr val="FFFFFF"/>
                </a:solidFill>
                <a:latin typeface="Segoe UI"/>
                <a:cs typeface="Segoe UI"/>
              </a:rPr>
              <a:t> </a:t>
            </a:r>
            <a:r>
              <a:rPr dirty="0" sz="900">
                <a:solidFill>
                  <a:srgbClr val="FFFFFF"/>
                </a:solidFill>
                <a:latin typeface="Segoe UI"/>
                <a:cs typeface="Segoe UI"/>
              </a:rPr>
              <a:t>limits,</a:t>
            </a:r>
            <a:r>
              <a:rPr dirty="0" sz="900" spc="80">
                <a:solidFill>
                  <a:srgbClr val="FFFFFF"/>
                </a:solidFill>
                <a:latin typeface="Segoe UI"/>
                <a:cs typeface="Segoe UI"/>
              </a:rPr>
              <a:t> </a:t>
            </a:r>
            <a:r>
              <a:rPr dirty="0" sz="900">
                <a:solidFill>
                  <a:srgbClr val="FFFFFF"/>
                </a:solidFill>
                <a:latin typeface="Segoe UI"/>
                <a:cs typeface="Segoe UI"/>
              </a:rPr>
              <a:t>and</a:t>
            </a:r>
            <a:r>
              <a:rPr dirty="0" sz="900" spc="90">
                <a:solidFill>
                  <a:srgbClr val="FFFFFF"/>
                </a:solidFill>
                <a:latin typeface="Segoe UI"/>
                <a:cs typeface="Segoe UI"/>
              </a:rPr>
              <a:t> </a:t>
            </a:r>
            <a:r>
              <a:rPr dirty="0" sz="900">
                <a:solidFill>
                  <a:srgbClr val="FFFFFF"/>
                </a:solidFill>
                <a:latin typeface="Segoe UI"/>
                <a:cs typeface="Segoe UI"/>
              </a:rPr>
              <a:t>provide</a:t>
            </a:r>
            <a:r>
              <a:rPr dirty="0" sz="900" spc="180">
                <a:solidFill>
                  <a:srgbClr val="FFFFFF"/>
                </a:solidFill>
                <a:latin typeface="Segoe UI"/>
                <a:cs typeface="Segoe UI"/>
              </a:rPr>
              <a:t> </a:t>
            </a:r>
            <a:r>
              <a:rPr dirty="0" sz="900">
                <a:solidFill>
                  <a:srgbClr val="FFFFFF"/>
                </a:solidFill>
                <a:latin typeface="Segoe UI"/>
                <a:cs typeface="Segoe UI"/>
              </a:rPr>
              <a:t>a</a:t>
            </a:r>
            <a:r>
              <a:rPr dirty="0" sz="900" spc="90">
                <a:solidFill>
                  <a:srgbClr val="FFFFFF"/>
                </a:solidFill>
                <a:latin typeface="Segoe UI"/>
                <a:cs typeface="Segoe UI"/>
              </a:rPr>
              <a:t> </a:t>
            </a:r>
            <a:r>
              <a:rPr dirty="0" sz="900">
                <a:solidFill>
                  <a:srgbClr val="FFFFFF"/>
                </a:solidFill>
                <a:latin typeface="Segoe UI"/>
                <a:cs typeface="Segoe UI"/>
              </a:rPr>
              <a:t>patient-</a:t>
            </a:r>
            <a:r>
              <a:rPr dirty="0" sz="900" spc="-20">
                <a:solidFill>
                  <a:srgbClr val="FFFFFF"/>
                </a:solidFill>
                <a:latin typeface="Segoe UI"/>
                <a:cs typeface="Segoe UI"/>
              </a:rPr>
              <a:t>level </a:t>
            </a:r>
            <a:r>
              <a:rPr dirty="0" sz="900" spc="-10">
                <a:solidFill>
                  <a:srgbClr val="FFFFFF"/>
                </a:solidFill>
                <a:latin typeface="Segoe UI"/>
                <a:cs typeface="Segoe UI"/>
              </a:rPr>
              <a:t>explanation.</a:t>
            </a:r>
            <a:endParaRPr sz="900">
              <a:latin typeface="Segoe UI"/>
              <a:cs typeface="Segoe UI"/>
            </a:endParaRPr>
          </a:p>
          <a:p>
            <a:pPr>
              <a:lnSpc>
                <a:spcPct val="100000"/>
              </a:lnSpc>
            </a:pPr>
            <a:endParaRPr sz="900">
              <a:latin typeface="Segoe UI"/>
              <a:cs typeface="Segoe UI"/>
            </a:endParaRPr>
          </a:p>
          <a:p>
            <a:pPr>
              <a:lnSpc>
                <a:spcPct val="100000"/>
              </a:lnSpc>
              <a:spcBef>
                <a:spcPts val="1030"/>
              </a:spcBef>
            </a:pPr>
            <a:endParaRPr sz="900">
              <a:latin typeface="Segoe UI"/>
              <a:cs typeface="Segoe UI"/>
            </a:endParaRPr>
          </a:p>
          <a:p>
            <a:pPr marL="366395">
              <a:lnSpc>
                <a:spcPct val="100000"/>
              </a:lnSpc>
            </a:pPr>
            <a:r>
              <a:rPr dirty="0" sz="1350" spc="-10" b="1">
                <a:solidFill>
                  <a:srgbClr val="FFFFFF"/>
                </a:solidFill>
                <a:latin typeface="Segoe UI"/>
                <a:cs typeface="Segoe UI"/>
              </a:rPr>
              <a:t>Validate</a:t>
            </a:r>
            <a:r>
              <a:rPr dirty="0" sz="1350" spc="-70" b="1">
                <a:solidFill>
                  <a:srgbClr val="FFFFFF"/>
                </a:solidFill>
                <a:latin typeface="Segoe UI"/>
                <a:cs typeface="Segoe UI"/>
              </a:rPr>
              <a:t> </a:t>
            </a:r>
            <a:r>
              <a:rPr dirty="0" sz="1350" b="1">
                <a:solidFill>
                  <a:srgbClr val="FFFFFF"/>
                </a:solidFill>
                <a:latin typeface="Segoe UI"/>
                <a:cs typeface="Segoe UI"/>
              </a:rPr>
              <a:t>and</a:t>
            </a:r>
            <a:r>
              <a:rPr dirty="0" sz="1350" spc="-35" b="1">
                <a:solidFill>
                  <a:srgbClr val="FFFFFF"/>
                </a:solidFill>
                <a:latin typeface="Segoe UI"/>
                <a:cs typeface="Segoe UI"/>
              </a:rPr>
              <a:t> </a:t>
            </a:r>
            <a:r>
              <a:rPr dirty="0" sz="1350" b="1">
                <a:solidFill>
                  <a:srgbClr val="FFFFFF"/>
                </a:solidFill>
                <a:latin typeface="Segoe UI"/>
                <a:cs typeface="Segoe UI"/>
              </a:rPr>
              <a:t>retain</a:t>
            </a:r>
            <a:r>
              <a:rPr dirty="0" sz="1350" spc="-15" b="1">
                <a:solidFill>
                  <a:srgbClr val="FFFFFF"/>
                </a:solidFill>
                <a:latin typeface="Segoe UI"/>
                <a:cs typeface="Segoe UI"/>
              </a:rPr>
              <a:t> </a:t>
            </a:r>
            <a:r>
              <a:rPr dirty="0" sz="1350" spc="-10" b="1">
                <a:solidFill>
                  <a:srgbClr val="FFFFFF"/>
                </a:solidFill>
                <a:latin typeface="Segoe UI"/>
                <a:cs typeface="Segoe UI"/>
              </a:rPr>
              <a:t>oversight</a:t>
            </a:r>
            <a:endParaRPr sz="1350">
              <a:latin typeface="Segoe UI"/>
              <a:cs typeface="Segoe UI"/>
            </a:endParaRPr>
          </a:p>
          <a:p>
            <a:pPr marL="366395">
              <a:lnSpc>
                <a:spcPct val="100000"/>
              </a:lnSpc>
              <a:spcBef>
                <a:spcPts val="560"/>
              </a:spcBef>
            </a:pPr>
            <a:r>
              <a:rPr dirty="0" sz="900">
                <a:solidFill>
                  <a:srgbClr val="FFFFFF"/>
                </a:solidFill>
                <a:latin typeface="Segoe UI"/>
                <a:cs typeface="Segoe UI"/>
              </a:rPr>
              <a:t>Test</a:t>
            </a:r>
            <a:r>
              <a:rPr dirty="0" sz="900" spc="204">
                <a:solidFill>
                  <a:srgbClr val="FFFFFF"/>
                </a:solidFill>
                <a:latin typeface="Segoe UI"/>
                <a:cs typeface="Segoe UI"/>
              </a:rPr>
              <a:t> </a:t>
            </a:r>
            <a:r>
              <a:rPr dirty="0" sz="900">
                <a:solidFill>
                  <a:srgbClr val="FFFFFF"/>
                </a:solidFill>
                <a:latin typeface="Segoe UI"/>
                <a:cs typeface="Segoe UI"/>
              </a:rPr>
              <a:t>calibration</a:t>
            </a:r>
            <a:r>
              <a:rPr dirty="0" sz="900" spc="110">
                <a:solidFill>
                  <a:srgbClr val="FFFFFF"/>
                </a:solidFill>
                <a:latin typeface="Segoe UI"/>
                <a:cs typeface="Segoe UI"/>
              </a:rPr>
              <a:t> </a:t>
            </a:r>
            <a:r>
              <a:rPr dirty="0" sz="900">
                <a:solidFill>
                  <a:srgbClr val="FFFFFF"/>
                </a:solidFill>
                <a:latin typeface="Segoe UI"/>
                <a:cs typeface="Segoe UI"/>
              </a:rPr>
              <a:t>and</a:t>
            </a:r>
            <a:r>
              <a:rPr dirty="0" sz="900" spc="80">
                <a:solidFill>
                  <a:srgbClr val="FFFFFF"/>
                </a:solidFill>
                <a:latin typeface="Segoe UI"/>
                <a:cs typeface="Segoe UI"/>
              </a:rPr>
              <a:t> </a:t>
            </a:r>
            <a:r>
              <a:rPr dirty="0" sz="900">
                <a:solidFill>
                  <a:srgbClr val="FFFFFF"/>
                </a:solidFill>
                <a:latin typeface="Segoe UI"/>
                <a:cs typeface="Segoe UI"/>
              </a:rPr>
              <a:t>performance;</a:t>
            </a:r>
            <a:r>
              <a:rPr dirty="0" sz="900" spc="165">
                <a:solidFill>
                  <a:srgbClr val="FFFFFF"/>
                </a:solidFill>
                <a:latin typeface="Segoe UI"/>
                <a:cs typeface="Segoe UI"/>
              </a:rPr>
              <a:t> </a:t>
            </a:r>
            <a:r>
              <a:rPr dirty="0" sz="900">
                <a:solidFill>
                  <a:srgbClr val="FFFFFF"/>
                </a:solidFill>
                <a:latin typeface="Segoe UI"/>
                <a:cs typeface="Segoe UI"/>
              </a:rPr>
              <a:t>define</a:t>
            </a:r>
            <a:r>
              <a:rPr dirty="0" sz="900" spc="165">
                <a:solidFill>
                  <a:srgbClr val="FFFFFF"/>
                </a:solidFill>
                <a:latin typeface="Segoe UI"/>
                <a:cs typeface="Segoe UI"/>
              </a:rPr>
              <a:t> </a:t>
            </a:r>
            <a:r>
              <a:rPr dirty="0" sz="900" spc="-20">
                <a:solidFill>
                  <a:srgbClr val="FFFFFF"/>
                </a:solidFill>
                <a:latin typeface="Segoe UI"/>
                <a:cs typeface="Segoe UI"/>
              </a:rPr>
              <a:t>human</a:t>
            </a:r>
            <a:endParaRPr sz="900">
              <a:latin typeface="Segoe UI"/>
              <a:cs typeface="Segoe UI"/>
            </a:endParaRPr>
          </a:p>
          <a:p>
            <a:pPr marL="366395">
              <a:lnSpc>
                <a:spcPct val="100000"/>
              </a:lnSpc>
              <a:spcBef>
                <a:spcPts val="70"/>
              </a:spcBef>
            </a:pPr>
            <a:r>
              <a:rPr dirty="0" sz="900">
                <a:solidFill>
                  <a:srgbClr val="FFFFFF"/>
                </a:solidFill>
                <a:latin typeface="Segoe UI"/>
                <a:cs typeface="Segoe UI"/>
              </a:rPr>
              <a:t>review</a:t>
            </a:r>
            <a:r>
              <a:rPr dirty="0" sz="900" spc="90">
                <a:solidFill>
                  <a:srgbClr val="FFFFFF"/>
                </a:solidFill>
                <a:latin typeface="Segoe UI"/>
                <a:cs typeface="Segoe UI"/>
              </a:rPr>
              <a:t> </a:t>
            </a:r>
            <a:r>
              <a:rPr dirty="0" sz="900">
                <a:solidFill>
                  <a:srgbClr val="FFFFFF"/>
                </a:solidFill>
                <a:latin typeface="Segoe UI"/>
                <a:cs typeface="Segoe UI"/>
              </a:rPr>
              <a:t>and</a:t>
            </a:r>
            <a:r>
              <a:rPr dirty="0" sz="900" spc="160">
                <a:solidFill>
                  <a:srgbClr val="FFFFFF"/>
                </a:solidFill>
                <a:latin typeface="Segoe UI"/>
                <a:cs typeface="Segoe UI"/>
              </a:rPr>
              <a:t> </a:t>
            </a:r>
            <a:r>
              <a:rPr dirty="0" sz="900">
                <a:solidFill>
                  <a:srgbClr val="FFFFFF"/>
                </a:solidFill>
                <a:latin typeface="Segoe UI"/>
                <a:cs typeface="Segoe UI"/>
              </a:rPr>
              <a:t>record</a:t>
            </a:r>
            <a:r>
              <a:rPr dirty="0" sz="900" spc="65">
                <a:solidFill>
                  <a:srgbClr val="FFFFFF"/>
                </a:solidFill>
                <a:latin typeface="Segoe UI"/>
                <a:cs typeface="Segoe UI"/>
              </a:rPr>
              <a:t> </a:t>
            </a:r>
            <a:r>
              <a:rPr dirty="0" sz="900">
                <a:solidFill>
                  <a:srgbClr val="FFFFFF"/>
                </a:solidFill>
                <a:latin typeface="Segoe UI"/>
                <a:cs typeface="Segoe UI"/>
              </a:rPr>
              <a:t>the</a:t>
            </a:r>
            <a:r>
              <a:rPr dirty="0" sz="900" spc="145">
                <a:solidFill>
                  <a:srgbClr val="FFFFFF"/>
                </a:solidFill>
                <a:latin typeface="Segoe UI"/>
                <a:cs typeface="Segoe UI"/>
              </a:rPr>
              <a:t> </a:t>
            </a:r>
            <a:r>
              <a:rPr dirty="0" sz="900">
                <a:solidFill>
                  <a:srgbClr val="FFFFFF"/>
                </a:solidFill>
                <a:latin typeface="Segoe UI"/>
                <a:cs typeface="Segoe UI"/>
              </a:rPr>
              <a:t>final</a:t>
            </a:r>
            <a:r>
              <a:rPr dirty="0" sz="900" spc="114">
                <a:solidFill>
                  <a:srgbClr val="FFFFFF"/>
                </a:solidFill>
                <a:latin typeface="Segoe UI"/>
                <a:cs typeface="Segoe UI"/>
              </a:rPr>
              <a:t> </a:t>
            </a:r>
            <a:r>
              <a:rPr dirty="0" sz="900">
                <a:solidFill>
                  <a:srgbClr val="FFFFFF"/>
                </a:solidFill>
                <a:latin typeface="Segoe UI"/>
                <a:cs typeface="Segoe UI"/>
              </a:rPr>
              <a:t>clinical</a:t>
            </a:r>
            <a:r>
              <a:rPr dirty="0" sz="900" spc="20">
                <a:solidFill>
                  <a:srgbClr val="FFFFFF"/>
                </a:solidFill>
                <a:latin typeface="Segoe UI"/>
                <a:cs typeface="Segoe UI"/>
              </a:rPr>
              <a:t> </a:t>
            </a:r>
            <a:r>
              <a:rPr dirty="0" sz="900" spc="-10">
                <a:solidFill>
                  <a:srgbClr val="FFFFFF"/>
                </a:solidFill>
                <a:latin typeface="Segoe UI"/>
                <a:cs typeface="Segoe UI"/>
              </a:rPr>
              <a:t>decision.</a:t>
            </a:r>
            <a:endParaRPr sz="900">
              <a:latin typeface="Segoe UI"/>
              <a:cs typeface="Segoe UI"/>
            </a:endParaRPr>
          </a:p>
          <a:p>
            <a:pPr>
              <a:lnSpc>
                <a:spcPct val="100000"/>
              </a:lnSpc>
            </a:pPr>
            <a:endParaRPr sz="900">
              <a:latin typeface="Segoe UI"/>
              <a:cs typeface="Segoe UI"/>
            </a:endParaRPr>
          </a:p>
          <a:p>
            <a:pPr>
              <a:lnSpc>
                <a:spcPct val="100000"/>
              </a:lnSpc>
              <a:spcBef>
                <a:spcPts val="1195"/>
              </a:spcBef>
            </a:pPr>
            <a:endParaRPr sz="900">
              <a:latin typeface="Segoe UI"/>
              <a:cs typeface="Segoe UI"/>
            </a:endParaRPr>
          </a:p>
          <a:p>
            <a:pPr marL="366395">
              <a:lnSpc>
                <a:spcPct val="100000"/>
              </a:lnSpc>
            </a:pPr>
            <a:r>
              <a:rPr dirty="0" sz="1350" b="1">
                <a:solidFill>
                  <a:srgbClr val="FFFFFF"/>
                </a:solidFill>
                <a:latin typeface="Segoe UI"/>
                <a:cs typeface="Segoe UI"/>
              </a:rPr>
              <a:t>Govern</a:t>
            </a:r>
            <a:r>
              <a:rPr dirty="0" sz="1350" spc="5" b="1">
                <a:solidFill>
                  <a:srgbClr val="FFFFFF"/>
                </a:solidFill>
                <a:latin typeface="Segoe UI"/>
                <a:cs typeface="Segoe UI"/>
              </a:rPr>
              <a:t> </a:t>
            </a:r>
            <a:r>
              <a:rPr dirty="0" sz="1350" b="1">
                <a:solidFill>
                  <a:srgbClr val="FFFFFF"/>
                </a:solidFill>
                <a:latin typeface="Segoe UI"/>
                <a:cs typeface="Segoe UI"/>
              </a:rPr>
              <a:t>data</a:t>
            </a:r>
            <a:r>
              <a:rPr dirty="0" sz="1350" spc="-40" b="1">
                <a:solidFill>
                  <a:srgbClr val="FFFFFF"/>
                </a:solidFill>
                <a:latin typeface="Segoe UI"/>
                <a:cs typeface="Segoe UI"/>
              </a:rPr>
              <a:t> </a:t>
            </a:r>
            <a:r>
              <a:rPr dirty="0" sz="1350" b="1">
                <a:solidFill>
                  <a:srgbClr val="FFFFFF"/>
                </a:solidFill>
                <a:latin typeface="Segoe UI"/>
                <a:cs typeface="Segoe UI"/>
              </a:rPr>
              <a:t>and</a:t>
            </a:r>
            <a:r>
              <a:rPr dirty="0" sz="1350" spc="-80" b="1">
                <a:solidFill>
                  <a:srgbClr val="FFFFFF"/>
                </a:solidFill>
                <a:latin typeface="Segoe UI"/>
                <a:cs typeface="Segoe UI"/>
              </a:rPr>
              <a:t> </a:t>
            </a:r>
            <a:r>
              <a:rPr dirty="0" sz="1350" spc="-10" b="1">
                <a:solidFill>
                  <a:srgbClr val="FFFFFF"/>
                </a:solidFill>
                <a:latin typeface="Segoe UI"/>
                <a:cs typeface="Segoe UI"/>
              </a:rPr>
              <a:t>traceability</a:t>
            </a:r>
            <a:endParaRPr sz="1350">
              <a:latin typeface="Segoe UI"/>
              <a:cs typeface="Segoe UI"/>
            </a:endParaRPr>
          </a:p>
          <a:p>
            <a:pPr marL="366395" marR="379730">
              <a:lnSpc>
                <a:spcPct val="106900"/>
              </a:lnSpc>
              <a:spcBef>
                <a:spcPts val="484"/>
              </a:spcBef>
            </a:pPr>
            <a:r>
              <a:rPr dirty="0" sz="900">
                <a:solidFill>
                  <a:srgbClr val="FFFFFF"/>
                </a:solidFill>
                <a:latin typeface="Segoe UI"/>
                <a:cs typeface="Segoe UI"/>
              </a:rPr>
              <a:t>Enforce</a:t>
            </a:r>
            <a:r>
              <a:rPr dirty="0" sz="900" spc="90">
                <a:solidFill>
                  <a:srgbClr val="FFFFFF"/>
                </a:solidFill>
                <a:latin typeface="Segoe UI"/>
                <a:cs typeface="Segoe UI"/>
              </a:rPr>
              <a:t> </a:t>
            </a:r>
            <a:r>
              <a:rPr dirty="0" sz="900">
                <a:solidFill>
                  <a:srgbClr val="FFFFFF"/>
                </a:solidFill>
                <a:latin typeface="Segoe UI"/>
                <a:cs typeface="Segoe UI"/>
              </a:rPr>
              <a:t>permissions;</a:t>
            </a:r>
            <a:r>
              <a:rPr dirty="0" sz="900" spc="100">
                <a:solidFill>
                  <a:srgbClr val="FFFFFF"/>
                </a:solidFill>
                <a:latin typeface="Segoe UI"/>
                <a:cs typeface="Segoe UI"/>
              </a:rPr>
              <a:t> </a:t>
            </a:r>
            <a:r>
              <a:rPr dirty="0" sz="900">
                <a:solidFill>
                  <a:srgbClr val="FFFFFF"/>
                </a:solidFill>
                <a:latin typeface="Segoe UI"/>
                <a:cs typeface="Segoe UI"/>
              </a:rPr>
              <a:t>version</a:t>
            </a:r>
            <a:r>
              <a:rPr dirty="0" sz="900" spc="145">
                <a:solidFill>
                  <a:srgbClr val="FFFFFF"/>
                </a:solidFill>
                <a:latin typeface="Segoe UI"/>
                <a:cs typeface="Segoe UI"/>
              </a:rPr>
              <a:t> </a:t>
            </a:r>
            <a:r>
              <a:rPr dirty="0" sz="900">
                <a:solidFill>
                  <a:srgbClr val="FFFFFF"/>
                </a:solidFill>
                <a:latin typeface="Segoe UI"/>
                <a:cs typeface="Segoe UI"/>
              </a:rPr>
              <a:t>data</a:t>
            </a:r>
            <a:r>
              <a:rPr dirty="0" sz="900" spc="114">
                <a:solidFill>
                  <a:srgbClr val="FFFFFF"/>
                </a:solidFill>
                <a:latin typeface="Segoe UI"/>
                <a:cs typeface="Segoe UI"/>
              </a:rPr>
              <a:t> </a:t>
            </a:r>
            <a:r>
              <a:rPr dirty="0" sz="900">
                <a:solidFill>
                  <a:srgbClr val="FFFFFF"/>
                </a:solidFill>
                <a:latin typeface="Segoe UI"/>
                <a:cs typeface="Segoe UI"/>
              </a:rPr>
              <a:t>and</a:t>
            </a:r>
            <a:r>
              <a:rPr dirty="0" sz="900" spc="220">
                <a:solidFill>
                  <a:srgbClr val="FFFFFF"/>
                </a:solidFill>
                <a:latin typeface="Segoe UI"/>
                <a:cs typeface="Segoe UI"/>
              </a:rPr>
              <a:t> </a:t>
            </a:r>
            <a:r>
              <a:rPr dirty="0" sz="900" spc="-10">
                <a:solidFill>
                  <a:srgbClr val="FFFFFF"/>
                </a:solidFill>
                <a:latin typeface="Segoe UI"/>
                <a:cs typeface="Segoe UI"/>
              </a:rPr>
              <a:t>models; </a:t>
            </a:r>
            <a:r>
              <a:rPr dirty="0" sz="900">
                <a:solidFill>
                  <a:srgbClr val="FFFFFF"/>
                </a:solidFill>
                <a:latin typeface="Segoe UI"/>
                <a:cs typeface="Segoe UI"/>
              </a:rPr>
              <a:t>retain</a:t>
            </a:r>
            <a:r>
              <a:rPr dirty="0" sz="900" spc="160">
                <a:solidFill>
                  <a:srgbClr val="FFFFFF"/>
                </a:solidFill>
                <a:latin typeface="Segoe UI"/>
                <a:cs typeface="Segoe UI"/>
              </a:rPr>
              <a:t> </a:t>
            </a:r>
            <a:r>
              <a:rPr dirty="0" sz="900">
                <a:solidFill>
                  <a:srgbClr val="FFFFFF"/>
                </a:solidFill>
                <a:latin typeface="Segoe UI"/>
                <a:cs typeface="Segoe UI"/>
              </a:rPr>
              <a:t>reconstructable</a:t>
            </a:r>
            <a:r>
              <a:rPr dirty="0" sz="900" spc="204">
                <a:solidFill>
                  <a:srgbClr val="FFFFFF"/>
                </a:solidFill>
                <a:latin typeface="Segoe UI"/>
                <a:cs typeface="Segoe UI"/>
              </a:rPr>
              <a:t> </a:t>
            </a:r>
            <a:r>
              <a:rPr dirty="0" sz="900">
                <a:solidFill>
                  <a:srgbClr val="FFFFFF"/>
                </a:solidFill>
                <a:latin typeface="Segoe UI"/>
                <a:cs typeface="Segoe UI"/>
              </a:rPr>
              <a:t>inputs,</a:t>
            </a:r>
            <a:r>
              <a:rPr dirty="0" sz="900" spc="110">
                <a:solidFill>
                  <a:srgbClr val="FFFFFF"/>
                </a:solidFill>
                <a:latin typeface="Segoe UI"/>
                <a:cs typeface="Segoe UI"/>
              </a:rPr>
              <a:t> </a:t>
            </a:r>
            <a:r>
              <a:rPr dirty="0" sz="900">
                <a:solidFill>
                  <a:srgbClr val="FFFFFF"/>
                </a:solidFill>
                <a:latin typeface="Segoe UI"/>
                <a:cs typeface="Segoe UI"/>
              </a:rPr>
              <a:t>logs</a:t>
            </a:r>
            <a:r>
              <a:rPr dirty="0" sz="900" spc="135">
                <a:solidFill>
                  <a:srgbClr val="FFFFFF"/>
                </a:solidFill>
                <a:latin typeface="Segoe UI"/>
                <a:cs typeface="Segoe UI"/>
              </a:rPr>
              <a:t> </a:t>
            </a:r>
            <a:r>
              <a:rPr dirty="0" sz="900" spc="-25">
                <a:solidFill>
                  <a:srgbClr val="FFFFFF"/>
                </a:solidFill>
                <a:latin typeface="Segoe UI"/>
                <a:cs typeface="Segoe UI"/>
              </a:rPr>
              <a:t>and </a:t>
            </a:r>
            <a:r>
              <a:rPr dirty="0" sz="900" spc="-10">
                <a:solidFill>
                  <a:srgbClr val="FFFFFF"/>
                </a:solidFill>
                <a:latin typeface="Segoe UI"/>
                <a:cs typeface="Segoe UI"/>
              </a:rPr>
              <a:t>monitoring.</a:t>
            </a:r>
            <a:endParaRPr sz="900">
              <a:latin typeface="Segoe UI"/>
              <a:cs typeface="Segoe U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prstGeom prst="rect"/>
        </p:spPr>
        <p:txBody>
          <a:bodyPr wrap="square" lIns="0" tIns="70027" rIns="0" bIns="0" rtlCol="0" vert="horz">
            <a:spAutoFit/>
          </a:bodyPr>
          <a:lstStyle/>
          <a:p>
            <a:pPr marL="165735">
              <a:lnSpc>
                <a:spcPct val="100000"/>
              </a:lnSpc>
              <a:spcBef>
                <a:spcPts val="120"/>
              </a:spcBef>
            </a:pPr>
            <a:r>
              <a:rPr dirty="0">
                <a:solidFill>
                  <a:srgbClr val="003E34"/>
                </a:solidFill>
                <a:latin typeface="Segoe UI"/>
                <a:cs typeface="Segoe UI"/>
              </a:rPr>
              <a:t>Yet</a:t>
            </a:r>
            <a:r>
              <a:rPr dirty="0" spc="30">
                <a:solidFill>
                  <a:srgbClr val="003E34"/>
                </a:solidFill>
                <a:latin typeface="Segoe UI"/>
                <a:cs typeface="Segoe UI"/>
              </a:rPr>
              <a:t> </a:t>
            </a:r>
            <a:r>
              <a:rPr dirty="0">
                <a:solidFill>
                  <a:srgbClr val="003E34"/>
                </a:solidFill>
                <a:latin typeface="Segoe UI"/>
                <a:cs typeface="Segoe UI"/>
              </a:rPr>
              <a:t>not</a:t>
            </a:r>
            <a:r>
              <a:rPr dirty="0" spc="50">
                <a:solidFill>
                  <a:srgbClr val="003E34"/>
                </a:solidFill>
                <a:latin typeface="Segoe UI"/>
                <a:cs typeface="Segoe UI"/>
              </a:rPr>
              <a:t> </a:t>
            </a:r>
            <a:r>
              <a:rPr dirty="0">
                <a:solidFill>
                  <a:srgbClr val="003E34"/>
                </a:solidFill>
                <a:latin typeface="Segoe UI"/>
                <a:cs typeface="Segoe UI"/>
              </a:rPr>
              <a:t>all</a:t>
            </a:r>
            <a:r>
              <a:rPr dirty="0" spc="15">
                <a:solidFill>
                  <a:srgbClr val="003E34"/>
                </a:solidFill>
                <a:latin typeface="Segoe UI"/>
                <a:cs typeface="Segoe UI"/>
              </a:rPr>
              <a:t> </a:t>
            </a:r>
            <a:r>
              <a:rPr dirty="0">
                <a:solidFill>
                  <a:srgbClr val="003E34"/>
                </a:solidFill>
                <a:latin typeface="Segoe UI"/>
                <a:cs typeface="Segoe UI"/>
              </a:rPr>
              <a:t>institutions</a:t>
            </a:r>
            <a:r>
              <a:rPr dirty="0" spc="25">
                <a:solidFill>
                  <a:srgbClr val="003E34"/>
                </a:solidFill>
                <a:latin typeface="Segoe UI"/>
                <a:cs typeface="Segoe UI"/>
              </a:rPr>
              <a:t> </a:t>
            </a:r>
            <a:r>
              <a:rPr dirty="0">
                <a:solidFill>
                  <a:srgbClr val="003E34"/>
                </a:solidFill>
                <a:latin typeface="Segoe UI"/>
                <a:cs typeface="Segoe UI"/>
              </a:rPr>
              <a:t>are</a:t>
            </a:r>
            <a:r>
              <a:rPr dirty="0" spc="60">
                <a:solidFill>
                  <a:srgbClr val="003E34"/>
                </a:solidFill>
                <a:latin typeface="Segoe UI"/>
                <a:cs typeface="Segoe UI"/>
              </a:rPr>
              <a:t> </a:t>
            </a:r>
            <a:r>
              <a:rPr dirty="0" spc="-10">
                <a:solidFill>
                  <a:srgbClr val="003E34"/>
                </a:solidFill>
                <a:latin typeface="Segoe UI"/>
                <a:cs typeface="Segoe UI"/>
              </a:rPr>
              <a:t>prepared…</a:t>
            </a:r>
          </a:p>
        </p:txBody>
      </p:sp>
      <p:pic>
        <p:nvPicPr>
          <p:cNvPr id="4" name="object 4"/>
          <p:cNvPicPr/>
          <p:nvPr/>
        </p:nvPicPr>
        <p:blipFill>
          <a:blip r:embed="rId3" cstate="print"/>
          <a:stretch>
            <a:fillRect/>
          </a:stretch>
        </p:blipFill>
        <p:spPr>
          <a:xfrm>
            <a:off x="1298447" y="1280541"/>
            <a:ext cx="10204704" cy="42986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5799" y="478282"/>
            <a:ext cx="4017010" cy="949325"/>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latin typeface="Segoe UI"/>
                <a:cs typeface="Segoe UI"/>
              </a:rPr>
              <a:t>Three</a:t>
            </a:r>
            <a:r>
              <a:rPr dirty="0" spc="125">
                <a:solidFill>
                  <a:srgbClr val="003E34"/>
                </a:solidFill>
                <a:latin typeface="Segoe UI"/>
                <a:cs typeface="Segoe UI"/>
              </a:rPr>
              <a:t> </a:t>
            </a:r>
            <a:r>
              <a:rPr dirty="0">
                <a:solidFill>
                  <a:srgbClr val="003E34"/>
                </a:solidFill>
                <a:latin typeface="Segoe UI"/>
                <a:cs typeface="Segoe UI"/>
              </a:rPr>
              <a:t>audiences</a:t>
            </a:r>
            <a:r>
              <a:rPr dirty="0" spc="170">
                <a:solidFill>
                  <a:srgbClr val="003E34"/>
                </a:solidFill>
                <a:latin typeface="Segoe UI"/>
                <a:cs typeface="Segoe UI"/>
              </a:rPr>
              <a:t> </a:t>
            </a:r>
            <a:r>
              <a:rPr dirty="0" spc="-20">
                <a:solidFill>
                  <a:srgbClr val="003E34"/>
                </a:solidFill>
                <a:latin typeface="Segoe UI"/>
                <a:cs typeface="Segoe UI"/>
              </a:rPr>
              <a:t>face </a:t>
            </a:r>
            <a:r>
              <a:rPr dirty="0">
                <a:solidFill>
                  <a:srgbClr val="003E34"/>
                </a:solidFill>
                <a:latin typeface="Segoe UI"/>
                <a:cs typeface="Segoe UI"/>
              </a:rPr>
              <a:t>different</a:t>
            </a:r>
            <a:r>
              <a:rPr dirty="0" spc="145">
                <a:solidFill>
                  <a:srgbClr val="003E34"/>
                </a:solidFill>
                <a:latin typeface="Segoe UI"/>
                <a:cs typeface="Segoe UI"/>
              </a:rPr>
              <a:t> </a:t>
            </a:r>
            <a:r>
              <a:rPr dirty="0" spc="-10">
                <a:solidFill>
                  <a:srgbClr val="003E34"/>
                </a:solidFill>
                <a:latin typeface="Segoe UI"/>
                <a:cs typeface="Segoe UI"/>
              </a:rPr>
              <a:t>obligations</a:t>
            </a:r>
          </a:p>
        </p:txBody>
      </p:sp>
      <p:grpSp>
        <p:nvGrpSpPr>
          <p:cNvPr id="3" name="object 3"/>
          <p:cNvGrpSpPr/>
          <p:nvPr/>
        </p:nvGrpSpPr>
        <p:grpSpPr>
          <a:xfrm>
            <a:off x="994917" y="1745107"/>
            <a:ext cx="10226675" cy="3605529"/>
            <a:chOff x="994917" y="1745107"/>
            <a:chExt cx="10226675" cy="3605529"/>
          </a:xfrm>
        </p:grpSpPr>
        <p:sp>
          <p:nvSpPr>
            <p:cNvPr id="4" name="object 4"/>
            <p:cNvSpPr/>
            <p:nvPr/>
          </p:nvSpPr>
          <p:spPr>
            <a:xfrm>
              <a:off x="4864608" y="1820164"/>
              <a:ext cx="2432685" cy="2268220"/>
            </a:xfrm>
            <a:custGeom>
              <a:avLst/>
              <a:gdLst/>
              <a:ahLst/>
              <a:cxnLst/>
              <a:rect l="l" t="t" r="r" b="b"/>
              <a:pathLst>
                <a:path w="2432684" h="2268220">
                  <a:moveTo>
                    <a:pt x="1216278" y="0"/>
                  </a:moveTo>
                  <a:lnTo>
                    <a:pt x="1168522" y="916"/>
                  </a:lnTo>
                  <a:lnTo>
                    <a:pt x="1121231" y="3643"/>
                  </a:lnTo>
                  <a:lnTo>
                    <a:pt x="1074440" y="8147"/>
                  </a:lnTo>
                  <a:lnTo>
                    <a:pt x="1028183" y="14393"/>
                  </a:lnTo>
                  <a:lnTo>
                    <a:pt x="982494" y="22350"/>
                  </a:lnTo>
                  <a:lnTo>
                    <a:pt x="937406" y="31982"/>
                  </a:lnTo>
                  <a:lnTo>
                    <a:pt x="892954" y="43257"/>
                  </a:lnTo>
                  <a:lnTo>
                    <a:pt x="849170" y="56140"/>
                  </a:lnTo>
                  <a:lnTo>
                    <a:pt x="806089" y="70598"/>
                  </a:lnTo>
                  <a:lnTo>
                    <a:pt x="763745" y="86597"/>
                  </a:lnTo>
                  <a:lnTo>
                    <a:pt x="722172" y="104104"/>
                  </a:lnTo>
                  <a:lnTo>
                    <a:pt x="681403" y="123085"/>
                  </a:lnTo>
                  <a:lnTo>
                    <a:pt x="641471" y="143507"/>
                  </a:lnTo>
                  <a:lnTo>
                    <a:pt x="602412" y="165335"/>
                  </a:lnTo>
                  <a:lnTo>
                    <a:pt x="564259" y="188536"/>
                  </a:lnTo>
                  <a:lnTo>
                    <a:pt x="527045" y="213077"/>
                  </a:lnTo>
                  <a:lnTo>
                    <a:pt x="490804" y="238923"/>
                  </a:lnTo>
                  <a:lnTo>
                    <a:pt x="455570" y="266042"/>
                  </a:lnTo>
                  <a:lnTo>
                    <a:pt x="421378" y="294399"/>
                  </a:lnTo>
                  <a:lnTo>
                    <a:pt x="388260" y="323961"/>
                  </a:lnTo>
                  <a:lnTo>
                    <a:pt x="356250" y="354695"/>
                  </a:lnTo>
                  <a:lnTo>
                    <a:pt x="325383" y="386566"/>
                  </a:lnTo>
                  <a:lnTo>
                    <a:pt x="295692" y="419541"/>
                  </a:lnTo>
                  <a:lnTo>
                    <a:pt x="267212" y="453586"/>
                  </a:lnTo>
                  <a:lnTo>
                    <a:pt x="239974" y="488668"/>
                  </a:lnTo>
                  <a:lnTo>
                    <a:pt x="214015" y="524753"/>
                  </a:lnTo>
                  <a:lnTo>
                    <a:pt x="189367" y="561807"/>
                  </a:lnTo>
                  <a:lnTo>
                    <a:pt x="166064" y="599797"/>
                  </a:lnTo>
                  <a:lnTo>
                    <a:pt x="144140" y="638689"/>
                  </a:lnTo>
                  <a:lnTo>
                    <a:pt x="123629" y="678450"/>
                  </a:lnTo>
                  <a:lnTo>
                    <a:pt x="104564" y="719045"/>
                  </a:lnTo>
                  <a:lnTo>
                    <a:pt x="86980" y="760442"/>
                  </a:lnTo>
                  <a:lnTo>
                    <a:pt x="70910" y="802606"/>
                  </a:lnTo>
                  <a:lnTo>
                    <a:pt x="56388" y="845504"/>
                  </a:lnTo>
                  <a:lnTo>
                    <a:pt x="43448" y="889102"/>
                  </a:lnTo>
                  <a:lnTo>
                    <a:pt x="32124" y="933367"/>
                  </a:lnTo>
                  <a:lnTo>
                    <a:pt x="22449" y="978265"/>
                  </a:lnTo>
                  <a:lnTo>
                    <a:pt x="14457" y="1023762"/>
                  </a:lnTo>
                  <a:lnTo>
                    <a:pt x="8183" y="1069825"/>
                  </a:lnTo>
                  <a:lnTo>
                    <a:pt x="3659" y="1116420"/>
                  </a:lnTo>
                  <a:lnTo>
                    <a:pt x="920" y="1163513"/>
                  </a:lnTo>
                  <a:lnTo>
                    <a:pt x="0" y="1211072"/>
                  </a:lnTo>
                  <a:lnTo>
                    <a:pt x="396" y="1242726"/>
                  </a:lnTo>
                  <a:lnTo>
                    <a:pt x="5335" y="1325215"/>
                  </a:lnTo>
                  <a:lnTo>
                    <a:pt x="11117" y="1375635"/>
                  </a:lnTo>
                  <a:lnTo>
                    <a:pt x="18952" y="1425405"/>
                  </a:lnTo>
                  <a:lnTo>
                    <a:pt x="28797" y="1474483"/>
                  </a:lnTo>
                  <a:lnTo>
                    <a:pt x="40609" y="1522825"/>
                  </a:lnTo>
                  <a:lnTo>
                    <a:pt x="54343" y="1570388"/>
                  </a:lnTo>
                  <a:lnTo>
                    <a:pt x="69957" y="1617128"/>
                  </a:lnTo>
                  <a:lnTo>
                    <a:pt x="87405" y="1663002"/>
                  </a:lnTo>
                  <a:lnTo>
                    <a:pt x="106646" y="1707966"/>
                  </a:lnTo>
                  <a:lnTo>
                    <a:pt x="127634" y="1751977"/>
                  </a:lnTo>
                  <a:lnTo>
                    <a:pt x="150328" y="1794991"/>
                  </a:lnTo>
                  <a:lnTo>
                    <a:pt x="174681" y="1836966"/>
                  </a:lnTo>
                  <a:lnTo>
                    <a:pt x="200652" y="1877856"/>
                  </a:lnTo>
                  <a:lnTo>
                    <a:pt x="228197" y="1917620"/>
                  </a:lnTo>
                  <a:lnTo>
                    <a:pt x="257271" y="1956214"/>
                  </a:lnTo>
                  <a:lnTo>
                    <a:pt x="287832" y="1993594"/>
                  </a:lnTo>
                  <a:lnTo>
                    <a:pt x="319835" y="2029716"/>
                  </a:lnTo>
                  <a:lnTo>
                    <a:pt x="353237" y="2064538"/>
                  </a:lnTo>
                  <a:lnTo>
                    <a:pt x="387994" y="2098016"/>
                  </a:lnTo>
                  <a:lnTo>
                    <a:pt x="424063" y="2130105"/>
                  </a:lnTo>
                  <a:lnTo>
                    <a:pt x="461399" y="2160764"/>
                  </a:lnTo>
                  <a:lnTo>
                    <a:pt x="499961" y="2189949"/>
                  </a:lnTo>
                  <a:lnTo>
                    <a:pt x="539702" y="2217615"/>
                  </a:lnTo>
                  <a:lnTo>
                    <a:pt x="580581" y="2243720"/>
                  </a:lnTo>
                  <a:lnTo>
                    <a:pt x="622553" y="2268220"/>
                  </a:lnTo>
                  <a:lnTo>
                    <a:pt x="625600" y="2217126"/>
                  </a:lnTo>
                  <a:lnTo>
                    <a:pt x="630750" y="2166621"/>
                  </a:lnTo>
                  <a:lnTo>
                    <a:pt x="637958" y="2116750"/>
                  </a:lnTo>
                  <a:lnTo>
                    <a:pt x="647182" y="2067554"/>
                  </a:lnTo>
                  <a:lnTo>
                    <a:pt x="658379" y="2019078"/>
                  </a:lnTo>
                  <a:lnTo>
                    <a:pt x="671504" y="1971364"/>
                  </a:lnTo>
                  <a:lnTo>
                    <a:pt x="686515" y="1924456"/>
                  </a:lnTo>
                  <a:lnTo>
                    <a:pt x="703369" y="1878397"/>
                  </a:lnTo>
                  <a:lnTo>
                    <a:pt x="722021" y="1833230"/>
                  </a:lnTo>
                  <a:lnTo>
                    <a:pt x="742429" y="1788999"/>
                  </a:lnTo>
                  <a:lnTo>
                    <a:pt x="764550" y="1745746"/>
                  </a:lnTo>
                  <a:lnTo>
                    <a:pt x="788339" y="1703516"/>
                  </a:lnTo>
                  <a:lnTo>
                    <a:pt x="813753" y="1662350"/>
                  </a:lnTo>
                  <a:lnTo>
                    <a:pt x="840750" y="1622294"/>
                  </a:lnTo>
                  <a:lnTo>
                    <a:pt x="869286" y="1583389"/>
                  </a:lnTo>
                  <a:lnTo>
                    <a:pt x="899317" y="1545679"/>
                  </a:lnTo>
                  <a:lnTo>
                    <a:pt x="930801" y="1509207"/>
                  </a:lnTo>
                  <a:lnTo>
                    <a:pt x="963693" y="1474017"/>
                  </a:lnTo>
                  <a:lnTo>
                    <a:pt x="997950" y="1440152"/>
                  </a:lnTo>
                  <a:lnTo>
                    <a:pt x="1033530" y="1407655"/>
                  </a:lnTo>
                  <a:lnTo>
                    <a:pt x="1070388" y="1376570"/>
                  </a:lnTo>
                  <a:lnTo>
                    <a:pt x="1108481" y="1346939"/>
                  </a:lnTo>
                  <a:lnTo>
                    <a:pt x="1147767" y="1318805"/>
                  </a:lnTo>
                  <a:lnTo>
                    <a:pt x="1188201" y="1292213"/>
                  </a:lnTo>
                  <a:lnTo>
                    <a:pt x="1229740" y="1267206"/>
                  </a:lnTo>
                  <a:lnTo>
                    <a:pt x="1271536" y="1244197"/>
                  </a:lnTo>
                  <a:lnTo>
                    <a:pt x="1314306" y="1222794"/>
                  </a:lnTo>
                  <a:lnTo>
                    <a:pt x="1358011" y="1203037"/>
                  </a:lnTo>
                  <a:lnTo>
                    <a:pt x="1402613" y="1184967"/>
                  </a:lnTo>
                  <a:lnTo>
                    <a:pt x="1448071" y="1168626"/>
                  </a:lnTo>
                  <a:lnTo>
                    <a:pt x="1494345" y="1154054"/>
                  </a:lnTo>
                  <a:lnTo>
                    <a:pt x="1541397" y="1141292"/>
                  </a:lnTo>
                  <a:lnTo>
                    <a:pt x="1589187" y="1130382"/>
                  </a:lnTo>
                  <a:lnTo>
                    <a:pt x="1637674" y="1121363"/>
                  </a:lnTo>
                  <a:lnTo>
                    <a:pt x="1686821" y="1114277"/>
                  </a:lnTo>
                  <a:lnTo>
                    <a:pt x="1736586" y="1109165"/>
                  </a:lnTo>
                  <a:lnTo>
                    <a:pt x="1786931" y="1106068"/>
                  </a:lnTo>
                  <a:lnTo>
                    <a:pt x="1837816" y="1105027"/>
                  </a:lnTo>
                  <a:lnTo>
                    <a:pt x="1891418" y="1106180"/>
                  </a:lnTo>
                  <a:lnTo>
                    <a:pt x="1944431" y="1109611"/>
                  </a:lnTo>
                  <a:lnTo>
                    <a:pt x="1996807" y="1115272"/>
                  </a:lnTo>
                  <a:lnTo>
                    <a:pt x="2048495" y="1123117"/>
                  </a:lnTo>
                  <a:lnTo>
                    <a:pt x="2099449" y="1133100"/>
                  </a:lnTo>
                  <a:lnTo>
                    <a:pt x="2149617" y="1145174"/>
                  </a:lnTo>
                  <a:lnTo>
                    <a:pt x="2198953" y="1159294"/>
                  </a:lnTo>
                  <a:lnTo>
                    <a:pt x="2247406" y="1175413"/>
                  </a:lnTo>
                  <a:lnTo>
                    <a:pt x="2294927" y="1193484"/>
                  </a:lnTo>
                  <a:lnTo>
                    <a:pt x="2341469" y="1213462"/>
                  </a:lnTo>
                  <a:lnTo>
                    <a:pt x="2386981" y="1235299"/>
                  </a:lnTo>
                  <a:lnTo>
                    <a:pt x="2431415" y="1258951"/>
                  </a:lnTo>
                  <a:lnTo>
                    <a:pt x="2431768" y="1246967"/>
                  </a:lnTo>
                  <a:lnTo>
                    <a:pt x="2431383" y="1163395"/>
                  </a:lnTo>
                  <a:lnTo>
                    <a:pt x="2428646" y="1116309"/>
                  </a:lnTo>
                  <a:lnTo>
                    <a:pt x="2424124" y="1069720"/>
                  </a:lnTo>
                  <a:lnTo>
                    <a:pt x="2417852" y="1023662"/>
                  </a:lnTo>
                  <a:lnTo>
                    <a:pt x="2409864" y="978169"/>
                  </a:lnTo>
                  <a:lnTo>
                    <a:pt x="2400193" y="933274"/>
                  </a:lnTo>
                  <a:lnTo>
                    <a:pt x="2388874" y="889011"/>
                  </a:lnTo>
                  <a:lnTo>
                    <a:pt x="2375939" y="845414"/>
                  </a:lnTo>
                  <a:lnTo>
                    <a:pt x="2361423" y="802517"/>
                  </a:lnTo>
                  <a:lnTo>
                    <a:pt x="2345359" y="760353"/>
                  </a:lnTo>
                  <a:lnTo>
                    <a:pt x="2327782" y="718956"/>
                  </a:lnTo>
                  <a:lnTo>
                    <a:pt x="2308725" y="678359"/>
                  </a:lnTo>
                  <a:lnTo>
                    <a:pt x="2288221" y="638597"/>
                  </a:lnTo>
                  <a:lnTo>
                    <a:pt x="2266305" y="599703"/>
                  </a:lnTo>
                  <a:lnTo>
                    <a:pt x="2243010" y="561711"/>
                  </a:lnTo>
                  <a:lnTo>
                    <a:pt x="2218371" y="524654"/>
                  </a:lnTo>
                  <a:lnTo>
                    <a:pt x="2192420" y="488567"/>
                  </a:lnTo>
                  <a:lnTo>
                    <a:pt x="2165191" y="453482"/>
                  </a:lnTo>
                  <a:lnTo>
                    <a:pt x="2136719" y="419434"/>
                  </a:lnTo>
                  <a:lnTo>
                    <a:pt x="2107038" y="386457"/>
                  </a:lnTo>
                  <a:lnTo>
                    <a:pt x="2076180" y="354583"/>
                  </a:lnTo>
                  <a:lnTo>
                    <a:pt x="2044179" y="323848"/>
                  </a:lnTo>
                  <a:lnTo>
                    <a:pt x="2011070" y="294284"/>
                  </a:lnTo>
                  <a:lnTo>
                    <a:pt x="1976887" y="265925"/>
                  </a:lnTo>
                  <a:lnTo>
                    <a:pt x="1941662" y="238806"/>
                  </a:lnTo>
                  <a:lnTo>
                    <a:pt x="1905430" y="212958"/>
                  </a:lnTo>
                  <a:lnTo>
                    <a:pt x="1868224" y="188418"/>
                  </a:lnTo>
                  <a:lnTo>
                    <a:pt x="1830079" y="165217"/>
                  </a:lnTo>
                  <a:lnTo>
                    <a:pt x="1791028" y="143390"/>
                  </a:lnTo>
                  <a:lnTo>
                    <a:pt x="1751104" y="122971"/>
                  </a:lnTo>
                  <a:lnTo>
                    <a:pt x="1710342" y="103993"/>
                  </a:lnTo>
                  <a:lnTo>
                    <a:pt x="1668775" y="86490"/>
                  </a:lnTo>
                  <a:lnTo>
                    <a:pt x="1626438" y="70496"/>
                  </a:lnTo>
                  <a:lnTo>
                    <a:pt x="1583363" y="56044"/>
                  </a:lnTo>
                  <a:lnTo>
                    <a:pt x="1539585" y="43168"/>
                  </a:lnTo>
                  <a:lnTo>
                    <a:pt x="1495137" y="31902"/>
                  </a:lnTo>
                  <a:lnTo>
                    <a:pt x="1450053" y="22279"/>
                  </a:lnTo>
                  <a:lnTo>
                    <a:pt x="1404367" y="14334"/>
                  </a:lnTo>
                  <a:lnTo>
                    <a:pt x="1358113" y="8100"/>
                  </a:lnTo>
                  <a:lnTo>
                    <a:pt x="1311325" y="3610"/>
                  </a:lnTo>
                  <a:lnTo>
                    <a:pt x="1264035" y="899"/>
                  </a:lnTo>
                  <a:lnTo>
                    <a:pt x="1216278" y="0"/>
                  </a:lnTo>
                  <a:close/>
                </a:path>
              </a:pathLst>
            </a:custGeom>
            <a:solidFill>
              <a:srgbClr val="4471C4"/>
            </a:solidFill>
          </p:spPr>
          <p:txBody>
            <a:bodyPr wrap="square" lIns="0" tIns="0" rIns="0" bIns="0" rtlCol="0"/>
            <a:lstStyle/>
            <a:p/>
          </p:txBody>
        </p:sp>
        <p:sp>
          <p:nvSpPr>
            <p:cNvPr id="5" name="object 5"/>
            <p:cNvSpPr/>
            <p:nvPr/>
          </p:nvSpPr>
          <p:spPr>
            <a:xfrm>
              <a:off x="5486400" y="3091434"/>
              <a:ext cx="1216660" cy="1152525"/>
            </a:xfrm>
            <a:custGeom>
              <a:avLst/>
              <a:gdLst/>
              <a:ahLst/>
              <a:cxnLst/>
              <a:rect l="l" t="t" r="r" b="b"/>
              <a:pathLst>
                <a:path w="1216659" h="1152525">
                  <a:moveTo>
                    <a:pt x="608457" y="0"/>
                  </a:moveTo>
                  <a:lnTo>
                    <a:pt x="566827" y="24959"/>
                  </a:lnTo>
                  <a:lnTo>
                    <a:pt x="526307" y="51498"/>
                  </a:lnTo>
                  <a:lnTo>
                    <a:pt x="486939" y="79574"/>
                  </a:lnTo>
                  <a:lnTo>
                    <a:pt x="448767" y="109144"/>
                  </a:lnTo>
                  <a:lnTo>
                    <a:pt x="411833" y="140164"/>
                  </a:lnTo>
                  <a:lnTo>
                    <a:pt x="376181" y="172591"/>
                  </a:lnTo>
                  <a:lnTo>
                    <a:pt x="341855" y="206383"/>
                  </a:lnTo>
                  <a:lnTo>
                    <a:pt x="308898" y="241496"/>
                  </a:lnTo>
                  <a:lnTo>
                    <a:pt x="277352" y="277888"/>
                  </a:lnTo>
                  <a:lnTo>
                    <a:pt x="247262" y="315514"/>
                  </a:lnTo>
                  <a:lnTo>
                    <a:pt x="218671" y="354333"/>
                  </a:lnTo>
                  <a:lnTo>
                    <a:pt x="191621" y="394301"/>
                  </a:lnTo>
                  <a:lnTo>
                    <a:pt x="166157" y="435375"/>
                  </a:lnTo>
                  <a:lnTo>
                    <a:pt x="142322" y="477511"/>
                  </a:lnTo>
                  <a:lnTo>
                    <a:pt x="120158" y="520668"/>
                  </a:lnTo>
                  <a:lnTo>
                    <a:pt x="99709" y="564801"/>
                  </a:lnTo>
                  <a:lnTo>
                    <a:pt x="81019" y="609869"/>
                  </a:lnTo>
                  <a:lnTo>
                    <a:pt x="64131" y="655827"/>
                  </a:lnTo>
                  <a:lnTo>
                    <a:pt x="49087" y="702632"/>
                  </a:lnTo>
                  <a:lnTo>
                    <a:pt x="35932" y="750242"/>
                  </a:lnTo>
                  <a:lnTo>
                    <a:pt x="24709" y="798614"/>
                  </a:lnTo>
                  <a:lnTo>
                    <a:pt x="15461" y="847704"/>
                  </a:lnTo>
                  <a:lnTo>
                    <a:pt x="8231" y="897470"/>
                  </a:lnTo>
                  <a:lnTo>
                    <a:pt x="3063" y="947867"/>
                  </a:lnTo>
                  <a:lnTo>
                    <a:pt x="0" y="998854"/>
                  </a:lnTo>
                  <a:lnTo>
                    <a:pt x="44529" y="1022418"/>
                  </a:lnTo>
                  <a:lnTo>
                    <a:pt x="90137" y="1044183"/>
                  </a:lnTo>
                  <a:lnTo>
                    <a:pt x="136775" y="1064101"/>
                  </a:lnTo>
                  <a:lnTo>
                    <a:pt x="184394" y="1082124"/>
                  </a:lnTo>
                  <a:lnTo>
                    <a:pt x="232947" y="1098206"/>
                  </a:lnTo>
                  <a:lnTo>
                    <a:pt x="282384" y="1112297"/>
                  </a:lnTo>
                  <a:lnTo>
                    <a:pt x="332657" y="1124352"/>
                  </a:lnTo>
                  <a:lnTo>
                    <a:pt x="383718" y="1134321"/>
                  </a:lnTo>
                  <a:lnTo>
                    <a:pt x="435518" y="1142158"/>
                  </a:lnTo>
                  <a:lnTo>
                    <a:pt x="488009" y="1147815"/>
                  </a:lnTo>
                  <a:lnTo>
                    <a:pt x="541141" y="1151244"/>
                  </a:lnTo>
                  <a:lnTo>
                    <a:pt x="594867" y="1152397"/>
                  </a:lnTo>
                  <a:lnTo>
                    <a:pt x="646949" y="1151313"/>
                  </a:lnTo>
                  <a:lnTo>
                    <a:pt x="698477" y="1148090"/>
                  </a:lnTo>
                  <a:lnTo>
                    <a:pt x="749407" y="1142769"/>
                  </a:lnTo>
                  <a:lnTo>
                    <a:pt x="799696" y="1135394"/>
                  </a:lnTo>
                  <a:lnTo>
                    <a:pt x="849299" y="1126008"/>
                  </a:lnTo>
                  <a:lnTo>
                    <a:pt x="898172" y="1114652"/>
                  </a:lnTo>
                  <a:lnTo>
                    <a:pt x="946271" y="1101370"/>
                  </a:lnTo>
                  <a:lnTo>
                    <a:pt x="993553" y="1086204"/>
                  </a:lnTo>
                  <a:lnTo>
                    <a:pt x="1039973" y="1069198"/>
                  </a:lnTo>
                  <a:lnTo>
                    <a:pt x="1085486" y="1050393"/>
                  </a:lnTo>
                  <a:lnTo>
                    <a:pt x="1130050" y="1029832"/>
                  </a:lnTo>
                  <a:lnTo>
                    <a:pt x="1173620" y="1007559"/>
                  </a:lnTo>
                  <a:lnTo>
                    <a:pt x="1216152" y="983614"/>
                  </a:lnTo>
                  <a:lnTo>
                    <a:pt x="1212481" y="933418"/>
                  </a:lnTo>
                  <a:lnTo>
                    <a:pt x="1206772" y="883805"/>
                  </a:lnTo>
                  <a:lnTo>
                    <a:pt x="1199064" y="834819"/>
                  </a:lnTo>
                  <a:lnTo>
                    <a:pt x="1189401" y="786501"/>
                  </a:lnTo>
                  <a:lnTo>
                    <a:pt x="1177823" y="738892"/>
                  </a:lnTo>
                  <a:lnTo>
                    <a:pt x="1164372" y="692034"/>
                  </a:lnTo>
                  <a:lnTo>
                    <a:pt x="1149091" y="645969"/>
                  </a:lnTo>
                  <a:lnTo>
                    <a:pt x="1132020" y="600739"/>
                  </a:lnTo>
                  <a:lnTo>
                    <a:pt x="1113201" y="556386"/>
                  </a:lnTo>
                  <a:lnTo>
                    <a:pt x="1092677" y="512950"/>
                  </a:lnTo>
                  <a:lnTo>
                    <a:pt x="1070488" y="470475"/>
                  </a:lnTo>
                  <a:lnTo>
                    <a:pt x="1046677" y="429002"/>
                  </a:lnTo>
                  <a:lnTo>
                    <a:pt x="1021285" y="388572"/>
                  </a:lnTo>
                  <a:lnTo>
                    <a:pt x="994354" y="349227"/>
                  </a:lnTo>
                  <a:lnTo>
                    <a:pt x="965926" y="311009"/>
                  </a:lnTo>
                  <a:lnTo>
                    <a:pt x="936042" y="273960"/>
                  </a:lnTo>
                  <a:lnTo>
                    <a:pt x="904744" y="238122"/>
                  </a:lnTo>
                  <a:lnTo>
                    <a:pt x="872073" y="203535"/>
                  </a:lnTo>
                  <a:lnTo>
                    <a:pt x="838072" y="170243"/>
                  </a:lnTo>
                  <a:lnTo>
                    <a:pt x="802782" y="138286"/>
                  </a:lnTo>
                  <a:lnTo>
                    <a:pt x="766244" y="107707"/>
                  </a:lnTo>
                  <a:lnTo>
                    <a:pt x="728501" y="78547"/>
                  </a:lnTo>
                  <a:lnTo>
                    <a:pt x="689595" y="50848"/>
                  </a:lnTo>
                  <a:lnTo>
                    <a:pt x="649566" y="24651"/>
                  </a:lnTo>
                  <a:lnTo>
                    <a:pt x="608457" y="0"/>
                  </a:lnTo>
                  <a:close/>
                </a:path>
              </a:pathLst>
            </a:custGeom>
            <a:solidFill>
              <a:srgbClr val="EC7C30"/>
            </a:solidFill>
          </p:spPr>
          <p:txBody>
            <a:bodyPr wrap="square" lIns="0" tIns="0" rIns="0" bIns="0" rtlCol="0"/>
            <a:lstStyle/>
            <a:p/>
          </p:txBody>
        </p:sp>
        <p:sp>
          <p:nvSpPr>
            <p:cNvPr id="6" name="object 6"/>
            <p:cNvSpPr/>
            <p:nvPr/>
          </p:nvSpPr>
          <p:spPr>
            <a:xfrm>
              <a:off x="6099047" y="2926842"/>
              <a:ext cx="1811020" cy="2423795"/>
            </a:xfrm>
            <a:custGeom>
              <a:avLst/>
              <a:gdLst/>
              <a:ahLst/>
              <a:cxnLst/>
              <a:rect l="l" t="t" r="r" b="b"/>
              <a:pathLst>
                <a:path w="1811020" h="2423795">
                  <a:moveTo>
                    <a:pt x="603503" y="0"/>
                  </a:moveTo>
                  <a:lnTo>
                    <a:pt x="552995" y="1039"/>
                  </a:lnTo>
                  <a:lnTo>
                    <a:pt x="503019" y="4131"/>
                  </a:lnTo>
                  <a:lnTo>
                    <a:pt x="453615" y="9236"/>
                  </a:lnTo>
                  <a:lnTo>
                    <a:pt x="404824" y="16315"/>
                  </a:lnTo>
                  <a:lnTo>
                    <a:pt x="356688" y="25327"/>
                  </a:lnTo>
                  <a:lnTo>
                    <a:pt x="309245" y="36234"/>
                  </a:lnTo>
                  <a:lnTo>
                    <a:pt x="262538" y="48996"/>
                  </a:lnTo>
                  <a:lnTo>
                    <a:pt x="216606" y="63573"/>
                  </a:lnTo>
                  <a:lnTo>
                    <a:pt x="171490" y="79926"/>
                  </a:lnTo>
                  <a:lnTo>
                    <a:pt x="127231" y="98016"/>
                  </a:lnTo>
                  <a:lnTo>
                    <a:pt x="83869" y="117802"/>
                  </a:lnTo>
                  <a:lnTo>
                    <a:pt x="41445" y="139245"/>
                  </a:lnTo>
                  <a:lnTo>
                    <a:pt x="0" y="162306"/>
                  </a:lnTo>
                  <a:lnTo>
                    <a:pt x="40746" y="187020"/>
                  </a:lnTo>
                  <a:lnTo>
                    <a:pt x="80419" y="213283"/>
                  </a:lnTo>
                  <a:lnTo>
                    <a:pt x="118977" y="241053"/>
                  </a:lnTo>
                  <a:lnTo>
                    <a:pt x="156379" y="270287"/>
                  </a:lnTo>
                  <a:lnTo>
                    <a:pt x="192583" y="300944"/>
                  </a:lnTo>
                  <a:lnTo>
                    <a:pt x="227549" y="332982"/>
                  </a:lnTo>
                  <a:lnTo>
                    <a:pt x="261236" y="366360"/>
                  </a:lnTo>
                  <a:lnTo>
                    <a:pt x="293601" y="401037"/>
                  </a:lnTo>
                  <a:lnTo>
                    <a:pt x="324605" y="436969"/>
                  </a:lnTo>
                  <a:lnTo>
                    <a:pt x="354206" y="474116"/>
                  </a:lnTo>
                  <a:lnTo>
                    <a:pt x="382362" y="512436"/>
                  </a:lnTo>
                  <a:lnTo>
                    <a:pt x="409033" y="551887"/>
                  </a:lnTo>
                  <a:lnTo>
                    <a:pt x="434177" y="592427"/>
                  </a:lnTo>
                  <a:lnTo>
                    <a:pt x="457754" y="634015"/>
                  </a:lnTo>
                  <a:lnTo>
                    <a:pt x="479721" y="676610"/>
                  </a:lnTo>
                  <a:lnTo>
                    <a:pt x="500039" y="720169"/>
                  </a:lnTo>
                  <a:lnTo>
                    <a:pt x="518665" y="764650"/>
                  </a:lnTo>
                  <a:lnTo>
                    <a:pt x="535559" y="810012"/>
                  </a:lnTo>
                  <a:lnTo>
                    <a:pt x="550679" y="856214"/>
                  </a:lnTo>
                  <a:lnTo>
                    <a:pt x="563985" y="903213"/>
                  </a:lnTo>
                  <a:lnTo>
                    <a:pt x="575435" y="950969"/>
                  </a:lnTo>
                  <a:lnTo>
                    <a:pt x="584988" y="999438"/>
                  </a:lnTo>
                  <a:lnTo>
                    <a:pt x="592602" y="1048580"/>
                  </a:lnTo>
                  <a:lnTo>
                    <a:pt x="598238" y="1098353"/>
                  </a:lnTo>
                  <a:lnTo>
                    <a:pt x="601852" y="1148715"/>
                  </a:lnTo>
                  <a:lnTo>
                    <a:pt x="603503" y="1211834"/>
                  </a:lnTo>
                  <a:lnTo>
                    <a:pt x="602433" y="1263331"/>
                  </a:lnTo>
                  <a:lnTo>
                    <a:pt x="599250" y="1314281"/>
                  </a:lnTo>
                  <a:lnTo>
                    <a:pt x="593997" y="1364641"/>
                  </a:lnTo>
                  <a:lnTo>
                    <a:pt x="586717" y="1414367"/>
                  </a:lnTo>
                  <a:lnTo>
                    <a:pt x="577452" y="1463417"/>
                  </a:lnTo>
                  <a:lnTo>
                    <a:pt x="566245" y="1511747"/>
                  </a:lnTo>
                  <a:lnTo>
                    <a:pt x="553139" y="1559317"/>
                  </a:lnTo>
                  <a:lnTo>
                    <a:pt x="538176" y="1606081"/>
                  </a:lnTo>
                  <a:lnTo>
                    <a:pt x="521399" y="1651999"/>
                  </a:lnTo>
                  <a:lnTo>
                    <a:pt x="502852" y="1697026"/>
                  </a:lnTo>
                  <a:lnTo>
                    <a:pt x="482575" y="1741120"/>
                  </a:lnTo>
                  <a:lnTo>
                    <a:pt x="460612" y="1784239"/>
                  </a:lnTo>
                  <a:lnTo>
                    <a:pt x="437006" y="1826339"/>
                  </a:lnTo>
                  <a:lnTo>
                    <a:pt x="411800" y="1867378"/>
                  </a:lnTo>
                  <a:lnTo>
                    <a:pt x="385035" y="1907313"/>
                  </a:lnTo>
                  <a:lnTo>
                    <a:pt x="356756" y="1946100"/>
                  </a:lnTo>
                  <a:lnTo>
                    <a:pt x="327003" y="1983699"/>
                  </a:lnTo>
                  <a:lnTo>
                    <a:pt x="295821" y="2020065"/>
                  </a:lnTo>
                  <a:lnTo>
                    <a:pt x="263251" y="2055155"/>
                  </a:lnTo>
                  <a:lnTo>
                    <a:pt x="229336" y="2088928"/>
                  </a:lnTo>
                  <a:lnTo>
                    <a:pt x="194120" y="2121340"/>
                  </a:lnTo>
                  <a:lnTo>
                    <a:pt x="157644" y="2152348"/>
                  </a:lnTo>
                  <a:lnTo>
                    <a:pt x="119951" y="2181909"/>
                  </a:lnTo>
                  <a:lnTo>
                    <a:pt x="81084" y="2209982"/>
                  </a:lnTo>
                  <a:lnTo>
                    <a:pt x="41086" y="2236523"/>
                  </a:lnTo>
                  <a:lnTo>
                    <a:pt x="0" y="2261489"/>
                  </a:lnTo>
                  <a:lnTo>
                    <a:pt x="41470" y="2284524"/>
                  </a:lnTo>
                  <a:lnTo>
                    <a:pt x="83911" y="2305951"/>
                  </a:lnTo>
                  <a:lnTo>
                    <a:pt x="127283" y="2325726"/>
                  </a:lnTo>
                  <a:lnTo>
                    <a:pt x="171546" y="2343812"/>
                  </a:lnTo>
                  <a:lnTo>
                    <a:pt x="216661" y="2360165"/>
                  </a:lnTo>
                  <a:lnTo>
                    <a:pt x="262589" y="2374747"/>
                  </a:lnTo>
                  <a:lnTo>
                    <a:pt x="309289" y="2387516"/>
                  </a:lnTo>
                  <a:lnTo>
                    <a:pt x="356722" y="2398432"/>
                  </a:lnTo>
                  <a:lnTo>
                    <a:pt x="404849" y="2407454"/>
                  </a:lnTo>
                  <a:lnTo>
                    <a:pt x="453631" y="2414542"/>
                  </a:lnTo>
                  <a:lnTo>
                    <a:pt x="503026" y="2419655"/>
                  </a:lnTo>
                  <a:lnTo>
                    <a:pt x="552997" y="2422753"/>
                  </a:lnTo>
                  <a:lnTo>
                    <a:pt x="603503" y="2423795"/>
                  </a:lnTo>
                  <a:lnTo>
                    <a:pt x="652049" y="2422832"/>
                  </a:lnTo>
                  <a:lnTo>
                    <a:pt x="700109" y="2419969"/>
                  </a:lnTo>
                  <a:lnTo>
                    <a:pt x="747646" y="2415241"/>
                  </a:lnTo>
                  <a:lnTo>
                    <a:pt x="794623" y="2408685"/>
                  </a:lnTo>
                  <a:lnTo>
                    <a:pt x="841007" y="2400337"/>
                  </a:lnTo>
                  <a:lnTo>
                    <a:pt x="886759" y="2390233"/>
                  </a:lnTo>
                  <a:lnTo>
                    <a:pt x="931844" y="2378410"/>
                  </a:lnTo>
                  <a:lnTo>
                    <a:pt x="976227" y="2364903"/>
                  </a:lnTo>
                  <a:lnTo>
                    <a:pt x="1019870" y="2349748"/>
                  </a:lnTo>
                  <a:lnTo>
                    <a:pt x="1062738" y="2332983"/>
                  </a:lnTo>
                  <a:lnTo>
                    <a:pt x="1104796" y="2314643"/>
                  </a:lnTo>
                  <a:lnTo>
                    <a:pt x="1146006" y="2294765"/>
                  </a:lnTo>
                  <a:lnTo>
                    <a:pt x="1186332" y="2273384"/>
                  </a:lnTo>
                  <a:lnTo>
                    <a:pt x="1225740" y="2250537"/>
                  </a:lnTo>
                  <a:lnTo>
                    <a:pt x="1264192" y="2226260"/>
                  </a:lnTo>
                  <a:lnTo>
                    <a:pt x="1301653" y="2200590"/>
                  </a:lnTo>
                  <a:lnTo>
                    <a:pt x="1338086" y="2173562"/>
                  </a:lnTo>
                  <a:lnTo>
                    <a:pt x="1373456" y="2145213"/>
                  </a:lnTo>
                  <a:lnTo>
                    <a:pt x="1407726" y="2115579"/>
                  </a:lnTo>
                  <a:lnTo>
                    <a:pt x="1440861" y="2084696"/>
                  </a:lnTo>
                  <a:lnTo>
                    <a:pt x="1472824" y="2052601"/>
                  </a:lnTo>
                  <a:lnTo>
                    <a:pt x="1503579" y="2019329"/>
                  </a:lnTo>
                  <a:lnTo>
                    <a:pt x="1533091" y="1984917"/>
                  </a:lnTo>
                  <a:lnTo>
                    <a:pt x="1561322" y="1949401"/>
                  </a:lnTo>
                  <a:lnTo>
                    <a:pt x="1588238" y="1912818"/>
                  </a:lnTo>
                  <a:lnTo>
                    <a:pt x="1613802" y="1875203"/>
                  </a:lnTo>
                  <a:lnTo>
                    <a:pt x="1637978" y="1836593"/>
                  </a:lnTo>
                  <a:lnTo>
                    <a:pt x="1660730" y="1797024"/>
                  </a:lnTo>
                  <a:lnTo>
                    <a:pt x="1682022" y="1756532"/>
                  </a:lnTo>
                  <a:lnTo>
                    <a:pt x="1701817" y="1715153"/>
                  </a:lnTo>
                  <a:lnTo>
                    <a:pt x="1720081" y="1672924"/>
                  </a:lnTo>
                  <a:lnTo>
                    <a:pt x="1736776" y="1629881"/>
                  </a:lnTo>
                  <a:lnTo>
                    <a:pt x="1751867" y="1586060"/>
                  </a:lnTo>
                  <a:lnTo>
                    <a:pt x="1765317" y="1541497"/>
                  </a:lnTo>
                  <a:lnTo>
                    <a:pt x="1777091" y="1496229"/>
                  </a:lnTo>
                  <a:lnTo>
                    <a:pt x="1787153" y="1450292"/>
                  </a:lnTo>
                  <a:lnTo>
                    <a:pt x="1795466" y="1403721"/>
                  </a:lnTo>
                  <a:lnTo>
                    <a:pt x="1801994" y="1356554"/>
                  </a:lnTo>
                  <a:lnTo>
                    <a:pt x="1806702" y="1308826"/>
                  </a:lnTo>
                  <a:lnTo>
                    <a:pt x="1809553" y="1260574"/>
                  </a:lnTo>
                  <a:lnTo>
                    <a:pt x="1810511" y="1211834"/>
                  </a:lnTo>
                  <a:lnTo>
                    <a:pt x="1809413" y="1159654"/>
                  </a:lnTo>
                  <a:lnTo>
                    <a:pt x="1806147" y="1108038"/>
                  </a:lnTo>
                  <a:lnTo>
                    <a:pt x="1800758" y="1057029"/>
                  </a:lnTo>
                  <a:lnTo>
                    <a:pt x="1793290" y="1006672"/>
                  </a:lnTo>
                  <a:lnTo>
                    <a:pt x="1783788" y="957012"/>
                  </a:lnTo>
                  <a:lnTo>
                    <a:pt x="1772295" y="908093"/>
                  </a:lnTo>
                  <a:lnTo>
                    <a:pt x="1758855" y="859960"/>
                  </a:lnTo>
                  <a:lnTo>
                    <a:pt x="1743514" y="812657"/>
                  </a:lnTo>
                  <a:lnTo>
                    <a:pt x="1726314" y="766228"/>
                  </a:lnTo>
                  <a:lnTo>
                    <a:pt x="1707302" y="720719"/>
                  </a:lnTo>
                  <a:lnTo>
                    <a:pt x="1686519" y="676174"/>
                  </a:lnTo>
                  <a:lnTo>
                    <a:pt x="1664012" y="632637"/>
                  </a:lnTo>
                  <a:lnTo>
                    <a:pt x="1639824" y="590153"/>
                  </a:lnTo>
                  <a:lnTo>
                    <a:pt x="1613998" y="548766"/>
                  </a:lnTo>
                  <a:lnTo>
                    <a:pt x="1586581" y="508521"/>
                  </a:lnTo>
                  <a:lnTo>
                    <a:pt x="1557615" y="469462"/>
                  </a:lnTo>
                  <a:lnTo>
                    <a:pt x="1527145" y="431634"/>
                  </a:lnTo>
                  <a:lnTo>
                    <a:pt x="1495215" y="395082"/>
                  </a:lnTo>
                  <a:lnTo>
                    <a:pt x="1461870" y="359850"/>
                  </a:lnTo>
                  <a:lnTo>
                    <a:pt x="1427153" y="325982"/>
                  </a:lnTo>
                  <a:lnTo>
                    <a:pt x="1391109" y="293523"/>
                  </a:lnTo>
                  <a:lnTo>
                    <a:pt x="1353782" y="262518"/>
                  </a:lnTo>
                  <a:lnTo>
                    <a:pt x="1315217" y="233011"/>
                  </a:lnTo>
                  <a:lnTo>
                    <a:pt x="1275456" y="205047"/>
                  </a:lnTo>
                  <a:lnTo>
                    <a:pt x="1234546" y="178669"/>
                  </a:lnTo>
                  <a:lnTo>
                    <a:pt x="1192529" y="153924"/>
                  </a:lnTo>
                  <a:lnTo>
                    <a:pt x="1148421" y="130272"/>
                  </a:lnTo>
                  <a:lnTo>
                    <a:pt x="1103249" y="108435"/>
                  </a:lnTo>
                  <a:lnTo>
                    <a:pt x="1057060" y="88457"/>
                  </a:lnTo>
                  <a:lnTo>
                    <a:pt x="1009903" y="70386"/>
                  </a:lnTo>
                  <a:lnTo>
                    <a:pt x="961826" y="54267"/>
                  </a:lnTo>
                  <a:lnTo>
                    <a:pt x="912876" y="40147"/>
                  </a:lnTo>
                  <a:lnTo>
                    <a:pt x="863099" y="28073"/>
                  </a:lnTo>
                  <a:lnTo>
                    <a:pt x="812546" y="18090"/>
                  </a:lnTo>
                  <a:lnTo>
                    <a:pt x="761261" y="10245"/>
                  </a:lnTo>
                  <a:lnTo>
                    <a:pt x="709295" y="4584"/>
                  </a:lnTo>
                  <a:lnTo>
                    <a:pt x="656693" y="1153"/>
                  </a:lnTo>
                  <a:lnTo>
                    <a:pt x="603503" y="0"/>
                  </a:lnTo>
                  <a:close/>
                </a:path>
              </a:pathLst>
            </a:custGeom>
            <a:solidFill>
              <a:srgbClr val="00B8F5"/>
            </a:solidFill>
          </p:spPr>
          <p:txBody>
            <a:bodyPr wrap="square" lIns="0" tIns="0" rIns="0" bIns="0" rtlCol="0"/>
            <a:lstStyle/>
            <a:p/>
          </p:txBody>
        </p:sp>
        <p:sp>
          <p:nvSpPr>
            <p:cNvPr id="7" name="object 7"/>
            <p:cNvSpPr/>
            <p:nvPr/>
          </p:nvSpPr>
          <p:spPr>
            <a:xfrm>
              <a:off x="4279391" y="3100578"/>
              <a:ext cx="2423160" cy="2250440"/>
            </a:xfrm>
            <a:custGeom>
              <a:avLst/>
              <a:gdLst/>
              <a:ahLst/>
              <a:cxnLst/>
              <a:rect l="l" t="t" r="r" b="b"/>
              <a:pathLst>
                <a:path w="2423159" h="2250440">
                  <a:moveTo>
                    <a:pt x="593979" y="0"/>
                  </a:moveTo>
                  <a:lnTo>
                    <a:pt x="553448" y="25073"/>
                  </a:lnTo>
                  <a:lnTo>
                    <a:pt x="514003" y="51672"/>
                  </a:lnTo>
                  <a:lnTo>
                    <a:pt x="475685" y="79757"/>
                  </a:lnTo>
                  <a:lnTo>
                    <a:pt x="438536" y="109286"/>
                  </a:lnTo>
                  <a:lnTo>
                    <a:pt x="402596" y="140218"/>
                  </a:lnTo>
                  <a:lnTo>
                    <a:pt x="367906" y="172510"/>
                  </a:lnTo>
                  <a:lnTo>
                    <a:pt x="334508" y="206123"/>
                  </a:lnTo>
                  <a:lnTo>
                    <a:pt x="302443" y="241013"/>
                  </a:lnTo>
                  <a:lnTo>
                    <a:pt x="271751" y="277141"/>
                  </a:lnTo>
                  <a:lnTo>
                    <a:pt x="242474" y="314465"/>
                  </a:lnTo>
                  <a:lnTo>
                    <a:pt x="214653" y="352943"/>
                  </a:lnTo>
                  <a:lnTo>
                    <a:pt x="188330" y="392534"/>
                  </a:lnTo>
                  <a:lnTo>
                    <a:pt x="163544" y="433197"/>
                  </a:lnTo>
                  <a:lnTo>
                    <a:pt x="140337" y="474889"/>
                  </a:lnTo>
                  <a:lnTo>
                    <a:pt x="118751" y="517571"/>
                  </a:lnTo>
                  <a:lnTo>
                    <a:pt x="98826" y="561201"/>
                  </a:lnTo>
                  <a:lnTo>
                    <a:pt x="80604" y="605736"/>
                  </a:lnTo>
                  <a:lnTo>
                    <a:pt x="64125" y="651136"/>
                  </a:lnTo>
                  <a:lnTo>
                    <a:pt x="49432" y="697360"/>
                  </a:lnTo>
                  <a:lnTo>
                    <a:pt x="36564" y="744366"/>
                  </a:lnTo>
                  <a:lnTo>
                    <a:pt x="25562" y="792113"/>
                  </a:lnTo>
                  <a:lnTo>
                    <a:pt x="16469" y="840559"/>
                  </a:lnTo>
                  <a:lnTo>
                    <a:pt x="9325" y="889663"/>
                  </a:lnTo>
                  <a:lnTo>
                    <a:pt x="4172" y="939384"/>
                  </a:lnTo>
                  <a:lnTo>
                    <a:pt x="1049" y="989680"/>
                  </a:lnTo>
                  <a:lnTo>
                    <a:pt x="0" y="1040511"/>
                  </a:lnTo>
                  <a:lnTo>
                    <a:pt x="961" y="1089158"/>
                  </a:lnTo>
                  <a:lnTo>
                    <a:pt x="3823" y="1137318"/>
                  </a:lnTo>
                  <a:lnTo>
                    <a:pt x="8549" y="1184955"/>
                  </a:lnTo>
                  <a:lnTo>
                    <a:pt x="15102" y="1232031"/>
                  </a:lnTo>
                  <a:lnTo>
                    <a:pt x="23446" y="1278512"/>
                  </a:lnTo>
                  <a:lnTo>
                    <a:pt x="33546" y="1324360"/>
                  </a:lnTo>
                  <a:lnTo>
                    <a:pt x="45364" y="1369540"/>
                  </a:lnTo>
                  <a:lnTo>
                    <a:pt x="58865" y="1414016"/>
                  </a:lnTo>
                  <a:lnTo>
                    <a:pt x="74013" y="1457751"/>
                  </a:lnTo>
                  <a:lnTo>
                    <a:pt x="90771" y="1500709"/>
                  </a:lnTo>
                  <a:lnTo>
                    <a:pt x="109103" y="1542855"/>
                  </a:lnTo>
                  <a:lnTo>
                    <a:pt x="128973" y="1584152"/>
                  </a:lnTo>
                  <a:lnTo>
                    <a:pt x="150345" y="1624563"/>
                  </a:lnTo>
                  <a:lnTo>
                    <a:pt x="173183" y="1664054"/>
                  </a:lnTo>
                  <a:lnTo>
                    <a:pt x="197450" y="1702587"/>
                  </a:lnTo>
                  <a:lnTo>
                    <a:pt x="223111" y="1740126"/>
                  </a:lnTo>
                  <a:lnTo>
                    <a:pt x="250128" y="1776636"/>
                  </a:lnTo>
                  <a:lnTo>
                    <a:pt x="278466" y="1812081"/>
                  </a:lnTo>
                  <a:lnTo>
                    <a:pt x="308089" y="1846423"/>
                  </a:lnTo>
                  <a:lnTo>
                    <a:pt x="338961" y="1879628"/>
                  </a:lnTo>
                  <a:lnTo>
                    <a:pt x="371045" y="1911658"/>
                  </a:lnTo>
                  <a:lnTo>
                    <a:pt x="404304" y="1942478"/>
                  </a:lnTo>
                  <a:lnTo>
                    <a:pt x="438704" y="1972052"/>
                  </a:lnTo>
                  <a:lnTo>
                    <a:pt x="474208" y="2000343"/>
                  </a:lnTo>
                  <a:lnTo>
                    <a:pt x="510779" y="2027316"/>
                  </a:lnTo>
                  <a:lnTo>
                    <a:pt x="548382" y="2052934"/>
                  </a:lnTo>
                  <a:lnTo>
                    <a:pt x="586980" y="2077161"/>
                  </a:lnTo>
                  <a:lnTo>
                    <a:pt x="626536" y="2099960"/>
                  </a:lnTo>
                  <a:lnTo>
                    <a:pt x="667016" y="2121297"/>
                  </a:lnTo>
                  <a:lnTo>
                    <a:pt x="708382" y="2141135"/>
                  </a:lnTo>
                  <a:lnTo>
                    <a:pt x="750599" y="2159437"/>
                  </a:lnTo>
                  <a:lnTo>
                    <a:pt x="793630" y="2176167"/>
                  </a:lnTo>
                  <a:lnTo>
                    <a:pt x="837439" y="2191290"/>
                  </a:lnTo>
                  <a:lnTo>
                    <a:pt x="881990" y="2204769"/>
                  </a:lnTo>
                  <a:lnTo>
                    <a:pt x="927246" y="2216567"/>
                  </a:lnTo>
                  <a:lnTo>
                    <a:pt x="973173" y="2226650"/>
                  </a:lnTo>
                  <a:lnTo>
                    <a:pt x="1019732" y="2234981"/>
                  </a:lnTo>
                  <a:lnTo>
                    <a:pt x="1066889" y="2241523"/>
                  </a:lnTo>
                  <a:lnTo>
                    <a:pt x="1114606" y="2246241"/>
                  </a:lnTo>
                  <a:lnTo>
                    <a:pt x="1162849" y="2249098"/>
                  </a:lnTo>
                  <a:lnTo>
                    <a:pt x="1211580" y="2250059"/>
                  </a:lnTo>
                  <a:lnTo>
                    <a:pt x="1262264" y="2249019"/>
                  </a:lnTo>
                  <a:lnTo>
                    <a:pt x="1312416" y="2245928"/>
                  </a:lnTo>
                  <a:lnTo>
                    <a:pt x="1361997" y="2240825"/>
                  </a:lnTo>
                  <a:lnTo>
                    <a:pt x="1410966" y="2233751"/>
                  </a:lnTo>
                  <a:lnTo>
                    <a:pt x="1459282" y="2224745"/>
                  </a:lnTo>
                  <a:lnTo>
                    <a:pt x="1506905" y="2213849"/>
                  </a:lnTo>
                  <a:lnTo>
                    <a:pt x="1553796" y="2201102"/>
                  </a:lnTo>
                  <a:lnTo>
                    <a:pt x="1599913" y="2186544"/>
                  </a:lnTo>
                  <a:lnTo>
                    <a:pt x="1645218" y="2170216"/>
                  </a:lnTo>
                  <a:lnTo>
                    <a:pt x="1689668" y="2152158"/>
                  </a:lnTo>
                  <a:lnTo>
                    <a:pt x="1733225" y="2132410"/>
                  </a:lnTo>
                  <a:lnTo>
                    <a:pt x="1775848" y="2111013"/>
                  </a:lnTo>
                  <a:lnTo>
                    <a:pt x="1817497" y="2088007"/>
                  </a:lnTo>
                  <a:lnTo>
                    <a:pt x="1858755" y="2063087"/>
                  </a:lnTo>
                  <a:lnTo>
                    <a:pt x="1898917" y="2036597"/>
                  </a:lnTo>
                  <a:lnTo>
                    <a:pt x="1937940" y="2008579"/>
                  </a:lnTo>
                  <a:lnTo>
                    <a:pt x="1975782" y="1979076"/>
                  </a:lnTo>
                  <a:lnTo>
                    <a:pt x="2012399" y="1948130"/>
                  </a:lnTo>
                  <a:lnTo>
                    <a:pt x="2047749" y="1915784"/>
                  </a:lnTo>
                  <a:lnTo>
                    <a:pt x="2081790" y="1882081"/>
                  </a:lnTo>
                  <a:lnTo>
                    <a:pt x="2114479" y="1847064"/>
                  </a:lnTo>
                  <a:lnTo>
                    <a:pt x="2145774" y="1810774"/>
                  </a:lnTo>
                  <a:lnTo>
                    <a:pt x="2175631" y="1773255"/>
                  </a:lnTo>
                  <a:lnTo>
                    <a:pt x="2204009" y="1734548"/>
                  </a:lnTo>
                  <a:lnTo>
                    <a:pt x="2230864" y="1694698"/>
                  </a:lnTo>
                  <a:lnTo>
                    <a:pt x="2256154" y="1653746"/>
                  </a:lnTo>
                  <a:lnTo>
                    <a:pt x="2279838" y="1611735"/>
                  </a:lnTo>
                  <a:lnTo>
                    <a:pt x="2301871" y="1568707"/>
                  </a:lnTo>
                  <a:lnTo>
                    <a:pt x="2322211" y="1524706"/>
                  </a:lnTo>
                  <a:lnTo>
                    <a:pt x="2340817" y="1479773"/>
                  </a:lnTo>
                  <a:lnTo>
                    <a:pt x="2357644" y="1433952"/>
                  </a:lnTo>
                  <a:lnTo>
                    <a:pt x="2372652" y="1387285"/>
                  </a:lnTo>
                  <a:lnTo>
                    <a:pt x="2385796" y="1339815"/>
                  </a:lnTo>
                  <a:lnTo>
                    <a:pt x="2397035" y="1291584"/>
                  </a:lnTo>
                  <a:lnTo>
                    <a:pt x="2406327" y="1242635"/>
                  </a:lnTo>
                  <a:lnTo>
                    <a:pt x="2413627" y="1193011"/>
                  </a:lnTo>
                  <a:lnTo>
                    <a:pt x="2418895" y="1142753"/>
                  </a:lnTo>
                  <a:lnTo>
                    <a:pt x="2422086" y="1091906"/>
                  </a:lnTo>
                  <a:lnTo>
                    <a:pt x="2423160" y="1040511"/>
                  </a:lnTo>
                  <a:lnTo>
                    <a:pt x="2423060" y="1024647"/>
                  </a:lnTo>
                  <a:lnTo>
                    <a:pt x="2422195" y="993112"/>
                  </a:lnTo>
                  <a:lnTo>
                    <a:pt x="2421382" y="977392"/>
                  </a:lnTo>
                  <a:lnTo>
                    <a:pt x="2379091" y="1001338"/>
                  </a:lnTo>
                  <a:lnTo>
                    <a:pt x="2335774" y="1023617"/>
                  </a:lnTo>
                  <a:lnTo>
                    <a:pt x="2291474" y="1044187"/>
                  </a:lnTo>
                  <a:lnTo>
                    <a:pt x="2246234" y="1063003"/>
                  </a:lnTo>
                  <a:lnTo>
                    <a:pt x="2200095" y="1080023"/>
                  </a:lnTo>
                  <a:lnTo>
                    <a:pt x="2153102" y="1095203"/>
                  </a:lnTo>
                  <a:lnTo>
                    <a:pt x="2105295" y="1108500"/>
                  </a:lnTo>
                  <a:lnTo>
                    <a:pt x="2056719" y="1119870"/>
                  </a:lnTo>
                  <a:lnTo>
                    <a:pt x="2007415" y="1129270"/>
                  </a:lnTo>
                  <a:lnTo>
                    <a:pt x="1957427" y="1136656"/>
                  </a:lnTo>
                  <a:lnTo>
                    <a:pt x="1906797" y="1141986"/>
                  </a:lnTo>
                  <a:lnTo>
                    <a:pt x="1855567" y="1145215"/>
                  </a:lnTo>
                  <a:lnTo>
                    <a:pt x="1803781" y="1146302"/>
                  </a:lnTo>
                  <a:lnTo>
                    <a:pt x="1750372" y="1145148"/>
                  </a:lnTo>
                  <a:lnTo>
                    <a:pt x="1697556" y="1141718"/>
                  </a:lnTo>
                  <a:lnTo>
                    <a:pt x="1645380" y="1136060"/>
                  </a:lnTo>
                  <a:lnTo>
                    <a:pt x="1593892" y="1128220"/>
                  </a:lnTo>
                  <a:lnTo>
                    <a:pt x="1543139" y="1118246"/>
                  </a:lnTo>
                  <a:lnTo>
                    <a:pt x="1493170" y="1106185"/>
                  </a:lnTo>
                  <a:lnTo>
                    <a:pt x="1444032" y="1092084"/>
                  </a:lnTo>
                  <a:lnTo>
                    <a:pt x="1395772" y="1075991"/>
                  </a:lnTo>
                  <a:lnTo>
                    <a:pt x="1348438" y="1057951"/>
                  </a:lnTo>
                  <a:lnTo>
                    <a:pt x="1302078" y="1038013"/>
                  </a:lnTo>
                  <a:lnTo>
                    <a:pt x="1256739" y="1016224"/>
                  </a:lnTo>
                  <a:lnTo>
                    <a:pt x="1212469" y="992632"/>
                  </a:lnTo>
                  <a:lnTo>
                    <a:pt x="1170662" y="968163"/>
                  </a:lnTo>
                  <a:lnTo>
                    <a:pt x="1129945" y="942090"/>
                  </a:lnTo>
                  <a:lnTo>
                    <a:pt x="1090361" y="914458"/>
                  </a:lnTo>
                  <a:lnTo>
                    <a:pt x="1051953" y="885309"/>
                  </a:lnTo>
                  <a:lnTo>
                    <a:pt x="1014765" y="854687"/>
                  </a:lnTo>
                  <a:lnTo>
                    <a:pt x="978840" y="822636"/>
                  </a:lnTo>
                  <a:lnTo>
                    <a:pt x="944221" y="789199"/>
                  </a:lnTo>
                  <a:lnTo>
                    <a:pt x="910953" y="754419"/>
                  </a:lnTo>
                  <a:lnTo>
                    <a:pt x="879078" y="718341"/>
                  </a:lnTo>
                  <a:lnTo>
                    <a:pt x="848639" y="681008"/>
                  </a:lnTo>
                  <a:lnTo>
                    <a:pt x="819680" y="642463"/>
                  </a:lnTo>
                  <a:lnTo>
                    <a:pt x="792245" y="602750"/>
                  </a:lnTo>
                  <a:lnTo>
                    <a:pt x="766377" y="561912"/>
                  </a:lnTo>
                  <a:lnTo>
                    <a:pt x="742120" y="519994"/>
                  </a:lnTo>
                  <a:lnTo>
                    <a:pt x="719515" y="477038"/>
                  </a:lnTo>
                  <a:lnTo>
                    <a:pt x="698609" y="433088"/>
                  </a:lnTo>
                  <a:lnTo>
                    <a:pt x="679442" y="388188"/>
                  </a:lnTo>
                  <a:lnTo>
                    <a:pt x="662060" y="342381"/>
                  </a:lnTo>
                  <a:lnTo>
                    <a:pt x="646505" y="295710"/>
                  </a:lnTo>
                  <a:lnTo>
                    <a:pt x="632820" y="248220"/>
                  </a:lnTo>
                  <a:lnTo>
                    <a:pt x="621050" y="199954"/>
                  </a:lnTo>
                  <a:lnTo>
                    <a:pt x="611237" y="150956"/>
                  </a:lnTo>
                  <a:lnTo>
                    <a:pt x="603426" y="101268"/>
                  </a:lnTo>
                  <a:lnTo>
                    <a:pt x="597658" y="50935"/>
                  </a:lnTo>
                  <a:lnTo>
                    <a:pt x="593979" y="0"/>
                  </a:lnTo>
                  <a:close/>
                </a:path>
              </a:pathLst>
            </a:custGeom>
            <a:solidFill>
              <a:srgbClr val="ACEAFF"/>
            </a:solidFill>
          </p:spPr>
          <p:txBody>
            <a:bodyPr wrap="square" lIns="0" tIns="0" rIns="0" bIns="0" rtlCol="0"/>
            <a:lstStyle/>
            <a:p/>
          </p:txBody>
        </p:sp>
        <p:sp>
          <p:nvSpPr>
            <p:cNvPr id="8" name="object 8"/>
            <p:cNvSpPr/>
            <p:nvPr/>
          </p:nvSpPr>
          <p:spPr>
            <a:xfrm>
              <a:off x="1001267" y="1751457"/>
              <a:ext cx="10213975" cy="2762250"/>
            </a:xfrm>
            <a:custGeom>
              <a:avLst/>
              <a:gdLst/>
              <a:ahLst/>
              <a:cxnLst/>
              <a:rect l="l" t="t" r="r" b="b"/>
              <a:pathLst>
                <a:path w="10213975" h="2762250">
                  <a:moveTo>
                    <a:pt x="7013448" y="1600707"/>
                  </a:moveTo>
                  <a:lnTo>
                    <a:pt x="7579740" y="1033526"/>
                  </a:lnTo>
                  <a:lnTo>
                    <a:pt x="10213848" y="1033526"/>
                  </a:lnTo>
                </a:path>
                <a:path w="10213975" h="2762250">
                  <a:moveTo>
                    <a:pt x="3639311" y="567181"/>
                  </a:moveTo>
                  <a:lnTo>
                    <a:pt x="3073019" y="0"/>
                  </a:lnTo>
                  <a:lnTo>
                    <a:pt x="438912" y="0"/>
                  </a:lnTo>
                </a:path>
                <a:path w="10213975" h="2762250">
                  <a:moveTo>
                    <a:pt x="3200399" y="2762249"/>
                  </a:moveTo>
                  <a:lnTo>
                    <a:pt x="2634107" y="2195194"/>
                  </a:lnTo>
                  <a:lnTo>
                    <a:pt x="0" y="2195194"/>
                  </a:lnTo>
                </a:path>
              </a:pathLst>
            </a:custGeom>
            <a:ln w="12700">
              <a:solidFill>
                <a:srgbClr val="B1B1B1"/>
              </a:solidFill>
            </a:ln>
          </p:spPr>
          <p:txBody>
            <a:bodyPr wrap="square" lIns="0" tIns="0" rIns="0" bIns="0" rtlCol="0"/>
            <a:lstStyle/>
            <a:p/>
          </p:txBody>
        </p:sp>
      </p:grpSp>
      <p:sp>
        <p:nvSpPr>
          <p:cNvPr id="9" name="object 9"/>
          <p:cNvSpPr txBox="1"/>
          <p:nvPr/>
        </p:nvSpPr>
        <p:spPr>
          <a:xfrm>
            <a:off x="1420749" y="1832434"/>
            <a:ext cx="2303780" cy="882015"/>
          </a:xfrm>
          <a:prstGeom prst="rect">
            <a:avLst/>
          </a:prstGeom>
        </p:spPr>
        <p:txBody>
          <a:bodyPr wrap="square" lIns="0" tIns="93980" rIns="0" bIns="0" rtlCol="0" vert="horz">
            <a:spAutoFit/>
          </a:bodyPr>
          <a:lstStyle/>
          <a:p>
            <a:pPr marL="12700">
              <a:lnSpc>
                <a:spcPct val="100000"/>
              </a:lnSpc>
              <a:spcBef>
                <a:spcPts val="740"/>
              </a:spcBef>
            </a:pPr>
            <a:r>
              <a:rPr dirty="0" sz="1500" spc="-10" b="1">
                <a:solidFill>
                  <a:srgbClr val="44536A"/>
                </a:solidFill>
                <a:latin typeface="Segoe UI"/>
                <a:cs typeface="Segoe UI"/>
              </a:rPr>
              <a:t>Regulators</a:t>
            </a:r>
            <a:r>
              <a:rPr dirty="0" sz="1500" spc="-20" b="1">
                <a:solidFill>
                  <a:srgbClr val="44536A"/>
                </a:solidFill>
                <a:latin typeface="Segoe UI"/>
                <a:cs typeface="Segoe UI"/>
              </a:rPr>
              <a:t> </a:t>
            </a:r>
            <a:r>
              <a:rPr dirty="0" sz="1500" b="1">
                <a:solidFill>
                  <a:srgbClr val="44536A"/>
                </a:solidFill>
                <a:latin typeface="Segoe UI"/>
                <a:cs typeface="Segoe UI"/>
              </a:rPr>
              <a:t>&amp;</a:t>
            </a:r>
            <a:r>
              <a:rPr dirty="0" sz="1500" spc="10" b="1">
                <a:solidFill>
                  <a:srgbClr val="44536A"/>
                </a:solidFill>
                <a:latin typeface="Segoe UI"/>
                <a:cs typeface="Segoe UI"/>
              </a:rPr>
              <a:t> </a:t>
            </a:r>
            <a:r>
              <a:rPr dirty="0" sz="1500" spc="-10" b="1">
                <a:solidFill>
                  <a:srgbClr val="44536A"/>
                </a:solidFill>
                <a:latin typeface="Segoe UI"/>
                <a:cs typeface="Segoe UI"/>
              </a:rPr>
              <a:t>governance</a:t>
            </a:r>
            <a:endParaRPr sz="1500">
              <a:latin typeface="Segoe UI"/>
              <a:cs typeface="Segoe UI"/>
            </a:endParaRPr>
          </a:p>
          <a:p>
            <a:pPr algn="just" marL="12700" marR="318135">
              <a:lnSpc>
                <a:spcPct val="111200"/>
              </a:lnSpc>
              <a:spcBef>
                <a:spcPts val="295"/>
              </a:spcBef>
            </a:pPr>
            <a:r>
              <a:rPr dirty="0" sz="1000">
                <a:solidFill>
                  <a:srgbClr val="44536A"/>
                </a:solidFill>
                <a:latin typeface="Segoe UI"/>
                <a:cs typeface="Segoe UI"/>
              </a:rPr>
              <a:t>Need</a:t>
            </a:r>
            <a:r>
              <a:rPr dirty="0" sz="1000" spc="-30">
                <a:solidFill>
                  <a:srgbClr val="44536A"/>
                </a:solidFill>
                <a:latin typeface="Segoe UI"/>
                <a:cs typeface="Segoe UI"/>
              </a:rPr>
              <a:t> </a:t>
            </a:r>
            <a:r>
              <a:rPr dirty="0" sz="1000">
                <a:solidFill>
                  <a:srgbClr val="44536A"/>
                </a:solidFill>
                <a:latin typeface="Segoe UI"/>
                <a:cs typeface="Segoe UI"/>
              </a:rPr>
              <a:t>auditable</a:t>
            </a:r>
            <a:r>
              <a:rPr dirty="0" sz="1000" spc="-30">
                <a:solidFill>
                  <a:srgbClr val="44536A"/>
                </a:solidFill>
                <a:latin typeface="Segoe UI"/>
                <a:cs typeface="Segoe UI"/>
              </a:rPr>
              <a:t> </a:t>
            </a:r>
            <a:r>
              <a:rPr dirty="0" sz="1000">
                <a:solidFill>
                  <a:srgbClr val="44536A"/>
                </a:solidFill>
                <a:latin typeface="Segoe UI"/>
                <a:cs typeface="Segoe UI"/>
              </a:rPr>
              <a:t>lineage,</a:t>
            </a:r>
            <a:r>
              <a:rPr dirty="0" sz="1000" spc="-10">
                <a:solidFill>
                  <a:srgbClr val="44536A"/>
                </a:solidFill>
                <a:latin typeface="Segoe UI"/>
                <a:cs typeface="Segoe UI"/>
              </a:rPr>
              <a:t> versioning, </a:t>
            </a:r>
            <a:r>
              <a:rPr dirty="0" sz="1000">
                <a:solidFill>
                  <a:srgbClr val="44536A"/>
                </a:solidFill>
                <a:latin typeface="Segoe UI"/>
                <a:cs typeface="Segoe UI"/>
              </a:rPr>
              <a:t>monitoring</a:t>
            </a:r>
            <a:r>
              <a:rPr dirty="0" sz="1000" spc="-35">
                <a:solidFill>
                  <a:srgbClr val="44536A"/>
                </a:solidFill>
                <a:latin typeface="Segoe UI"/>
                <a:cs typeface="Segoe UI"/>
              </a:rPr>
              <a:t> </a:t>
            </a:r>
            <a:r>
              <a:rPr dirty="0" sz="1000">
                <a:solidFill>
                  <a:srgbClr val="44536A"/>
                </a:solidFill>
                <a:latin typeface="Segoe UI"/>
                <a:cs typeface="Segoe UI"/>
              </a:rPr>
              <a:t>and</a:t>
            </a:r>
            <a:r>
              <a:rPr dirty="0" sz="1000" spc="-30">
                <a:solidFill>
                  <a:srgbClr val="44536A"/>
                </a:solidFill>
                <a:latin typeface="Segoe UI"/>
                <a:cs typeface="Segoe UI"/>
              </a:rPr>
              <a:t> </a:t>
            </a:r>
            <a:r>
              <a:rPr dirty="0" sz="1000">
                <a:solidFill>
                  <a:srgbClr val="44536A"/>
                </a:solidFill>
                <a:latin typeface="Segoe UI"/>
                <a:cs typeface="Segoe UI"/>
              </a:rPr>
              <a:t>a</a:t>
            </a:r>
            <a:r>
              <a:rPr dirty="0" sz="1000" spc="-25">
                <a:solidFill>
                  <a:srgbClr val="44536A"/>
                </a:solidFill>
                <a:latin typeface="Segoe UI"/>
                <a:cs typeface="Segoe UI"/>
              </a:rPr>
              <a:t> </a:t>
            </a:r>
            <a:r>
              <a:rPr dirty="0" sz="1000">
                <a:solidFill>
                  <a:srgbClr val="44536A"/>
                </a:solidFill>
                <a:latin typeface="Segoe UI"/>
                <a:cs typeface="Segoe UI"/>
              </a:rPr>
              <a:t>recorded</a:t>
            </a:r>
            <a:r>
              <a:rPr dirty="0" sz="1000" spc="-30">
                <a:solidFill>
                  <a:srgbClr val="44536A"/>
                </a:solidFill>
                <a:latin typeface="Segoe UI"/>
                <a:cs typeface="Segoe UI"/>
              </a:rPr>
              <a:t> </a:t>
            </a:r>
            <a:r>
              <a:rPr dirty="0" sz="1000" spc="-20">
                <a:solidFill>
                  <a:srgbClr val="44536A"/>
                </a:solidFill>
                <a:latin typeface="Segoe UI"/>
                <a:cs typeface="Segoe UI"/>
              </a:rPr>
              <a:t>human </a:t>
            </a:r>
            <a:r>
              <a:rPr dirty="0" sz="1000">
                <a:solidFill>
                  <a:srgbClr val="44536A"/>
                </a:solidFill>
                <a:latin typeface="Segoe UI"/>
                <a:cs typeface="Segoe UI"/>
              </a:rPr>
              <a:t>decision</a:t>
            </a:r>
            <a:r>
              <a:rPr dirty="0" sz="1000" spc="-55">
                <a:solidFill>
                  <a:srgbClr val="44536A"/>
                </a:solidFill>
                <a:latin typeface="Segoe UI"/>
                <a:cs typeface="Segoe UI"/>
              </a:rPr>
              <a:t> </a:t>
            </a:r>
            <a:r>
              <a:rPr dirty="0" sz="1000">
                <a:solidFill>
                  <a:srgbClr val="44536A"/>
                </a:solidFill>
                <a:latin typeface="Segoe UI"/>
                <a:cs typeface="Segoe UI"/>
              </a:rPr>
              <a:t>for</a:t>
            </a:r>
            <a:r>
              <a:rPr dirty="0" sz="1000" spc="-55">
                <a:solidFill>
                  <a:srgbClr val="44536A"/>
                </a:solidFill>
                <a:latin typeface="Segoe UI"/>
                <a:cs typeface="Segoe UI"/>
              </a:rPr>
              <a:t> </a:t>
            </a:r>
            <a:r>
              <a:rPr dirty="0" sz="1000">
                <a:solidFill>
                  <a:srgbClr val="44536A"/>
                </a:solidFill>
                <a:latin typeface="Segoe UI"/>
                <a:cs typeface="Segoe UI"/>
              </a:rPr>
              <a:t>every</a:t>
            </a:r>
            <a:r>
              <a:rPr dirty="0" sz="1000" spc="25">
                <a:solidFill>
                  <a:srgbClr val="44536A"/>
                </a:solidFill>
                <a:latin typeface="Segoe UI"/>
                <a:cs typeface="Segoe UI"/>
              </a:rPr>
              <a:t> </a:t>
            </a:r>
            <a:r>
              <a:rPr dirty="0" sz="1000" spc="-20">
                <a:solidFill>
                  <a:srgbClr val="44536A"/>
                </a:solidFill>
                <a:latin typeface="Segoe UI"/>
                <a:cs typeface="Segoe UI"/>
              </a:rPr>
              <a:t>use.</a:t>
            </a:r>
            <a:endParaRPr sz="1000">
              <a:latin typeface="Segoe UI"/>
              <a:cs typeface="Segoe UI"/>
            </a:endParaRPr>
          </a:p>
        </p:txBody>
      </p:sp>
      <p:sp>
        <p:nvSpPr>
          <p:cNvPr id="10" name="object 10"/>
          <p:cNvSpPr txBox="1"/>
          <p:nvPr/>
        </p:nvSpPr>
        <p:spPr>
          <a:xfrm>
            <a:off x="983056" y="4005110"/>
            <a:ext cx="2345055" cy="883285"/>
          </a:xfrm>
          <a:prstGeom prst="rect">
            <a:avLst/>
          </a:prstGeom>
        </p:spPr>
        <p:txBody>
          <a:bodyPr wrap="square" lIns="0" tIns="94615" rIns="0" bIns="0" rtlCol="0" vert="horz">
            <a:spAutoFit/>
          </a:bodyPr>
          <a:lstStyle/>
          <a:p>
            <a:pPr marL="12700">
              <a:lnSpc>
                <a:spcPct val="100000"/>
              </a:lnSpc>
              <a:spcBef>
                <a:spcPts val="745"/>
              </a:spcBef>
            </a:pPr>
            <a:r>
              <a:rPr dirty="0" sz="1500" spc="-10" b="1">
                <a:solidFill>
                  <a:srgbClr val="44536A"/>
                </a:solidFill>
                <a:latin typeface="Segoe UI"/>
                <a:cs typeface="Segoe UI"/>
              </a:rPr>
              <a:t>Clinicians</a:t>
            </a:r>
            <a:endParaRPr sz="1500">
              <a:latin typeface="Segoe UI"/>
              <a:cs typeface="Segoe UI"/>
            </a:endParaRPr>
          </a:p>
          <a:p>
            <a:pPr marL="12700" marR="5080">
              <a:lnSpc>
                <a:spcPct val="111100"/>
              </a:lnSpc>
              <a:spcBef>
                <a:spcPts val="300"/>
              </a:spcBef>
            </a:pPr>
            <a:r>
              <a:rPr dirty="0" sz="1000">
                <a:solidFill>
                  <a:srgbClr val="44536A"/>
                </a:solidFill>
                <a:latin typeface="Segoe UI"/>
                <a:cs typeface="Segoe UI"/>
              </a:rPr>
              <a:t>Need</a:t>
            </a:r>
            <a:r>
              <a:rPr dirty="0" sz="1000" spc="15">
                <a:solidFill>
                  <a:srgbClr val="44536A"/>
                </a:solidFill>
                <a:latin typeface="Segoe UI"/>
                <a:cs typeface="Segoe UI"/>
              </a:rPr>
              <a:t> </a:t>
            </a:r>
            <a:r>
              <a:rPr dirty="0" sz="1000">
                <a:solidFill>
                  <a:srgbClr val="44536A"/>
                </a:solidFill>
                <a:latin typeface="Segoe UI"/>
                <a:cs typeface="Segoe UI"/>
              </a:rPr>
              <a:t>an</a:t>
            </a:r>
            <a:r>
              <a:rPr dirty="0" sz="1000" spc="50">
                <a:solidFill>
                  <a:srgbClr val="44536A"/>
                </a:solidFill>
                <a:latin typeface="Segoe UI"/>
                <a:cs typeface="Segoe UI"/>
              </a:rPr>
              <a:t> </a:t>
            </a:r>
            <a:r>
              <a:rPr dirty="0" sz="1000" spc="-10">
                <a:solidFill>
                  <a:srgbClr val="44536A"/>
                </a:solidFill>
                <a:latin typeface="Segoe UI"/>
                <a:cs typeface="Segoe UI"/>
              </a:rPr>
              <a:t>interpretable,</a:t>
            </a:r>
            <a:r>
              <a:rPr dirty="0" sz="1000" spc="-50">
                <a:solidFill>
                  <a:srgbClr val="44536A"/>
                </a:solidFill>
                <a:latin typeface="Segoe UI"/>
                <a:cs typeface="Segoe UI"/>
              </a:rPr>
              <a:t> </a:t>
            </a:r>
            <a:r>
              <a:rPr dirty="0" sz="1000">
                <a:solidFill>
                  <a:srgbClr val="44536A"/>
                </a:solidFill>
                <a:latin typeface="Segoe UI"/>
                <a:cs typeface="Segoe UI"/>
              </a:rPr>
              <a:t>calibrated</a:t>
            </a:r>
            <a:r>
              <a:rPr dirty="0" sz="1000" spc="20">
                <a:solidFill>
                  <a:srgbClr val="44536A"/>
                </a:solidFill>
                <a:latin typeface="Segoe UI"/>
                <a:cs typeface="Segoe UI"/>
              </a:rPr>
              <a:t> </a:t>
            </a:r>
            <a:r>
              <a:rPr dirty="0" sz="1000">
                <a:solidFill>
                  <a:srgbClr val="44536A"/>
                </a:solidFill>
                <a:latin typeface="Segoe UI"/>
                <a:cs typeface="Segoe UI"/>
              </a:rPr>
              <a:t>score</a:t>
            </a:r>
            <a:r>
              <a:rPr dirty="0" sz="1000" spc="15">
                <a:solidFill>
                  <a:srgbClr val="44536A"/>
                </a:solidFill>
                <a:latin typeface="Segoe UI"/>
                <a:cs typeface="Segoe UI"/>
              </a:rPr>
              <a:t> </a:t>
            </a:r>
            <a:r>
              <a:rPr dirty="0" sz="1000" spc="-25">
                <a:solidFill>
                  <a:srgbClr val="44536A"/>
                </a:solidFill>
                <a:latin typeface="Segoe UI"/>
                <a:cs typeface="Segoe UI"/>
              </a:rPr>
              <a:t>in </a:t>
            </a:r>
            <a:r>
              <a:rPr dirty="0" sz="1000">
                <a:solidFill>
                  <a:srgbClr val="44536A"/>
                </a:solidFill>
                <a:latin typeface="Segoe UI"/>
                <a:cs typeface="Segoe UI"/>
              </a:rPr>
              <a:t>an</a:t>
            </a:r>
            <a:r>
              <a:rPr dirty="0" sz="1000" spc="-5">
                <a:solidFill>
                  <a:srgbClr val="44536A"/>
                </a:solidFill>
                <a:latin typeface="Segoe UI"/>
                <a:cs typeface="Segoe UI"/>
              </a:rPr>
              <a:t> </a:t>
            </a:r>
            <a:r>
              <a:rPr dirty="0" sz="1000">
                <a:solidFill>
                  <a:srgbClr val="44536A"/>
                </a:solidFill>
                <a:latin typeface="Segoe UI"/>
                <a:cs typeface="Segoe UI"/>
              </a:rPr>
              <a:t>approved</a:t>
            </a:r>
            <a:r>
              <a:rPr dirty="0" sz="1000" spc="-20">
                <a:solidFill>
                  <a:srgbClr val="44536A"/>
                </a:solidFill>
                <a:latin typeface="Segoe UI"/>
                <a:cs typeface="Segoe UI"/>
              </a:rPr>
              <a:t> </a:t>
            </a:r>
            <a:r>
              <a:rPr dirty="0" sz="1000" spc="-10">
                <a:solidFill>
                  <a:srgbClr val="44536A"/>
                </a:solidFill>
                <a:latin typeface="Segoe UI"/>
                <a:cs typeface="Segoe UI"/>
              </a:rPr>
              <a:t>workflow—</a:t>
            </a:r>
            <a:r>
              <a:rPr dirty="0" sz="1000">
                <a:solidFill>
                  <a:srgbClr val="44536A"/>
                </a:solidFill>
                <a:latin typeface="Segoe UI"/>
                <a:cs typeface="Segoe UI"/>
              </a:rPr>
              <a:t>while</a:t>
            </a:r>
            <a:r>
              <a:rPr dirty="0" sz="1000" spc="35">
                <a:solidFill>
                  <a:srgbClr val="44536A"/>
                </a:solidFill>
                <a:latin typeface="Segoe UI"/>
                <a:cs typeface="Segoe UI"/>
              </a:rPr>
              <a:t> </a:t>
            </a:r>
            <a:r>
              <a:rPr dirty="0" sz="1000" spc="-10">
                <a:solidFill>
                  <a:srgbClr val="44536A"/>
                </a:solidFill>
                <a:latin typeface="Segoe UI"/>
                <a:cs typeface="Segoe UI"/>
              </a:rPr>
              <a:t>retaining </a:t>
            </a:r>
            <a:r>
              <a:rPr dirty="0" sz="1000">
                <a:solidFill>
                  <a:srgbClr val="44536A"/>
                </a:solidFill>
                <a:latin typeface="Segoe UI"/>
                <a:cs typeface="Segoe UI"/>
              </a:rPr>
              <a:t>final </a:t>
            </a:r>
            <a:r>
              <a:rPr dirty="0" sz="1000" spc="-10">
                <a:solidFill>
                  <a:srgbClr val="44536A"/>
                </a:solidFill>
                <a:latin typeface="Segoe UI"/>
                <a:cs typeface="Segoe UI"/>
              </a:rPr>
              <a:t>accountability.</a:t>
            </a:r>
            <a:endParaRPr sz="1000">
              <a:latin typeface="Segoe UI"/>
              <a:cs typeface="Segoe UI"/>
            </a:endParaRPr>
          </a:p>
        </p:txBody>
      </p:sp>
      <p:sp>
        <p:nvSpPr>
          <p:cNvPr id="11" name="object 11"/>
          <p:cNvSpPr txBox="1"/>
          <p:nvPr/>
        </p:nvSpPr>
        <p:spPr>
          <a:xfrm>
            <a:off x="8822308" y="2806968"/>
            <a:ext cx="2370455" cy="881380"/>
          </a:xfrm>
          <a:prstGeom prst="rect">
            <a:avLst/>
          </a:prstGeom>
        </p:spPr>
        <p:txBody>
          <a:bodyPr wrap="square" lIns="0" tIns="93345" rIns="0" bIns="0" rtlCol="0" vert="horz">
            <a:spAutoFit/>
          </a:bodyPr>
          <a:lstStyle/>
          <a:p>
            <a:pPr marL="12700">
              <a:lnSpc>
                <a:spcPct val="100000"/>
              </a:lnSpc>
              <a:spcBef>
                <a:spcPts val="735"/>
              </a:spcBef>
            </a:pPr>
            <a:r>
              <a:rPr dirty="0" sz="1500" spc="-10" b="1">
                <a:solidFill>
                  <a:srgbClr val="44536A"/>
                </a:solidFill>
                <a:latin typeface="Segoe UI"/>
                <a:cs typeface="Segoe UI"/>
              </a:rPr>
              <a:t>Patients</a:t>
            </a:r>
            <a:endParaRPr sz="1500">
              <a:latin typeface="Segoe UI"/>
              <a:cs typeface="Segoe UI"/>
            </a:endParaRPr>
          </a:p>
          <a:p>
            <a:pPr marL="12700" marR="5080">
              <a:lnSpc>
                <a:spcPct val="111200"/>
              </a:lnSpc>
              <a:spcBef>
                <a:spcPts val="300"/>
              </a:spcBef>
            </a:pPr>
            <a:r>
              <a:rPr dirty="0" sz="1000">
                <a:solidFill>
                  <a:srgbClr val="44536A"/>
                </a:solidFill>
                <a:latin typeface="Segoe UI"/>
                <a:cs typeface="Segoe UI"/>
              </a:rPr>
              <a:t>Need</a:t>
            </a:r>
            <a:r>
              <a:rPr dirty="0" sz="1000" spc="-35">
                <a:solidFill>
                  <a:srgbClr val="44536A"/>
                </a:solidFill>
                <a:latin typeface="Segoe UI"/>
                <a:cs typeface="Segoe UI"/>
              </a:rPr>
              <a:t> </a:t>
            </a:r>
            <a:r>
              <a:rPr dirty="0" sz="1000">
                <a:solidFill>
                  <a:srgbClr val="44536A"/>
                </a:solidFill>
                <a:latin typeface="Segoe UI"/>
                <a:cs typeface="Segoe UI"/>
              </a:rPr>
              <a:t>a</a:t>
            </a:r>
            <a:r>
              <a:rPr dirty="0" sz="1000" spc="-20">
                <a:solidFill>
                  <a:srgbClr val="44536A"/>
                </a:solidFill>
                <a:latin typeface="Segoe UI"/>
                <a:cs typeface="Segoe UI"/>
              </a:rPr>
              <a:t> </a:t>
            </a:r>
            <a:r>
              <a:rPr dirty="0" sz="1000">
                <a:solidFill>
                  <a:srgbClr val="44536A"/>
                </a:solidFill>
                <a:latin typeface="Segoe UI"/>
                <a:cs typeface="Segoe UI"/>
              </a:rPr>
              <a:t>clear</a:t>
            </a:r>
            <a:r>
              <a:rPr dirty="0" sz="1000" spc="-5">
                <a:solidFill>
                  <a:srgbClr val="44536A"/>
                </a:solidFill>
                <a:latin typeface="Segoe UI"/>
                <a:cs typeface="Segoe UI"/>
              </a:rPr>
              <a:t> </a:t>
            </a:r>
            <a:r>
              <a:rPr dirty="0" sz="1000">
                <a:solidFill>
                  <a:srgbClr val="44536A"/>
                </a:solidFill>
                <a:latin typeface="Segoe UI"/>
                <a:cs typeface="Segoe UI"/>
              </a:rPr>
              <a:t>explanation</a:t>
            </a:r>
            <a:r>
              <a:rPr dirty="0" sz="1000" spc="-10">
                <a:solidFill>
                  <a:srgbClr val="44536A"/>
                </a:solidFill>
                <a:latin typeface="Segoe UI"/>
                <a:cs typeface="Segoe UI"/>
              </a:rPr>
              <a:t> </a:t>
            </a:r>
            <a:r>
              <a:rPr dirty="0" sz="1000">
                <a:solidFill>
                  <a:srgbClr val="44536A"/>
                </a:solidFill>
                <a:latin typeface="Segoe UI"/>
                <a:cs typeface="Segoe UI"/>
              </a:rPr>
              <a:t>of</a:t>
            </a:r>
            <a:r>
              <a:rPr dirty="0" sz="1000" spc="-40">
                <a:solidFill>
                  <a:srgbClr val="44536A"/>
                </a:solidFill>
                <a:latin typeface="Segoe UI"/>
                <a:cs typeface="Segoe UI"/>
              </a:rPr>
              <a:t> </a:t>
            </a:r>
            <a:r>
              <a:rPr dirty="0" sz="1000">
                <a:solidFill>
                  <a:srgbClr val="44536A"/>
                </a:solidFill>
                <a:latin typeface="Segoe UI"/>
                <a:cs typeface="Segoe UI"/>
              </a:rPr>
              <a:t>the</a:t>
            </a:r>
            <a:r>
              <a:rPr dirty="0" sz="1000" spc="-40">
                <a:solidFill>
                  <a:srgbClr val="44536A"/>
                </a:solidFill>
                <a:latin typeface="Segoe UI"/>
                <a:cs typeface="Segoe UI"/>
              </a:rPr>
              <a:t> </a:t>
            </a:r>
            <a:r>
              <a:rPr dirty="0" sz="1000">
                <a:solidFill>
                  <a:srgbClr val="44536A"/>
                </a:solidFill>
                <a:latin typeface="Segoe UI"/>
                <a:cs typeface="Segoe UI"/>
              </a:rPr>
              <a:t>score,</a:t>
            </a:r>
            <a:r>
              <a:rPr dirty="0" sz="1000" spc="-10">
                <a:solidFill>
                  <a:srgbClr val="44536A"/>
                </a:solidFill>
                <a:latin typeface="Segoe UI"/>
                <a:cs typeface="Segoe UI"/>
              </a:rPr>
              <a:t> </a:t>
            </a:r>
            <a:r>
              <a:rPr dirty="0" sz="1000" spc="-25">
                <a:solidFill>
                  <a:srgbClr val="44536A"/>
                </a:solidFill>
                <a:latin typeface="Segoe UI"/>
                <a:cs typeface="Segoe UI"/>
              </a:rPr>
              <a:t>its </a:t>
            </a:r>
            <a:r>
              <a:rPr dirty="0" sz="1000" spc="-10">
                <a:solidFill>
                  <a:srgbClr val="44536A"/>
                </a:solidFill>
                <a:latin typeface="Segoe UI"/>
                <a:cs typeface="Segoe UI"/>
              </a:rPr>
              <a:t>uncertainty</a:t>
            </a:r>
            <a:r>
              <a:rPr dirty="0" sz="1000" spc="-30">
                <a:solidFill>
                  <a:srgbClr val="44536A"/>
                </a:solidFill>
                <a:latin typeface="Segoe UI"/>
                <a:cs typeface="Segoe UI"/>
              </a:rPr>
              <a:t> </a:t>
            </a:r>
            <a:r>
              <a:rPr dirty="0" sz="1000">
                <a:solidFill>
                  <a:srgbClr val="44536A"/>
                </a:solidFill>
                <a:latin typeface="Segoe UI"/>
                <a:cs typeface="Segoe UI"/>
              </a:rPr>
              <a:t>and</a:t>
            </a:r>
            <a:r>
              <a:rPr dirty="0" sz="1000" spc="10">
                <a:solidFill>
                  <a:srgbClr val="44536A"/>
                </a:solidFill>
                <a:latin typeface="Segoe UI"/>
                <a:cs typeface="Segoe UI"/>
              </a:rPr>
              <a:t> </a:t>
            </a:r>
            <a:r>
              <a:rPr dirty="0" sz="1000">
                <a:solidFill>
                  <a:srgbClr val="44536A"/>
                </a:solidFill>
                <a:latin typeface="Segoe UI"/>
                <a:cs typeface="Segoe UI"/>
              </a:rPr>
              <a:t>how</a:t>
            </a:r>
            <a:r>
              <a:rPr dirty="0" sz="1000" spc="20">
                <a:solidFill>
                  <a:srgbClr val="44536A"/>
                </a:solidFill>
                <a:latin typeface="Segoe UI"/>
                <a:cs typeface="Segoe UI"/>
              </a:rPr>
              <a:t> </a:t>
            </a:r>
            <a:r>
              <a:rPr dirty="0" sz="1000">
                <a:solidFill>
                  <a:srgbClr val="44536A"/>
                </a:solidFill>
                <a:latin typeface="Segoe UI"/>
                <a:cs typeface="Segoe UI"/>
              </a:rPr>
              <a:t>it</a:t>
            </a:r>
            <a:r>
              <a:rPr dirty="0" sz="1000" spc="50">
                <a:solidFill>
                  <a:srgbClr val="44536A"/>
                </a:solidFill>
                <a:latin typeface="Segoe UI"/>
                <a:cs typeface="Segoe UI"/>
              </a:rPr>
              <a:t> </a:t>
            </a:r>
            <a:r>
              <a:rPr dirty="0" sz="1000" spc="-10">
                <a:solidFill>
                  <a:srgbClr val="44536A"/>
                </a:solidFill>
                <a:latin typeface="Segoe UI"/>
                <a:cs typeface="Segoe UI"/>
              </a:rPr>
              <a:t>influenced—</a:t>
            </a:r>
            <a:r>
              <a:rPr dirty="0" sz="1000">
                <a:solidFill>
                  <a:srgbClr val="44536A"/>
                </a:solidFill>
                <a:latin typeface="Segoe UI"/>
                <a:cs typeface="Segoe UI"/>
              </a:rPr>
              <a:t>or</a:t>
            </a:r>
            <a:r>
              <a:rPr dirty="0" sz="1000" spc="40">
                <a:solidFill>
                  <a:srgbClr val="44536A"/>
                </a:solidFill>
                <a:latin typeface="Segoe UI"/>
                <a:cs typeface="Segoe UI"/>
              </a:rPr>
              <a:t> </a:t>
            </a:r>
            <a:r>
              <a:rPr dirty="0" sz="1000" spc="-25">
                <a:solidFill>
                  <a:srgbClr val="44536A"/>
                </a:solidFill>
                <a:latin typeface="Segoe UI"/>
                <a:cs typeface="Segoe UI"/>
              </a:rPr>
              <a:t>can </a:t>
            </a:r>
            <a:r>
              <a:rPr dirty="0" sz="1000">
                <a:solidFill>
                  <a:srgbClr val="44536A"/>
                </a:solidFill>
                <a:latin typeface="Segoe UI"/>
                <a:cs typeface="Segoe UI"/>
              </a:rPr>
              <a:t>be</a:t>
            </a:r>
            <a:r>
              <a:rPr dirty="0" sz="1000" spc="-15">
                <a:solidFill>
                  <a:srgbClr val="44536A"/>
                </a:solidFill>
                <a:latin typeface="Segoe UI"/>
                <a:cs typeface="Segoe UI"/>
              </a:rPr>
              <a:t> </a:t>
            </a:r>
            <a:r>
              <a:rPr dirty="0" sz="1000">
                <a:solidFill>
                  <a:srgbClr val="44536A"/>
                </a:solidFill>
                <a:latin typeface="Segoe UI"/>
                <a:cs typeface="Segoe UI"/>
              </a:rPr>
              <a:t>challenged</a:t>
            </a:r>
            <a:r>
              <a:rPr dirty="0" sz="1000" spc="-10">
                <a:solidFill>
                  <a:srgbClr val="44536A"/>
                </a:solidFill>
                <a:latin typeface="Segoe UI"/>
                <a:cs typeface="Segoe UI"/>
              </a:rPr>
              <a:t> in—</a:t>
            </a:r>
            <a:r>
              <a:rPr dirty="0" sz="1000" spc="-20">
                <a:solidFill>
                  <a:srgbClr val="44536A"/>
                </a:solidFill>
                <a:latin typeface="Segoe UI"/>
                <a:cs typeface="Segoe UI"/>
              </a:rPr>
              <a:t>care.</a:t>
            </a:r>
            <a:endParaRPr sz="1000">
              <a:latin typeface="Segoe UI"/>
              <a:cs typeface="Segoe UI"/>
            </a:endParaRPr>
          </a:p>
        </p:txBody>
      </p:sp>
      <p:sp>
        <p:nvSpPr>
          <p:cNvPr id="12" name="object 12"/>
          <p:cNvSpPr txBox="1"/>
          <p:nvPr/>
        </p:nvSpPr>
        <p:spPr>
          <a:xfrm>
            <a:off x="5063490" y="4460303"/>
            <a:ext cx="697230" cy="212725"/>
          </a:xfrm>
          <a:prstGeom prst="rect">
            <a:avLst/>
          </a:prstGeom>
        </p:spPr>
        <p:txBody>
          <a:bodyPr wrap="square" lIns="0" tIns="15875" rIns="0" bIns="0" rtlCol="0" vert="horz">
            <a:spAutoFit/>
          </a:bodyPr>
          <a:lstStyle/>
          <a:p>
            <a:pPr marL="12700">
              <a:lnSpc>
                <a:spcPct val="100000"/>
              </a:lnSpc>
              <a:spcBef>
                <a:spcPts val="125"/>
              </a:spcBef>
            </a:pPr>
            <a:r>
              <a:rPr dirty="0" sz="1200" spc="-10" b="1">
                <a:solidFill>
                  <a:srgbClr val="44536A"/>
                </a:solidFill>
                <a:latin typeface="Segoe UI"/>
                <a:cs typeface="Segoe UI"/>
              </a:rPr>
              <a:t>Clinicians</a:t>
            </a:r>
            <a:endParaRPr sz="1200">
              <a:latin typeface="Segoe UI"/>
              <a:cs typeface="Segoe UI"/>
            </a:endParaRPr>
          </a:p>
        </p:txBody>
      </p:sp>
      <p:sp>
        <p:nvSpPr>
          <p:cNvPr id="13" name="object 13"/>
          <p:cNvSpPr txBox="1"/>
          <p:nvPr/>
        </p:nvSpPr>
        <p:spPr>
          <a:xfrm>
            <a:off x="6902704" y="3586607"/>
            <a:ext cx="598805" cy="212090"/>
          </a:xfrm>
          <a:prstGeom prst="rect">
            <a:avLst/>
          </a:prstGeom>
        </p:spPr>
        <p:txBody>
          <a:bodyPr wrap="square" lIns="0" tIns="15875" rIns="0" bIns="0" rtlCol="0" vert="horz">
            <a:spAutoFit/>
          </a:bodyPr>
          <a:lstStyle/>
          <a:p>
            <a:pPr marL="12700">
              <a:lnSpc>
                <a:spcPct val="100000"/>
              </a:lnSpc>
              <a:spcBef>
                <a:spcPts val="125"/>
              </a:spcBef>
            </a:pPr>
            <a:r>
              <a:rPr dirty="0" sz="1200" spc="-10" b="1">
                <a:solidFill>
                  <a:srgbClr val="FFFFFF"/>
                </a:solidFill>
                <a:latin typeface="Segoe UI"/>
                <a:cs typeface="Segoe UI"/>
              </a:rPr>
              <a:t>Patients</a:t>
            </a:r>
            <a:endParaRPr sz="1200">
              <a:latin typeface="Segoe UI"/>
              <a:cs typeface="Segoe UI"/>
            </a:endParaRPr>
          </a:p>
        </p:txBody>
      </p:sp>
      <p:sp>
        <p:nvSpPr>
          <p:cNvPr id="14" name="object 14"/>
          <p:cNvSpPr txBox="1"/>
          <p:nvPr/>
        </p:nvSpPr>
        <p:spPr>
          <a:xfrm>
            <a:off x="5055615" y="2603690"/>
            <a:ext cx="767715" cy="190500"/>
          </a:xfrm>
          <a:prstGeom prst="rect">
            <a:avLst/>
          </a:prstGeom>
        </p:spPr>
        <p:txBody>
          <a:bodyPr wrap="square" lIns="0" tIns="16510" rIns="0" bIns="0" rtlCol="0" vert="horz">
            <a:spAutoFit/>
          </a:bodyPr>
          <a:lstStyle/>
          <a:p>
            <a:pPr marL="12700">
              <a:lnSpc>
                <a:spcPct val="100000"/>
              </a:lnSpc>
              <a:spcBef>
                <a:spcPts val="130"/>
              </a:spcBef>
            </a:pPr>
            <a:r>
              <a:rPr dirty="0" sz="1050" spc="-10" b="1">
                <a:solidFill>
                  <a:srgbClr val="FFFFFF"/>
                </a:solidFill>
                <a:latin typeface="Segoe UI"/>
                <a:cs typeface="Segoe UI"/>
              </a:rPr>
              <a:t>Governance</a:t>
            </a:r>
            <a:endParaRPr sz="1050">
              <a:latin typeface="Segoe UI"/>
              <a:cs typeface="Segoe UI"/>
            </a:endParaRPr>
          </a:p>
        </p:txBody>
      </p:sp>
      <p:sp>
        <p:nvSpPr>
          <p:cNvPr id="15" name="object 15"/>
          <p:cNvSpPr txBox="1"/>
          <p:nvPr/>
        </p:nvSpPr>
        <p:spPr>
          <a:xfrm>
            <a:off x="5820536" y="3465972"/>
            <a:ext cx="560705" cy="501650"/>
          </a:xfrm>
          <a:prstGeom prst="rect">
            <a:avLst/>
          </a:prstGeom>
        </p:spPr>
        <p:txBody>
          <a:bodyPr wrap="square" lIns="0" tIns="66675" rIns="0" bIns="0" rtlCol="0" vert="horz">
            <a:spAutoFit/>
          </a:bodyPr>
          <a:lstStyle/>
          <a:p>
            <a:pPr algn="ctr">
              <a:lnSpc>
                <a:spcPct val="100000"/>
              </a:lnSpc>
              <a:spcBef>
                <a:spcPts val="525"/>
              </a:spcBef>
            </a:pPr>
            <a:r>
              <a:rPr dirty="0" sz="1200" spc="-10" b="1">
                <a:solidFill>
                  <a:srgbClr val="FFFFFF"/>
                </a:solidFill>
                <a:latin typeface="Segoe UI"/>
                <a:cs typeface="Segoe UI"/>
              </a:rPr>
              <a:t>Trusted</a:t>
            </a:r>
            <a:endParaRPr sz="1200">
              <a:latin typeface="Segoe UI"/>
              <a:cs typeface="Segoe UI"/>
            </a:endParaRPr>
          </a:p>
          <a:p>
            <a:pPr algn="ctr">
              <a:lnSpc>
                <a:spcPct val="100000"/>
              </a:lnSpc>
              <a:spcBef>
                <a:spcPts val="434"/>
              </a:spcBef>
            </a:pPr>
            <a:r>
              <a:rPr dirty="0" sz="1200" spc="-25" b="1">
                <a:solidFill>
                  <a:srgbClr val="FFFFFF"/>
                </a:solidFill>
                <a:latin typeface="Segoe UI"/>
                <a:cs typeface="Segoe UI"/>
              </a:rPr>
              <a:t>use</a:t>
            </a:r>
            <a:endParaRPr sz="1200">
              <a:latin typeface="Segoe UI"/>
              <a:cs typeface="Segoe UI"/>
            </a:endParaRPr>
          </a:p>
        </p:txBody>
      </p:sp>
      <p:grpSp>
        <p:nvGrpSpPr>
          <p:cNvPr id="16" name="object 16"/>
          <p:cNvGrpSpPr/>
          <p:nvPr/>
        </p:nvGrpSpPr>
        <p:grpSpPr>
          <a:xfrm>
            <a:off x="5347334" y="1552828"/>
            <a:ext cx="2245995" cy="1465580"/>
            <a:chOff x="5347334" y="1552828"/>
            <a:chExt cx="2245995" cy="1465580"/>
          </a:xfrm>
        </p:grpSpPr>
        <p:sp>
          <p:nvSpPr>
            <p:cNvPr id="17" name="object 17"/>
            <p:cNvSpPr/>
            <p:nvPr/>
          </p:nvSpPr>
          <p:spPr>
            <a:xfrm>
              <a:off x="5347334" y="1552828"/>
              <a:ext cx="2245995" cy="1465580"/>
            </a:xfrm>
            <a:custGeom>
              <a:avLst/>
              <a:gdLst/>
              <a:ahLst/>
              <a:cxnLst/>
              <a:rect l="l" t="t" r="r" b="b"/>
              <a:pathLst>
                <a:path w="2245995" h="1465580">
                  <a:moveTo>
                    <a:pt x="2201463" y="1389500"/>
                  </a:moveTo>
                  <a:lnTo>
                    <a:pt x="2169921" y="1390396"/>
                  </a:lnTo>
                  <a:lnTo>
                    <a:pt x="2210181" y="1465453"/>
                  </a:lnTo>
                  <a:lnTo>
                    <a:pt x="2239515" y="1402207"/>
                  </a:lnTo>
                  <a:lnTo>
                    <a:pt x="2202053" y="1402207"/>
                  </a:lnTo>
                  <a:lnTo>
                    <a:pt x="2201505" y="1390396"/>
                  </a:lnTo>
                  <a:lnTo>
                    <a:pt x="2201463" y="1389500"/>
                  </a:lnTo>
                  <a:close/>
                </a:path>
                <a:path w="2245995" h="1465580">
                  <a:moveTo>
                    <a:pt x="2214099" y="1389142"/>
                  </a:moveTo>
                  <a:lnTo>
                    <a:pt x="2201463" y="1389500"/>
                  </a:lnTo>
                  <a:lnTo>
                    <a:pt x="2202029" y="1401699"/>
                  </a:lnTo>
                  <a:lnTo>
                    <a:pt x="2202053" y="1402207"/>
                  </a:lnTo>
                  <a:lnTo>
                    <a:pt x="2214625" y="1401699"/>
                  </a:lnTo>
                  <a:lnTo>
                    <a:pt x="2214151" y="1390396"/>
                  </a:lnTo>
                  <a:lnTo>
                    <a:pt x="2214099" y="1389142"/>
                  </a:lnTo>
                  <a:close/>
                </a:path>
                <a:path w="2245995" h="1465580">
                  <a:moveTo>
                    <a:pt x="2245994" y="1388237"/>
                  </a:moveTo>
                  <a:lnTo>
                    <a:pt x="2214099" y="1389142"/>
                  </a:lnTo>
                  <a:lnTo>
                    <a:pt x="2214625" y="1401699"/>
                  </a:lnTo>
                  <a:lnTo>
                    <a:pt x="2202053" y="1402207"/>
                  </a:lnTo>
                  <a:lnTo>
                    <a:pt x="2239515" y="1402207"/>
                  </a:lnTo>
                  <a:lnTo>
                    <a:pt x="2245994" y="1388237"/>
                  </a:lnTo>
                  <a:close/>
                </a:path>
                <a:path w="2245995" h="1465580">
                  <a:moveTo>
                    <a:pt x="1864539" y="530688"/>
                  </a:moveTo>
                  <a:lnTo>
                    <a:pt x="1910886" y="589136"/>
                  </a:lnTo>
                  <a:lnTo>
                    <a:pt x="1949353" y="643001"/>
                  </a:lnTo>
                  <a:lnTo>
                    <a:pt x="1954180" y="649927"/>
                  </a:lnTo>
                  <a:lnTo>
                    <a:pt x="1954468" y="650187"/>
                  </a:lnTo>
                  <a:lnTo>
                    <a:pt x="1994535" y="712978"/>
                  </a:lnTo>
                  <a:lnTo>
                    <a:pt x="2018833" y="754790"/>
                  </a:lnTo>
                  <a:lnTo>
                    <a:pt x="2039721" y="793750"/>
                  </a:lnTo>
                  <a:lnTo>
                    <a:pt x="2042689" y="799521"/>
                  </a:lnTo>
                  <a:lnTo>
                    <a:pt x="2042887" y="799669"/>
                  </a:lnTo>
                  <a:lnTo>
                    <a:pt x="2064639" y="843915"/>
                  </a:lnTo>
                  <a:lnTo>
                    <a:pt x="2084959" y="889000"/>
                  </a:lnTo>
                  <a:lnTo>
                    <a:pt x="2103755" y="934593"/>
                  </a:lnTo>
                  <a:lnTo>
                    <a:pt x="2120632" y="979888"/>
                  </a:lnTo>
                  <a:lnTo>
                    <a:pt x="2135281" y="1023747"/>
                  </a:lnTo>
                  <a:lnTo>
                    <a:pt x="2136445" y="1027456"/>
                  </a:lnTo>
                  <a:lnTo>
                    <a:pt x="2136583" y="1027663"/>
                  </a:lnTo>
                  <a:lnTo>
                    <a:pt x="2150134" y="1073298"/>
                  </a:lnTo>
                  <a:lnTo>
                    <a:pt x="2162166" y="1119505"/>
                  </a:lnTo>
                  <a:lnTo>
                    <a:pt x="2162885" y="1122462"/>
                  </a:lnTo>
                  <a:lnTo>
                    <a:pt x="2162983" y="1122668"/>
                  </a:lnTo>
                  <a:lnTo>
                    <a:pt x="2173605" y="1170559"/>
                  </a:lnTo>
                  <a:lnTo>
                    <a:pt x="2182477" y="1216914"/>
                  </a:lnTo>
                  <a:lnTo>
                    <a:pt x="2182843" y="1218995"/>
                  </a:lnTo>
                  <a:lnTo>
                    <a:pt x="2182907" y="1219194"/>
                  </a:lnTo>
                  <a:lnTo>
                    <a:pt x="2190368" y="1267841"/>
                  </a:lnTo>
                  <a:lnTo>
                    <a:pt x="2196196" y="1316864"/>
                  </a:lnTo>
                  <a:lnTo>
                    <a:pt x="2200316" y="1365377"/>
                  </a:lnTo>
                  <a:lnTo>
                    <a:pt x="2201463" y="1389500"/>
                  </a:lnTo>
                  <a:lnTo>
                    <a:pt x="2214099" y="1389142"/>
                  </a:lnTo>
                  <a:lnTo>
                    <a:pt x="2213157" y="1366692"/>
                  </a:lnTo>
                  <a:lnTo>
                    <a:pt x="2213101" y="1365377"/>
                  </a:lnTo>
                  <a:lnTo>
                    <a:pt x="2209055" y="1317306"/>
                  </a:lnTo>
                  <a:lnTo>
                    <a:pt x="2202941" y="1266190"/>
                  </a:lnTo>
                  <a:lnTo>
                    <a:pt x="2195448" y="1216914"/>
                  </a:lnTo>
                  <a:lnTo>
                    <a:pt x="2186050" y="1168019"/>
                  </a:lnTo>
                  <a:lnTo>
                    <a:pt x="2175256" y="1119505"/>
                  </a:lnTo>
                  <a:lnTo>
                    <a:pt x="2162810" y="1071372"/>
                  </a:lnTo>
                  <a:lnTo>
                    <a:pt x="2148586" y="1023747"/>
                  </a:lnTo>
                  <a:lnTo>
                    <a:pt x="2132965" y="976630"/>
                  </a:lnTo>
                  <a:lnTo>
                    <a:pt x="2115566" y="930021"/>
                  </a:lnTo>
                  <a:lnTo>
                    <a:pt x="2096642" y="884047"/>
                  </a:lnTo>
                  <a:lnTo>
                    <a:pt x="2076195" y="838581"/>
                  </a:lnTo>
                  <a:lnTo>
                    <a:pt x="2054097" y="793750"/>
                  </a:lnTo>
                  <a:lnTo>
                    <a:pt x="2030603" y="749808"/>
                  </a:lnTo>
                  <a:lnTo>
                    <a:pt x="2005330" y="706374"/>
                  </a:lnTo>
                  <a:lnTo>
                    <a:pt x="1964816" y="643001"/>
                  </a:lnTo>
                  <a:lnTo>
                    <a:pt x="1921637" y="582295"/>
                  </a:lnTo>
                  <a:lnTo>
                    <a:pt x="1882199" y="532369"/>
                  </a:lnTo>
                  <a:lnTo>
                    <a:pt x="1866013" y="532369"/>
                  </a:lnTo>
                  <a:lnTo>
                    <a:pt x="1864539" y="530688"/>
                  </a:lnTo>
                  <a:close/>
                </a:path>
                <a:path w="2245995" h="1465580">
                  <a:moveTo>
                    <a:pt x="1233013" y="94029"/>
                  </a:moveTo>
                  <a:lnTo>
                    <a:pt x="1300257" y="119360"/>
                  </a:lnTo>
                  <a:lnTo>
                    <a:pt x="1362910" y="146600"/>
                  </a:lnTo>
                  <a:lnTo>
                    <a:pt x="1363501" y="146906"/>
                  </a:lnTo>
                  <a:lnTo>
                    <a:pt x="1363853" y="147063"/>
                  </a:lnTo>
                  <a:lnTo>
                    <a:pt x="1426439" y="177800"/>
                  </a:lnTo>
                  <a:lnTo>
                    <a:pt x="1487534" y="211571"/>
                  </a:lnTo>
                  <a:lnTo>
                    <a:pt x="1546669" y="248232"/>
                  </a:lnTo>
                  <a:lnTo>
                    <a:pt x="1606209" y="289223"/>
                  </a:lnTo>
                  <a:lnTo>
                    <a:pt x="1661475" y="331438"/>
                  </a:lnTo>
                  <a:lnTo>
                    <a:pt x="1661674" y="331574"/>
                  </a:lnTo>
                  <a:lnTo>
                    <a:pt x="1714623" y="376366"/>
                  </a:lnTo>
                  <a:lnTo>
                    <a:pt x="1768213" y="426338"/>
                  </a:lnTo>
                  <a:lnTo>
                    <a:pt x="1818139" y="477774"/>
                  </a:lnTo>
                  <a:lnTo>
                    <a:pt x="1866013" y="532369"/>
                  </a:lnTo>
                  <a:lnTo>
                    <a:pt x="1882199" y="532369"/>
                  </a:lnTo>
                  <a:lnTo>
                    <a:pt x="1827530" y="469265"/>
                  </a:lnTo>
                  <a:lnTo>
                    <a:pt x="1776984" y="417195"/>
                  </a:lnTo>
                  <a:lnTo>
                    <a:pt x="1724279" y="367919"/>
                  </a:lnTo>
                  <a:lnTo>
                    <a:pt x="1669541" y="321563"/>
                  </a:lnTo>
                  <a:lnTo>
                    <a:pt x="1612772" y="278257"/>
                  </a:lnTo>
                  <a:lnTo>
                    <a:pt x="1554225" y="237998"/>
                  </a:lnTo>
                  <a:lnTo>
                    <a:pt x="1494028" y="200660"/>
                  </a:lnTo>
                  <a:lnTo>
                    <a:pt x="1432306" y="166497"/>
                  </a:lnTo>
                  <a:lnTo>
                    <a:pt x="1369187" y="135382"/>
                  </a:lnTo>
                  <a:lnTo>
                    <a:pt x="1304670" y="107442"/>
                  </a:lnTo>
                  <a:lnTo>
                    <a:pt x="1270819" y="94698"/>
                  </a:lnTo>
                  <a:lnTo>
                    <a:pt x="1235079" y="94698"/>
                  </a:lnTo>
                  <a:lnTo>
                    <a:pt x="1233013" y="94029"/>
                  </a:lnTo>
                  <a:close/>
                </a:path>
                <a:path w="2245995" h="1465580">
                  <a:moveTo>
                    <a:pt x="757047" y="0"/>
                  </a:moveTo>
                  <a:lnTo>
                    <a:pt x="686562" y="1650"/>
                  </a:lnTo>
                  <a:lnTo>
                    <a:pt x="615950" y="6731"/>
                  </a:lnTo>
                  <a:lnTo>
                    <a:pt x="545591" y="15240"/>
                  </a:lnTo>
                  <a:lnTo>
                    <a:pt x="474493" y="27432"/>
                  </a:lnTo>
                  <a:lnTo>
                    <a:pt x="474665" y="27432"/>
                  </a:lnTo>
                  <a:lnTo>
                    <a:pt x="405256" y="42925"/>
                  </a:lnTo>
                  <a:lnTo>
                    <a:pt x="335788" y="62103"/>
                  </a:lnTo>
                  <a:lnTo>
                    <a:pt x="266953" y="84709"/>
                  </a:lnTo>
                  <a:lnTo>
                    <a:pt x="198754" y="111125"/>
                  </a:lnTo>
                  <a:lnTo>
                    <a:pt x="131444" y="141097"/>
                  </a:lnTo>
                  <a:lnTo>
                    <a:pt x="65024" y="174879"/>
                  </a:lnTo>
                  <a:lnTo>
                    <a:pt x="0" y="212217"/>
                  </a:lnTo>
                  <a:lnTo>
                    <a:pt x="6350" y="223138"/>
                  </a:lnTo>
                  <a:lnTo>
                    <a:pt x="71025" y="186055"/>
                  </a:lnTo>
                  <a:lnTo>
                    <a:pt x="136782" y="152654"/>
                  </a:lnTo>
                  <a:lnTo>
                    <a:pt x="203221" y="123026"/>
                  </a:lnTo>
                  <a:lnTo>
                    <a:pt x="271070" y="96774"/>
                  </a:lnTo>
                  <a:lnTo>
                    <a:pt x="338529" y="74520"/>
                  </a:lnTo>
                  <a:lnTo>
                    <a:pt x="339259" y="74337"/>
                  </a:lnTo>
                  <a:lnTo>
                    <a:pt x="407896" y="55342"/>
                  </a:lnTo>
                  <a:lnTo>
                    <a:pt x="407751" y="55342"/>
                  </a:lnTo>
                  <a:lnTo>
                    <a:pt x="476962" y="39931"/>
                  </a:lnTo>
                  <a:lnTo>
                    <a:pt x="477209" y="39931"/>
                  </a:lnTo>
                  <a:lnTo>
                    <a:pt x="547074" y="27855"/>
                  </a:lnTo>
                  <a:lnTo>
                    <a:pt x="546888" y="27855"/>
                  </a:lnTo>
                  <a:lnTo>
                    <a:pt x="616742" y="19475"/>
                  </a:lnTo>
                  <a:lnTo>
                    <a:pt x="616342" y="19475"/>
                  </a:lnTo>
                  <a:lnTo>
                    <a:pt x="686944" y="14378"/>
                  </a:lnTo>
                  <a:lnTo>
                    <a:pt x="685778" y="14378"/>
                  </a:lnTo>
                  <a:lnTo>
                    <a:pt x="757037" y="12703"/>
                  </a:lnTo>
                  <a:lnTo>
                    <a:pt x="943590" y="12703"/>
                  </a:lnTo>
                  <a:lnTo>
                    <a:pt x="897509" y="6985"/>
                  </a:lnTo>
                  <a:lnTo>
                    <a:pt x="827404" y="1905"/>
                  </a:lnTo>
                  <a:lnTo>
                    <a:pt x="757047" y="0"/>
                  </a:lnTo>
                  <a:close/>
                </a:path>
                <a:path w="2245995" h="1465580">
                  <a:moveTo>
                    <a:pt x="943590" y="12703"/>
                  </a:moveTo>
                  <a:lnTo>
                    <a:pt x="757037" y="12703"/>
                  </a:lnTo>
                  <a:lnTo>
                    <a:pt x="827573" y="14623"/>
                  </a:lnTo>
                  <a:lnTo>
                    <a:pt x="826896" y="14623"/>
                  </a:lnTo>
                  <a:lnTo>
                    <a:pt x="896787" y="19715"/>
                  </a:lnTo>
                  <a:lnTo>
                    <a:pt x="896364" y="19715"/>
                  </a:lnTo>
                  <a:lnTo>
                    <a:pt x="965796" y="28235"/>
                  </a:lnTo>
                  <a:lnTo>
                    <a:pt x="965449" y="28235"/>
                  </a:lnTo>
                  <a:lnTo>
                    <a:pt x="1034222" y="39931"/>
                  </a:lnTo>
                  <a:lnTo>
                    <a:pt x="1033898" y="39931"/>
                  </a:lnTo>
                  <a:lnTo>
                    <a:pt x="1103307" y="55342"/>
                  </a:lnTo>
                  <a:lnTo>
                    <a:pt x="1102767" y="55342"/>
                  </a:lnTo>
                  <a:lnTo>
                    <a:pt x="1168766" y="73238"/>
                  </a:lnTo>
                  <a:lnTo>
                    <a:pt x="1235079" y="94698"/>
                  </a:lnTo>
                  <a:lnTo>
                    <a:pt x="1270819" y="94698"/>
                  </a:lnTo>
                  <a:lnTo>
                    <a:pt x="1172210" y="60960"/>
                  </a:lnTo>
                  <a:lnTo>
                    <a:pt x="1104645" y="42672"/>
                  </a:lnTo>
                  <a:lnTo>
                    <a:pt x="1036192" y="27432"/>
                  </a:lnTo>
                  <a:lnTo>
                    <a:pt x="967104" y="15621"/>
                  </a:lnTo>
                  <a:lnTo>
                    <a:pt x="943590" y="12703"/>
                  </a:lnTo>
                  <a:close/>
                </a:path>
                <a:path w="2245995" h="1465580">
                  <a:moveTo>
                    <a:pt x="1168794" y="73238"/>
                  </a:moveTo>
                  <a:lnTo>
                    <a:pt x="1168631" y="73238"/>
                  </a:lnTo>
                  <a:lnTo>
                    <a:pt x="1169640" y="73512"/>
                  </a:lnTo>
                  <a:lnTo>
                    <a:pt x="1168794" y="73238"/>
                  </a:lnTo>
                  <a:close/>
                </a:path>
                <a:path w="2245995" h="1465580">
                  <a:moveTo>
                    <a:pt x="477285" y="39931"/>
                  </a:moveTo>
                  <a:lnTo>
                    <a:pt x="476962" y="39931"/>
                  </a:lnTo>
                  <a:lnTo>
                    <a:pt x="476104" y="40122"/>
                  </a:lnTo>
                  <a:lnTo>
                    <a:pt x="477285" y="39931"/>
                  </a:lnTo>
                  <a:close/>
                </a:path>
              </a:pathLst>
            </a:custGeom>
            <a:solidFill>
              <a:srgbClr val="003193"/>
            </a:solidFill>
          </p:spPr>
          <p:txBody>
            <a:bodyPr wrap="square" lIns="0" tIns="0" rIns="0" bIns="0" rtlCol="0"/>
            <a:lstStyle/>
            <a:p/>
          </p:txBody>
        </p:sp>
        <p:sp>
          <p:nvSpPr>
            <p:cNvPr id="18" name="object 18"/>
            <p:cNvSpPr/>
            <p:nvPr/>
          </p:nvSpPr>
          <p:spPr>
            <a:xfrm>
              <a:off x="6071615" y="2350642"/>
              <a:ext cx="356870" cy="338455"/>
            </a:xfrm>
            <a:custGeom>
              <a:avLst/>
              <a:gdLst/>
              <a:ahLst/>
              <a:cxnLst/>
              <a:rect l="l" t="t" r="r" b="b"/>
              <a:pathLst>
                <a:path w="356870" h="338455">
                  <a:moveTo>
                    <a:pt x="323723" y="286639"/>
                  </a:moveTo>
                  <a:lnTo>
                    <a:pt x="32893" y="286639"/>
                  </a:lnTo>
                  <a:lnTo>
                    <a:pt x="32893" y="296037"/>
                  </a:lnTo>
                  <a:lnTo>
                    <a:pt x="0" y="319532"/>
                  </a:lnTo>
                  <a:lnTo>
                    <a:pt x="0" y="338328"/>
                  </a:lnTo>
                  <a:lnTo>
                    <a:pt x="356616" y="338328"/>
                  </a:lnTo>
                  <a:lnTo>
                    <a:pt x="356616" y="319532"/>
                  </a:lnTo>
                  <a:lnTo>
                    <a:pt x="323723" y="296037"/>
                  </a:lnTo>
                  <a:lnTo>
                    <a:pt x="323723" y="286639"/>
                  </a:lnTo>
                  <a:close/>
                </a:path>
                <a:path w="356870" h="338455">
                  <a:moveTo>
                    <a:pt x="79756" y="126873"/>
                  </a:moveTo>
                  <a:lnTo>
                    <a:pt x="51562" y="126873"/>
                  </a:lnTo>
                  <a:lnTo>
                    <a:pt x="51562" y="286639"/>
                  </a:lnTo>
                  <a:lnTo>
                    <a:pt x="79756" y="286639"/>
                  </a:lnTo>
                  <a:lnTo>
                    <a:pt x="79756" y="126873"/>
                  </a:lnTo>
                  <a:close/>
                </a:path>
                <a:path w="356870" h="338455">
                  <a:moveTo>
                    <a:pt x="136017" y="126873"/>
                  </a:moveTo>
                  <a:lnTo>
                    <a:pt x="107950" y="126873"/>
                  </a:lnTo>
                  <a:lnTo>
                    <a:pt x="107950" y="286639"/>
                  </a:lnTo>
                  <a:lnTo>
                    <a:pt x="136017" y="286639"/>
                  </a:lnTo>
                  <a:lnTo>
                    <a:pt x="136017" y="126873"/>
                  </a:lnTo>
                  <a:close/>
                </a:path>
                <a:path w="356870" h="338455">
                  <a:moveTo>
                    <a:pt x="192405" y="126873"/>
                  </a:moveTo>
                  <a:lnTo>
                    <a:pt x="164211" y="126873"/>
                  </a:lnTo>
                  <a:lnTo>
                    <a:pt x="164211" y="286639"/>
                  </a:lnTo>
                  <a:lnTo>
                    <a:pt x="192405" y="286639"/>
                  </a:lnTo>
                  <a:lnTo>
                    <a:pt x="192405" y="126873"/>
                  </a:lnTo>
                  <a:close/>
                </a:path>
                <a:path w="356870" h="338455">
                  <a:moveTo>
                    <a:pt x="248666" y="126873"/>
                  </a:moveTo>
                  <a:lnTo>
                    <a:pt x="220599" y="126873"/>
                  </a:lnTo>
                  <a:lnTo>
                    <a:pt x="220599" y="286639"/>
                  </a:lnTo>
                  <a:lnTo>
                    <a:pt x="248666" y="286639"/>
                  </a:lnTo>
                  <a:lnTo>
                    <a:pt x="248666" y="126873"/>
                  </a:lnTo>
                  <a:close/>
                </a:path>
                <a:path w="356870" h="338455">
                  <a:moveTo>
                    <a:pt x="305054" y="126873"/>
                  </a:moveTo>
                  <a:lnTo>
                    <a:pt x="276860" y="126873"/>
                  </a:lnTo>
                  <a:lnTo>
                    <a:pt x="276860" y="286639"/>
                  </a:lnTo>
                  <a:lnTo>
                    <a:pt x="305054" y="286639"/>
                  </a:lnTo>
                  <a:lnTo>
                    <a:pt x="305054" y="126873"/>
                  </a:lnTo>
                  <a:close/>
                </a:path>
                <a:path w="356870" h="338455">
                  <a:moveTo>
                    <a:pt x="323723" y="117475"/>
                  </a:moveTo>
                  <a:lnTo>
                    <a:pt x="32893" y="117475"/>
                  </a:lnTo>
                  <a:lnTo>
                    <a:pt x="32893" y="126873"/>
                  </a:lnTo>
                  <a:lnTo>
                    <a:pt x="323723" y="126873"/>
                  </a:lnTo>
                  <a:lnTo>
                    <a:pt x="323723" y="117475"/>
                  </a:lnTo>
                  <a:close/>
                </a:path>
                <a:path w="356870" h="338455">
                  <a:moveTo>
                    <a:pt x="337820" y="89281"/>
                  </a:moveTo>
                  <a:lnTo>
                    <a:pt x="18796" y="89281"/>
                  </a:lnTo>
                  <a:lnTo>
                    <a:pt x="18796" y="117475"/>
                  </a:lnTo>
                  <a:lnTo>
                    <a:pt x="337820" y="117475"/>
                  </a:lnTo>
                  <a:lnTo>
                    <a:pt x="337820" y="89281"/>
                  </a:lnTo>
                  <a:close/>
                </a:path>
                <a:path w="356870" h="338455">
                  <a:moveTo>
                    <a:pt x="178308" y="0"/>
                  </a:moveTo>
                  <a:lnTo>
                    <a:pt x="32893" y="89281"/>
                  </a:lnTo>
                  <a:lnTo>
                    <a:pt x="323723" y="89281"/>
                  </a:lnTo>
                  <a:lnTo>
                    <a:pt x="308416" y="79883"/>
                  </a:lnTo>
                  <a:lnTo>
                    <a:pt x="173609" y="79883"/>
                  </a:lnTo>
                  <a:lnTo>
                    <a:pt x="166332" y="78392"/>
                  </a:lnTo>
                  <a:lnTo>
                    <a:pt x="160353" y="74342"/>
                  </a:lnTo>
                  <a:lnTo>
                    <a:pt x="156303" y="68363"/>
                  </a:lnTo>
                  <a:lnTo>
                    <a:pt x="154812" y="61087"/>
                  </a:lnTo>
                  <a:lnTo>
                    <a:pt x="156303" y="53756"/>
                  </a:lnTo>
                  <a:lnTo>
                    <a:pt x="160353" y="47783"/>
                  </a:lnTo>
                  <a:lnTo>
                    <a:pt x="166332" y="43763"/>
                  </a:lnTo>
                  <a:lnTo>
                    <a:pt x="173609" y="42291"/>
                  </a:lnTo>
                  <a:lnTo>
                    <a:pt x="247188" y="42291"/>
                  </a:lnTo>
                  <a:lnTo>
                    <a:pt x="178308" y="0"/>
                  </a:lnTo>
                  <a:close/>
                </a:path>
                <a:path w="356870" h="338455">
                  <a:moveTo>
                    <a:pt x="247188" y="42291"/>
                  </a:moveTo>
                  <a:lnTo>
                    <a:pt x="173609" y="42291"/>
                  </a:lnTo>
                  <a:lnTo>
                    <a:pt x="180885" y="43763"/>
                  </a:lnTo>
                  <a:lnTo>
                    <a:pt x="186864" y="47783"/>
                  </a:lnTo>
                  <a:lnTo>
                    <a:pt x="190914" y="53756"/>
                  </a:lnTo>
                  <a:lnTo>
                    <a:pt x="192405" y="61087"/>
                  </a:lnTo>
                  <a:lnTo>
                    <a:pt x="190914" y="68363"/>
                  </a:lnTo>
                  <a:lnTo>
                    <a:pt x="186864" y="74342"/>
                  </a:lnTo>
                  <a:lnTo>
                    <a:pt x="180885" y="78392"/>
                  </a:lnTo>
                  <a:lnTo>
                    <a:pt x="173609" y="79883"/>
                  </a:lnTo>
                  <a:lnTo>
                    <a:pt x="308416" y="79883"/>
                  </a:lnTo>
                  <a:lnTo>
                    <a:pt x="247188" y="42291"/>
                  </a:lnTo>
                  <a:close/>
                </a:path>
              </a:pathLst>
            </a:custGeom>
            <a:solidFill>
              <a:srgbClr val="FFFFFF"/>
            </a:solidFill>
          </p:spPr>
          <p:txBody>
            <a:bodyPr wrap="square" lIns="0" tIns="0" rIns="0" bIns="0" rtlCol="0"/>
            <a:lstStyle/>
            <a:p/>
          </p:txBody>
        </p:sp>
      </p:grpSp>
      <p:grpSp>
        <p:nvGrpSpPr>
          <p:cNvPr id="19" name="object 19"/>
          <p:cNvGrpSpPr/>
          <p:nvPr/>
        </p:nvGrpSpPr>
        <p:grpSpPr>
          <a:xfrm>
            <a:off x="6160386" y="3880865"/>
            <a:ext cx="2025650" cy="1737360"/>
            <a:chOff x="6160386" y="3880865"/>
            <a:chExt cx="2025650" cy="1737360"/>
          </a:xfrm>
        </p:grpSpPr>
        <p:sp>
          <p:nvSpPr>
            <p:cNvPr id="20" name="object 20"/>
            <p:cNvSpPr/>
            <p:nvPr/>
          </p:nvSpPr>
          <p:spPr>
            <a:xfrm>
              <a:off x="6160386" y="3880865"/>
              <a:ext cx="2025650" cy="1737360"/>
            </a:xfrm>
            <a:custGeom>
              <a:avLst/>
              <a:gdLst/>
              <a:ahLst/>
              <a:cxnLst/>
              <a:rect l="l" t="t" r="r" b="b"/>
              <a:pathLst>
                <a:path w="2025650" h="1737360">
                  <a:moveTo>
                    <a:pt x="74599" y="1637672"/>
                  </a:moveTo>
                  <a:lnTo>
                    <a:pt x="73087" y="1641474"/>
                  </a:lnTo>
                  <a:lnTo>
                    <a:pt x="69978" y="1649499"/>
                  </a:lnTo>
                  <a:lnTo>
                    <a:pt x="98935" y="1660143"/>
                  </a:lnTo>
                  <a:lnTo>
                    <a:pt x="149862" y="1676272"/>
                  </a:lnTo>
                  <a:lnTo>
                    <a:pt x="201297" y="1690623"/>
                  </a:lnTo>
                  <a:lnTo>
                    <a:pt x="253113" y="1702942"/>
                  </a:lnTo>
                  <a:lnTo>
                    <a:pt x="305437" y="1713420"/>
                  </a:lnTo>
                  <a:lnTo>
                    <a:pt x="357888" y="1721929"/>
                  </a:lnTo>
                  <a:lnTo>
                    <a:pt x="410720" y="1728533"/>
                  </a:lnTo>
                  <a:lnTo>
                    <a:pt x="463679" y="1733219"/>
                  </a:lnTo>
                  <a:lnTo>
                    <a:pt x="516765" y="1735988"/>
                  </a:lnTo>
                  <a:lnTo>
                    <a:pt x="570105" y="1736750"/>
                  </a:lnTo>
                  <a:lnTo>
                    <a:pt x="623445" y="1735607"/>
                  </a:lnTo>
                  <a:lnTo>
                    <a:pt x="676658" y="1732457"/>
                  </a:lnTo>
                  <a:lnTo>
                    <a:pt x="729871" y="1727377"/>
                  </a:lnTo>
                  <a:lnTo>
                    <a:pt x="754841" y="1724050"/>
                  </a:lnTo>
                  <a:lnTo>
                    <a:pt x="570105" y="1724050"/>
                  </a:lnTo>
                  <a:lnTo>
                    <a:pt x="518029" y="1723301"/>
                  </a:lnTo>
                  <a:lnTo>
                    <a:pt x="517400" y="1723301"/>
                  </a:lnTo>
                  <a:lnTo>
                    <a:pt x="464709" y="1720559"/>
                  </a:lnTo>
                  <a:lnTo>
                    <a:pt x="412117" y="1715909"/>
                  </a:lnTo>
                  <a:lnTo>
                    <a:pt x="359965" y="1709396"/>
                  </a:lnTo>
                  <a:lnTo>
                    <a:pt x="307716" y="1700951"/>
                  </a:lnTo>
                  <a:lnTo>
                    <a:pt x="307924" y="1700951"/>
                  </a:lnTo>
                  <a:lnTo>
                    <a:pt x="256087" y="1690623"/>
                  </a:lnTo>
                  <a:lnTo>
                    <a:pt x="204555" y="1678409"/>
                  </a:lnTo>
                  <a:lnTo>
                    <a:pt x="153626" y="1664184"/>
                  </a:lnTo>
                  <a:lnTo>
                    <a:pt x="103051" y="1648168"/>
                  </a:lnTo>
                  <a:lnTo>
                    <a:pt x="74599" y="1637672"/>
                  </a:lnTo>
                  <a:close/>
                </a:path>
                <a:path w="2025650" h="1737360">
                  <a:moveTo>
                    <a:pt x="835187" y="1698486"/>
                  </a:moveTo>
                  <a:lnTo>
                    <a:pt x="780698" y="1707795"/>
                  </a:lnTo>
                  <a:lnTo>
                    <a:pt x="728334" y="1714779"/>
                  </a:lnTo>
                  <a:lnTo>
                    <a:pt x="675769" y="1719783"/>
                  </a:lnTo>
                  <a:lnTo>
                    <a:pt x="622937" y="1722920"/>
                  </a:lnTo>
                  <a:lnTo>
                    <a:pt x="570105" y="1724050"/>
                  </a:lnTo>
                  <a:lnTo>
                    <a:pt x="754841" y="1724050"/>
                  </a:lnTo>
                  <a:lnTo>
                    <a:pt x="782957" y="1720303"/>
                  </a:lnTo>
                  <a:lnTo>
                    <a:pt x="835916" y="1711299"/>
                  </a:lnTo>
                  <a:lnTo>
                    <a:pt x="893711" y="1698820"/>
                  </a:lnTo>
                  <a:lnTo>
                    <a:pt x="833645" y="1698820"/>
                  </a:lnTo>
                  <a:lnTo>
                    <a:pt x="835187" y="1698486"/>
                  </a:lnTo>
                  <a:close/>
                </a:path>
                <a:path w="2025650" h="1737360">
                  <a:moveTo>
                    <a:pt x="307969" y="1700951"/>
                  </a:moveTo>
                  <a:lnTo>
                    <a:pt x="307716" y="1700951"/>
                  </a:lnTo>
                  <a:lnTo>
                    <a:pt x="308816" y="1701128"/>
                  </a:lnTo>
                  <a:lnTo>
                    <a:pt x="307969" y="1700951"/>
                  </a:lnTo>
                  <a:close/>
                </a:path>
                <a:path w="2025650" h="1737360">
                  <a:moveTo>
                    <a:pt x="1999998" y="0"/>
                  </a:moveTo>
                  <a:lnTo>
                    <a:pt x="1987552" y="2031"/>
                  </a:lnTo>
                  <a:lnTo>
                    <a:pt x="1999224" y="74294"/>
                  </a:lnTo>
                  <a:lnTo>
                    <a:pt x="1999623" y="77029"/>
                  </a:lnTo>
                  <a:lnTo>
                    <a:pt x="2007501" y="148462"/>
                  </a:lnTo>
                  <a:lnTo>
                    <a:pt x="2012024" y="222249"/>
                  </a:lnTo>
                  <a:lnTo>
                    <a:pt x="2012822" y="295223"/>
                  </a:lnTo>
                  <a:lnTo>
                    <a:pt x="2009797" y="367062"/>
                  </a:lnTo>
                  <a:lnTo>
                    <a:pt x="2003334" y="438690"/>
                  </a:lnTo>
                  <a:lnTo>
                    <a:pt x="2003390" y="438924"/>
                  </a:lnTo>
                  <a:lnTo>
                    <a:pt x="2003185" y="440181"/>
                  </a:lnTo>
                  <a:lnTo>
                    <a:pt x="2003132" y="440765"/>
                  </a:lnTo>
                  <a:lnTo>
                    <a:pt x="1993592" y="509013"/>
                  </a:lnTo>
                  <a:lnTo>
                    <a:pt x="1993521" y="509150"/>
                  </a:lnTo>
                  <a:lnTo>
                    <a:pt x="1980294" y="578728"/>
                  </a:lnTo>
                  <a:lnTo>
                    <a:pt x="1980184" y="579127"/>
                  </a:lnTo>
                  <a:lnTo>
                    <a:pt x="1963296" y="648741"/>
                  </a:lnTo>
                  <a:lnTo>
                    <a:pt x="1943525" y="715985"/>
                  </a:lnTo>
                  <a:lnTo>
                    <a:pt x="1920593" y="781882"/>
                  </a:lnTo>
                  <a:lnTo>
                    <a:pt x="1894933" y="845597"/>
                  </a:lnTo>
                  <a:lnTo>
                    <a:pt x="1865621" y="909573"/>
                  </a:lnTo>
                  <a:lnTo>
                    <a:pt x="1833506" y="971549"/>
                  </a:lnTo>
                  <a:lnTo>
                    <a:pt x="1798663" y="1031415"/>
                  </a:lnTo>
                  <a:lnTo>
                    <a:pt x="1760839" y="1090182"/>
                  </a:lnTo>
                  <a:lnTo>
                    <a:pt x="1760718" y="1090311"/>
                  </a:lnTo>
                  <a:lnTo>
                    <a:pt x="1720236" y="1146885"/>
                  </a:lnTo>
                  <a:lnTo>
                    <a:pt x="1719567" y="1147794"/>
                  </a:lnTo>
                  <a:lnTo>
                    <a:pt x="1677044" y="1201560"/>
                  </a:lnTo>
                  <a:lnTo>
                    <a:pt x="1676977" y="1201744"/>
                  </a:lnTo>
                  <a:lnTo>
                    <a:pt x="1632381" y="1252886"/>
                  </a:lnTo>
                  <a:lnTo>
                    <a:pt x="1582940" y="1304527"/>
                  </a:lnTo>
                  <a:lnTo>
                    <a:pt x="1532275" y="1352571"/>
                  </a:lnTo>
                  <a:lnTo>
                    <a:pt x="1532075" y="1352729"/>
                  </a:lnTo>
                  <a:lnTo>
                    <a:pt x="1531108" y="1353645"/>
                  </a:lnTo>
                  <a:lnTo>
                    <a:pt x="1479193" y="1398167"/>
                  </a:lnTo>
                  <a:lnTo>
                    <a:pt x="1478992" y="1398314"/>
                  </a:lnTo>
                  <a:lnTo>
                    <a:pt x="1478130" y="1399053"/>
                  </a:lnTo>
                  <a:lnTo>
                    <a:pt x="1423819" y="1441354"/>
                  </a:lnTo>
                  <a:lnTo>
                    <a:pt x="1423681" y="1441484"/>
                  </a:lnTo>
                  <a:lnTo>
                    <a:pt x="1366303" y="1481759"/>
                  </a:lnTo>
                  <a:lnTo>
                    <a:pt x="1365971" y="1481896"/>
                  </a:lnTo>
                  <a:lnTo>
                    <a:pt x="1305956" y="1519834"/>
                  </a:lnTo>
                  <a:lnTo>
                    <a:pt x="1244437" y="1554511"/>
                  </a:lnTo>
                  <a:lnTo>
                    <a:pt x="1180305" y="1586737"/>
                  </a:lnTo>
                  <a:lnTo>
                    <a:pt x="1114560" y="1615651"/>
                  </a:lnTo>
                  <a:lnTo>
                    <a:pt x="1046851" y="1641474"/>
                  </a:lnTo>
                  <a:lnTo>
                    <a:pt x="977304" y="1663953"/>
                  </a:lnTo>
                  <a:lnTo>
                    <a:pt x="906152" y="1683129"/>
                  </a:lnTo>
                  <a:lnTo>
                    <a:pt x="905952" y="1683129"/>
                  </a:lnTo>
                  <a:lnTo>
                    <a:pt x="833645" y="1698820"/>
                  </a:lnTo>
                  <a:lnTo>
                    <a:pt x="893711" y="1698820"/>
                  </a:lnTo>
                  <a:lnTo>
                    <a:pt x="909322" y="1695449"/>
                  </a:lnTo>
                  <a:lnTo>
                    <a:pt x="980731" y="1676272"/>
                  </a:lnTo>
                  <a:lnTo>
                    <a:pt x="1051308" y="1653285"/>
                  </a:lnTo>
                  <a:lnTo>
                    <a:pt x="1119507" y="1627377"/>
                  </a:lnTo>
                  <a:lnTo>
                    <a:pt x="1185928" y="1598167"/>
                  </a:lnTo>
                  <a:lnTo>
                    <a:pt x="1250317" y="1565782"/>
                  </a:lnTo>
                  <a:lnTo>
                    <a:pt x="1312801" y="1530476"/>
                  </a:lnTo>
                  <a:lnTo>
                    <a:pt x="1373126" y="1492376"/>
                  </a:lnTo>
                  <a:lnTo>
                    <a:pt x="1431292" y="1451609"/>
                  </a:lnTo>
                  <a:lnTo>
                    <a:pt x="1487172" y="1408048"/>
                  </a:lnTo>
                  <a:lnTo>
                    <a:pt x="1540766" y="1362074"/>
                  </a:lnTo>
                  <a:lnTo>
                    <a:pt x="1591947" y="1313560"/>
                  </a:lnTo>
                  <a:lnTo>
                    <a:pt x="1640588" y="1262760"/>
                  </a:lnTo>
                  <a:lnTo>
                    <a:pt x="1686816" y="1209674"/>
                  </a:lnTo>
                  <a:lnTo>
                    <a:pt x="1730377" y="1154683"/>
                  </a:lnTo>
                  <a:lnTo>
                    <a:pt x="1771144" y="1097533"/>
                  </a:lnTo>
                  <a:lnTo>
                    <a:pt x="1809244" y="1038478"/>
                  </a:lnTo>
                  <a:lnTo>
                    <a:pt x="1844550" y="977772"/>
                  </a:lnTo>
                  <a:lnTo>
                    <a:pt x="1876935" y="915288"/>
                  </a:lnTo>
                  <a:lnTo>
                    <a:pt x="1906399" y="851280"/>
                  </a:lnTo>
                  <a:lnTo>
                    <a:pt x="1932688" y="785748"/>
                  </a:lnTo>
                  <a:lnTo>
                    <a:pt x="1955929" y="718946"/>
                  </a:lnTo>
                  <a:lnTo>
                    <a:pt x="1975868" y="650874"/>
                  </a:lnTo>
                  <a:lnTo>
                    <a:pt x="1992632" y="581659"/>
                  </a:lnTo>
                  <a:lnTo>
                    <a:pt x="2006094" y="511428"/>
                  </a:lnTo>
                  <a:lnTo>
                    <a:pt x="2015919" y="440765"/>
                  </a:lnTo>
                  <a:lnTo>
                    <a:pt x="2016000" y="440181"/>
                  </a:lnTo>
                  <a:lnTo>
                    <a:pt x="2022477" y="368299"/>
                  </a:lnTo>
                  <a:lnTo>
                    <a:pt x="2025398" y="295528"/>
                  </a:lnTo>
                  <a:lnTo>
                    <a:pt x="2024643" y="222938"/>
                  </a:lnTo>
                  <a:lnTo>
                    <a:pt x="2024636" y="222249"/>
                  </a:lnTo>
                  <a:lnTo>
                    <a:pt x="2020419" y="150198"/>
                  </a:lnTo>
                  <a:lnTo>
                    <a:pt x="2020318" y="148462"/>
                  </a:lnTo>
                  <a:lnTo>
                    <a:pt x="2012063" y="74294"/>
                  </a:lnTo>
                  <a:lnTo>
                    <a:pt x="1999998" y="0"/>
                  </a:lnTo>
                  <a:close/>
                </a:path>
                <a:path w="2025650" h="1737360">
                  <a:moveTo>
                    <a:pt x="254023" y="1690144"/>
                  </a:moveTo>
                  <a:lnTo>
                    <a:pt x="256074" y="1690623"/>
                  </a:lnTo>
                  <a:lnTo>
                    <a:pt x="256413" y="1690623"/>
                  </a:lnTo>
                  <a:lnTo>
                    <a:pt x="254023" y="1690144"/>
                  </a:lnTo>
                  <a:close/>
                </a:path>
                <a:path w="2025650" h="1737360">
                  <a:moveTo>
                    <a:pt x="85981" y="1608200"/>
                  </a:moveTo>
                  <a:lnTo>
                    <a:pt x="0" y="1616310"/>
                  </a:lnTo>
                  <a:lnTo>
                    <a:pt x="1243" y="1616310"/>
                  </a:lnTo>
                  <a:lnTo>
                    <a:pt x="58422" y="1679320"/>
                  </a:lnTo>
                  <a:lnTo>
                    <a:pt x="69978" y="1649499"/>
                  </a:lnTo>
                  <a:lnTo>
                    <a:pt x="58168" y="1645157"/>
                  </a:lnTo>
                  <a:lnTo>
                    <a:pt x="62486" y="1633219"/>
                  </a:lnTo>
                  <a:lnTo>
                    <a:pt x="76286" y="1633219"/>
                  </a:lnTo>
                  <a:lnTo>
                    <a:pt x="85981" y="1608200"/>
                  </a:lnTo>
                  <a:close/>
                </a:path>
                <a:path w="2025650" h="1737360">
                  <a:moveTo>
                    <a:pt x="203019" y="1677988"/>
                  </a:moveTo>
                  <a:lnTo>
                    <a:pt x="204555" y="1678409"/>
                  </a:lnTo>
                  <a:lnTo>
                    <a:pt x="204785" y="1678409"/>
                  </a:lnTo>
                  <a:lnTo>
                    <a:pt x="203019" y="1677988"/>
                  </a:lnTo>
                  <a:close/>
                </a:path>
                <a:path w="2025650" h="1737360">
                  <a:moveTo>
                    <a:pt x="152965" y="1663953"/>
                  </a:moveTo>
                  <a:lnTo>
                    <a:pt x="153626" y="1664184"/>
                  </a:lnTo>
                  <a:lnTo>
                    <a:pt x="153789" y="1664184"/>
                  </a:lnTo>
                  <a:lnTo>
                    <a:pt x="152965" y="1663953"/>
                  </a:lnTo>
                  <a:close/>
                </a:path>
                <a:path w="2025650" h="1737360">
                  <a:moveTo>
                    <a:pt x="62486" y="1633219"/>
                  </a:moveTo>
                  <a:lnTo>
                    <a:pt x="58168" y="1645157"/>
                  </a:lnTo>
                  <a:lnTo>
                    <a:pt x="69978" y="1649499"/>
                  </a:lnTo>
                  <a:lnTo>
                    <a:pt x="74561" y="1637672"/>
                  </a:lnTo>
                  <a:lnTo>
                    <a:pt x="62486" y="1633219"/>
                  </a:lnTo>
                  <a:close/>
                </a:path>
                <a:path w="2025650" h="1737360">
                  <a:moveTo>
                    <a:pt x="76286" y="1633219"/>
                  </a:moveTo>
                  <a:lnTo>
                    <a:pt x="62486" y="1633219"/>
                  </a:lnTo>
                  <a:lnTo>
                    <a:pt x="74599" y="1637672"/>
                  </a:lnTo>
                  <a:lnTo>
                    <a:pt x="76286" y="1633219"/>
                  </a:lnTo>
                  <a:close/>
                </a:path>
                <a:path w="2025650" h="1737360">
                  <a:moveTo>
                    <a:pt x="1114586" y="1615651"/>
                  </a:moveTo>
                  <a:lnTo>
                    <a:pt x="1114361" y="1615651"/>
                  </a:lnTo>
                  <a:lnTo>
                    <a:pt x="1112859" y="1616310"/>
                  </a:lnTo>
                  <a:lnTo>
                    <a:pt x="1114586" y="1615651"/>
                  </a:lnTo>
                  <a:close/>
                </a:path>
                <a:path w="2025650" h="1737360">
                  <a:moveTo>
                    <a:pt x="1367356" y="1481021"/>
                  </a:moveTo>
                  <a:lnTo>
                    <a:pt x="1365972" y="1481896"/>
                  </a:lnTo>
                  <a:lnTo>
                    <a:pt x="1366303" y="1481759"/>
                  </a:lnTo>
                  <a:lnTo>
                    <a:pt x="1367356" y="1481021"/>
                  </a:lnTo>
                  <a:close/>
                </a:path>
                <a:path w="2025650" h="1737360">
                  <a:moveTo>
                    <a:pt x="1677137" y="1201560"/>
                  </a:moveTo>
                  <a:lnTo>
                    <a:pt x="1677000" y="1201560"/>
                  </a:lnTo>
                  <a:lnTo>
                    <a:pt x="1675504" y="1203450"/>
                  </a:lnTo>
                  <a:lnTo>
                    <a:pt x="1677137" y="1201560"/>
                  </a:lnTo>
                  <a:close/>
                </a:path>
              </a:pathLst>
            </a:custGeom>
            <a:solidFill>
              <a:srgbClr val="003193"/>
            </a:solidFill>
          </p:spPr>
          <p:txBody>
            <a:bodyPr wrap="square" lIns="0" tIns="0" rIns="0" bIns="0" rtlCol="0"/>
            <a:lstStyle/>
            <a:p/>
          </p:txBody>
        </p:sp>
        <p:sp>
          <p:nvSpPr>
            <p:cNvPr id="21" name="object 21"/>
            <p:cNvSpPr/>
            <p:nvPr/>
          </p:nvSpPr>
          <p:spPr>
            <a:xfrm>
              <a:off x="6903720" y="4381042"/>
              <a:ext cx="283845" cy="338455"/>
            </a:xfrm>
            <a:custGeom>
              <a:avLst/>
              <a:gdLst/>
              <a:ahLst/>
              <a:cxnLst/>
              <a:rect l="l" t="t" r="r" b="b"/>
              <a:pathLst>
                <a:path w="283845" h="338454">
                  <a:moveTo>
                    <a:pt x="237744" y="76"/>
                  </a:moveTo>
                  <a:lnTo>
                    <a:pt x="193929" y="76"/>
                  </a:lnTo>
                  <a:lnTo>
                    <a:pt x="193929" y="202133"/>
                  </a:lnTo>
                  <a:lnTo>
                    <a:pt x="193929" y="242392"/>
                  </a:lnTo>
                  <a:lnTo>
                    <a:pt x="51308" y="242392"/>
                  </a:lnTo>
                  <a:lnTo>
                    <a:pt x="51308" y="202133"/>
                  </a:lnTo>
                  <a:lnTo>
                    <a:pt x="83820" y="179882"/>
                  </a:lnTo>
                  <a:lnTo>
                    <a:pt x="122555" y="172415"/>
                  </a:lnTo>
                  <a:lnTo>
                    <a:pt x="129908" y="172974"/>
                  </a:lnTo>
                  <a:lnTo>
                    <a:pt x="170141" y="183680"/>
                  </a:lnTo>
                  <a:lnTo>
                    <a:pt x="193929" y="202133"/>
                  </a:lnTo>
                  <a:lnTo>
                    <a:pt x="193929" y="76"/>
                  </a:lnTo>
                  <a:lnTo>
                    <a:pt x="157988" y="76"/>
                  </a:lnTo>
                  <a:lnTo>
                    <a:pt x="157988" y="128473"/>
                  </a:lnTo>
                  <a:lnTo>
                    <a:pt x="155244" y="142062"/>
                  </a:lnTo>
                  <a:lnTo>
                    <a:pt x="155219" y="142227"/>
                  </a:lnTo>
                  <a:lnTo>
                    <a:pt x="147739" y="153111"/>
                  </a:lnTo>
                  <a:lnTo>
                    <a:pt x="147650" y="153263"/>
                  </a:lnTo>
                  <a:lnTo>
                    <a:pt x="136385" y="160604"/>
                  </a:lnTo>
                  <a:lnTo>
                    <a:pt x="122555" y="163271"/>
                  </a:lnTo>
                  <a:lnTo>
                    <a:pt x="109029" y="160604"/>
                  </a:lnTo>
                  <a:lnTo>
                    <a:pt x="108839" y="160604"/>
                  </a:lnTo>
                  <a:lnTo>
                    <a:pt x="97497" y="153111"/>
                  </a:lnTo>
                  <a:lnTo>
                    <a:pt x="90017" y="142227"/>
                  </a:lnTo>
                  <a:lnTo>
                    <a:pt x="89903" y="142062"/>
                  </a:lnTo>
                  <a:lnTo>
                    <a:pt x="87122" y="128473"/>
                  </a:lnTo>
                  <a:lnTo>
                    <a:pt x="89903" y="114973"/>
                  </a:lnTo>
                  <a:lnTo>
                    <a:pt x="97497" y="103949"/>
                  </a:lnTo>
                  <a:lnTo>
                    <a:pt x="108762" y="96532"/>
                  </a:lnTo>
                  <a:lnTo>
                    <a:pt x="122555" y="93802"/>
                  </a:lnTo>
                  <a:lnTo>
                    <a:pt x="136385" y="96532"/>
                  </a:lnTo>
                  <a:lnTo>
                    <a:pt x="147650" y="103949"/>
                  </a:lnTo>
                  <a:lnTo>
                    <a:pt x="155219" y="114973"/>
                  </a:lnTo>
                  <a:lnTo>
                    <a:pt x="157988" y="128473"/>
                  </a:lnTo>
                  <a:lnTo>
                    <a:pt x="157988" y="76"/>
                  </a:lnTo>
                  <a:lnTo>
                    <a:pt x="18669" y="76"/>
                  </a:lnTo>
                  <a:lnTo>
                    <a:pt x="11404" y="1511"/>
                  </a:lnTo>
                  <a:lnTo>
                    <a:pt x="5473" y="5422"/>
                  </a:lnTo>
                  <a:lnTo>
                    <a:pt x="1460" y="11226"/>
                  </a:lnTo>
                  <a:lnTo>
                    <a:pt x="0" y="18364"/>
                  </a:lnTo>
                  <a:lnTo>
                    <a:pt x="0" y="320116"/>
                  </a:lnTo>
                  <a:lnTo>
                    <a:pt x="1460" y="327215"/>
                  </a:lnTo>
                  <a:lnTo>
                    <a:pt x="5473" y="333032"/>
                  </a:lnTo>
                  <a:lnTo>
                    <a:pt x="11404" y="336969"/>
                  </a:lnTo>
                  <a:lnTo>
                    <a:pt x="18669" y="338404"/>
                  </a:lnTo>
                  <a:lnTo>
                    <a:pt x="237744" y="338404"/>
                  </a:lnTo>
                  <a:lnTo>
                    <a:pt x="237744" y="242392"/>
                  </a:lnTo>
                  <a:lnTo>
                    <a:pt x="237744" y="172415"/>
                  </a:lnTo>
                  <a:lnTo>
                    <a:pt x="237744" y="163271"/>
                  </a:lnTo>
                  <a:lnTo>
                    <a:pt x="237744" y="93802"/>
                  </a:lnTo>
                  <a:lnTo>
                    <a:pt x="237744" y="76"/>
                  </a:lnTo>
                  <a:close/>
                </a:path>
                <a:path w="283845" h="338454">
                  <a:moveTo>
                    <a:pt x="283464" y="0"/>
                  </a:moveTo>
                  <a:lnTo>
                    <a:pt x="256032" y="0"/>
                  </a:lnTo>
                  <a:lnTo>
                    <a:pt x="256032" y="338404"/>
                  </a:lnTo>
                  <a:lnTo>
                    <a:pt x="283464" y="338404"/>
                  </a:lnTo>
                  <a:lnTo>
                    <a:pt x="283464" y="0"/>
                  </a:lnTo>
                  <a:close/>
                </a:path>
              </a:pathLst>
            </a:custGeom>
            <a:solidFill>
              <a:srgbClr val="FFFFFF"/>
            </a:solidFill>
          </p:spPr>
          <p:txBody>
            <a:bodyPr wrap="square" lIns="0" tIns="0" rIns="0" bIns="0" rtlCol="0"/>
            <a:lstStyle/>
            <a:p/>
          </p:txBody>
        </p:sp>
      </p:grpSp>
      <p:grpSp>
        <p:nvGrpSpPr>
          <p:cNvPr id="22" name="object 22"/>
          <p:cNvGrpSpPr/>
          <p:nvPr/>
        </p:nvGrpSpPr>
        <p:grpSpPr>
          <a:xfrm>
            <a:off x="3984757" y="2901695"/>
            <a:ext cx="1035685" cy="2573020"/>
            <a:chOff x="3984757" y="2901695"/>
            <a:chExt cx="1035685" cy="2573020"/>
          </a:xfrm>
        </p:grpSpPr>
        <p:sp>
          <p:nvSpPr>
            <p:cNvPr id="23" name="object 23"/>
            <p:cNvSpPr/>
            <p:nvPr/>
          </p:nvSpPr>
          <p:spPr>
            <a:xfrm>
              <a:off x="3984757" y="2901695"/>
              <a:ext cx="839469" cy="2573020"/>
            </a:xfrm>
            <a:custGeom>
              <a:avLst/>
              <a:gdLst/>
              <a:ahLst/>
              <a:cxnLst/>
              <a:rect l="l" t="t" r="r" b="b"/>
              <a:pathLst>
                <a:path w="839470" h="2573020">
                  <a:moveTo>
                    <a:pt x="646974" y="36003"/>
                  </a:moveTo>
                  <a:lnTo>
                    <a:pt x="577844" y="84962"/>
                  </a:lnTo>
                  <a:lnTo>
                    <a:pt x="535934" y="118109"/>
                  </a:lnTo>
                  <a:lnTo>
                    <a:pt x="495167" y="152780"/>
                  </a:lnTo>
                  <a:lnTo>
                    <a:pt x="455924" y="188849"/>
                  </a:lnTo>
                  <a:lnTo>
                    <a:pt x="417951" y="226313"/>
                  </a:lnTo>
                  <a:lnTo>
                    <a:pt x="381248" y="265049"/>
                  </a:lnTo>
                  <a:lnTo>
                    <a:pt x="346196" y="305180"/>
                  </a:lnTo>
                  <a:lnTo>
                    <a:pt x="312541" y="346582"/>
                  </a:lnTo>
                  <a:lnTo>
                    <a:pt x="280410" y="389127"/>
                  </a:lnTo>
                  <a:lnTo>
                    <a:pt x="249676" y="432942"/>
                  </a:lnTo>
                  <a:lnTo>
                    <a:pt x="220720" y="477900"/>
                  </a:lnTo>
                  <a:lnTo>
                    <a:pt x="193161" y="524001"/>
                  </a:lnTo>
                  <a:lnTo>
                    <a:pt x="167507" y="571118"/>
                  </a:lnTo>
                  <a:lnTo>
                    <a:pt x="143377" y="619251"/>
                  </a:lnTo>
                  <a:lnTo>
                    <a:pt x="112516" y="688086"/>
                  </a:lnTo>
                  <a:lnTo>
                    <a:pt x="85719" y="757681"/>
                  </a:lnTo>
                  <a:lnTo>
                    <a:pt x="62478" y="827912"/>
                  </a:lnTo>
                  <a:lnTo>
                    <a:pt x="43047" y="898524"/>
                  </a:lnTo>
                  <a:lnTo>
                    <a:pt x="27172" y="969517"/>
                  </a:lnTo>
                  <a:lnTo>
                    <a:pt x="15107" y="1040891"/>
                  </a:lnTo>
                  <a:lnTo>
                    <a:pt x="6570" y="1111449"/>
                  </a:lnTo>
                  <a:lnTo>
                    <a:pt x="6471" y="1112265"/>
                  </a:lnTo>
                  <a:lnTo>
                    <a:pt x="1518" y="1183512"/>
                  </a:lnTo>
                  <a:lnTo>
                    <a:pt x="0" y="1254505"/>
                  </a:lnTo>
                  <a:lnTo>
                    <a:pt x="2000" y="1324724"/>
                  </a:lnTo>
                  <a:lnTo>
                    <a:pt x="2026" y="1325626"/>
                  </a:lnTo>
                  <a:lnTo>
                    <a:pt x="7225" y="1394451"/>
                  </a:lnTo>
                  <a:lnTo>
                    <a:pt x="7255" y="1394842"/>
                  </a:lnTo>
                  <a:lnTo>
                    <a:pt x="16123" y="1466341"/>
                  </a:lnTo>
                  <a:lnTo>
                    <a:pt x="28188" y="1535810"/>
                  </a:lnTo>
                  <a:lnTo>
                    <a:pt x="43555" y="1604517"/>
                  </a:lnTo>
                  <a:lnTo>
                    <a:pt x="62224" y="1672335"/>
                  </a:lnTo>
                  <a:lnTo>
                    <a:pt x="84068" y="1739137"/>
                  </a:lnTo>
                  <a:lnTo>
                    <a:pt x="108960" y="1804796"/>
                  </a:lnTo>
                  <a:lnTo>
                    <a:pt x="137154" y="1869312"/>
                  </a:lnTo>
                  <a:lnTo>
                    <a:pt x="168269" y="1932431"/>
                  </a:lnTo>
                  <a:lnTo>
                    <a:pt x="202559" y="1994027"/>
                  </a:lnTo>
                  <a:lnTo>
                    <a:pt x="239770" y="2053970"/>
                  </a:lnTo>
                  <a:lnTo>
                    <a:pt x="280029" y="2112264"/>
                  </a:lnTo>
                  <a:lnTo>
                    <a:pt x="322955" y="2168779"/>
                  </a:lnTo>
                  <a:lnTo>
                    <a:pt x="368802" y="2223135"/>
                  </a:lnTo>
                  <a:lnTo>
                    <a:pt x="417570" y="2275585"/>
                  </a:lnTo>
                  <a:lnTo>
                    <a:pt x="469132" y="2325751"/>
                  </a:lnTo>
                  <a:lnTo>
                    <a:pt x="523361" y="2373503"/>
                  </a:lnTo>
                  <a:lnTo>
                    <a:pt x="580130" y="2418841"/>
                  </a:lnTo>
                  <a:lnTo>
                    <a:pt x="639820" y="2461514"/>
                  </a:lnTo>
                  <a:lnTo>
                    <a:pt x="701796" y="2501518"/>
                  </a:lnTo>
                  <a:lnTo>
                    <a:pt x="766566" y="2538603"/>
                  </a:lnTo>
                  <a:lnTo>
                    <a:pt x="833622" y="2572892"/>
                  </a:lnTo>
                  <a:lnTo>
                    <a:pt x="839337" y="2561463"/>
                  </a:lnTo>
                  <a:lnTo>
                    <a:pt x="772827" y="2527575"/>
                  </a:lnTo>
                  <a:lnTo>
                    <a:pt x="708615" y="2490792"/>
                  </a:lnTo>
                  <a:lnTo>
                    <a:pt x="708327" y="2490513"/>
                  </a:lnTo>
                  <a:lnTo>
                    <a:pt x="647000" y="2451040"/>
                  </a:lnTo>
                  <a:lnTo>
                    <a:pt x="587741" y="2408586"/>
                  </a:lnTo>
                  <a:lnTo>
                    <a:pt x="531605" y="2363819"/>
                  </a:lnTo>
                  <a:lnTo>
                    <a:pt x="477634" y="2316226"/>
                  </a:lnTo>
                  <a:lnTo>
                    <a:pt x="426604" y="2266568"/>
                  </a:lnTo>
                  <a:lnTo>
                    <a:pt x="378616" y="2215072"/>
                  </a:lnTo>
                  <a:lnTo>
                    <a:pt x="332970" y="2160862"/>
                  </a:lnTo>
                  <a:lnTo>
                    <a:pt x="290166" y="2104666"/>
                  </a:lnTo>
                  <a:lnTo>
                    <a:pt x="250297" y="2046999"/>
                  </a:lnTo>
                  <a:lnTo>
                    <a:pt x="213334" y="1987185"/>
                  </a:lnTo>
                  <a:lnTo>
                    <a:pt x="180033" y="1927391"/>
                  </a:lnTo>
                  <a:lnTo>
                    <a:pt x="179810" y="1926940"/>
                  </a:lnTo>
                  <a:lnTo>
                    <a:pt x="179667" y="1926734"/>
                  </a:lnTo>
                  <a:lnTo>
                    <a:pt x="148584" y="1863852"/>
                  </a:lnTo>
                  <a:lnTo>
                    <a:pt x="120771" y="1800068"/>
                  </a:lnTo>
                  <a:lnTo>
                    <a:pt x="96333" y="1735555"/>
                  </a:lnTo>
                  <a:lnTo>
                    <a:pt x="96189" y="1735058"/>
                  </a:lnTo>
                  <a:lnTo>
                    <a:pt x="96046" y="1734680"/>
                  </a:lnTo>
                  <a:lnTo>
                    <a:pt x="74421" y="1668755"/>
                  </a:lnTo>
                  <a:lnTo>
                    <a:pt x="56104" y="1602055"/>
                  </a:lnTo>
                  <a:lnTo>
                    <a:pt x="40650" y="1533506"/>
                  </a:lnTo>
                  <a:lnTo>
                    <a:pt x="28712" y="1464679"/>
                  </a:lnTo>
                  <a:lnTo>
                    <a:pt x="19945" y="1395091"/>
                  </a:lnTo>
                  <a:lnTo>
                    <a:pt x="14657" y="1325626"/>
                  </a:lnTo>
                  <a:lnTo>
                    <a:pt x="12704" y="1254886"/>
                  </a:lnTo>
                  <a:lnTo>
                    <a:pt x="14210" y="1184260"/>
                  </a:lnTo>
                  <a:lnTo>
                    <a:pt x="19058" y="1113543"/>
                  </a:lnTo>
                  <a:lnTo>
                    <a:pt x="27570" y="1043444"/>
                  </a:lnTo>
                  <a:lnTo>
                    <a:pt x="27680" y="1042893"/>
                  </a:lnTo>
                  <a:lnTo>
                    <a:pt x="27722" y="1042550"/>
                  </a:lnTo>
                  <a:lnTo>
                    <a:pt x="39637" y="972195"/>
                  </a:lnTo>
                  <a:lnTo>
                    <a:pt x="55250" y="901714"/>
                  </a:lnTo>
                  <a:lnTo>
                    <a:pt x="74554" y="831737"/>
                  </a:lnTo>
                  <a:lnTo>
                    <a:pt x="97531" y="762126"/>
                  </a:lnTo>
                  <a:lnTo>
                    <a:pt x="124225" y="693175"/>
                  </a:lnTo>
                  <a:lnTo>
                    <a:pt x="154820" y="624839"/>
                  </a:lnTo>
                  <a:lnTo>
                    <a:pt x="178683" y="577088"/>
                  </a:lnTo>
                  <a:lnTo>
                    <a:pt x="204070" y="530587"/>
                  </a:lnTo>
                  <a:lnTo>
                    <a:pt x="231059" y="485270"/>
                  </a:lnTo>
                  <a:lnTo>
                    <a:pt x="259648" y="440813"/>
                  </a:lnTo>
                  <a:lnTo>
                    <a:pt x="289857" y="397693"/>
                  </a:lnTo>
                  <a:lnTo>
                    <a:pt x="321533" y="355709"/>
                  </a:lnTo>
                  <a:lnTo>
                    <a:pt x="356179" y="313058"/>
                  </a:lnTo>
                  <a:lnTo>
                    <a:pt x="390646" y="273684"/>
                  </a:lnTo>
                  <a:lnTo>
                    <a:pt x="426968" y="235203"/>
                  </a:lnTo>
                  <a:lnTo>
                    <a:pt x="464535" y="198143"/>
                  </a:lnTo>
                  <a:lnTo>
                    <a:pt x="503375" y="162455"/>
                  </a:lnTo>
                  <a:lnTo>
                    <a:pt x="503522" y="162455"/>
                  </a:lnTo>
                  <a:lnTo>
                    <a:pt x="544039" y="127843"/>
                  </a:lnTo>
                  <a:lnTo>
                    <a:pt x="585002" y="95461"/>
                  </a:lnTo>
                  <a:lnTo>
                    <a:pt x="628231" y="63792"/>
                  </a:lnTo>
                  <a:lnTo>
                    <a:pt x="629221" y="63111"/>
                  </a:lnTo>
                  <a:lnTo>
                    <a:pt x="653806" y="46652"/>
                  </a:lnTo>
                  <a:lnTo>
                    <a:pt x="646974" y="36003"/>
                  </a:lnTo>
                  <a:close/>
                </a:path>
                <a:path w="839470" h="2573020">
                  <a:moveTo>
                    <a:pt x="708327" y="2490513"/>
                  </a:moveTo>
                  <a:lnTo>
                    <a:pt x="708615" y="2490792"/>
                  </a:lnTo>
                  <a:lnTo>
                    <a:pt x="709943" y="2491553"/>
                  </a:lnTo>
                  <a:lnTo>
                    <a:pt x="708804" y="2490792"/>
                  </a:lnTo>
                  <a:lnTo>
                    <a:pt x="708327" y="2490513"/>
                  </a:lnTo>
                  <a:close/>
                </a:path>
                <a:path w="839470" h="2573020">
                  <a:moveTo>
                    <a:pt x="503538" y="162455"/>
                  </a:moveTo>
                  <a:lnTo>
                    <a:pt x="503375" y="162455"/>
                  </a:lnTo>
                  <a:lnTo>
                    <a:pt x="501413" y="164258"/>
                  </a:lnTo>
                  <a:lnTo>
                    <a:pt x="503538" y="162455"/>
                  </a:lnTo>
                  <a:close/>
                </a:path>
                <a:path w="839470" h="2573020">
                  <a:moveTo>
                    <a:pt x="697126" y="28955"/>
                  </a:moveTo>
                  <a:lnTo>
                    <a:pt x="657473" y="28955"/>
                  </a:lnTo>
                  <a:lnTo>
                    <a:pt x="664458" y="39496"/>
                  </a:lnTo>
                  <a:lnTo>
                    <a:pt x="653806" y="46652"/>
                  </a:lnTo>
                  <a:lnTo>
                    <a:pt x="670808" y="73151"/>
                  </a:lnTo>
                  <a:lnTo>
                    <a:pt x="697126" y="28955"/>
                  </a:lnTo>
                  <a:close/>
                </a:path>
                <a:path w="839470" h="2573020">
                  <a:moveTo>
                    <a:pt x="657473" y="28955"/>
                  </a:moveTo>
                  <a:lnTo>
                    <a:pt x="646974" y="36003"/>
                  </a:lnTo>
                  <a:lnTo>
                    <a:pt x="653806" y="46652"/>
                  </a:lnTo>
                  <a:lnTo>
                    <a:pt x="664458" y="39496"/>
                  </a:lnTo>
                  <a:lnTo>
                    <a:pt x="657473" y="28955"/>
                  </a:lnTo>
                  <a:close/>
                </a:path>
                <a:path w="839470" h="2573020">
                  <a:moveTo>
                    <a:pt x="714369" y="0"/>
                  </a:moveTo>
                  <a:lnTo>
                    <a:pt x="629660" y="9016"/>
                  </a:lnTo>
                  <a:lnTo>
                    <a:pt x="646974" y="36003"/>
                  </a:lnTo>
                  <a:lnTo>
                    <a:pt x="657473" y="28955"/>
                  </a:lnTo>
                  <a:lnTo>
                    <a:pt x="697126" y="28955"/>
                  </a:lnTo>
                  <a:lnTo>
                    <a:pt x="714369" y="0"/>
                  </a:lnTo>
                  <a:close/>
                </a:path>
              </a:pathLst>
            </a:custGeom>
            <a:solidFill>
              <a:srgbClr val="003193"/>
            </a:solidFill>
          </p:spPr>
          <p:txBody>
            <a:bodyPr wrap="square" lIns="0" tIns="0" rIns="0" bIns="0" rtlCol="0"/>
            <a:lstStyle/>
            <a:p/>
          </p:txBody>
        </p:sp>
        <p:sp>
          <p:nvSpPr>
            <p:cNvPr id="24" name="object 24"/>
            <p:cNvSpPr/>
            <p:nvPr/>
          </p:nvSpPr>
          <p:spPr>
            <a:xfrm>
              <a:off x="4681728" y="4024375"/>
              <a:ext cx="338455" cy="292735"/>
            </a:xfrm>
            <a:custGeom>
              <a:avLst/>
              <a:gdLst/>
              <a:ahLst/>
              <a:cxnLst/>
              <a:rect l="l" t="t" r="r" b="b"/>
              <a:pathLst>
                <a:path w="338454" h="292735">
                  <a:moveTo>
                    <a:pt x="338328" y="155448"/>
                  </a:moveTo>
                  <a:lnTo>
                    <a:pt x="194564" y="155448"/>
                  </a:lnTo>
                  <a:lnTo>
                    <a:pt x="194564" y="164084"/>
                  </a:lnTo>
                  <a:lnTo>
                    <a:pt x="194564" y="173482"/>
                  </a:lnTo>
                  <a:lnTo>
                    <a:pt x="186944" y="181229"/>
                  </a:lnTo>
                  <a:lnTo>
                    <a:pt x="151384" y="181229"/>
                  </a:lnTo>
                  <a:lnTo>
                    <a:pt x="143764" y="173482"/>
                  </a:lnTo>
                  <a:lnTo>
                    <a:pt x="143764" y="155448"/>
                  </a:lnTo>
                  <a:lnTo>
                    <a:pt x="0" y="155448"/>
                  </a:lnTo>
                  <a:lnTo>
                    <a:pt x="0" y="284988"/>
                  </a:lnTo>
                  <a:lnTo>
                    <a:pt x="7620" y="292608"/>
                  </a:lnTo>
                  <a:lnTo>
                    <a:pt x="330708" y="292608"/>
                  </a:lnTo>
                  <a:lnTo>
                    <a:pt x="338328" y="284988"/>
                  </a:lnTo>
                  <a:lnTo>
                    <a:pt x="338328" y="155448"/>
                  </a:lnTo>
                  <a:close/>
                </a:path>
                <a:path w="338454" h="292735">
                  <a:moveTo>
                    <a:pt x="338328" y="62611"/>
                  </a:moveTo>
                  <a:lnTo>
                    <a:pt x="330708" y="55245"/>
                  </a:lnTo>
                  <a:lnTo>
                    <a:pt x="236855" y="55245"/>
                  </a:lnTo>
                  <a:lnTo>
                    <a:pt x="236855" y="28702"/>
                  </a:lnTo>
                  <a:lnTo>
                    <a:pt x="235991" y="24511"/>
                  </a:lnTo>
                  <a:lnTo>
                    <a:pt x="234543" y="17475"/>
                  </a:lnTo>
                  <a:lnTo>
                    <a:pt x="228244" y="8356"/>
                  </a:lnTo>
                  <a:lnTo>
                    <a:pt x="218846" y="2235"/>
                  </a:lnTo>
                  <a:lnTo>
                    <a:pt x="211455" y="812"/>
                  </a:lnTo>
                  <a:lnTo>
                    <a:pt x="211455" y="26162"/>
                  </a:lnTo>
                  <a:lnTo>
                    <a:pt x="211455" y="55245"/>
                  </a:lnTo>
                  <a:lnTo>
                    <a:pt x="126873" y="55245"/>
                  </a:lnTo>
                  <a:lnTo>
                    <a:pt x="126873" y="26162"/>
                  </a:lnTo>
                  <a:lnTo>
                    <a:pt x="128524" y="24511"/>
                  </a:lnTo>
                  <a:lnTo>
                    <a:pt x="209804" y="24511"/>
                  </a:lnTo>
                  <a:lnTo>
                    <a:pt x="211455" y="26162"/>
                  </a:lnTo>
                  <a:lnTo>
                    <a:pt x="211455" y="812"/>
                  </a:lnTo>
                  <a:lnTo>
                    <a:pt x="207264" y="0"/>
                  </a:lnTo>
                  <a:lnTo>
                    <a:pt x="131064" y="0"/>
                  </a:lnTo>
                  <a:lnTo>
                    <a:pt x="119468" y="2235"/>
                  </a:lnTo>
                  <a:lnTo>
                    <a:pt x="110070" y="8356"/>
                  </a:lnTo>
                  <a:lnTo>
                    <a:pt x="103771" y="17475"/>
                  </a:lnTo>
                  <a:lnTo>
                    <a:pt x="101473" y="28702"/>
                  </a:lnTo>
                  <a:lnTo>
                    <a:pt x="101473" y="55245"/>
                  </a:lnTo>
                  <a:lnTo>
                    <a:pt x="7620" y="55245"/>
                  </a:lnTo>
                  <a:lnTo>
                    <a:pt x="0" y="62611"/>
                  </a:lnTo>
                  <a:lnTo>
                    <a:pt x="0" y="137160"/>
                  </a:lnTo>
                  <a:lnTo>
                    <a:pt x="143764" y="137160"/>
                  </a:lnTo>
                  <a:lnTo>
                    <a:pt x="143764" y="129032"/>
                  </a:lnTo>
                  <a:lnTo>
                    <a:pt x="194564" y="129032"/>
                  </a:lnTo>
                  <a:lnTo>
                    <a:pt x="194564" y="137160"/>
                  </a:lnTo>
                  <a:lnTo>
                    <a:pt x="338328" y="137160"/>
                  </a:lnTo>
                  <a:lnTo>
                    <a:pt x="338328" y="129032"/>
                  </a:lnTo>
                  <a:lnTo>
                    <a:pt x="338328" y="62611"/>
                  </a:lnTo>
                  <a:close/>
                </a:path>
              </a:pathLst>
            </a:custGeom>
            <a:solidFill>
              <a:srgbClr val="EC7C30"/>
            </a:solidFill>
          </p:spPr>
          <p:txBody>
            <a:bodyPr wrap="square" lIns="0" tIns="0" rIns="0" bIns="0" rtlCol="0"/>
            <a:lstStyle/>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xfrm>
            <a:off x="969492" y="380492"/>
            <a:ext cx="4415790" cy="948690"/>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rPr>
              <a:t>Fabric</a:t>
            </a:r>
            <a:r>
              <a:rPr dirty="0" spc="75">
                <a:solidFill>
                  <a:srgbClr val="003E34"/>
                </a:solidFill>
              </a:rPr>
              <a:t> </a:t>
            </a:r>
            <a:r>
              <a:rPr dirty="0">
                <a:solidFill>
                  <a:srgbClr val="003E34"/>
                </a:solidFill>
              </a:rPr>
              <a:t>Healthcare</a:t>
            </a:r>
            <a:r>
              <a:rPr dirty="0" spc="80">
                <a:solidFill>
                  <a:srgbClr val="003E34"/>
                </a:solidFill>
              </a:rPr>
              <a:t> </a:t>
            </a:r>
            <a:r>
              <a:rPr dirty="0" spc="-20">
                <a:solidFill>
                  <a:srgbClr val="003E34"/>
                </a:solidFill>
              </a:rPr>
              <a:t>Data </a:t>
            </a:r>
            <a:r>
              <a:rPr dirty="0" spc="-10">
                <a:solidFill>
                  <a:srgbClr val="003E34"/>
                </a:solidFill>
              </a:rPr>
              <a:t>Solutions</a:t>
            </a:r>
          </a:p>
        </p:txBody>
      </p:sp>
      <p:pic>
        <p:nvPicPr>
          <p:cNvPr id="4" name="object 4"/>
          <p:cNvPicPr/>
          <p:nvPr/>
        </p:nvPicPr>
        <p:blipFill>
          <a:blip r:embed="rId3" cstate="print"/>
          <a:stretch>
            <a:fillRect/>
          </a:stretch>
        </p:blipFill>
        <p:spPr>
          <a:xfrm>
            <a:off x="1014983" y="1609763"/>
            <a:ext cx="9966960" cy="466458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17194" y="1572971"/>
            <a:ext cx="10543540" cy="1421130"/>
          </a:xfrm>
          <a:prstGeom prst="rect"/>
        </p:spPr>
        <p:txBody>
          <a:bodyPr wrap="square" lIns="0" tIns="99060" rIns="0" bIns="0" rtlCol="0" vert="horz">
            <a:spAutoFit/>
          </a:bodyPr>
          <a:lstStyle/>
          <a:p>
            <a:pPr marL="12700" marR="5080">
              <a:lnSpc>
                <a:spcPts val="5190"/>
              </a:lnSpc>
              <a:spcBef>
                <a:spcPts val="780"/>
              </a:spcBef>
            </a:pPr>
            <a:r>
              <a:rPr dirty="0" sz="4800"/>
              <a:t>The</a:t>
            </a:r>
            <a:r>
              <a:rPr dirty="0" sz="4800" spc="-114"/>
              <a:t> </a:t>
            </a:r>
            <a:r>
              <a:rPr dirty="0" sz="4800"/>
              <a:t>case:</a:t>
            </a:r>
            <a:r>
              <a:rPr dirty="0" sz="4800" spc="-55"/>
              <a:t> </a:t>
            </a:r>
            <a:r>
              <a:rPr dirty="0" sz="4800"/>
              <a:t>knee</a:t>
            </a:r>
            <a:r>
              <a:rPr dirty="0" sz="4800" spc="-105"/>
              <a:t> </a:t>
            </a:r>
            <a:r>
              <a:rPr dirty="0" sz="4800"/>
              <a:t>replacement</a:t>
            </a:r>
            <a:r>
              <a:rPr dirty="0" sz="4800" spc="-55"/>
              <a:t> </a:t>
            </a:r>
            <a:r>
              <a:rPr dirty="0" sz="4800"/>
              <a:t>on</a:t>
            </a:r>
            <a:r>
              <a:rPr dirty="0" sz="4800" spc="-80"/>
              <a:t> </a:t>
            </a:r>
            <a:r>
              <a:rPr dirty="0" sz="4800" spc="-25"/>
              <a:t>NHS </a:t>
            </a:r>
            <a:r>
              <a:rPr dirty="0" sz="4800" spc="-10"/>
              <a:t>PROMs</a:t>
            </a:r>
            <a:endParaRPr sz="4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335886"/>
            <a:ext cx="12188952" cy="457310"/>
          </a:xfrm>
          <a:prstGeom prst="rect">
            <a:avLst/>
          </a:prstGeom>
        </p:spPr>
      </p:pic>
      <p:grpSp>
        <p:nvGrpSpPr>
          <p:cNvPr id="3" name="object 3"/>
          <p:cNvGrpSpPr/>
          <p:nvPr/>
        </p:nvGrpSpPr>
        <p:grpSpPr>
          <a:xfrm>
            <a:off x="0" y="864795"/>
            <a:ext cx="12189460" cy="4581525"/>
            <a:chOff x="0" y="864795"/>
            <a:chExt cx="12189460" cy="4581525"/>
          </a:xfrm>
        </p:grpSpPr>
        <p:pic>
          <p:nvPicPr>
            <p:cNvPr id="4" name="object 4"/>
            <p:cNvPicPr/>
            <p:nvPr/>
          </p:nvPicPr>
          <p:blipFill>
            <a:blip r:embed="rId3" cstate="print"/>
            <a:stretch>
              <a:fillRect/>
            </a:stretch>
          </p:blipFill>
          <p:spPr>
            <a:xfrm>
              <a:off x="0" y="864795"/>
              <a:ext cx="12188952" cy="4581415"/>
            </a:xfrm>
            <a:prstGeom prst="rect">
              <a:avLst/>
            </a:prstGeom>
          </p:spPr>
        </p:pic>
        <p:sp>
          <p:nvSpPr>
            <p:cNvPr id="5" name="object 5"/>
            <p:cNvSpPr/>
            <p:nvPr/>
          </p:nvSpPr>
          <p:spPr>
            <a:xfrm>
              <a:off x="1201025" y="2344816"/>
              <a:ext cx="3375025" cy="478155"/>
            </a:xfrm>
            <a:custGeom>
              <a:avLst/>
              <a:gdLst/>
              <a:ahLst/>
              <a:cxnLst/>
              <a:rect l="l" t="t" r="r" b="b"/>
              <a:pathLst>
                <a:path w="3375025" h="478155">
                  <a:moveTo>
                    <a:pt x="3374507" y="478097"/>
                  </a:moveTo>
                  <a:lnTo>
                    <a:pt x="0" y="478097"/>
                  </a:lnTo>
                  <a:lnTo>
                    <a:pt x="0" y="0"/>
                  </a:lnTo>
                  <a:lnTo>
                    <a:pt x="3374507" y="0"/>
                  </a:lnTo>
                  <a:lnTo>
                    <a:pt x="3374507" y="478097"/>
                  </a:lnTo>
                  <a:close/>
                </a:path>
              </a:pathLst>
            </a:custGeom>
            <a:solidFill>
              <a:srgbClr val="002A21"/>
            </a:solidFill>
          </p:spPr>
          <p:txBody>
            <a:bodyPr wrap="square" lIns="0" tIns="0" rIns="0" bIns="0" rtlCol="0"/>
            <a:lstStyle/>
            <a:p/>
          </p:txBody>
        </p:sp>
      </p:grpSp>
      <p:sp>
        <p:nvSpPr>
          <p:cNvPr id="6" name="object 6" descr="$PPTXTitle"/>
          <p:cNvSpPr txBox="1">
            <a:spLocks noGrp="1"/>
          </p:cNvSpPr>
          <p:nvPr>
            <p:ph type="title"/>
          </p:nvPr>
        </p:nvSpPr>
        <p:spPr>
          <a:xfrm>
            <a:off x="1144096" y="2136258"/>
            <a:ext cx="3424554" cy="829310"/>
          </a:xfrm>
          <a:prstGeom prst="rect"/>
        </p:spPr>
        <p:txBody>
          <a:bodyPr wrap="square" lIns="0" tIns="15240" rIns="0" bIns="0" rtlCol="0" vert="horz">
            <a:spAutoFit/>
          </a:bodyPr>
          <a:lstStyle/>
          <a:p>
            <a:pPr marL="12700">
              <a:lnSpc>
                <a:spcPct val="100000"/>
              </a:lnSpc>
              <a:spcBef>
                <a:spcPts val="120"/>
              </a:spcBef>
            </a:pPr>
            <a:r>
              <a:rPr dirty="0" sz="5250" spc="-615" b="0">
                <a:solidFill>
                  <a:srgbClr val="FFFFFF"/>
                </a:solidFill>
                <a:latin typeface="Arial Black"/>
                <a:cs typeface="Arial Black"/>
              </a:rPr>
              <a:t>Please</a:t>
            </a:r>
            <a:r>
              <a:rPr dirty="0" sz="5250" spc="135" b="0">
                <a:solidFill>
                  <a:srgbClr val="FFFFFF"/>
                </a:solidFill>
                <a:latin typeface="Arial Black"/>
                <a:cs typeface="Arial Black"/>
              </a:rPr>
              <a:t> </a:t>
            </a:r>
            <a:r>
              <a:rPr dirty="0" sz="5250" spc="-640" b="0">
                <a:solidFill>
                  <a:srgbClr val="FFFFFF"/>
                </a:solidFill>
                <a:latin typeface="Arial Black"/>
                <a:cs typeface="Arial Black"/>
              </a:rPr>
              <a:t>rate</a:t>
            </a:r>
            <a:endParaRPr sz="5250">
              <a:latin typeface="Arial Black"/>
              <a:cs typeface="Arial Black"/>
            </a:endParaRPr>
          </a:p>
        </p:txBody>
      </p:sp>
      <p:sp>
        <p:nvSpPr>
          <p:cNvPr id="7" name="object 7"/>
          <p:cNvSpPr/>
          <p:nvPr/>
        </p:nvSpPr>
        <p:spPr>
          <a:xfrm>
            <a:off x="1155311" y="2989207"/>
            <a:ext cx="3628390" cy="490855"/>
          </a:xfrm>
          <a:custGeom>
            <a:avLst/>
            <a:gdLst/>
            <a:ahLst/>
            <a:cxnLst/>
            <a:rect l="l" t="t" r="r" b="b"/>
            <a:pathLst>
              <a:path w="3628390" h="490854">
                <a:moveTo>
                  <a:pt x="3628010" y="490569"/>
                </a:moveTo>
                <a:lnTo>
                  <a:pt x="0" y="490569"/>
                </a:lnTo>
                <a:lnTo>
                  <a:pt x="0" y="0"/>
                </a:lnTo>
                <a:lnTo>
                  <a:pt x="3628010" y="0"/>
                </a:lnTo>
                <a:lnTo>
                  <a:pt x="3628010" y="490569"/>
                </a:lnTo>
                <a:close/>
              </a:path>
            </a:pathLst>
          </a:custGeom>
          <a:solidFill>
            <a:srgbClr val="01342D"/>
          </a:solidFill>
        </p:spPr>
        <p:txBody>
          <a:bodyPr wrap="square" lIns="0" tIns="0" rIns="0" bIns="0" rtlCol="0"/>
          <a:lstStyle/>
          <a:p/>
        </p:txBody>
      </p:sp>
      <p:sp>
        <p:nvSpPr>
          <p:cNvPr id="8" name="object 8"/>
          <p:cNvSpPr txBox="1"/>
          <p:nvPr/>
        </p:nvSpPr>
        <p:spPr>
          <a:xfrm>
            <a:off x="1132457" y="2787347"/>
            <a:ext cx="3644265" cy="836294"/>
          </a:xfrm>
          <a:prstGeom prst="rect">
            <a:avLst/>
          </a:prstGeom>
        </p:spPr>
        <p:txBody>
          <a:bodyPr wrap="square" lIns="0" tIns="15240" rIns="0" bIns="0" rtlCol="0" vert="horz">
            <a:spAutoFit/>
          </a:bodyPr>
          <a:lstStyle/>
          <a:p>
            <a:pPr marL="12700">
              <a:lnSpc>
                <a:spcPct val="100000"/>
              </a:lnSpc>
              <a:spcBef>
                <a:spcPts val="120"/>
              </a:spcBef>
            </a:pPr>
            <a:r>
              <a:rPr dirty="0" sz="5300" spc="-550">
                <a:solidFill>
                  <a:srgbClr val="FFFFFF"/>
                </a:solidFill>
                <a:latin typeface="Arial Black"/>
                <a:cs typeface="Arial Black"/>
              </a:rPr>
              <a:t>this</a:t>
            </a:r>
            <a:r>
              <a:rPr dirty="0" sz="5300" spc="-140">
                <a:solidFill>
                  <a:srgbClr val="FFFFFF"/>
                </a:solidFill>
                <a:latin typeface="Arial Black"/>
                <a:cs typeface="Arial Black"/>
              </a:rPr>
              <a:t> </a:t>
            </a:r>
            <a:r>
              <a:rPr dirty="0" sz="5300" spc="-585">
                <a:solidFill>
                  <a:srgbClr val="FFFFFF"/>
                </a:solidFill>
                <a:latin typeface="Arial Black"/>
                <a:cs typeface="Arial Black"/>
              </a:rPr>
              <a:t>session</a:t>
            </a:r>
            <a:endParaRPr sz="5300">
              <a:latin typeface="Arial Black"/>
              <a:cs typeface="Arial Black"/>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Three ways a machine learns</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Machine learning is a family of methods. They differ in what the computer learns from.</a:t>
            </a:r>
          </a:p>
        </p:txBody>
      </p:sp>
      <p:sp>
        <p:nvSpPr>
          <p:cNvPr id="4" name="Rounded Rectangle 3"/>
          <p:cNvSpPr/>
          <p:nvPr/>
        </p:nvSpPr>
        <p:spPr>
          <a:xfrm>
            <a:off x="81381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Supervised learning</a:t>
            </a:r>
          </a:p>
          <a:p>
            <a:pPr algn="l">
              <a:spcAft>
                <a:spcPts val="300"/>
              </a:spcAft>
            </a:pPr>
            <a:r>
              <a:rPr sz="1100" b="1" i="0">
                <a:solidFill>
                  <a:srgbClr val="44536A"/>
                </a:solidFill>
                <a:latin typeface="Segoe UI"/>
              </a:rPr>
              <a:t>LEARNS FROM</a:t>
            </a:r>
          </a:p>
          <a:p>
            <a:pPr algn="l">
              <a:spcAft>
                <a:spcPts val="600"/>
              </a:spcAft>
            </a:pPr>
            <a:r>
              <a:rPr sz="1300" b="0" i="0">
                <a:solidFill>
                  <a:srgbClr val="232323"/>
                </a:solidFill>
                <a:latin typeface="Segoe UI"/>
              </a:rPr>
              <a:t>Examples with the right answer attached. The computer sees the inputs and the known outcome, and learns the link between them.</a:t>
            </a:r>
          </a:p>
          <a:p>
            <a:pPr algn="l">
              <a:spcAft>
                <a:spcPts val="300"/>
              </a:spcAft>
            </a:pPr>
            <a:r>
              <a:rPr sz="1100" b="1" i="0">
                <a:solidFill>
                  <a:srgbClr val="44536A"/>
                </a:solidFill>
                <a:latin typeface="Segoe UI"/>
              </a:rPr>
              <a:t>TYPICAL QUESTIONS</a:t>
            </a:r>
          </a:p>
          <a:p>
            <a:pPr algn="l">
              <a:spcAft>
                <a:spcPts val="600"/>
              </a:spcAft>
            </a:pPr>
            <a:r>
              <a:rPr sz="1300" b="0" i="0">
                <a:solidFill>
                  <a:srgbClr val="232323"/>
                </a:solidFill>
                <a:latin typeface="Segoe UI"/>
              </a:rPr>
              <a:t>“Will this patient have a poor outcome?”  “What will this score be?”</a:t>
            </a:r>
          </a:p>
          <a:p>
            <a:pPr algn="l">
              <a:spcAft>
                <a:spcPts val="300"/>
              </a:spcAft>
            </a:pPr>
            <a:r>
              <a:rPr sz="1100" b="1" i="0">
                <a:solidFill>
                  <a:srgbClr val="44536A"/>
                </a:solidFill>
                <a:latin typeface="Segoe UI"/>
              </a:rPr>
              <a:t>IN HEALTHCARE</a:t>
            </a:r>
          </a:p>
          <a:p>
            <a:pPr algn="l">
              <a:spcAft>
                <a:spcPts val="600"/>
              </a:spcAft>
            </a:pPr>
            <a:r>
              <a:rPr sz="1300" b="0" i="0">
                <a:solidFill>
                  <a:srgbClr val="232323"/>
                </a:solidFill>
                <a:latin typeface="Segoe UI"/>
              </a:rPr>
              <a:t>Risk scores, diagnosis support, readmission prediction.</a:t>
            </a:r>
          </a:p>
          <a:p>
            <a:pPr algn="l">
              <a:spcBef>
                <a:spcPts val="600"/>
              </a:spcBef>
            </a:pPr>
            <a:r>
              <a:rPr sz="1300" b="1" i="0">
                <a:solidFill>
                  <a:srgbClr val="BB9F45"/>
                </a:solidFill>
                <a:latin typeface="Segoe UI"/>
              </a:rPr>
              <a:t>This is what we do in this session.</a:t>
            </a:r>
          </a:p>
        </p:txBody>
      </p:sp>
      <p:sp>
        <p:nvSpPr>
          <p:cNvPr id="6" name="Rounded Rectangle 5"/>
          <p:cNvSpPr/>
          <p:nvPr/>
        </p:nvSpPr>
        <p:spPr>
          <a:xfrm>
            <a:off x="441045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9333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Unsupervised learning</a:t>
            </a:r>
          </a:p>
          <a:p>
            <a:pPr algn="l">
              <a:spcAft>
                <a:spcPts val="300"/>
              </a:spcAft>
            </a:pPr>
            <a:r>
              <a:rPr sz="1100" b="1" i="0">
                <a:solidFill>
                  <a:srgbClr val="44536A"/>
                </a:solidFill>
                <a:latin typeface="Segoe UI"/>
              </a:rPr>
              <a:t>LEARNS FROM</a:t>
            </a:r>
          </a:p>
          <a:p>
            <a:pPr algn="l">
              <a:spcAft>
                <a:spcPts val="600"/>
              </a:spcAft>
            </a:pPr>
            <a:r>
              <a:rPr sz="1300" b="0" i="0">
                <a:solidFill>
                  <a:srgbClr val="232323"/>
                </a:solidFill>
                <a:latin typeface="Segoe UI"/>
              </a:rPr>
              <a:t>Examples with no answer attached. The computer looks for structure on its own: groups, patterns, unusual cases.</a:t>
            </a:r>
          </a:p>
          <a:p>
            <a:pPr algn="l">
              <a:spcAft>
                <a:spcPts val="300"/>
              </a:spcAft>
            </a:pPr>
            <a:r>
              <a:rPr sz="1100" b="1" i="0">
                <a:solidFill>
                  <a:srgbClr val="44536A"/>
                </a:solidFill>
                <a:latin typeface="Segoe UI"/>
              </a:rPr>
              <a:t>TYPICAL QUESTIONS</a:t>
            </a:r>
          </a:p>
          <a:p>
            <a:pPr algn="l">
              <a:spcAft>
                <a:spcPts val="600"/>
              </a:spcAft>
            </a:pPr>
            <a:r>
              <a:rPr sz="1300" b="0" i="0">
                <a:solidFill>
                  <a:srgbClr val="232323"/>
                </a:solidFill>
                <a:latin typeface="Segoe UI"/>
              </a:rPr>
              <a:t>“Which patients are similar to each other?”  “Which records look unusual?”</a:t>
            </a:r>
          </a:p>
          <a:p>
            <a:pPr algn="l">
              <a:spcAft>
                <a:spcPts val="300"/>
              </a:spcAft>
            </a:pPr>
            <a:r>
              <a:rPr sz="1100" b="1" i="0">
                <a:solidFill>
                  <a:srgbClr val="44536A"/>
                </a:solidFill>
                <a:latin typeface="Segoe UI"/>
              </a:rPr>
              <a:t>IN HEALTHCARE</a:t>
            </a:r>
          </a:p>
          <a:p>
            <a:pPr algn="l">
              <a:spcAft>
                <a:spcPts val="600"/>
              </a:spcAft>
            </a:pPr>
            <a:r>
              <a:rPr sz="1300" b="0" i="0">
                <a:solidFill>
                  <a:srgbClr val="232323"/>
                </a:solidFill>
                <a:latin typeface="Segoe UI"/>
              </a:rPr>
              <a:t>Patient segmentation, anomaly detection in claims or devices.</a:t>
            </a:r>
          </a:p>
        </p:txBody>
      </p:sp>
      <p:sp>
        <p:nvSpPr>
          <p:cNvPr id="8" name="Rounded Rectangle 7"/>
          <p:cNvSpPr/>
          <p:nvPr/>
        </p:nvSpPr>
        <p:spPr>
          <a:xfrm>
            <a:off x="800709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8997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Reinforcement learning</a:t>
            </a:r>
          </a:p>
          <a:p>
            <a:pPr algn="l">
              <a:spcAft>
                <a:spcPts val="300"/>
              </a:spcAft>
            </a:pPr>
            <a:r>
              <a:rPr sz="1100" b="1" i="0">
                <a:solidFill>
                  <a:srgbClr val="44536A"/>
                </a:solidFill>
                <a:latin typeface="Segoe UI"/>
              </a:rPr>
              <a:t>LEARNS FROM</a:t>
            </a:r>
          </a:p>
          <a:p>
            <a:pPr algn="l">
              <a:spcAft>
                <a:spcPts val="600"/>
              </a:spcAft>
            </a:pPr>
            <a:r>
              <a:rPr sz="1300" b="0" i="0">
                <a:solidFill>
                  <a:srgbClr val="232323"/>
                </a:solidFill>
                <a:latin typeface="Segoe UI"/>
              </a:rPr>
              <a:t>Trial and error. The computer takes actions, gets a reward or a penalty, and learns a strategy over time.</a:t>
            </a:r>
          </a:p>
          <a:p>
            <a:pPr algn="l">
              <a:spcAft>
                <a:spcPts val="300"/>
              </a:spcAft>
            </a:pPr>
            <a:r>
              <a:rPr sz="1100" b="1" i="0">
                <a:solidFill>
                  <a:srgbClr val="44536A"/>
                </a:solidFill>
                <a:latin typeface="Segoe UI"/>
              </a:rPr>
              <a:t>TYPICAL QUESTIONS</a:t>
            </a:r>
          </a:p>
          <a:p>
            <a:pPr algn="l">
              <a:spcAft>
                <a:spcPts val="600"/>
              </a:spcAft>
            </a:pPr>
            <a:r>
              <a:rPr sz="1300" b="0" i="0">
                <a:solidFill>
                  <a:srgbClr val="232323"/>
                </a:solidFill>
                <a:latin typeface="Segoe UI"/>
              </a:rPr>
              <a:t>“Which sequence of actions gives the best result?”</a:t>
            </a:r>
          </a:p>
          <a:p>
            <a:pPr algn="l">
              <a:spcAft>
                <a:spcPts val="300"/>
              </a:spcAft>
            </a:pPr>
            <a:r>
              <a:rPr sz="1100" b="1" i="0">
                <a:solidFill>
                  <a:srgbClr val="44536A"/>
                </a:solidFill>
                <a:latin typeface="Segoe UI"/>
              </a:rPr>
              <a:t>IN HEALTHCARE</a:t>
            </a:r>
          </a:p>
          <a:p>
            <a:pPr algn="l">
              <a:spcAft>
                <a:spcPts val="600"/>
              </a:spcAft>
            </a:pPr>
            <a:r>
              <a:rPr sz="1300" b="0" i="0">
                <a:solidFill>
                  <a:srgbClr val="232323"/>
                </a:solidFill>
                <a:latin typeface="Segoe UI"/>
              </a:rPr>
              <a:t>Adaptive treatment schedules, resource scheduling. Rare in clinical practice today.</a:t>
            </a:r>
          </a:p>
        </p:txBody>
      </p:sp>
      <p:sp>
        <p:nvSpPr>
          <p:cNvPr id="10" name="TextBox 9"/>
          <p:cNvSpPr txBox="1"/>
          <p:nvPr/>
        </p:nvSpPr>
        <p:spPr>
          <a:xfrm>
            <a:off x="813816" y="5852160"/>
            <a:ext cx="10561320" cy="320040"/>
          </a:xfrm>
          <a:prstGeom prst="rect">
            <a:avLst/>
          </a:prstGeom>
          <a:noFill/>
        </p:spPr>
        <p:txBody>
          <a:bodyPr wrap="square" anchor="t" lIns="27432" rIns="27432" tIns="18288" bIns="18288">
            <a:spAutoFit/>
          </a:bodyPr>
          <a:lstStyle/>
          <a:p>
            <a:pPr algn="l">
              <a:spcAft>
                <a:spcPts val="400"/>
              </a:spcAft>
            </a:pPr>
            <a:r>
              <a:rPr sz="1100" b="0" i="0">
                <a:solidFill>
                  <a:srgbClr val="44536A"/>
                </a:solidFill>
                <a:latin typeface="Segoe UI"/>
              </a:rPr>
              <a:t>Deep learning is not a fourth type: it is a way of building models (neural networks) that can be used inside any of the three.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Our data: NHS PROMs for knee replacement</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Patient Reported Outcome Measures: the same questionnaire before the operation and six months after.</a:t>
            </a:r>
          </a:p>
        </p:txBody>
      </p:sp>
      <p:sp>
        <p:nvSpPr>
          <p:cNvPr id="4" name="Rounded Rectangle 3"/>
          <p:cNvSpPr/>
          <p:nvPr/>
        </p:nvSpPr>
        <p:spPr>
          <a:xfrm>
            <a:off x="81381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What it is</a:t>
            </a:r>
          </a:p>
          <a:p>
            <a:pPr algn="l">
              <a:spcAft>
                <a:spcPts val="600"/>
              </a:spcAft>
            </a:pPr>
            <a:r>
              <a:rPr sz="1300" b="0" i="0">
                <a:solidFill>
                  <a:srgbClr val="232323"/>
                </a:solidFill>
                <a:latin typeface="Segoe UI"/>
              </a:rPr>
              <a:t>NHS England asks every patient having a knee replacement to fill in a questionnaire before surgery, and again six months later.</a:t>
            </a:r>
          </a:p>
          <a:p>
            <a:pPr algn="l">
              <a:spcAft>
                <a:spcPts val="600"/>
              </a:spcAft>
            </a:pPr>
            <a:r>
              <a:rPr sz="1300" b="0" i="0">
                <a:solidFill>
                  <a:srgbClr val="232323"/>
                </a:solidFill>
                <a:latin typeface="Segoe UI"/>
              </a:rPr>
              <a:t>The data is published nationally, anonymised at source, and covers the reporting years 2016/17 to 2018/19 in our build.</a:t>
            </a:r>
          </a:p>
          <a:p>
            <a:pPr algn="l">
              <a:spcAft>
                <a:spcPts val="600"/>
              </a:spcAft>
            </a:pPr>
            <a:r>
              <a:rPr sz="1300" b="0" i="0">
                <a:solidFill>
                  <a:srgbClr val="232323"/>
                </a:solidFill>
                <a:latin typeface="Segoe UI"/>
              </a:rPr>
              <a:t>One row is one operation (an “episode”).</a:t>
            </a:r>
          </a:p>
        </p:txBody>
      </p:sp>
      <p:sp>
        <p:nvSpPr>
          <p:cNvPr id="6" name="Rounded Rectangle 5"/>
          <p:cNvSpPr/>
          <p:nvPr/>
        </p:nvSpPr>
        <p:spPr>
          <a:xfrm>
            <a:off x="441045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9333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Where it lives in Fabric</a:t>
            </a:r>
          </a:p>
          <a:p>
            <a:pPr algn="l">
              <a:spcAft>
                <a:spcPts val="600"/>
              </a:spcAft>
            </a:pPr>
            <a:r>
              <a:rPr sz="1300" b="0" i="0">
                <a:solidFill>
                  <a:srgbClr val="232323"/>
                </a:solidFill>
                <a:latin typeface="Segoe UI"/>
              </a:rPr>
              <a:t>Lakehouse NHS_PROMs_LH, as Delta tables:</a:t>
            </a:r>
          </a:p>
          <a:p>
            <a:pPr algn="l">
              <a:spcAft>
                <a:spcPts val="600"/>
              </a:spcAft>
            </a:pPr>
            <a:r>
              <a:rPr sz="1300" b="0" i="0">
                <a:solidFill>
                  <a:srgbClr val="232323"/>
                </a:solidFill>
                <a:latin typeface="Segoe UI"/>
              </a:rPr>
              <a:t>•  bronze — the raw CSV files as delivered</a:t>
            </a:r>
          </a:p>
          <a:p>
            <a:pPr algn="l">
              <a:spcAft>
                <a:spcPts val="600"/>
              </a:spcAft>
            </a:pPr>
            <a:r>
              <a:rPr sz="1300" b="0" i="0">
                <a:solidFill>
                  <a:srgbClr val="232323"/>
                </a:solidFill>
                <a:latin typeface="Segoe UI"/>
              </a:rPr>
              <a:t>•  silver.knee_episode — renamed, typed, cleaned</a:t>
            </a:r>
          </a:p>
          <a:p>
            <a:pPr algn="l">
              <a:spcAft>
                <a:spcPts val="600"/>
              </a:spcAft>
            </a:pPr>
            <a:r>
              <a:rPr sz="1300" b="0" i="0">
                <a:solidFill>
                  <a:srgbClr val="232323"/>
                </a:solidFill>
                <a:latin typeface="Segoe UI"/>
              </a:rPr>
              <a:t>•  gold.knee_features — one row per episode, model-ready</a:t>
            </a:r>
          </a:p>
          <a:p>
            <a:pPr algn="l">
              <a:spcAft>
                <a:spcPts val="600"/>
              </a:spcAft>
            </a:pPr>
            <a:r>
              <a:rPr sz="1300" b="0" i="0">
                <a:solidFill>
                  <a:srgbClr val="232323"/>
                </a:solidFill>
                <a:latin typeface="Segoe UI"/>
              </a:rPr>
              <a:t>Every table version is kept, so a training run can point at the exact version it used.</a:t>
            </a:r>
          </a:p>
        </p:txBody>
      </p:sp>
      <p:sp>
        <p:nvSpPr>
          <p:cNvPr id="8" name="Rounded Rectangle 7"/>
          <p:cNvSpPr/>
          <p:nvPr/>
        </p:nvSpPr>
        <p:spPr>
          <a:xfrm>
            <a:off x="800709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8997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How big</a:t>
            </a:r>
          </a:p>
          <a:p>
            <a:pPr algn="l">
              <a:spcAft>
                <a:spcPts val="600"/>
              </a:spcAft>
            </a:pPr>
            <a:r>
              <a:rPr sz="1300" b="1" i="0">
                <a:solidFill>
                  <a:srgbClr val="232323"/>
                </a:solidFill>
                <a:latin typeface="Segoe UI"/>
              </a:rPr>
              <a:t>129,983 episodes with a known six-month outcome</a:t>
            </a:r>
          </a:p>
          <a:p>
            <a:pPr algn="l">
              <a:spcAft>
                <a:spcPts val="600"/>
              </a:spcAft>
            </a:pPr>
            <a:r>
              <a:rPr sz="1300" b="1" i="0">
                <a:solidFill>
                  <a:srgbClr val="232323"/>
                </a:solidFill>
                <a:latin typeface="Segoe UI"/>
              </a:rPr>
              <a:t>103,986 used for training, 25,997 held back for testing</a:t>
            </a:r>
          </a:p>
          <a:p>
            <a:pPr algn="l">
              <a:spcAft>
                <a:spcPts val="600"/>
              </a:spcAft>
            </a:pPr>
            <a:r>
              <a:rPr sz="1300" b="0" i="0">
                <a:solidFill>
                  <a:srgbClr val="232323"/>
                </a:solidFill>
                <a:latin typeface="Segoe UI"/>
              </a:rPr>
              <a:t>59 features after encoding, from 79 supplied columns</a:t>
            </a:r>
          </a:p>
          <a:p>
            <a:pPr algn="l">
              <a:spcAft>
                <a:spcPts val="400"/>
              </a:spcAft>
            </a:pPr>
            <a:r>
              <a:rPr sz="1100" b="0" i="0">
                <a:solidFill>
                  <a:srgbClr val="44536A"/>
                </a:solidFill>
                <a:latin typeface="Segoe UI"/>
              </a:rPr>
              <a:t>Figures from the training run on gold.knee_features, Delta version 51.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the patient tells us before surgery</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variables in the questionnaire, grouped. All of these are known before the decision to operate.</a:t>
            </a:r>
          </a:p>
        </p:txBody>
      </p:sp>
      <p:graphicFrame>
        <p:nvGraphicFramePr>
          <p:cNvPr id="4" name="Table 3"/>
          <p:cNvGraphicFramePr>
            <a:graphicFrameLocks noGrp="1"/>
          </p:cNvGraphicFramePr>
          <p:nvPr/>
        </p:nvGraphicFramePr>
        <p:xfrm>
          <a:off x="813816" y="1691640"/>
          <a:ext cx="10561319" cy="3968496"/>
        </p:xfrm>
        <a:graphic>
          <a:graphicData uri="http://schemas.openxmlformats.org/drawingml/2006/table">
            <a:tbl>
              <a:tblPr firstRow="0" bandRow="0">
                <a:tableStyleId>{5C22544A-7EE6-4342-B048-85BDC9FD1C3A}</a:tableStyleId>
              </a:tblPr>
              <a:tblGrid>
                <a:gridCol w="2011680"/>
                <a:gridCol w="5120640"/>
                <a:gridCol w="3428999"/>
              </a:tblGrid>
              <a:tr h="566928">
                <a:tc>
                  <a:txBody>
                    <a:bodyPr wrap="square"/>
                    <a:lstStyle/>
                    <a:p>
                      <a:r>
                        <a:rPr sz="1100" b="1" i="0">
                          <a:solidFill>
                            <a:srgbClr val="FFFFFF"/>
                          </a:solidFill>
                          <a:latin typeface="Segoe UI"/>
                        </a:rPr>
                        <a:t>Group</a:t>
                      </a:r>
                    </a:p>
                  </a:txBody>
                  <a:tcPr marL="73152" marR="73152" marT="36576" marB="36576" anchor="ctr">
                    <a:solidFill>
                      <a:srgbClr val="003E34"/>
                    </a:solidFill>
                  </a:tcPr>
                </a:tc>
                <a:tc>
                  <a:txBody>
                    <a:bodyPr wrap="square"/>
                    <a:lstStyle/>
                    <a:p>
                      <a:r>
                        <a:rPr sz="1100" b="1" i="0">
                          <a:solidFill>
                            <a:srgbClr val="FFFFFF"/>
                          </a:solidFill>
                          <a:latin typeface="Segoe UI"/>
                        </a:rPr>
                        <a:t>What it is</a:t>
                      </a:r>
                    </a:p>
                  </a:txBody>
                  <a:tcPr marL="73152" marR="73152" marT="36576" marB="36576" anchor="ctr">
                    <a:solidFill>
                      <a:srgbClr val="003E34"/>
                    </a:solidFill>
                  </a:tcPr>
                </a:tc>
                <a:tc>
                  <a:txBody>
                    <a:bodyPr wrap="square"/>
                    <a:lstStyle/>
                    <a:p>
                      <a:r>
                        <a:rPr sz="1100" b="1" i="0">
                          <a:solidFill>
                            <a:srgbClr val="FFFFFF"/>
                          </a:solidFill>
                          <a:latin typeface="Segoe UI"/>
                        </a:rPr>
                        <a:t>What it looks like in the data</a:t>
                      </a:r>
                    </a:p>
                  </a:txBody>
                  <a:tcPr marL="73152" marR="73152" marT="36576" marB="36576" anchor="ctr">
                    <a:solidFill>
                      <a:srgbClr val="003E34"/>
                    </a:solidFill>
                  </a:tcPr>
                </a:tc>
              </a:tr>
              <a:tr h="566928">
                <a:tc>
                  <a:txBody>
                    <a:bodyPr wrap="square"/>
                    <a:lstStyle/>
                    <a:p>
                      <a:r>
                        <a:rPr sz="1100" b="1" i="0">
                          <a:solidFill>
                            <a:srgbClr val="232323"/>
                          </a:solidFill>
                          <a:latin typeface="Segoe UI"/>
                        </a:rPr>
                        <a:t>Oxford Knee Score (OKS)</a:t>
                      </a:r>
                    </a:p>
                  </a:txBody>
                  <a:tcPr marL="73152" marR="73152" marT="36576" marB="36576" anchor="ctr">
                    <a:solidFill>
                      <a:srgbClr val="FFFFFF"/>
                    </a:solidFill>
                  </a:tcPr>
                </a:tc>
                <a:tc>
                  <a:txBody>
                    <a:bodyPr wrap="square"/>
                    <a:lstStyle/>
                    <a:p>
                      <a:r>
                        <a:rPr sz="1100" b="0" i="0">
                          <a:solidFill>
                            <a:srgbClr val="232323"/>
                          </a:solidFill>
                          <a:latin typeface="Segoe UI"/>
                        </a:rPr>
                        <a:t>12 questions about knee pain and what the patient can do (walking, stairs, washing, kneeling, work…). Each answer scores 0–4. Total 0–48; lower is worse.</a:t>
                      </a:r>
                    </a:p>
                  </a:txBody>
                  <a:tcPr marL="73152" marR="73152" marT="36576" marB="36576" anchor="ctr">
                    <a:solidFill>
                      <a:srgbClr val="FFFFFF"/>
                    </a:solidFill>
                  </a:tcPr>
                </a:tc>
                <a:tc>
                  <a:txBody>
                    <a:bodyPr wrap="square"/>
                    <a:lstStyle/>
                    <a:p>
                      <a:r>
                        <a:rPr sz="1100" b="0" i="0">
                          <a:solidFill>
                            <a:srgbClr val="232323"/>
                          </a:solidFill>
                          <a:latin typeface="Segoe UI"/>
                        </a:rPr>
                        <a:t>oks_t0_score 0–48, plus three sub-scores: pain (0–8), function (0–24), daily activities (0–16)</a:t>
                      </a:r>
                    </a:p>
                  </a:txBody>
                  <a:tcPr marL="73152" marR="73152" marT="36576" marB="36576" anchor="ctr">
                    <a:solidFill>
                      <a:srgbClr val="FFFFFF"/>
                    </a:solidFill>
                  </a:tcPr>
                </a:tc>
              </a:tr>
              <a:tr h="566928">
                <a:tc>
                  <a:txBody>
                    <a:bodyPr wrap="square"/>
                    <a:lstStyle/>
                    <a:p>
                      <a:r>
                        <a:rPr sz="1100" b="1" i="0">
                          <a:solidFill>
                            <a:srgbClr val="232323"/>
                          </a:solidFill>
                          <a:latin typeface="Segoe UI"/>
                        </a:rPr>
                        <a:t>EQ-5D-3L</a:t>
                      </a:r>
                    </a:p>
                  </a:txBody>
                  <a:tcPr marL="73152" marR="73152" marT="36576" marB="36576" anchor="ctr">
                    <a:solidFill>
                      <a:srgbClr val="F6F8F7"/>
                    </a:solidFill>
                  </a:tcPr>
                </a:tc>
                <a:tc>
                  <a:txBody>
                    <a:bodyPr wrap="square"/>
                    <a:lstStyle/>
                    <a:p>
                      <a:r>
                        <a:rPr sz="1100" b="0" i="0">
                          <a:solidFill>
                            <a:srgbClr val="232323"/>
                          </a:solidFill>
                          <a:latin typeface="Segoe UI"/>
                        </a:rPr>
                        <a:t>A general health questionnaire. Five areas: mobility, self-care, usual activities, pain or discomfort, anxiety or depression. Each has three levels: no problems, some problems, severe problems.</a:t>
                      </a:r>
                    </a:p>
                  </a:txBody>
                  <a:tcPr marL="73152" marR="73152" marT="36576" marB="36576" anchor="ctr">
                    <a:solidFill>
                      <a:srgbClr val="F6F8F7"/>
                    </a:solidFill>
                  </a:tcPr>
                </a:tc>
                <a:tc>
                  <a:txBody>
                    <a:bodyPr wrap="square"/>
                    <a:lstStyle/>
                    <a:p>
                      <a:r>
                        <a:rPr sz="1100" b="0" i="0">
                          <a:solidFill>
                            <a:srgbClr val="232323"/>
                          </a:solidFill>
                          <a:latin typeface="Segoe UI"/>
                        </a:rPr>
                        <a:t>Five columns coded 1, 2 or 3</a:t>
                      </a:r>
                    </a:p>
                  </a:txBody>
                  <a:tcPr marL="73152" marR="73152" marT="36576" marB="36576" anchor="ctr">
                    <a:solidFill>
                      <a:srgbClr val="F6F8F7"/>
                    </a:solidFill>
                  </a:tcPr>
                </a:tc>
              </a:tr>
              <a:tr h="566928">
                <a:tc>
                  <a:txBody>
                    <a:bodyPr wrap="square"/>
                    <a:lstStyle/>
                    <a:p>
                      <a:r>
                        <a:rPr sz="1100" b="1" i="0">
                          <a:solidFill>
                            <a:srgbClr val="232323"/>
                          </a:solidFill>
                          <a:latin typeface="Segoe UI"/>
                        </a:rPr>
                        <a:t>Long-term conditions</a:t>
                      </a:r>
                    </a:p>
                  </a:txBody>
                  <a:tcPr marL="73152" marR="73152" marT="36576" marB="36576" anchor="ctr">
                    <a:solidFill>
                      <a:srgbClr val="FFFFFF"/>
                    </a:solidFill>
                  </a:tcPr>
                </a:tc>
                <a:tc>
                  <a:txBody>
                    <a:bodyPr wrap="square"/>
                    <a:lstStyle/>
                    <a:p>
                      <a:r>
                        <a:rPr sz="1100" b="0" i="0">
                          <a:solidFill>
                            <a:srgbClr val="232323"/>
                          </a:solidFill>
                          <a:latin typeface="Segoe UI"/>
                        </a:rPr>
                        <a:t>12 yes/no questions: heart disease, high blood pressure, stroke, circulation problems, lung disease, diabetes, kidney disease, nervous system disease, liver disease, cancer, depression, arthritis.</a:t>
                      </a:r>
                    </a:p>
                  </a:txBody>
                  <a:tcPr marL="73152" marR="73152" marT="36576" marB="36576" anchor="ctr">
                    <a:solidFill>
                      <a:srgbClr val="FFFFFF"/>
                    </a:solidFill>
                  </a:tcPr>
                </a:tc>
                <a:tc>
                  <a:txBody>
                    <a:bodyPr wrap="square"/>
                    <a:lstStyle/>
                    <a:p>
                      <a:r>
                        <a:rPr sz="1100" b="0" i="0">
                          <a:solidFill>
                            <a:srgbClr val="232323"/>
                          </a:solidFill>
                          <a:latin typeface="Segoe UI"/>
                        </a:rPr>
                        <a:t>12 flags, and comorbidity_count (0–12)</a:t>
                      </a:r>
                    </a:p>
                  </a:txBody>
                  <a:tcPr marL="73152" marR="73152" marT="36576" marB="36576" anchor="ctr">
                    <a:solidFill>
                      <a:srgbClr val="FFFFFF"/>
                    </a:solidFill>
                  </a:tcPr>
                </a:tc>
              </a:tr>
              <a:tr h="566928">
                <a:tc>
                  <a:txBody>
                    <a:bodyPr wrap="square"/>
                    <a:lstStyle/>
                    <a:p>
                      <a:r>
                        <a:rPr sz="1100" b="1" i="0">
                          <a:solidFill>
                            <a:srgbClr val="232323"/>
                          </a:solidFill>
                          <a:latin typeface="Segoe UI"/>
                        </a:rPr>
                        <a:t>About the patient</a:t>
                      </a:r>
                    </a:p>
                  </a:txBody>
                  <a:tcPr marL="73152" marR="73152" marT="36576" marB="36576" anchor="ctr">
                    <a:solidFill>
                      <a:srgbClr val="F6F8F7"/>
                    </a:solidFill>
                  </a:tcPr>
                </a:tc>
                <a:tc>
                  <a:txBody>
                    <a:bodyPr wrap="square"/>
                    <a:lstStyle/>
                    <a:p>
                      <a:r>
                        <a:rPr sz="1100" b="0" i="0">
                          <a:solidFill>
                            <a:srgbClr val="232323"/>
                          </a:solidFill>
                          <a:latin typeface="Segoe UI"/>
                        </a:rPr>
                        <a:t>Age band, sex, how long the knee has hurt, previous surgery on this knee, living arrangements, disability, whether someone helped fill in the form.</a:t>
                      </a:r>
                    </a:p>
                  </a:txBody>
                  <a:tcPr marL="73152" marR="73152" marT="36576" marB="36576" anchor="ctr">
                    <a:solidFill>
                      <a:srgbClr val="F6F8F7"/>
                    </a:solidFill>
                  </a:tcPr>
                </a:tc>
                <a:tc>
                  <a:txBody>
                    <a:bodyPr wrap="square"/>
                    <a:lstStyle/>
                    <a:p>
                      <a:r>
                        <a:rPr sz="1100" b="0" i="0">
                          <a:solidFill>
                            <a:srgbClr val="232323"/>
                          </a:solidFill>
                          <a:latin typeface="Segoe UI"/>
                        </a:rPr>
                        <a:t>Age band and sex are “not recorded” where NHS suppressed them</a:t>
                      </a:r>
                    </a:p>
                  </a:txBody>
                  <a:tcPr marL="73152" marR="73152" marT="36576" marB="36576" anchor="ctr">
                    <a:solidFill>
                      <a:srgbClr val="F6F8F7"/>
                    </a:solidFill>
                  </a:tcPr>
                </a:tc>
              </a:tr>
              <a:tr h="566928">
                <a:tc>
                  <a:txBody>
                    <a:bodyPr wrap="square"/>
                    <a:lstStyle/>
                    <a:p>
                      <a:r>
                        <a:rPr sz="1100" b="1" i="0">
                          <a:solidFill>
                            <a:srgbClr val="232323"/>
                          </a:solidFill>
                          <a:latin typeface="Segoe UI"/>
                        </a:rPr>
                        <a:t>The hospital</a:t>
                      </a:r>
                    </a:p>
                  </a:txBody>
                  <a:tcPr marL="73152" marR="73152" marT="36576" marB="36576" anchor="ctr">
                    <a:solidFill>
                      <a:srgbClr val="FFFFFF"/>
                    </a:solidFill>
                  </a:tcPr>
                </a:tc>
                <a:tc>
                  <a:txBody>
                    <a:bodyPr wrap="square"/>
                    <a:lstStyle/>
                    <a:p>
                      <a:r>
                        <a:rPr sz="1100" b="0" i="0">
                          <a:solidFill>
                            <a:srgbClr val="232323"/>
                          </a:solidFill>
                          <a:latin typeface="Segoe UI"/>
                        </a:rPr>
                        <a:t>Which provider operated; teaching hospital or not; NHS trust or independent sector; region.</a:t>
                      </a:r>
                    </a:p>
                  </a:txBody>
                  <a:tcPr marL="73152" marR="73152" marT="36576" marB="36576" anchor="ctr">
                    <a:solidFill>
                      <a:srgbClr val="FFFFFF"/>
                    </a:solidFill>
                  </a:tcPr>
                </a:tc>
                <a:tc>
                  <a:txBody>
                    <a:bodyPr wrap="square"/>
                    <a:lstStyle/>
                    <a:p>
                      <a:r>
                        <a:rPr sz="1100" b="0" i="0">
                          <a:solidFill>
                            <a:srgbClr val="232323"/>
                          </a:solidFill>
                          <a:latin typeface="Segoe UI"/>
                        </a:rPr>
                        <a:t>From the provider dimension table</a:t>
                      </a:r>
                    </a:p>
                  </a:txBody>
                  <a:tcPr marL="73152" marR="73152" marT="36576" marB="36576" anchor="ctr">
                    <a:solidFill>
                      <a:srgbClr val="FFFFFF"/>
                    </a:solidFill>
                  </a:tcPr>
                </a:tc>
              </a:tr>
              <a:tr h="566928">
                <a:tc>
                  <a:txBody>
                    <a:bodyPr wrap="square"/>
                    <a:lstStyle/>
                    <a:p>
                      <a:r>
                        <a:rPr sz="1100" b="1" i="0">
                          <a:solidFill>
                            <a:srgbClr val="232323"/>
                          </a:solidFill>
                          <a:latin typeface="Segoe UI"/>
                        </a:rPr>
                        <a:t>After surgery (not a feature)</a:t>
                      </a:r>
                    </a:p>
                  </a:txBody>
                  <a:tcPr marL="73152" marR="73152" marT="36576" marB="36576" anchor="ctr">
                    <a:solidFill>
                      <a:srgbClr val="F6F8F7"/>
                    </a:solidFill>
                  </a:tcPr>
                </a:tc>
                <a:tc>
                  <a:txBody>
                    <a:bodyPr wrap="square"/>
                    <a:lstStyle/>
                    <a:p>
                      <a:r>
                        <a:rPr sz="1100" b="0" i="0">
                          <a:solidFill>
                            <a:srgbClr val="232323"/>
                          </a:solidFill>
                          <a:latin typeface="Segoe UI"/>
                        </a:rPr>
                        <a:t>OKS and EQ-5D six months later, satisfaction, success. Used only to build the outcome label — never as an input to the model.</a:t>
                      </a:r>
                    </a:p>
                  </a:txBody>
                  <a:tcPr marL="73152" marR="73152" marT="36576" marB="36576" anchor="ctr">
                    <a:solidFill>
                      <a:srgbClr val="F6F8F7"/>
                    </a:solidFill>
                  </a:tcPr>
                </a:tc>
                <a:tc>
                  <a:txBody>
                    <a:bodyPr wrap="square"/>
                    <a:lstStyle/>
                    <a:p>
                      <a:r>
                        <a:rPr sz="1100" b="0" i="0">
                          <a:solidFill>
                            <a:srgbClr val="232323"/>
                          </a:solidFill>
                          <a:latin typeface="Segoe UI"/>
                        </a:rPr>
                        <a:t>oks_t1_score, oks_delta</a:t>
                      </a:r>
                    </a:p>
                  </a:txBody>
                  <a:tcPr marL="73152" marR="73152" marT="36576" marB="36576" anchor="ctr">
                    <a:solidFill>
                      <a:srgbClr val="F6F8F7"/>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Supervised learning, in one picture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words the rest of the session uses: features, label, training set, test set, prediction, cut-off.</a:t>
            </a:r>
          </a:p>
        </p:txBody>
      </p:sp>
      <p:sp>
        <p:nvSpPr>
          <p:cNvPr id="4" name="Rounded Rectangle 3"/>
          <p:cNvSpPr/>
          <p:nvPr/>
        </p:nvSpPr>
        <p:spPr>
          <a:xfrm>
            <a:off x="813816" y="1783080"/>
            <a:ext cx="2377440" cy="1920240"/>
          </a:xfrm>
          <a:prstGeom prst="roundRect">
            <a:avLst>
              <a:gd name="adj" fmla="val 5000"/>
            </a:avLst>
          </a:prstGeom>
          <a:solidFill>
            <a:srgbClr val="E4EFEB"/>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929384"/>
            <a:ext cx="2011680" cy="15910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INPUTS · FEATURES</a:t>
            </a:r>
          </a:p>
          <a:p>
            <a:pPr algn="l">
              <a:spcAft>
                <a:spcPts val="400"/>
              </a:spcAft>
            </a:pPr>
            <a:r>
              <a:rPr sz="1600" b="1" i="0">
                <a:solidFill>
                  <a:srgbClr val="003E34"/>
                </a:solidFill>
                <a:latin typeface="Segoe UI"/>
              </a:rPr>
              <a:t>Pre-operative record</a:t>
            </a:r>
          </a:p>
          <a:p>
            <a:pPr algn="l">
              <a:spcAft>
                <a:spcPts val="600"/>
              </a:spcAft>
            </a:pPr>
            <a:r>
              <a:rPr sz="1300" b="0" i="0">
                <a:solidFill>
                  <a:srgbClr val="232323"/>
                </a:solidFill>
                <a:latin typeface="Segoe UI"/>
              </a:rPr>
              <a:t>Everything from the questionnaire before surgery. About 20 columns.</a:t>
            </a:r>
          </a:p>
        </p:txBody>
      </p:sp>
      <p:sp>
        <p:nvSpPr>
          <p:cNvPr id="6" name="TextBox 5"/>
          <p:cNvSpPr txBox="1"/>
          <p:nvPr/>
        </p:nvSpPr>
        <p:spPr>
          <a:xfrm>
            <a:off x="3172968" y="251460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7" name="Rounded Rectangle 6"/>
          <p:cNvSpPr/>
          <p:nvPr/>
        </p:nvSpPr>
        <p:spPr>
          <a:xfrm>
            <a:off x="3538728" y="1783080"/>
            <a:ext cx="2377440" cy="1920240"/>
          </a:xfrm>
          <a:prstGeom prst="roundRect">
            <a:avLst>
              <a:gd name="adj" fmla="val 5000"/>
            </a:avLst>
          </a:prstGeom>
          <a:solidFill>
            <a:srgbClr val="003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721608" y="1929384"/>
            <a:ext cx="2011680" cy="1591056"/>
          </a:xfrm>
          <a:prstGeom prst="rect">
            <a:avLst/>
          </a:prstGeom>
          <a:noFill/>
        </p:spPr>
        <p:txBody>
          <a:bodyPr wrap="square" anchor="t" lIns="27432" rIns="27432" tIns="18288" bIns="18288">
            <a:spAutoFit/>
          </a:bodyPr>
          <a:lstStyle/>
          <a:p>
            <a:pPr algn="l">
              <a:spcAft>
                <a:spcPts val="300"/>
              </a:spcAft>
            </a:pPr>
            <a:r>
              <a:rPr sz="1100" b="1" i="0">
                <a:solidFill>
                  <a:srgbClr val="BFD9D2"/>
                </a:solidFill>
                <a:latin typeface="Segoe UI"/>
              </a:rPr>
              <a:t>MODEL · LEARNED FROM HISTORY</a:t>
            </a:r>
          </a:p>
          <a:p>
            <a:pPr algn="l">
              <a:spcAft>
                <a:spcPts val="400"/>
              </a:spcAft>
            </a:pPr>
            <a:r>
              <a:rPr sz="1600" b="1" i="0">
                <a:solidFill>
                  <a:srgbClr val="FFFFFF"/>
                </a:solidFill>
                <a:latin typeface="Segoe UI"/>
              </a:rPr>
              <a:t>A function of the features</a:t>
            </a:r>
          </a:p>
          <a:p>
            <a:pPr algn="l">
              <a:spcAft>
                <a:spcPts val="600"/>
              </a:spcAft>
            </a:pPr>
            <a:r>
              <a:rPr sz="1300" b="0" i="0">
                <a:solidFill>
                  <a:srgbClr val="FFFFFF"/>
                </a:solidFill>
                <a:latin typeface="Segoe UI"/>
              </a:rPr>
              <a:t>Fitted on past patients whose outcome is known. Learns which patterns went with a poor result.</a:t>
            </a:r>
          </a:p>
        </p:txBody>
      </p:sp>
      <p:sp>
        <p:nvSpPr>
          <p:cNvPr id="9" name="TextBox 8"/>
          <p:cNvSpPr txBox="1"/>
          <p:nvPr/>
        </p:nvSpPr>
        <p:spPr>
          <a:xfrm>
            <a:off x="5897880" y="251460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10" name="Rounded Rectangle 9"/>
          <p:cNvSpPr/>
          <p:nvPr/>
        </p:nvSpPr>
        <p:spPr>
          <a:xfrm>
            <a:off x="6263640" y="1783080"/>
            <a:ext cx="2377440" cy="192024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46520" y="1929384"/>
            <a:ext cx="2011680" cy="15910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OUTPUT · PREDICTION</a:t>
            </a:r>
          </a:p>
          <a:p>
            <a:pPr algn="l">
              <a:spcAft>
                <a:spcPts val="400"/>
              </a:spcAft>
            </a:pPr>
            <a:r>
              <a:rPr sz="1600" b="1" i="0">
                <a:solidFill>
                  <a:srgbClr val="003E34"/>
                </a:solidFill>
                <a:latin typeface="Segoe UI"/>
              </a:rPr>
              <a:t>A probability</a:t>
            </a:r>
          </a:p>
          <a:p>
            <a:pPr algn="l">
              <a:spcAft>
                <a:spcPts val="600"/>
              </a:spcAft>
            </a:pPr>
            <a:r>
              <a:rPr sz="1300" b="0" i="0">
                <a:solidFill>
                  <a:srgbClr val="232323"/>
                </a:solidFill>
                <a:latin typeface="Segoe UI"/>
              </a:rPr>
              <a:t>For a new patient: the chance of a poor outcome, for example 0.63.</a:t>
            </a:r>
          </a:p>
        </p:txBody>
      </p:sp>
      <p:sp>
        <p:nvSpPr>
          <p:cNvPr id="12" name="TextBox 11"/>
          <p:cNvSpPr txBox="1"/>
          <p:nvPr/>
        </p:nvSpPr>
        <p:spPr>
          <a:xfrm>
            <a:off x="8622792" y="251460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13" name="Rounded Rectangle 12"/>
          <p:cNvSpPr/>
          <p:nvPr/>
        </p:nvSpPr>
        <p:spPr>
          <a:xfrm>
            <a:off x="8988552" y="1783080"/>
            <a:ext cx="2377440" cy="1920240"/>
          </a:xfrm>
          <a:prstGeom prst="roundRect">
            <a:avLst>
              <a:gd name="adj" fmla="val 5000"/>
            </a:avLst>
          </a:prstGeom>
          <a:solidFill>
            <a:srgbClr val="FBF5E6"/>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71432" y="1929384"/>
            <a:ext cx="2011680" cy="15910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DECISION · CUT-OFF</a:t>
            </a:r>
          </a:p>
          <a:p>
            <a:pPr algn="l">
              <a:spcAft>
                <a:spcPts val="400"/>
              </a:spcAft>
            </a:pPr>
            <a:r>
              <a:rPr sz="1600" b="1" i="0">
                <a:solidFill>
                  <a:srgbClr val="003E34"/>
                </a:solidFill>
                <a:latin typeface="Segoe UI"/>
              </a:rPr>
              <a:t>Flag, or not</a:t>
            </a:r>
          </a:p>
          <a:p>
            <a:pPr algn="l">
              <a:spcAft>
                <a:spcPts val="600"/>
              </a:spcAft>
            </a:pPr>
            <a:r>
              <a:rPr sz="1300" b="0" i="0">
                <a:solidFill>
                  <a:srgbClr val="232323"/>
                </a:solidFill>
                <a:latin typeface="Segoe UI"/>
              </a:rPr>
              <a:t>If the probability is above a chosen cut-off, the patient is flagged for review. The cut-off is a service choice.</a:t>
            </a:r>
          </a:p>
        </p:txBody>
      </p:sp>
      <p:sp>
        <p:nvSpPr>
          <p:cNvPr id="15" name="Rounded Rectangle 14"/>
          <p:cNvSpPr/>
          <p:nvPr/>
        </p:nvSpPr>
        <p:spPr>
          <a:xfrm>
            <a:off x="813816" y="3977639"/>
            <a:ext cx="3368040" cy="1600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6696" y="4123944"/>
            <a:ext cx="3002280" cy="1271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LABEL · WHAT WE PREDICT</a:t>
            </a:r>
          </a:p>
          <a:p>
            <a:pPr algn="l">
              <a:spcAft>
                <a:spcPts val="600"/>
              </a:spcAft>
            </a:pPr>
            <a:r>
              <a:rPr sz="1300" b="0" i="0">
                <a:solidFill>
                  <a:srgbClr val="232323"/>
                </a:solidFill>
                <a:latin typeface="Segoe UI"/>
              </a:rPr>
              <a:t>outcome_label = 1 if the six-month gain is 7 points or fewer, else 0. Known for past patients, unknown for the one in front of you.</a:t>
            </a:r>
          </a:p>
        </p:txBody>
      </p:sp>
      <p:sp>
        <p:nvSpPr>
          <p:cNvPr id="17" name="Rounded Rectangle 16"/>
          <p:cNvSpPr/>
          <p:nvPr/>
        </p:nvSpPr>
        <p:spPr>
          <a:xfrm>
            <a:off x="4410456" y="3977639"/>
            <a:ext cx="3368040" cy="1600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93336" y="4123944"/>
            <a:ext cx="3002280" cy="1271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TRAINING SET · TEST SET</a:t>
            </a:r>
          </a:p>
          <a:p>
            <a:pPr algn="l">
              <a:spcAft>
                <a:spcPts val="600"/>
              </a:spcAft>
            </a:pPr>
            <a:r>
              <a:rPr sz="1300" b="0" i="0">
                <a:solidFill>
                  <a:srgbClr val="232323"/>
                </a:solidFill>
                <a:latin typeface="Segoe UI"/>
              </a:rPr>
              <a:t>Fit on 80% of the labelled history; measure on the 20% held out. The test set is the only honest estimate of how it will do on new patients.</a:t>
            </a:r>
          </a:p>
        </p:txBody>
      </p:sp>
      <p:sp>
        <p:nvSpPr>
          <p:cNvPr id="19" name="Rounded Rectangle 18"/>
          <p:cNvSpPr/>
          <p:nvPr/>
        </p:nvSpPr>
        <p:spPr>
          <a:xfrm>
            <a:off x="8007096" y="3977639"/>
            <a:ext cx="3368040" cy="1600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89976" y="4123944"/>
            <a:ext cx="3002280" cy="1271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WHY “SUPERVISED”</a:t>
            </a:r>
          </a:p>
          <a:p>
            <a:pPr algn="l">
              <a:spcAft>
                <a:spcPts val="600"/>
              </a:spcAft>
            </a:pPr>
            <a:r>
              <a:rPr sz="1300" b="0" i="0">
                <a:solidFill>
                  <a:srgbClr val="232323"/>
                </a:solidFill>
                <a:latin typeface="Segoe UI"/>
              </a:rPr>
              <a:t>Every training row comes with its answer. The model is supervised by history, then judged on data it never saw.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Regression or classification?</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Both are supervised learning. The difference is what comes out.</a:t>
            </a:r>
          </a:p>
        </p:txBody>
      </p:sp>
      <p:sp>
        <p:nvSpPr>
          <p:cNvPr id="4" name="Rounded Rectangle 3"/>
          <p:cNvSpPr/>
          <p:nvPr/>
        </p:nvSpPr>
        <p:spPr>
          <a:xfrm>
            <a:off x="813816" y="1737360"/>
            <a:ext cx="5166360" cy="30175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268833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REGRESSION</a:t>
            </a:r>
          </a:p>
          <a:p>
            <a:pPr algn="l">
              <a:spcAft>
                <a:spcPts val="400"/>
              </a:spcAft>
            </a:pPr>
            <a:r>
              <a:rPr sz="1600" b="1" i="0">
                <a:solidFill>
                  <a:srgbClr val="003E34"/>
                </a:solidFill>
                <a:latin typeface="Segoe UI"/>
              </a:rPr>
              <a:t>Predict a number</a:t>
            </a:r>
          </a:p>
          <a:p>
            <a:pPr algn="l">
              <a:spcAft>
                <a:spcPts val="600"/>
              </a:spcAft>
            </a:pPr>
            <a:r>
              <a:rPr sz="1300" b="0" i="0">
                <a:solidFill>
                  <a:srgbClr val="232323"/>
                </a:solidFill>
                <a:latin typeface="Segoe UI"/>
              </a:rPr>
              <a:t>“How many points will this patient’s Oxford Knee Score improve?”</a:t>
            </a:r>
          </a:p>
          <a:p>
            <a:pPr algn="l">
              <a:spcAft>
                <a:spcPts val="600"/>
              </a:spcAft>
            </a:pPr>
            <a:r>
              <a:rPr sz="1300" b="0" i="0">
                <a:solidFill>
                  <a:srgbClr val="232323"/>
                </a:solidFill>
                <a:latin typeface="Segoe UI"/>
              </a:rPr>
              <a:t>Output: a number, for example +9 points.</a:t>
            </a:r>
          </a:p>
          <a:p>
            <a:pPr algn="l">
              <a:spcAft>
                <a:spcPts val="600"/>
              </a:spcAft>
            </a:pPr>
            <a:r>
              <a:rPr sz="1300" b="0" i="0">
                <a:solidFill>
                  <a:srgbClr val="232323"/>
                </a:solidFill>
                <a:latin typeface="Segoe UI"/>
              </a:rPr>
              <a:t>Judged by how far off the number is, on average.</a:t>
            </a:r>
          </a:p>
        </p:txBody>
      </p:sp>
      <p:sp>
        <p:nvSpPr>
          <p:cNvPr id="6" name="Rounded Rectangle 5"/>
          <p:cNvSpPr/>
          <p:nvPr/>
        </p:nvSpPr>
        <p:spPr>
          <a:xfrm>
            <a:off x="6208776" y="1737360"/>
            <a:ext cx="5166360" cy="301752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2688336"/>
          </a:xfrm>
          <a:prstGeom prst="rect">
            <a:avLst/>
          </a:prstGeom>
          <a:noFill/>
        </p:spPr>
        <p:txBody>
          <a:bodyPr wrap="square" anchor="t" lIns="27432" rIns="27432" tIns="18288" bIns="18288">
            <a:spAutoFit/>
          </a:bodyPr>
          <a:lstStyle/>
          <a:p>
            <a:pPr algn="l">
              <a:spcAft>
                <a:spcPts val="300"/>
              </a:spcAft>
            </a:pPr>
            <a:r>
              <a:rPr sz="1100" b="1" i="0">
                <a:solidFill>
                  <a:srgbClr val="003E34"/>
                </a:solidFill>
                <a:latin typeface="Segoe UI"/>
              </a:rPr>
              <a:t>CLASSIFICATION · WHAT WE DO</a:t>
            </a:r>
          </a:p>
          <a:p>
            <a:pPr algn="l">
              <a:spcAft>
                <a:spcPts val="400"/>
              </a:spcAft>
            </a:pPr>
            <a:r>
              <a:rPr sz="1600" b="1" i="0">
                <a:solidFill>
                  <a:srgbClr val="003E34"/>
                </a:solidFill>
                <a:latin typeface="Segoe UI"/>
              </a:rPr>
              <a:t>Predict a category</a:t>
            </a:r>
          </a:p>
          <a:p>
            <a:pPr algn="l">
              <a:spcAft>
                <a:spcPts val="600"/>
              </a:spcAft>
            </a:pPr>
            <a:r>
              <a:rPr sz="1300" b="0" i="0">
                <a:solidFill>
                  <a:srgbClr val="232323"/>
                </a:solidFill>
                <a:latin typeface="Segoe UI"/>
              </a:rPr>
              <a:t>“Will this patient have a poor outcome: a gain of 7 points or fewer?”</a:t>
            </a:r>
          </a:p>
          <a:p>
            <a:pPr algn="l">
              <a:spcAft>
                <a:spcPts val="600"/>
              </a:spcAft>
            </a:pPr>
            <a:r>
              <a:rPr sz="1300" b="0" i="0">
                <a:solidFill>
                  <a:srgbClr val="232323"/>
                </a:solidFill>
                <a:latin typeface="Segoe UI"/>
              </a:rPr>
              <a:t>Output: a probability, then a yes/no at a chosen cut-off.</a:t>
            </a:r>
          </a:p>
          <a:p>
            <a:pPr algn="l">
              <a:spcAft>
                <a:spcPts val="600"/>
              </a:spcAft>
            </a:pPr>
            <a:r>
              <a:rPr sz="1300" b="0" i="0">
                <a:solidFill>
                  <a:srgbClr val="232323"/>
                </a:solidFill>
                <a:latin typeface="Segoe UI"/>
              </a:rPr>
              <a:t>Judged by precision and recall on the class that matters — the poor outcomes.</a:t>
            </a:r>
          </a:p>
        </p:txBody>
      </p:sp>
      <p:sp>
        <p:nvSpPr>
          <p:cNvPr id="8" name="Rounded Rectangle 7"/>
          <p:cNvSpPr/>
          <p:nvPr/>
        </p:nvSpPr>
        <p:spPr>
          <a:xfrm>
            <a:off x="813816" y="498348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13816" y="498348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038344"/>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We classify because the decision is yes/no — review this patient before surgery, or not — and the 7-point rule gives that cut a clinical meaning.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we predict: a poor outcome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label is a clinical rule, decided before any model was built.</a:t>
            </a:r>
          </a:p>
        </p:txBody>
      </p:sp>
      <p:sp>
        <p:nvSpPr>
          <p:cNvPr id="4" name="Rounded Rectangle 3"/>
          <p:cNvSpPr/>
          <p:nvPr/>
        </p:nvSpPr>
        <p:spPr>
          <a:xfrm>
            <a:off x="813816" y="1737360"/>
            <a:ext cx="5166360" cy="3886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RULE</a:t>
            </a:r>
          </a:p>
          <a:p>
            <a:pPr algn="l">
              <a:spcAft>
                <a:spcPts val="400"/>
              </a:spcAft>
            </a:pPr>
            <a:r>
              <a:rPr sz="1600" b="1" i="0">
                <a:solidFill>
                  <a:srgbClr val="003E34"/>
                </a:solidFill>
                <a:latin typeface="Segoe UI"/>
              </a:rPr>
              <a:t>Poor outcome = the score improves by 7 points or fewer</a:t>
            </a:r>
          </a:p>
          <a:p>
            <a:pPr algn="l">
              <a:spcAft>
                <a:spcPts val="600"/>
              </a:spcAft>
            </a:pPr>
            <a:r>
              <a:rPr sz="1300" b="0" i="0">
                <a:solidFill>
                  <a:srgbClr val="232323"/>
                </a:solidFill>
                <a:latin typeface="Segoe UI"/>
              </a:rPr>
              <a:t>The Oxford Knee Score runs 0–48. A gain of 2 points is real arithmetic but no change the patient can feel.</a:t>
            </a:r>
          </a:p>
          <a:p>
            <a:pPr algn="l">
              <a:spcAft>
                <a:spcPts val="600"/>
              </a:spcAft>
            </a:pPr>
            <a:r>
              <a:rPr sz="1300" b="0" i="0">
                <a:solidFill>
                  <a:srgbClr val="232323"/>
                </a:solidFill>
                <a:latin typeface="Segoe UI"/>
              </a:rPr>
              <a:t>The smallest change a patient reliably notices — the minimal clinically important difference — is about 7 points (Beard et al.).</a:t>
            </a:r>
          </a:p>
          <a:p>
            <a:pPr algn="l">
              <a:spcAft>
                <a:spcPts val="600"/>
              </a:spcAft>
            </a:pPr>
            <a:r>
              <a:rPr sz="1300" b="0" i="0">
                <a:solidFill>
                  <a:srgbClr val="232323"/>
                </a:solidFill>
                <a:latin typeface="Segoe UI"/>
              </a:rPr>
              <a:t>So the label is: outcome_label = 1 when oks_delta ≤ 7. The positive class is the bad outcome on purpose: that is the patient worth finding.</a:t>
            </a:r>
          </a:p>
        </p:txBody>
      </p:sp>
      <p:sp>
        <p:nvSpPr>
          <p:cNvPr id="6" name="Rounded Rectangle 5"/>
          <p:cNvSpPr/>
          <p:nvPr/>
        </p:nvSpPr>
        <p:spPr>
          <a:xfrm>
            <a:off x="6208776" y="1737360"/>
            <a:ext cx="5166360" cy="38862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THAT MEANS IN THE DATA</a:t>
            </a:r>
          </a:p>
          <a:p>
            <a:pPr algn="l">
              <a:spcAft>
                <a:spcPts val="400"/>
              </a:spcAft>
            </a:pPr>
            <a:r>
              <a:rPr sz="1600" b="1" i="0">
                <a:solidFill>
                  <a:srgbClr val="003E34"/>
                </a:solidFill>
                <a:latin typeface="Segoe UI"/>
              </a:rPr>
              <a:t>About one patient in six</a:t>
            </a:r>
          </a:p>
          <a:p>
            <a:pPr algn="l">
              <a:spcAft>
                <a:spcPts val="600"/>
              </a:spcAft>
            </a:pPr>
            <a:r>
              <a:rPr sz="1300" b="0" i="0">
                <a:solidFill>
                  <a:srgbClr val="232323"/>
                </a:solidFill>
                <a:latin typeface="Segoe UI"/>
              </a:rPr>
              <a:t>16.5% of patients gain 7 points or fewer. That is the minority class, and it drives every choice about metrics later.</a:t>
            </a:r>
          </a:p>
          <a:p>
            <a:pPr algn="l">
              <a:spcAft>
                <a:spcPts val="600"/>
              </a:spcAft>
            </a:pPr>
            <a:r>
              <a:rPr sz="1300" b="0" i="0">
                <a:solidFill>
                  <a:srgbClr val="232323"/>
                </a:solidFill>
                <a:latin typeface="Segoe UI"/>
              </a:rPr>
              <a:t>Patients who never returned the six-month questionnaire have no label. They are kept apart and not used for training — they are not counted as poor outcomes.</a:t>
            </a:r>
          </a:p>
          <a:p>
            <a:pPr algn="l">
              <a:spcAft>
                <a:spcPts val="600"/>
              </a:spcAft>
            </a:pPr>
            <a:r>
              <a:rPr sz="1300" b="1" i="0">
                <a:solidFill>
                  <a:srgbClr val="232323"/>
                </a:solidFill>
                <a:latin typeface="Segoe UI"/>
              </a:rPr>
              <a:t>Poor outcomes in the test set: 4,295 of 25,997</a:t>
            </a:r>
          </a:p>
          <a:p>
            <a:pPr algn="l">
              <a:spcAft>
                <a:spcPts val="600"/>
              </a:spcAft>
            </a:pPr>
            <a:r>
              <a:rPr sz="1300" b="1" i="0">
                <a:solidFill>
                  <a:srgbClr val="232323"/>
                </a:solidFill>
                <a:latin typeface="Segoe UI"/>
              </a:rPr>
              <a:t>That share, 0.165, is the number every model has to beat.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Cleaning the data in Fabric: bronze, silver, gold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Three layers, each one a Delta table with its own version history.</a:t>
            </a:r>
          </a:p>
        </p:txBody>
      </p:sp>
      <p:sp>
        <p:nvSpPr>
          <p:cNvPr id="4" name="Rounded Rectangle 3"/>
          <p:cNvSpPr/>
          <p:nvPr/>
        </p:nvSpPr>
        <p:spPr>
          <a:xfrm>
            <a:off x="81381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Bronze · as delivered</a:t>
            </a:r>
          </a:p>
          <a:p>
            <a:pPr algn="l">
              <a:spcAft>
                <a:spcPts val="600"/>
              </a:spcAft>
            </a:pPr>
            <a:r>
              <a:rPr sz="1300" b="0" i="0">
                <a:solidFill>
                  <a:srgbClr val="232323"/>
                </a:solidFill>
                <a:latin typeface="Segoe UI"/>
              </a:rPr>
              <a:t>•  Raw NHS CSV files loaded as they arrived</a:t>
            </a:r>
          </a:p>
          <a:p>
            <a:pPr algn="l">
              <a:spcAft>
                <a:spcPts val="600"/>
              </a:spcAft>
            </a:pPr>
            <a:r>
              <a:rPr sz="1300" b="0" i="0">
                <a:solidFill>
                  <a:srgbClr val="232323"/>
                </a:solidFill>
                <a:latin typeface="Segoe UI"/>
              </a:rPr>
              <a:t>•  Nothing changed, nothing dropped</a:t>
            </a:r>
          </a:p>
          <a:p>
            <a:pPr algn="l">
              <a:spcAft>
                <a:spcPts val="600"/>
              </a:spcAft>
            </a:pPr>
            <a:r>
              <a:rPr sz="1300" b="0" i="0">
                <a:solidFill>
                  <a:srgbClr val="232323"/>
                </a:solidFill>
                <a:latin typeface="Segoe UI"/>
              </a:rPr>
              <a:t>•  Each load stamped with its source file and batch</a:t>
            </a:r>
          </a:p>
        </p:txBody>
      </p:sp>
      <p:sp>
        <p:nvSpPr>
          <p:cNvPr id="6" name="Rounded Rectangle 5"/>
          <p:cNvSpPr/>
          <p:nvPr/>
        </p:nvSpPr>
        <p:spPr>
          <a:xfrm>
            <a:off x="441045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9333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Silver · cleaned</a:t>
            </a:r>
          </a:p>
          <a:p>
            <a:pPr algn="l">
              <a:spcAft>
                <a:spcPts val="600"/>
              </a:spcAft>
            </a:pPr>
            <a:r>
              <a:rPr sz="1300" b="0" i="0">
                <a:solidFill>
                  <a:srgbClr val="232323"/>
                </a:solidFill>
                <a:latin typeface="Segoe UI"/>
              </a:rPr>
              <a:t>•  79 supplier columns renamed to clear names and typed</a:t>
            </a:r>
          </a:p>
          <a:p>
            <a:pPr algn="l">
              <a:spcAft>
                <a:spcPts val="600"/>
              </a:spcAft>
            </a:pPr>
            <a:r>
              <a:rPr sz="1300" b="0" i="0">
                <a:solidFill>
                  <a:srgbClr val="232323"/>
                </a:solidFill>
                <a:latin typeface="Segoe UI"/>
              </a:rPr>
              <a:t>•  Codes decoded: “9” means not answered — except on the 12 conditions, where 9 means “no”</a:t>
            </a:r>
          </a:p>
          <a:p>
            <a:pPr algn="l">
              <a:spcAft>
                <a:spcPts val="600"/>
              </a:spcAft>
            </a:pPr>
            <a:r>
              <a:rPr sz="1300" b="0" i="0">
                <a:solidFill>
                  <a:srgbClr val="232323"/>
                </a:solidFill>
                <a:latin typeface="Segoe UI"/>
              </a:rPr>
              <a:t>•  Age band and sex suppressed by NHS (“*”) become “not recorded”</a:t>
            </a:r>
          </a:p>
          <a:p>
            <a:pPr algn="l">
              <a:spcAft>
                <a:spcPts val="600"/>
              </a:spcAft>
            </a:pPr>
            <a:r>
              <a:rPr sz="1300" b="0" i="0">
                <a:solidFill>
                  <a:srgbClr val="232323"/>
                </a:solidFill>
                <a:latin typeface="Segoe UI"/>
              </a:rPr>
              <a:t>•  Cohort rules: keep primary knee replacements with a pre-operative score</a:t>
            </a:r>
          </a:p>
        </p:txBody>
      </p:sp>
      <p:sp>
        <p:nvSpPr>
          <p:cNvPr id="8" name="Rounded Rectangle 7"/>
          <p:cNvSpPr/>
          <p:nvPr/>
        </p:nvSpPr>
        <p:spPr>
          <a:xfrm>
            <a:off x="800709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8997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Gold · model-ready</a:t>
            </a:r>
          </a:p>
          <a:p>
            <a:pPr algn="l">
              <a:spcAft>
                <a:spcPts val="600"/>
              </a:spcAft>
            </a:pPr>
            <a:r>
              <a:rPr sz="1300" b="0" i="0">
                <a:solidFill>
                  <a:srgbClr val="232323"/>
                </a:solidFill>
                <a:latin typeface="Segoe UI"/>
              </a:rPr>
              <a:t>•  One row per episode, readable values</a:t>
            </a:r>
          </a:p>
          <a:p>
            <a:pPr algn="l">
              <a:spcAft>
                <a:spcPts val="600"/>
              </a:spcAft>
            </a:pPr>
            <a:r>
              <a:rPr sz="1300" b="0" i="0">
                <a:solidFill>
                  <a:srgbClr val="232323"/>
                </a:solidFill>
                <a:latin typeface="Segoe UI"/>
              </a:rPr>
              <a:t>•  Derived features: comorbidity count, OKS sub-scores, merged age bands</a:t>
            </a:r>
          </a:p>
          <a:p>
            <a:pPr algn="l">
              <a:spcAft>
                <a:spcPts val="600"/>
              </a:spcAft>
            </a:pPr>
            <a:r>
              <a:rPr sz="1300" b="0" i="0">
                <a:solidFill>
                  <a:srgbClr val="232323"/>
                </a:solidFill>
                <a:latin typeface="Segoe UI"/>
              </a:rPr>
              <a:t>•  The outcome label, and a flag for episodes with no follow-up</a:t>
            </a:r>
          </a:p>
          <a:p>
            <a:pPr algn="l">
              <a:spcAft>
                <a:spcPts val="600"/>
              </a:spcAft>
            </a:pPr>
            <a:r>
              <a:rPr sz="1300" b="0" i="0">
                <a:solidFill>
                  <a:srgbClr val="232323"/>
                </a:solidFill>
                <a:latin typeface="Segoe UI"/>
              </a:rPr>
              <a:t>•  Every column documented, so the Data Agent can read it</a:t>
            </a:r>
          </a:p>
          <a:p>
            <a:pPr algn="l">
              <a:spcAft>
                <a:spcPts val="600"/>
              </a:spcAft>
            </a:pPr>
            <a:r>
              <a:rPr sz="1300" b="0" i="0">
                <a:solidFill>
                  <a:srgbClr val="232323"/>
                </a:solidFill>
                <a:latin typeface="Segoe UI"/>
              </a:rPr>
              <a:t>•  No imputation, no encoding, no split — those belong to the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Missing values: two kinds, two treatments</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Not every gap in the data means the same thing.</a:t>
            </a:r>
          </a:p>
        </p:txBody>
      </p:sp>
      <p:sp>
        <p:nvSpPr>
          <p:cNvPr id="4" name="Rounded Rectangle 3"/>
          <p:cNvSpPr/>
          <p:nvPr/>
        </p:nvSpPr>
        <p:spPr>
          <a:xfrm>
            <a:off x="813816" y="1737360"/>
            <a:ext cx="5166360" cy="329184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2962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SUPPRESSED BY NHS</a:t>
            </a:r>
          </a:p>
          <a:p>
            <a:pPr algn="l">
              <a:spcAft>
                <a:spcPts val="400"/>
              </a:spcAft>
            </a:pPr>
            <a:r>
              <a:rPr sz="1600" b="1" i="0">
                <a:solidFill>
                  <a:srgbClr val="003E34"/>
                </a:solidFill>
                <a:latin typeface="Segoe UI"/>
              </a:rPr>
              <a:t>Age band and sex</a:t>
            </a:r>
          </a:p>
          <a:p>
            <a:pPr algn="l">
              <a:spcAft>
                <a:spcPts val="600"/>
              </a:spcAft>
            </a:pPr>
            <a:r>
              <a:rPr sz="1300" b="0" i="0">
                <a:solidFill>
                  <a:srgbClr val="232323"/>
                </a:solidFill>
                <a:latin typeface="Segoe UI"/>
              </a:rPr>
              <a:t>NHS removes age band and sex when a combination of age, sex, hospital and procedure is rare — to protect the patient’s identity.</a:t>
            </a:r>
          </a:p>
          <a:p>
            <a:pPr algn="l">
              <a:spcAft>
                <a:spcPts val="600"/>
              </a:spcAft>
            </a:pPr>
            <a:r>
              <a:rPr sz="1300" b="0" i="0">
                <a:solidFill>
                  <a:srgbClr val="232323"/>
                </a:solidFill>
                <a:latin typeface="Segoe UI"/>
              </a:rPr>
              <a:t>We keep these as “not recorded”. We never guess them: filling them in would undo a protection and put a guessed value into a risk score.</a:t>
            </a:r>
          </a:p>
        </p:txBody>
      </p:sp>
      <p:sp>
        <p:nvSpPr>
          <p:cNvPr id="6" name="Rounded Rectangle 5"/>
          <p:cNvSpPr/>
          <p:nvPr/>
        </p:nvSpPr>
        <p:spPr>
          <a:xfrm>
            <a:off x="6208776" y="1737360"/>
            <a:ext cx="5166360" cy="329184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2962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NOT ANSWERED BY THE PATIENT</a:t>
            </a:r>
          </a:p>
          <a:p>
            <a:pPr algn="l">
              <a:spcAft>
                <a:spcPts val="400"/>
              </a:spcAft>
            </a:pPr>
            <a:r>
              <a:rPr sz="1600" b="1" i="0">
                <a:solidFill>
                  <a:srgbClr val="003E34"/>
                </a:solidFill>
                <a:latin typeface="Segoe UI"/>
              </a:rPr>
              <a:t>Questionnaire items</a:t>
            </a:r>
          </a:p>
          <a:p>
            <a:pPr algn="l">
              <a:spcAft>
                <a:spcPts val="600"/>
              </a:spcAft>
            </a:pPr>
            <a:r>
              <a:rPr sz="1300" b="0" i="0">
                <a:solidFill>
                  <a:srgbClr val="232323"/>
                </a:solidFill>
                <a:latin typeface="Segoe UI"/>
              </a:rPr>
              <a:t>Some patients skip a question: symptom duration, living arrangements, an EQ-5D item.</a:t>
            </a:r>
          </a:p>
          <a:p>
            <a:pPr algn="l">
              <a:spcAft>
                <a:spcPts val="600"/>
              </a:spcAft>
            </a:pPr>
            <a:r>
              <a:rPr sz="1300" b="0" i="0">
                <a:solidFill>
                  <a:srgbClr val="232323"/>
                </a:solidFill>
                <a:latin typeface="Segoe UI"/>
              </a:rPr>
              <a:t>These are filled in with multiple imputation (MICE): a model estimates the missing answer from the patient’s other answers.</a:t>
            </a:r>
          </a:p>
          <a:p>
            <a:pPr algn="l">
              <a:spcAft>
                <a:spcPts val="600"/>
              </a:spcAft>
            </a:pPr>
            <a:r>
              <a:rPr sz="1300" b="0" i="0">
                <a:solidFill>
                  <a:srgbClr val="232323"/>
                </a:solidFill>
                <a:latin typeface="Segoe UI"/>
              </a:rPr>
              <a:t>Fitted on the training patients only, then applied to the test patients.</a:t>
            </a:r>
          </a:p>
        </p:txBody>
      </p:sp>
      <p:sp>
        <p:nvSpPr>
          <p:cNvPr id="8" name="TextBox 7"/>
          <p:cNvSpPr txBox="1"/>
          <p:nvPr/>
        </p:nvSpPr>
        <p:spPr>
          <a:xfrm>
            <a:off x="813816" y="5257800"/>
            <a:ext cx="10561320" cy="731520"/>
          </a:xfrm>
          <a:prstGeom prst="rect">
            <a:avLst/>
          </a:prstGeom>
          <a:noFill/>
        </p:spPr>
        <p:txBody>
          <a:bodyPr wrap="square" anchor="t" lIns="27432" rIns="27432" tIns="18288" bIns="18288">
            <a:spAutoFit/>
          </a:bodyPr>
          <a:lstStyle/>
          <a:p>
            <a:pPr algn="l">
              <a:spcAft>
                <a:spcPts val="600"/>
              </a:spcAft>
            </a:pPr>
            <a:r>
              <a:rPr sz="1300" b="1" i="0">
                <a:solidFill>
                  <a:srgbClr val="232323"/>
                </a:solidFill>
                <a:latin typeface="Segoe UI"/>
              </a:rPr>
              <a:t>Share missing per column:  [from the Fabric 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Feature engineering: the variables we built</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dataset is fixed. What we make of it is not — a few derived variables carry more signal and are easier to explain.</a:t>
            </a:r>
          </a:p>
        </p:txBody>
      </p:sp>
      <p:graphicFrame>
        <p:nvGraphicFramePr>
          <p:cNvPr id="4" name="Table 3"/>
          <p:cNvGraphicFramePr>
            <a:graphicFrameLocks noGrp="1"/>
          </p:cNvGraphicFramePr>
          <p:nvPr/>
        </p:nvGraphicFramePr>
        <p:xfrm>
          <a:off x="813816" y="1645920"/>
          <a:ext cx="7086600" cy="4023360"/>
        </p:xfrm>
        <a:graphic>
          <a:graphicData uri="http://schemas.openxmlformats.org/drawingml/2006/table">
            <a:tbl>
              <a:tblPr firstRow="0" bandRow="0">
                <a:tableStyleId>{5C22544A-7EE6-4342-B048-85BDC9FD1C3A}</a:tableStyleId>
              </a:tblPr>
              <a:tblGrid>
                <a:gridCol w="1456690"/>
                <a:gridCol w="2322830"/>
                <a:gridCol w="3307080"/>
              </a:tblGrid>
              <a:tr h="804672">
                <a:tc>
                  <a:txBody>
                    <a:bodyPr wrap="square"/>
                    <a:lstStyle/>
                    <a:p>
                      <a:r>
                        <a:rPr sz="1100" b="1" i="0">
                          <a:solidFill>
                            <a:srgbClr val="FFFFFF"/>
                          </a:solidFill>
                          <a:latin typeface="Segoe UI"/>
                        </a:rPr>
                        <a:t>Derived variable</a:t>
                      </a:r>
                    </a:p>
                  </a:txBody>
                  <a:tcPr marL="73152" marR="73152" marT="36576" marB="36576" anchor="ctr">
                    <a:solidFill>
                      <a:srgbClr val="003E34"/>
                    </a:solidFill>
                  </a:tcPr>
                </a:tc>
                <a:tc>
                  <a:txBody>
                    <a:bodyPr wrap="square"/>
                    <a:lstStyle/>
                    <a:p>
                      <a:r>
                        <a:rPr sz="1100" b="1" i="0">
                          <a:solidFill>
                            <a:srgbClr val="FFFFFF"/>
                          </a:solidFill>
                          <a:latin typeface="Segoe UI"/>
                        </a:rPr>
                        <a:t>How it is built</a:t>
                      </a:r>
                    </a:p>
                  </a:txBody>
                  <a:tcPr marL="73152" marR="73152" marT="36576" marB="36576" anchor="ctr">
                    <a:solidFill>
                      <a:srgbClr val="003E34"/>
                    </a:solidFill>
                  </a:tcPr>
                </a:tc>
                <a:tc>
                  <a:txBody>
                    <a:bodyPr wrap="square"/>
                    <a:lstStyle/>
                    <a:p>
                      <a:r>
                        <a:rPr sz="1100" b="1" i="0">
                          <a:solidFill>
                            <a:srgbClr val="FFFFFF"/>
                          </a:solidFill>
                          <a:latin typeface="Segoe UI"/>
                        </a:rPr>
                        <a:t>Why it earns its place</a:t>
                      </a:r>
                    </a:p>
                  </a:txBody>
                  <a:tcPr marL="73152" marR="73152" marT="36576" marB="36576" anchor="ctr">
                    <a:solidFill>
                      <a:srgbClr val="003E34"/>
                    </a:solidFill>
                  </a:tcPr>
                </a:tc>
              </a:tr>
              <a:tr h="804672">
                <a:tc>
                  <a:txBody>
                    <a:bodyPr wrap="square"/>
                    <a:lstStyle/>
                    <a:p>
                      <a:r>
                        <a:rPr sz="1100" b="1" i="0">
                          <a:solidFill>
                            <a:srgbClr val="232323"/>
                          </a:solidFill>
                          <a:latin typeface="Segoe UI"/>
                        </a:rPr>
                        <a:t>Comorbidity count</a:t>
                      </a:r>
                    </a:p>
                  </a:txBody>
                  <a:tcPr marL="73152" marR="73152" marT="36576" marB="36576" anchor="ctr">
                    <a:solidFill>
                      <a:srgbClr val="FFFFFF"/>
                    </a:solidFill>
                  </a:tcPr>
                </a:tc>
                <a:tc>
                  <a:txBody>
                    <a:bodyPr wrap="square"/>
                    <a:lstStyle/>
                    <a:p>
                      <a:r>
                        <a:rPr sz="1100" b="0" i="0">
                          <a:solidFill>
                            <a:srgbClr val="232323"/>
                          </a:solidFill>
                          <a:latin typeface="Segoe UI"/>
                        </a:rPr>
                        <a:t>Sum of the twelve long-term condition flags, 0–12.</a:t>
                      </a:r>
                    </a:p>
                  </a:txBody>
                  <a:tcPr marL="73152" marR="73152" marT="36576" marB="36576" anchor="ctr">
                    <a:solidFill>
                      <a:srgbClr val="FFFFFF"/>
                    </a:solidFill>
                  </a:tcPr>
                </a:tc>
                <a:tc>
                  <a:txBody>
                    <a:bodyPr wrap="square"/>
                    <a:lstStyle/>
                    <a:p>
                      <a:r>
                        <a:rPr sz="1100" b="0" i="0">
                          <a:solidFill>
                            <a:srgbClr val="232323"/>
                          </a:solidFill>
                          <a:latin typeface="Segoe UI"/>
                        </a:rPr>
                        <a:t>A clinician thinks “how sick is this patient overall”, not twelve separate yes/nos. Several conditions together slow recovery more than any one alone.</a:t>
                      </a:r>
                    </a:p>
                  </a:txBody>
                  <a:tcPr marL="73152" marR="73152" marT="36576" marB="36576" anchor="ctr">
                    <a:solidFill>
                      <a:srgbClr val="FFFFFF"/>
                    </a:solidFill>
                  </a:tcPr>
                </a:tc>
              </a:tr>
              <a:tr h="804672">
                <a:tc>
                  <a:txBody>
                    <a:bodyPr wrap="square"/>
                    <a:lstStyle/>
                    <a:p>
                      <a:r>
                        <a:rPr sz="1100" b="1" i="0">
                          <a:solidFill>
                            <a:srgbClr val="232323"/>
                          </a:solidFill>
                          <a:latin typeface="Segoe UI"/>
                        </a:rPr>
                        <a:t>Three Oxford sub-scores</a:t>
                      </a:r>
                    </a:p>
                  </a:txBody>
                  <a:tcPr marL="73152" marR="73152" marT="36576" marB="36576" anchor="ctr">
                    <a:solidFill>
                      <a:srgbClr val="F6F8F7"/>
                    </a:solidFill>
                  </a:tcPr>
                </a:tc>
                <a:tc>
                  <a:txBody>
                    <a:bodyPr wrap="square"/>
                    <a:lstStyle/>
                    <a:p>
                      <a:r>
                        <a:rPr sz="1100" b="0" i="0">
                          <a:solidFill>
                            <a:srgbClr val="232323"/>
                          </a:solidFill>
                          <a:latin typeface="Segoe UI"/>
                        </a:rPr>
                        <a:t>Pain (2 items, 0–8), function (6 items, 0–24), daily activities (4 items, 0–16).</a:t>
                      </a:r>
                    </a:p>
                  </a:txBody>
                  <a:tcPr marL="73152" marR="73152" marT="36576" marB="36576" anchor="ctr">
                    <a:solidFill>
                      <a:srgbClr val="F6F8F7"/>
                    </a:solidFill>
                  </a:tcPr>
                </a:tc>
                <a:tc>
                  <a:txBody>
                    <a:bodyPr wrap="square"/>
                    <a:lstStyle/>
                    <a:p>
                      <a:r>
                        <a:rPr sz="1100" b="0" i="0">
                          <a:solidFill>
                            <a:srgbClr val="232323"/>
                          </a:solidFill>
                          <a:latin typeface="Segoe UI"/>
                        </a:rPr>
                        <a:t>What a physiotherapist reasons about, and grouping items smooths the noise one question can carry. The twelve items stay in too, so a non-linear model can still use them.</a:t>
                      </a:r>
                    </a:p>
                  </a:txBody>
                  <a:tcPr marL="73152" marR="73152" marT="36576" marB="36576" anchor="ctr">
                    <a:solidFill>
                      <a:srgbClr val="F6F8F7"/>
                    </a:solidFill>
                  </a:tcPr>
                </a:tc>
              </a:tr>
              <a:tr h="804672">
                <a:tc>
                  <a:txBody>
                    <a:bodyPr wrap="square"/>
                    <a:lstStyle/>
                    <a:p>
                      <a:r>
                        <a:rPr sz="1100" b="1" i="0">
                          <a:solidFill>
                            <a:srgbClr val="232323"/>
                          </a:solidFill>
                          <a:latin typeface="Segoe UI"/>
                        </a:rPr>
                        <a:t>Provider attributes</a:t>
                      </a:r>
                    </a:p>
                  </a:txBody>
                  <a:tcPr marL="73152" marR="73152" marT="36576" marB="36576" anchor="ctr">
                    <a:solidFill>
                      <a:srgbClr val="FFFFFF"/>
                    </a:solidFill>
                  </a:tcPr>
                </a:tc>
                <a:tc>
                  <a:txBody>
                    <a:bodyPr wrap="square"/>
                    <a:lstStyle/>
                    <a:p>
                      <a:r>
                        <a:rPr sz="1100" b="0" i="0">
                          <a:solidFill>
                            <a:srgbClr val="232323"/>
                          </a:solidFill>
                          <a:latin typeface="Segoe UI"/>
                        </a:rPr>
                        <a:t>294 hospital codes replaced by three facts from public NHS data: teaching hospital or not, NHS or independent, region.</a:t>
                      </a:r>
                    </a:p>
                  </a:txBody>
                  <a:tcPr marL="73152" marR="73152" marT="36576" marB="36576" anchor="ctr">
                    <a:solidFill>
                      <a:srgbClr val="FFFFFF"/>
                    </a:solidFill>
                  </a:tcPr>
                </a:tc>
                <a:tc>
                  <a:txBody>
                    <a:bodyPr wrap="square"/>
                    <a:lstStyle/>
                    <a:p>
                      <a:r>
                        <a:rPr sz="1100" b="0" i="0">
                          <a:solidFill>
                            <a:srgbClr val="232323"/>
                          </a:solidFill>
                          <a:latin typeface="Segoe UI"/>
                        </a:rPr>
                        <a:t>One-hot encoding 294 codes adds a sparse column per hospital and invites overfitting. Three attributes keep the signal without it.</a:t>
                      </a:r>
                    </a:p>
                  </a:txBody>
                  <a:tcPr marL="73152" marR="73152" marT="36576" marB="36576" anchor="ctr">
                    <a:solidFill>
                      <a:srgbClr val="FFFFFF"/>
                    </a:solidFill>
                  </a:tcPr>
                </a:tc>
              </a:tr>
              <a:tr h="804672">
                <a:tc>
                  <a:txBody>
                    <a:bodyPr wrap="square"/>
                    <a:lstStyle/>
                    <a:p>
                      <a:r>
                        <a:rPr sz="1100" b="1" i="0">
                          <a:solidFill>
                            <a:srgbClr val="232323"/>
                          </a:solidFill>
                          <a:latin typeface="Segoe UI"/>
                        </a:rPr>
                        <a:t>Merged thin categories</a:t>
                      </a:r>
                    </a:p>
                  </a:txBody>
                  <a:tcPr marL="73152" marR="73152" marT="36576" marB="36576" anchor="ctr">
                    <a:solidFill>
                      <a:srgbClr val="F6F8F7"/>
                    </a:solidFill>
                  </a:tcPr>
                </a:tc>
                <a:tc>
                  <a:txBody>
                    <a:bodyPr wrap="square"/>
                    <a:lstStyle/>
                    <a:p>
                      <a:r>
                        <a:rPr sz="1100" b="0" i="0">
                          <a:solidFill>
                            <a:srgbClr val="232323"/>
                          </a:solidFill>
                          <a:latin typeface="Segoe UI"/>
                        </a:rPr>
                        <a:t>Age bands 40–49 with 50–59, 80–89 with 90–120. “Care home” (92 patients) folded into “other”.</a:t>
                      </a:r>
                    </a:p>
                  </a:txBody>
                  <a:tcPr marL="73152" marR="73152" marT="36576" marB="36576" anchor="ctr">
                    <a:solidFill>
                      <a:srgbClr val="F6F8F7"/>
                    </a:solidFill>
                  </a:tcPr>
                </a:tc>
                <a:tc>
                  <a:txBody>
                    <a:bodyPr wrap="square"/>
                    <a:lstStyle/>
                    <a:p>
                      <a:r>
                        <a:rPr sz="1100" b="0" i="0">
                          <a:solidFill>
                            <a:srgbClr val="232323"/>
                          </a:solidFill>
                          <a:latin typeface="Segoe UI"/>
                        </a:rPr>
                        <a:t>A category with a handful of patients cannot be learned from, and it broke the imputation step. Merged bands keep their true span.</a:t>
                      </a:r>
                    </a:p>
                  </a:txBody>
                  <a:tcPr marL="73152" marR="73152" marT="36576" marB="36576" anchor="ctr">
                    <a:solidFill>
                      <a:srgbClr val="F6F8F7"/>
                    </a:solidFill>
                  </a:tcPr>
                </a:tc>
              </a:tr>
            </a:tbl>
          </a:graphicData>
        </a:graphic>
      </p:graphicFrame>
      <p:sp>
        <p:nvSpPr>
          <p:cNvPr id="5" name="Rounded Rectangle 4"/>
          <p:cNvSpPr/>
          <p:nvPr/>
        </p:nvSpPr>
        <p:spPr>
          <a:xfrm>
            <a:off x="8092440" y="1645920"/>
            <a:ext cx="3282696" cy="420624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75319" y="1792224"/>
            <a:ext cx="2916936" cy="3877055"/>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WE TOOK OUT</a:t>
            </a:r>
          </a:p>
          <a:p>
            <a:pPr algn="l">
              <a:spcAft>
                <a:spcPts val="600"/>
              </a:spcAft>
            </a:pPr>
            <a:r>
              <a:rPr sz="1200" b="0" i="0">
                <a:solidFill>
                  <a:srgbClr val="232323"/>
                </a:solidFill>
                <a:latin typeface="Segoe UI"/>
              </a:rPr>
              <a:t>•  Everything measured after surgery. At prediction time those values do not exist; leaving them in flatters the model and makes it useless in practice.</a:t>
            </a:r>
          </a:p>
          <a:p>
            <a:pPr algn="l">
              <a:spcAft>
                <a:spcPts val="600"/>
              </a:spcAft>
            </a:pPr>
            <a:r>
              <a:rPr sz="1200" b="0" i="0">
                <a:solidFill>
                  <a:srgbClr val="232323"/>
                </a:solidFill>
                <a:latin typeface="Segoe UI"/>
              </a:rPr>
              <a:t>•  Procedure identifiers, and the revision flag — revision surgery is a different clinical situation, so those patients leave the cohort entirely.</a:t>
            </a:r>
          </a:p>
          <a:p>
            <a:pPr algn="l">
              <a:spcAft>
                <a:spcPts val="600"/>
              </a:spcAft>
            </a:pPr>
            <a:r>
              <a:rPr sz="1200" b="0" i="0">
                <a:solidFill>
                  <a:srgbClr val="232323"/>
                </a:solidFill>
                <a:latin typeface="Segoe UI"/>
              </a:rPr>
              <a:t>•  The EQ-5D index and visual-analogue score: a different instrument to the one we predict.</a:t>
            </a:r>
          </a:p>
          <a:p>
            <a:pPr algn="l">
              <a:spcAft>
                <a:spcPts val="600"/>
              </a:spcAft>
            </a:pPr>
            <a:r>
              <a:rPr sz="1200" b="0" i="0">
                <a:solidFill>
                  <a:srgbClr val="232323"/>
                </a:solidFill>
                <a:latin typeface="Segoe UI"/>
              </a:rPr>
              <a:t>•  The raw provider code, once its three attributes were extracted.</a:t>
            </a:r>
          </a:p>
        </p:txBody>
      </p:sp>
      <p:sp>
        <p:nvSpPr>
          <p:cNvPr id="7" name="Rounded Rectangle 6"/>
          <p:cNvSpPr/>
          <p:nvPr/>
        </p:nvSpPr>
        <p:spPr>
          <a:xfrm>
            <a:off x="813816" y="5742432"/>
            <a:ext cx="10561320" cy="4572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13816" y="5742432"/>
            <a:ext cx="54864" cy="457200"/>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9848" y="5797296"/>
            <a:ext cx="10104120" cy="347472"/>
          </a:xfrm>
          <a:prstGeom prst="rect">
            <a:avLst/>
          </a:prstGeom>
          <a:noFill/>
        </p:spPr>
        <p:txBody>
          <a:bodyPr wrap="square" anchor="ctr" lIns="27432" rIns="27432" tIns="18288" bIns="18288">
            <a:spAutoFit/>
          </a:bodyPr>
          <a:lstStyle/>
          <a:p>
            <a:pPr algn="l"/>
            <a:r>
              <a:rPr sz="1400" b="0" i="0">
                <a:solidFill>
                  <a:srgbClr val="003E34"/>
                </a:solidFill>
                <a:latin typeface="Segoe UI"/>
              </a:rPr>
              <a:t>All of this is plain arithmetic on one row at a time — no fitted transform — so it is safe to compute before the train/test split.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Class imbalance: why it makes prediction hard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Five patients in six do well. The ones we want to find are the minority.</a:t>
            </a:r>
          </a:p>
        </p:txBody>
      </p:sp>
      <p:sp>
        <p:nvSpPr>
          <p:cNvPr id="4" name="Rectangle 3"/>
          <p:cNvSpPr/>
          <p:nvPr/>
        </p:nvSpPr>
        <p:spPr>
          <a:xfrm>
            <a:off x="813816" y="1783080"/>
            <a:ext cx="8449056" cy="640080"/>
          </a:xfrm>
          <a:prstGeom prst="rect">
            <a:avLst/>
          </a:prstGeom>
          <a:solidFill>
            <a:srgbClr val="9FC9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262872" y="1783080"/>
            <a:ext cx="2112264" cy="64008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13816" y="1783080"/>
            <a:ext cx="8449056" cy="640080"/>
          </a:xfrm>
          <a:prstGeom prst="rect">
            <a:avLst/>
          </a:prstGeom>
          <a:noFill/>
        </p:spPr>
        <p:txBody>
          <a:bodyPr wrap="square" anchor="ctr" lIns="27432" rIns="27432" tIns="18288" bIns="18288">
            <a:spAutoFit/>
          </a:bodyPr>
          <a:lstStyle/>
          <a:p>
            <a:pPr algn="ctr"/>
            <a:r>
              <a:rPr sz="1400" b="1" i="0">
                <a:solidFill>
                  <a:srgbClr val="232323"/>
                </a:solidFill>
                <a:latin typeface="Segoe UI"/>
              </a:rPr>
              <a:t>Meaningful improvement · 83.5%</a:t>
            </a:r>
          </a:p>
        </p:txBody>
      </p:sp>
      <p:sp>
        <p:nvSpPr>
          <p:cNvPr id="7" name="TextBox 6"/>
          <p:cNvSpPr txBox="1"/>
          <p:nvPr/>
        </p:nvSpPr>
        <p:spPr>
          <a:xfrm>
            <a:off x="9262872" y="1783080"/>
            <a:ext cx="2112264" cy="640080"/>
          </a:xfrm>
          <a:prstGeom prst="rect">
            <a:avLst/>
          </a:prstGeom>
          <a:noFill/>
        </p:spPr>
        <p:txBody>
          <a:bodyPr wrap="square" anchor="ctr" lIns="27432" rIns="27432" tIns="18288" bIns="18288">
            <a:spAutoFit/>
          </a:bodyPr>
          <a:lstStyle/>
          <a:p>
            <a:pPr algn="ctr"/>
            <a:r>
              <a:rPr sz="1200" b="1" i="0">
                <a:solidFill>
                  <a:srgbClr val="FFFFFF"/>
                </a:solidFill>
                <a:latin typeface="Segoe UI"/>
              </a:rPr>
              <a:t>Poor outcome · 16.5%</a:t>
            </a:r>
          </a:p>
        </p:txBody>
      </p:sp>
      <p:sp>
        <p:nvSpPr>
          <p:cNvPr id="8" name="TextBox 7"/>
          <p:cNvSpPr txBox="1"/>
          <p:nvPr/>
        </p:nvSpPr>
        <p:spPr>
          <a:xfrm>
            <a:off x="813816" y="2468880"/>
            <a:ext cx="10561320" cy="274320"/>
          </a:xfrm>
          <a:prstGeom prst="rect">
            <a:avLst/>
          </a:prstGeom>
          <a:noFill/>
        </p:spPr>
        <p:txBody>
          <a:bodyPr wrap="square" anchor="t" lIns="27432" rIns="27432" tIns="18288" bIns="18288">
            <a:spAutoFit/>
          </a:bodyPr>
          <a:lstStyle/>
          <a:p>
            <a:pPr algn="l">
              <a:spcAft>
                <a:spcPts val="400"/>
              </a:spcAft>
            </a:pPr>
            <a:r>
              <a:rPr sz="1100" b="0" i="0">
                <a:solidFill>
                  <a:srgbClr val="44536A"/>
                </a:solidFill>
                <a:latin typeface="Segoe UI"/>
              </a:rPr>
              <a:t>Held-out test set: 4,295 poor outcomes out of 25,997 patients.</a:t>
            </a:r>
          </a:p>
        </p:txBody>
      </p:sp>
      <p:sp>
        <p:nvSpPr>
          <p:cNvPr id="9" name="Rounded Rectangle 8"/>
          <p:cNvSpPr/>
          <p:nvPr/>
        </p:nvSpPr>
        <p:spPr>
          <a:xfrm>
            <a:off x="813816" y="2834640"/>
            <a:ext cx="3368040" cy="31089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96696" y="2980944"/>
            <a:ext cx="3002280" cy="27797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GOES WRONG</a:t>
            </a:r>
          </a:p>
          <a:p>
            <a:pPr algn="l">
              <a:spcAft>
                <a:spcPts val="600"/>
              </a:spcAft>
            </a:pPr>
            <a:r>
              <a:rPr sz="1300" b="0" i="0">
                <a:solidFill>
                  <a:srgbClr val="232323"/>
                </a:solidFill>
                <a:latin typeface="Segoe UI"/>
              </a:rPr>
              <a:t>If left unaddressed, a model favours the majority class: it predicts “good outcome” for most patients simply because that is the most common result.</a:t>
            </a:r>
          </a:p>
          <a:p>
            <a:pPr algn="l">
              <a:spcAft>
                <a:spcPts val="600"/>
              </a:spcAft>
            </a:pPr>
            <a:r>
              <a:rPr sz="1300" b="0" i="0">
                <a:solidFill>
                  <a:srgbClr val="232323"/>
                </a:solidFill>
                <a:latin typeface="Segoe UI"/>
              </a:rPr>
              <a:t>That gives 83.5% accuracy on our data — and finds not one patient who needs help before surgery.</a:t>
            </a:r>
          </a:p>
          <a:p>
            <a:pPr algn="l">
              <a:spcAft>
                <a:spcPts val="600"/>
              </a:spcAft>
            </a:pPr>
            <a:r>
              <a:rPr sz="1300" b="0" i="0">
                <a:solidFill>
                  <a:srgbClr val="232323"/>
                </a:solidFill>
                <a:latin typeface="Segoe UI"/>
              </a:rPr>
              <a:t>The model sees far fewer examples of a poor outcome, so the patterns behind it are harder to learn and easier to mistake for noise.</a:t>
            </a:r>
          </a:p>
        </p:txBody>
      </p:sp>
      <p:sp>
        <p:nvSpPr>
          <p:cNvPr id="11" name="Rounded Rectangle 10"/>
          <p:cNvSpPr/>
          <p:nvPr/>
        </p:nvSpPr>
        <p:spPr>
          <a:xfrm>
            <a:off x="4410456" y="2834640"/>
            <a:ext cx="3368040" cy="31089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3336" y="2980944"/>
            <a:ext cx="3002280" cy="27797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IT DOES TO THE SCORE</a:t>
            </a:r>
          </a:p>
          <a:p>
            <a:pPr algn="l">
              <a:spcAft>
                <a:spcPts val="600"/>
              </a:spcAft>
            </a:pPr>
            <a:r>
              <a:rPr sz="1300" b="0" i="0">
                <a:solidFill>
                  <a:srgbClr val="232323"/>
                </a:solidFill>
                <a:latin typeface="Segoe UI"/>
              </a:rPr>
              <a:t>The probabilities come out low for almost everyone, because a poor outcome is rare. A patient at 30% is already well above the average patient.</a:t>
            </a:r>
          </a:p>
          <a:p>
            <a:pPr algn="l">
              <a:spcAft>
                <a:spcPts val="600"/>
              </a:spcAft>
            </a:pPr>
            <a:r>
              <a:rPr sz="1300" b="0" i="0">
                <a:solidFill>
                  <a:srgbClr val="232323"/>
                </a:solidFill>
                <a:latin typeface="Segoe UI"/>
              </a:rPr>
              <a:t>So the cut-off cannot be the usual 50%. Where to put it becomes a decision in its own right (next slides).</a:t>
            </a:r>
          </a:p>
          <a:p>
            <a:pPr algn="l">
              <a:spcAft>
                <a:spcPts val="600"/>
              </a:spcAft>
            </a:pPr>
            <a:r>
              <a:rPr sz="1300" b="0" i="0">
                <a:solidFill>
                  <a:srgbClr val="232323"/>
                </a:solidFill>
                <a:latin typeface="Segoe UI"/>
              </a:rPr>
              <a:t>Accuracy hides all of this. We do not use it.</a:t>
            </a:r>
          </a:p>
        </p:txBody>
      </p:sp>
      <p:sp>
        <p:nvSpPr>
          <p:cNvPr id="13" name="Rounded Rectangle 12"/>
          <p:cNvSpPr/>
          <p:nvPr/>
        </p:nvSpPr>
        <p:spPr>
          <a:xfrm>
            <a:off x="8007096" y="2834640"/>
            <a:ext cx="3368040" cy="3108960"/>
          </a:xfrm>
          <a:prstGeom prst="roundRect">
            <a:avLst>
              <a:gd name="adj" fmla="val 5000"/>
            </a:avLst>
          </a:prstGeom>
          <a:solidFill>
            <a:srgbClr val="E4EFEB"/>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89976" y="2980944"/>
            <a:ext cx="3002280" cy="27797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WE DID</a:t>
            </a:r>
          </a:p>
          <a:p>
            <a:pPr algn="l">
              <a:spcAft>
                <a:spcPts val="600"/>
              </a:spcAft>
            </a:pPr>
            <a:r>
              <a:rPr sz="1300" b="0" i="0">
                <a:solidFill>
                  <a:srgbClr val="232323"/>
                </a:solidFill>
                <a:latin typeface="Segoe UI"/>
              </a:rPr>
              <a:t>Class weighting: mistakes on poor-outcome patients cost the model more during training, so it cannot ignore them. No synthetic data is added.</a:t>
            </a:r>
          </a:p>
          <a:p>
            <a:pPr algn="l">
              <a:spcAft>
                <a:spcPts val="600"/>
              </a:spcAft>
            </a:pPr>
            <a:r>
              <a:rPr sz="1300" b="0" i="0">
                <a:solidFill>
                  <a:srgbClr val="232323"/>
                </a:solidFill>
                <a:latin typeface="Segoe UI"/>
              </a:rPr>
              <a:t>Stratified splitting: training and test sets keep the same share of poor outcomes.</a:t>
            </a:r>
          </a:p>
          <a:p>
            <a:pPr algn="l">
              <a:spcAft>
                <a:spcPts val="600"/>
              </a:spcAft>
            </a:pPr>
            <a:r>
              <a:rPr sz="1300" b="0" i="0">
                <a:solidFill>
                  <a:srgbClr val="232323"/>
                </a:solidFill>
                <a:latin typeface="Segoe UI"/>
              </a:rPr>
              <a:t>Metrics built for the minority class: precision, recall and average precision.</a:t>
            </a:r>
          </a:p>
          <a:p>
            <a:pPr algn="l">
              <a:spcAft>
                <a:spcPts val="400"/>
              </a:spcAft>
            </a:pPr>
            <a:r>
              <a:rPr sz="1100" b="0" i="0">
                <a:solidFill>
                  <a:srgbClr val="44536A"/>
                </a:solidFill>
                <a:latin typeface="Segoe UI"/>
              </a:rPr>
              <a:t>Oversampling (SMOTE) was also considered; it adds made-up patients and can add noise, so weighting was preferred.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Precision and recall: which mistake is worse?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Two ways to be wrong. The service has to decide which one it can live with.</a:t>
            </a:r>
          </a:p>
        </p:txBody>
      </p:sp>
      <p:graphicFrame>
        <p:nvGraphicFramePr>
          <p:cNvPr id="4" name="Table 3"/>
          <p:cNvGraphicFramePr>
            <a:graphicFrameLocks noGrp="1"/>
          </p:cNvGraphicFramePr>
          <p:nvPr/>
        </p:nvGraphicFramePr>
        <p:xfrm>
          <a:off x="813816" y="1691640"/>
          <a:ext cx="5486397" cy="1700784"/>
        </p:xfrm>
        <a:graphic>
          <a:graphicData uri="http://schemas.openxmlformats.org/drawingml/2006/table">
            <a:tbl>
              <a:tblPr firstRow="0" bandRow="0">
                <a:tableStyleId>{5C22544A-7EE6-4342-B048-85BDC9FD1C3A}</a:tableStyleId>
              </a:tblPr>
              <a:tblGrid>
                <a:gridCol w="1737359"/>
                <a:gridCol w="1874519"/>
                <a:gridCol w="1874519"/>
              </a:tblGrid>
              <a:tr h="566928">
                <a:tc>
                  <a:txBody>
                    <a:bodyPr wrap="square"/>
                    <a:lstStyle/>
                    <a:p>
                      <a:r>
                        <a:rPr sz="1200" b="1" i="0">
                          <a:solidFill>
                            <a:srgbClr val="FFFFFF"/>
                          </a:solidFill>
                          <a:latin typeface="Segoe UI"/>
                        </a:rPr>
                        <a:t/>
                      </a:r>
                    </a:p>
                  </a:txBody>
                  <a:tcPr marL="73152" marR="73152" marT="36576" marB="36576" anchor="ctr">
                    <a:solidFill>
                      <a:srgbClr val="003E34"/>
                    </a:solidFill>
                  </a:tcPr>
                </a:tc>
                <a:tc>
                  <a:txBody>
                    <a:bodyPr wrap="square"/>
                    <a:lstStyle/>
                    <a:p>
                      <a:r>
                        <a:rPr sz="1200" b="1" i="0">
                          <a:solidFill>
                            <a:srgbClr val="FFFFFF"/>
                          </a:solidFill>
                          <a:latin typeface="Segoe UI"/>
                        </a:rPr>
                        <a:t>Model says: poor outcome</a:t>
                      </a:r>
                    </a:p>
                  </a:txBody>
                  <a:tcPr marL="73152" marR="73152" marT="36576" marB="36576" anchor="ctr">
                    <a:solidFill>
                      <a:srgbClr val="003E34"/>
                    </a:solidFill>
                  </a:tcPr>
                </a:tc>
                <a:tc>
                  <a:txBody>
                    <a:bodyPr wrap="square"/>
                    <a:lstStyle/>
                    <a:p>
                      <a:r>
                        <a:rPr sz="1200" b="1" i="0">
                          <a:solidFill>
                            <a:srgbClr val="FFFFFF"/>
                          </a:solidFill>
                          <a:latin typeface="Segoe UI"/>
                        </a:rPr>
                        <a:t>Model says: good outcome</a:t>
                      </a:r>
                    </a:p>
                  </a:txBody>
                  <a:tcPr marL="73152" marR="73152" marT="36576" marB="36576" anchor="ctr">
                    <a:solidFill>
                      <a:srgbClr val="003E34"/>
                    </a:solidFill>
                  </a:tcPr>
                </a:tc>
              </a:tr>
              <a:tr h="566928">
                <a:tc>
                  <a:txBody>
                    <a:bodyPr wrap="square"/>
                    <a:lstStyle/>
                    <a:p>
                      <a:r>
                        <a:rPr sz="1200" b="1" i="0">
                          <a:solidFill>
                            <a:srgbClr val="232323"/>
                          </a:solidFill>
                          <a:latin typeface="Segoe UI"/>
                        </a:rPr>
                        <a:t>Actually poor outcome</a:t>
                      </a:r>
                    </a:p>
                  </a:txBody>
                  <a:tcPr marL="73152" marR="73152" marT="36576" marB="36576" anchor="ctr">
                    <a:solidFill>
                      <a:srgbClr val="FFFFFF"/>
                    </a:solidFill>
                  </a:tcPr>
                </a:tc>
                <a:tc>
                  <a:txBody>
                    <a:bodyPr wrap="square"/>
                    <a:lstStyle/>
                    <a:p>
                      <a:r>
                        <a:rPr sz="1200" b="0" i="0">
                          <a:solidFill>
                            <a:srgbClr val="232323"/>
                          </a:solidFill>
                          <a:latin typeface="Segoe UI"/>
                        </a:rPr>
                        <a:t>True positive — found</a:t>
                      </a:r>
                    </a:p>
                  </a:txBody>
                  <a:tcPr marL="73152" marR="73152" marT="36576" marB="36576" anchor="ctr">
                    <a:solidFill>
                      <a:srgbClr val="FFFFFF"/>
                    </a:solidFill>
                  </a:tcPr>
                </a:tc>
                <a:tc>
                  <a:txBody>
                    <a:bodyPr wrap="square"/>
                    <a:lstStyle/>
                    <a:p>
                      <a:r>
                        <a:rPr sz="1200" b="0" i="0">
                          <a:solidFill>
                            <a:srgbClr val="232323"/>
                          </a:solidFill>
                          <a:latin typeface="Segoe UI"/>
                        </a:rPr>
                        <a:t>False negative — missed</a:t>
                      </a:r>
                    </a:p>
                  </a:txBody>
                  <a:tcPr marL="73152" marR="73152" marT="36576" marB="36576" anchor="ctr">
                    <a:solidFill>
                      <a:srgbClr val="FFFFFF"/>
                    </a:solidFill>
                  </a:tcPr>
                </a:tc>
              </a:tr>
              <a:tr h="566928">
                <a:tc>
                  <a:txBody>
                    <a:bodyPr wrap="square"/>
                    <a:lstStyle/>
                    <a:p>
                      <a:r>
                        <a:rPr sz="1200" b="1" i="0">
                          <a:solidFill>
                            <a:srgbClr val="232323"/>
                          </a:solidFill>
                          <a:latin typeface="Segoe UI"/>
                        </a:rPr>
                        <a:t>Actually good outcome</a:t>
                      </a:r>
                    </a:p>
                  </a:txBody>
                  <a:tcPr marL="73152" marR="73152" marT="36576" marB="36576" anchor="ctr">
                    <a:solidFill>
                      <a:srgbClr val="F6F8F7"/>
                    </a:solidFill>
                  </a:tcPr>
                </a:tc>
                <a:tc>
                  <a:txBody>
                    <a:bodyPr wrap="square"/>
                    <a:lstStyle/>
                    <a:p>
                      <a:r>
                        <a:rPr sz="1200" b="0" i="0">
                          <a:solidFill>
                            <a:srgbClr val="232323"/>
                          </a:solidFill>
                          <a:latin typeface="Segoe UI"/>
                        </a:rPr>
                        <a:t>False positive — wrongly flagged</a:t>
                      </a:r>
                    </a:p>
                  </a:txBody>
                  <a:tcPr marL="73152" marR="73152" marT="36576" marB="36576" anchor="ctr">
                    <a:solidFill>
                      <a:srgbClr val="F6F8F7"/>
                    </a:solidFill>
                  </a:tcPr>
                </a:tc>
                <a:tc>
                  <a:txBody>
                    <a:bodyPr wrap="square"/>
                    <a:lstStyle/>
                    <a:p>
                      <a:r>
                        <a:rPr sz="1200" b="0" i="0">
                          <a:solidFill>
                            <a:srgbClr val="232323"/>
                          </a:solidFill>
                          <a:latin typeface="Segoe UI"/>
                        </a:rPr>
                        <a:t>True negative</a:t>
                      </a:r>
                    </a:p>
                  </a:txBody>
                  <a:tcPr marL="73152" marR="73152" marT="36576" marB="36576" anchor="ctr">
                    <a:solidFill>
                      <a:srgbClr val="F6F8F7"/>
                    </a:solidFill>
                  </a:tcPr>
                </a:tc>
              </a:tr>
            </a:tbl>
          </a:graphicData>
        </a:graphic>
      </p:graphicFrame>
      <p:sp>
        <p:nvSpPr>
          <p:cNvPr id="5" name="Rounded Rectangle 4"/>
          <p:cNvSpPr/>
          <p:nvPr/>
        </p:nvSpPr>
        <p:spPr>
          <a:xfrm>
            <a:off x="813816" y="3520440"/>
            <a:ext cx="5486400" cy="214884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696" y="3666744"/>
            <a:ext cx="5120640" cy="1819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TWO NUMBERS</a:t>
            </a:r>
          </a:p>
          <a:p>
            <a:pPr algn="l">
              <a:spcAft>
                <a:spcPts val="600"/>
              </a:spcAft>
            </a:pPr>
            <a:r>
              <a:rPr sz="1300" b="0" i="0">
                <a:solidFill>
                  <a:srgbClr val="232323"/>
                </a:solidFill>
                <a:latin typeface="Segoe UI"/>
              </a:rPr>
              <a:t>Precision: of the patients we flag, how many really have a poor outcome. High precision = few false alarms.</a:t>
            </a:r>
          </a:p>
          <a:p>
            <a:pPr algn="l">
              <a:spcAft>
                <a:spcPts val="600"/>
              </a:spcAft>
            </a:pPr>
            <a:r>
              <a:rPr sz="1300" b="0" i="0">
                <a:solidFill>
                  <a:srgbClr val="232323"/>
                </a:solidFill>
                <a:latin typeface="Segoe UI"/>
              </a:rPr>
              <a:t>Recall: of all patients with a poor outcome, how many we flag. High recall = few missed.</a:t>
            </a:r>
          </a:p>
          <a:p>
            <a:pPr algn="l">
              <a:spcAft>
                <a:spcPts val="600"/>
              </a:spcAft>
            </a:pPr>
            <a:r>
              <a:rPr sz="1300" b="0" i="0">
                <a:solidFill>
                  <a:srgbClr val="232323"/>
                </a:solidFill>
                <a:latin typeface="Segoe UI"/>
              </a:rPr>
              <a:t>Pushing one up pushes the other down. You cannot have both from the same model.</a:t>
            </a:r>
          </a:p>
        </p:txBody>
      </p:sp>
      <p:sp>
        <p:nvSpPr>
          <p:cNvPr id="7" name="Rounded Rectangle 6"/>
          <p:cNvSpPr/>
          <p:nvPr/>
        </p:nvSpPr>
        <p:spPr>
          <a:xfrm>
            <a:off x="6537960" y="1691640"/>
            <a:ext cx="4837176" cy="3977639"/>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20840" y="1837944"/>
            <a:ext cx="4471416" cy="36484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WHY WE PUT PRECISION FIRST</a:t>
            </a:r>
          </a:p>
          <a:p>
            <a:pPr algn="l">
              <a:spcAft>
                <a:spcPts val="400"/>
              </a:spcAft>
            </a:pPr>
            <a:r>
              <a:rPr sz="1600" b="1" i="0">
                <a:solidFill>
                  <a:srgbClr val="003E34"/>
                </a:solidFill>
                <a:latin typeface="Segoe UI"/>
              </a:rPr>
              <a:t>A false alarm has a high cost</a:t>
            </a:r>
          </a:p>
          <a:p>
            <a:pPr algn="l">
              <a:spcAft>
                <a:spcPts val="600"/>
              </a:spcAft>
            </a:pPr>
            <a:r>
              <a:rPr sz="1300" b="0" i="0">
                <a:solidFill>
                  <a:srgbClr val="232323"/>
                </a:solidFill>
                <a:latin typeface="Segoe UI"/>
              </a:rPr>
              <a:t>If we wrongly flag a patient with a good outlook, the model might lead them to forgo an operation that would have helped. When the model says “likely to score poorly”, that has to be right.</a:t>
            </a:r>
          </a:p>
          <a:p>
            <a:pPr algn="l">
              <a:spcAft>
                <a:spcPts val="600"/>
              </a:spcAft>
            </a:pPr>
            <a:r>
              <a:rPr sz="1300" b="0" i="0">
                <a:solidFill>
                  <a:srgbClr val="232323"/>
                </a:solidFill>
                <a:latin typeface="Segoe UI"/>
              </a:rPr>
              <a:t>Missing some poor outcomes is less critical for the individual: they have the surgery, score less than ideal, but usually still gain some points.</a:t>
            </a:r>
          </a:p>
          <a:p>
            <a:pPr algn="l">
              <a:spcAft>
                <a:spcPts val="600"/>
              </a:spcAft>
            </a:pPr>
            <a:r>
              <a:rPr sz="1300" b="0" i="0">
                <a:solidFill>
                  <a:srgbClr val="232323"/>
                </a:solidFill>
                <a:latin typeface="Segoe UI"/>
              </a:rPr>
              <a:t>So we favour precision, but we still want to reach enough patients to make a difference — recall is not ignored, it is the price we track.</a:t>
            </a:r>
          </a:p>
          <a:p>
            <a:pPr algn="l">
              <a:spcAft>
                <a:spcPts val="400"/>
              </a:spcAft>
            </a:pPr>
            <a:r>
              <a:rPr sz="1100" b="0" i="0">
                <a:solidFill>
                  <a:srgbClr val="44536A"/>
                </a:solidFill>
                <a:latin typeface="Segoe UI"/>
              </a:rPr>
              <a:t>Average precision (the area under the precision–recall curve) summarises the whole trade-off in one number and is our headline metric.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From a probability to a decision: the threshold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A cut-off turns the probability into a yes or no. Moving it moves precision and recall in opposite directions.</a:t>
            </a:r>
          </a:p>
        </p:txBody>
      </p:sp>
      <p:graphicFrame>
        <p:nvGraphicFramePr>
          <p:cNvPr id="4" name="Table 3"/>
          <p:cNvGraphicFramePr>
            <a:graphicFrameLocks noGrp="1"/>
          </p:cNvGraphicFramePr>
          <p:nvPr/>
        </p:nvGraphicFramePr>
        <p:xfrm>
          <a:off x="813816" y="1691640"/>
          <a:ext cx="6309360" cy="1700784"/>
        </p:xfrm>
        <a:graphic>
          <a:graphicData uri="http://schemas.openxmlformats.org/drawingml/2006/table">
            <a:tbl>
              <a:tblPr firstRow="0" bandRow="0">
                <a:tableStyleId>{5C22544A-7EE6-4342-B048-85BDC9FD1C3A}</a:tableStyleId>
              </a:tblPr>
              <a:tblGrid>
                <a:gridCol w="1234440"/>
                <a:gridCol w="1097280"/>
                <a:gridCol w="1005840"/>
                <a:gridCol w="2971800"/>
              </a:tblGrid>
              <a:tr h="566928">
                <a:tc>
                  <a:txBody>
                    <a:bodyPr wrap="square"/>
                    <a:lstStyle/>
                    <a:p>
                      <a:r>
                        <a:rPr sz="1200" b="1" i="0">
                          <a:solidFill>
                            <a:srgbClr val="FFFFFF"/>
                          </a:solidFill>
                          <a:latin typeface="Segoe UI"/>
                        </a:rPr>
                        <a:t>Cut-off</a:t>
                      </a:r>
                    </a:p>
                  </a:txBody>
                  <a:tcPr marL="73152" marR="73152" marT="36576" marB="36576" anchor="ctr">
                    <a:solidFill>
                      <a:srgbClr val="003E34"/>
                    </a:solidFill>
                  </a:tcPr>
                </a:tc>
                <a:tc>
                  <a:txBody>
                    <a:bodyPr wrap="square"/>
                    <a:lstStyle/>
                    <a:p>
                      <a:r>
                        <a:rPr sz="1200" b="1" i="0">
                          <a:solidFill>
                            <a:srgbClr val="FFFFFF"/>
                          </a:solidFill>
                          <a:latin typeface="Segoe UI"/>
                        </a:rPr>
                        <a:t>Precision</a:t>
                      </a:r>
                    </a:p>
                  </a:txBody>
                  <a:tcPr marL="73152" marR="73152" marT="36576" marB="36576" anchor="ctr">
                    <a:solidFill>
                      <a:srgbClr val="003E34"/>
                    </a:solidFill>
                  </a:tcPr>
                </a:tc>
                <a:tc>
                  <a:txBody>
                    <a:bodyPr wrap="square"/>
                    <a:lstStyle/>
                    <a:p>
                      <a:r>
                        <a:rPr sz="1200" b="1" i="0">
                          <a:solidFill>
                            <a:srgbClr val="FFFFFF"/>
                          </a:solidFill>
                          <a:latin typeface="Segoe UI"/>
                        </a:rPr>
                        <a:t>Recall</a:t>
                      </a:r>
                    </a:p>
                  </a:txBody>
                  <a:tcPr marL="73152" marR="73152" marT="36576" marB="36576" anchor="ctr">
                    <a:solidFill>
                      <a:srgbClr val="003E34"/>
                    </a:solidFill>
                  </a:tcPr>
                </a:tc>
                <a:tc>
                  <a:txBody>
                    <a:bodyPr wrap="square"/>
                    <a:lstStyle/>
                    <a:p>
                      <a:r>
                        <a:rPr sz="1200" b="1" i="0">
                          <a:solidFill>
                            <a:srgbClr val="FFFFFF"/>
                          </a:solidFill>
                          <a:latin typeface="Segoe UI"/>
                        </a:rPr>
                        <a:t>On the 25,997 test patients</a:t>
                      </a:r>
                    </a:p>
                  </a:txBody>
                  <a:tcPr marL="73152" marR="73152" marT="36576" marB="36576" anchor="ctr">
                    <a:solidFill>
                      <a:srgbClr val="003E34"/>
                    </a:solidFill>
                  </a:tcPr>
                </a:tc>
              </a:tr>
              <a:tr h="566928">
                <a:tc>
                  <a:txBody>
                    <a:bodyPr wrap="square"/>
                    <a:lstStyle/>
                    <a:p>
                      <a:r>
                        <a:rPr sz="1200" b="1" i="0">
                          <a:solidFill>
                            <a:srgbClr val="232323"/>
                          </a:solidFill>
                          <a:latin typeface="Segoe UI"/>
                        </a:rPr>
                        <a:t>0.50</a:t>
                      </a:r>
                    </a:p>
                  </a:txBody>
                  <a:tcPr marL="73152" marR="73152" marT="36576" marB="36576" anchor="ctr">
                    <a:solidFill>
                      <a:srgbClr val="FFFFFF"/>
                    </a:solidFill>
                  </a:tcPr>
                </a:tc>
                <a:tc>
                  <a:txBody>
                    <a:bodyPr wrap="square"/>
                    <a:lstStyle/>
                    <a:p>
                      <a:r>
                        <a:rPr sz="1200" b="0" i="0">
                          <a:solidFill>
                            <a:srgbClr val="232323"/>
                          </a:solidFill>
                          <a:latin typeface="Segoe UI"/>
                        </a:rPr>
                        <a:t>0.68</a:t>
                      </a:r>
                    </a:p>
                  </a:txBody>
                  <a:tcPr marL="73152" marR="73152" marT="36576" marB="36576" anchor="ctr">
                    <a:solidFill>
                      <a:srgbClr val="FFFFFF"/>
                    </a:solidFill>
                  </a:tcPr>
                </a:tc>
                <a:tc>
                  <a:txBody>
                    <a:bodyPr wrap="square"/>
                    <a:lstStyle/>
                    <a:p>
                      <a:r>
                        <a:rPr sz="1200" b="0" i="0">
                          <a:solidFill>
                            <a:srgbClr val="232323"/>
                          </a:solidFill>
                          <a:latin typeface="Segoe UI"/>
                        </a:rPr>
                        <a:t>0.099</a:t>
                      </a:r>
                    </a:p>
                  </a:txBody>
                  <a:tcPr marL="73152" marR="73152" marT="36576" marB="36576" anchor="ctr">
                    <a:solidFill>
                      <a:srgbClr val="FFFFFF"/>
                    </a:solidFill>
                  </a:tcPr>
                </a:tc>
                <a:tc>
                  <a:txBody>
                    <a:bodyPr wrap="square"/>
                    <a:lstStyle/>
                    <a:p>
                      <a:r>
                        <a:rPr sz="1200" b="0" i="0">
                          <a:solidFill>
                            <a:srgbClr val="232323"/>
                          </a:solidFill>
                          <a:latin typeface="Segoe UI"/>
                        </a:rPr>
                        <a:t>About 2 flags in 3 are right</a:t>
                      </a:r>
                    </a:p>
                  </a:txBody>
                  <a:tcPr marL="73152" marR="73152" marT="36576" marB="36576" anchor="ctr">
                    <a:solidFill>
                      <a:srgbClr val="FFFFFF"/>
                    </a:solidFill>
                  </a:tcPr>
                </a:tc>
              </a:tr>
              <a:tr h="566928">
                <a:tc>
                  <a:txBody>
                    <a:bodyPr wrap="square"/>
                    <a:lstStyle/>
                    <a:p>
                      <a:r>
                        <a:rPr sz="1200" b="1" i="0">
                          <a:solidFill>
                            <a:srgbClr val="232323"/>
                          </a:solidFill>
                          <a:latin typeface="Segoe UI"/>
                        </a:rPr>
                        <a:t>0.62  (in use)</a:t>
                      </a:r>
                    </a:p>
                  </a:txBody>
                  <a:tcPr marL="73152" marR="73152" marT="36576" marB="36576" anchor="ctr">
                    <a:solidFill>
                      <a:srgbClr val="F6F8F7"/>
                    </a:solidFill>
                  </a:tcPr>
                </a:tc>
                <a:tc>
                  <a:txBody>
                    <a:bodyPr wrap="square"/>
                    <a:lstStyle/>
                    <a:p>
                      <a:r>
                        <a:rPr sz="1200" b="0" i="0">
                          <a:solidFill>
                            <a:srgbClr val="232323"/>
                          </a:solidFill>
                          <a:latin typeface="Segoe UI"/>
                        </a:rPr>
                        <a:t>0.80</a:t>
                      </a:r>
                    </a:p>
                  </a:txBody>
                  <a:tcPr marL="73152" marR="73152" marT="36576" marB="36576" anchor="ctr">
                    <a:solidFill>
                      <a:srgbClr val="F6F8F7"/>
                    </a:solidFill>
                  </a:tcPr>
                </a:tc>
                <a:tc>
                  <a:txBody>
                    <a:bodyPr wrap="square"/>
                    <a:lstStyle/>
                    <a:p>
                      <a:r>
                        <a:rPr sz="1200" b="0" i="0">
                          <a:solidFill>
                            <a:srgbClr val="232323"/>
                          </a:solidFill>
                          <a:latin typeface="Segoe UI"/>
                        </a:rPr>
                        <a:t>0.056</a:t>
                      </a:r>
                    </a:p>
                  </a:txBody>
                  <a:tcPr marL="73152" marR="73152" marT="36576" marB="36576" anchor="ctr">
                    <a:solidFill>
                      <a:srgbClr val="F6F8F7"/>
                    </a:solidFill>
                  </a:tcPr>
                </a:tc>
                <a:tc>
                  <a:txBody>
                    <a:bodyPr wrap="square"/>
                    <a:lstStyle/>
                    <a:p>
                      <a:r>
                        <a:rPr sz="1200" b="0" i="0">
                          <a:solidFill>
                            <a:srgbClr val="232323"/>
                          </a:solidFill>
                          <a:latin typeface="Segoe UI"/>
                        </a:rPr>
                        <a:t>300 flagged · 60 of them unnecessary · 4,055 poor outcomes missed</a:t>
                      </a:r>
                    </a:p>
                  </a:txBody>
                  <a:tcPr marL="73152" marR="73152" marT="36576" marB="36576" anchor="ctr">
                    <a:solidFill>
                      <a:srgbClr val="F6F8F7"/>
                    </a:solidFill>
                  </a:tcPr>
                </a:tc>
              </a:tr>
            </a:tbl>
          </a:graphicData>
        </a:graphic>
      </p:graphicFrame>
      <p:sp>
        <p:nvSpPr>
          <p:cNvPr id="5" name="TextBox 4"/>
          <p:cNvSpPr txBox="1"/>
          <p:nvPr/>
        </p:nvSpPr>
        <p:spPr>
          <a:xfrm>
            <a:off x="813816" y="3566160"/>
            <a:ext cx="6309360" cy="457200"/>
          </a:xfrm>
          <a:prstGeom prst="rect">
            <a:avLst/>
          </a:prstGeom>
          <a:noFill/>
        </p:spPr>
        <p:txBody>
          <a:bodyPr wrap="square" anchor="t" lIns="27432" rIns="27432" tIns="18288" bIns="18288">
            <a:spAutoFit/>
          </a:bodyPr>
          <a:lstStyle/>
          <a:p>
            <a:pPr algn="l">
              <a:spcAft>
                <a:spcPts val="400"/>
              </a:spcAft>
            </a:pPr>
            <a:r>
              <a:rPr sz="1100" b="0" i="0">
                <a:solidFill>
                  <a:srgbClr val="44536A"/>
                </a:solidFill>
                <a:latin typeface="Segoe UI"/>
              </a:rPr>
              <a:t>Calibrated EBM on the held-out test set, from the Fabric threshold analysis.</a:t>
            </a:r>
          </a:p>
        </p:txBody>
      </p:sp>
      <p:sp>
        <p:nvSpPr>
          <p:cNvPr id="6" name="Rounded Rectangle 5"/>
          <p:cNvSpPr/>
          <p:nvPr/>
        </p:nvSpPr>
        <p:spPr>
          <a:xfrm>
            <a:off x="813816" y="3977639"/>
            <a:ext cx="6309360" cy="169164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96696" y="4123944"/>
            <a:ext cx="5943600" cy="1362456"/>
          </a:xfrm>
          <a:prstGeom prst="rect">
            <a:avLst/>
          </a:prstGeom>
          <a:noFill/>
        </p:spPr>
        <p:txBody>
          <a:bodyPr wrap="square" anchor="t" lIns="27432" rIns="27432" tIns="18288" bIns="18288">
            <a:spAutoFit/>
          </a:bodyPr>
          <a:lstStyle/>
          <a:p>
            <a:pPr algn="l">
              <a:spcAft>
                <a:spcPts val="600"/>
              </a:spcAft>
            </a:pPr>
            <a:r>
              <a:rPr sz="1300" b="0" i="0">
                <a:solidFill>
                  <a:srgbClr val="232323"/>
                </a:solidFill>
                <a:latin typeface="Segoe UI"/>
              </a:rPr>
              <a:t>Raise the cut-off: fewer patients flagged, almost all of them correct, most poor outcomes missed.</a:t>
            </a:r>
          </a:p>
          <a:p>
            <a:pPr algn="l">
              <a:spcAft>
                <a:spcPts val="600"/>
              </a:spcAft>
            </a:pPr>
            <a:r>
              <a:rPr sz="1300" b="0" i="0">
                <a:solidFill>
                  <a:srgbClr val="232323"/>
                </a:solidFill>
                <a:latin typeface="Segoe UI"/>
              </a:rPr>
              <a:t>Lower it: more patients flagged, more of them wrongly.</a:t>
            </a:r>
          </a:p>
          <a:p>
            <a:pPr algn="l">
              <a:spcAft>
                <a:spcPts val="600"/>
              </a:spcAft>
            </a:pPr>
            <a:r>
              <a:rPr sz="1300" b="0" i="0">
                <a:solidFill>
                  <a:srgbClr val="232323"/>
                </a:solidFill>
                <a:latin typeface="Segoe UI"/>
              </a:rPr>
              <a:t>Nothing in the data tells you which of those is better. That is a judgement about the service.</a:t>
            </a:r>
          </a:p>
        </p:txBody>
      </p:sp>
      <p:sp>
        <p:nvSpPr>
          <p:cNvPr id="8" name="Rounded Rectangle 7"/>
          <p:cNvSpPr/>
          <p:nvPr/>
        </p:nvSpPr>
        <p:spPr>
          <a:xfrm>
            <a:off x="7360920" y="1691640"/>
            <a:ext cx="4014215"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543800" y="1837944"/>
            <a:ext cx="3648456" cy="36484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HOW TO READ THE TABLE</a:t>
            </a:r>
          </a:p>
          <a:p>
            <a:pPr algn="l">
              <a:spcAft>
                <a:spcPts val="600"/>
              </a:spcAft>
            </a:pPr>
            <a:r>
              <a:rPr sz="1300" b="0" i="0">
                <a:solidFill>
                  <a:srgbClr val="232323"/>
                </a:solidFill>
                <a:latin typeface="Segoe UI"/>
              </a:rPr>
              <a:t>At 0.50 the model is right about two flags in three, and finds about 1 poor outcome in 10.</a:t>
            </a:r>
          </a:p>
          <a:p>
            <a:pPr algn="l">
              <a:spcAft>
                <a:spcPts val="600"/>
              </a:spcAft>
            </a:pPr>
            <a:r>
              <a:rPr sz="1300" b="0" i="0">
                <a:solidFill>
                  <a:srgbClr val="232323"/>
                </a:solidFill>
                <a:latin typeface="Segoe UI"/>
              </a:rPr>
              <a:t>At 0.62 four flags in five are right, and about 1 poor outcome in 18 is found. That was chosen by holding precision at 80%.</a:t>
            </a:r>
          </a:p>
          <a:p>
            <a:pPr algn="l">
              <a:spcAft>
                <a:spcPts val="600"/>
              </a:spcAft>
            </a:pPr>
            <a:r>
              <a:rPr sz="1300" b="0" i="0">
                <a:solidFill>
                  <a:srgbClr val="232323"/>
                </a:solidFill>
                <a:latin typeface="Segoe UI"/>
              </a:rPr>
              <a:t>Precision rises with the cut-off in every model we tried; recall falls just as reliably.</a:t>
            </a:r>
          </a:p>
          <a:p>
            <a:pPr algn="l">
              <a:spcAft>
                <a:spcPts val="600"/>
              </a:spcAft>
            </a:pPr>
            <a:r>
              <a:rPr sz="1300" b="1" i="0">
                <a:solidFill>
                  <a:srgbClr val="232323"/>
                </a:solidFill>
                <a:latin typeface="Segoe UI"/>
              </a:rPr>
              <a:t>The cut-off is a policy choice: it depends on how many patients the service can review and on which mistake it can live with. It is not a property of the model.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Train, validate, test</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split happens first. Everything the model learns is learned from the training patients only.</a:t>
            </a:r>
          </a:p>
        </p:txBody>
      </p:sp>
      <p:sp>
        <p:nvSpPr>
          <p:cNvPr id="4" name="Rounded Rectangle 3"/>
          <p:cNvSpPr/>
          <p:nvPr/>
        </p:nvSpPr>
        <p:spPr>
          <a:xfrm>
            <a:off x="813816" y="1737360"/>
            <a:ext cx="3291840" cy="1874519"/>
          </a:xfrm>
          <a:prstGeom prst="roundRect">
            <a:avLst>
              <a:gd name="adj" fmla="val 5000"/>
            </a:avLst>
          </a:prstGeom>
          <a:solidFill>
            <a:srgbClr val="003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2926080" cy="1545336"/>
          </a:xfrm>
          <a:prstGeom prst="rect">
            <a:avLst/>
          </a:prstGeom>
          <a:noFill/>
        </p:spPr>
        <p:txBody>
          <a:bodyPr wrap="square" anchor="t" lIns="27432" rIns="27432" tIns="18288" bIns="18288">
            <a:spAutoFit/>
          </a:bodyPr>
          <a:lstStyle/>
          <a:p>
            <a:pPr algn="l">
              <a:spcAft>
                <a:spcPts val="300"/>
              </a:spcAft>
            </a:pPr>
            <a:r>
              <a:rPr sz="1100" b="1" i="0">
                <a:solidFill>
                  <a:srgbClr val="BFD9D2"/>
                </a:solidFill>
                <a:latin typeface="Segoe UI"/>
              </a:rPr>
              <a:t>STEP 1</a:t>
            </a:r>
          </a:p>
          <a:p>
            <a:pPr algn="l">
              <a:spcAft>
                <a:spcPts val="400"/>
              </a:spcAft>
            </a:pPr>
            <a:r>
              <a:rPr sz="1600" b="1" i="0">
                <a:solidFill>
                  <a:srgbClr val="FFFFFF"/>
                </a:solidFill>
                <a:latin typeface="Segoe UI"/>
              </a:rPr>
              <a:t>Split</a:t>
            </a:r>
          </a:p>
          <a:p>
            <a:pPr algn="l">
              <a:spcAft>
                <a:spcPts val="600"/>
              </a:spcAft>
            </a:pPr>
            <a:r>
              <a:rPr sz="1300" b="0" i="0">
                <a:solidFill>
                  <a:srgbClr val="FFFFFF"/>
                </a:solidFill>
                <a:latin typeface="Segoe UI"/>
              </a:rPr>
              <a:t>80% training, 20% test, keeping the same share of poor outcomes in both.</a:t>
            </a:r>
          </a:p>
        </p:txBody>
      </p:sp>
      <p:sp>
        <p:nvSpPr>
          <p:cNvPr id="6" name="TextBox 5"/>
          <p:cNvSpPr txBox="1"/>
          <p:nvPr/>
        </p:nvSpPr>
        <p:spPr>
          <a:xfrm>
            <a:off x="4087368" y="242316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7" name="Rounded Rectangle 6"/>
          <p:cNvSpPr/>
          <p:nvPr/>
        </p:nvSpPr>
        <p:spPr>
          <a:xfrm>
            <a:off x="4448556" y="1737360"/>
            <a:ext cx="3291840" cy="187451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31436" y="1883664"/>
            <a:ext cx="2926080" cy="154533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STEP 2</a:t>
            </a:r>
          </a:p>
          <a:p>
            <a:pPr algn="l">
              <a:spcAft>
                <a:spcPts val="400"/>
              </a:spcAft>
            </a:pPr>
            <a:r>
              <a:rPr sz="1600" b="1" i="0">
                <a:solidFill>
                  <a:srgbClr val="003E34"/>
                </a:solidFill>
                <a:latin typeface="Segoe UI"/>
              </a:rPr>
              <a:t>Fill in, encode, tune — on training only</a:t>
            </a:r>
          </a:p>
          <a:p>
            <a:pPr algn="l">
              <a:spcAft>
                <a:spcPts val="600"/>
              </a:spcAft>
            </a:pPr>
            <a:r>
              <a:rPr sz="1300" b="0" i="0">
                <a:solidFill>
                  <a:srgbClr val="232323"/>
                </a:solidFill>
                <a:latin typeface="Segoe UI"/>
              </a:rPr>
              <a:t>Imputation and encoding are fitted on the training patients. Model settings are chosen by cross-validation inside the training set.</a:t>
            </a:r>
          </a:p>
        </p:txBody>
      </p:sp>
      <p:sp>
        <p:nvSpPr>
          <p:cNvPr id="9" name="TextBox 8"/>
          <p:cNvSpPr txBox="1"/>
          <p:nvPr/>
        </p:nvSpPr>
        <p:spPr>
          <a:xfrm>
            <a:off x="7722108" y="242316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10" name="Rounded Rectangle 9"/>
          <p:cNvSpPr/>
          <p:nvPr/>
        </p:nvSpPr>
        <p:spPr>
          <a:xfrm>
            <a:off x="8083296" y="1737360"/>
            <a:ext cx="3291840" cy="187451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66175" y="1883664"/>
            <a:ext cx="2926080" cy="154533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STEP 3</a:t>
            </a:r>
          </a:p>
          <a:p>
            <a:pPr algn="l">
              <a:spcAft>
                <a:spcPts val="400"/>
              </a:spcAft>
            </a:pPr>
            <a:r>
              <a:rPr sz="1600" b="1" i="0">
                <a:solidFill>
                  <a:srgbClr val="003E34"/>
                </a:solidFill>
                <a:latin typeface="Segoe UI"/>
              </a:rPr>
              <a:t>Evaluate once</a:t>
            </a:r>
          </a:p>
          <a:p>
            <a:pPr algn="l">
              <a:spcAft>
                <a:spcPts val="600"/>
              </a:spcAft>
            </a:pPr>
            <a:r>
              <a:rPr sz="1300" b="0" i="0">
                <a:solidFill>
                  <a:srgbClr val="232323"/>
                </a:solidFill>
                <a:latin typeface="Segoe UI"/>
              </a:rPr>
              <a:t>The test set is used once, at the end, for the numbers we report.</a:t>
            </a:r>
          </a:p>
        </p:txBody>
      </p:sp>
      <p:sp>
        <p:nvSpPr>
          <p:cNvPr id="12" name="Rounded Rectangle 11"/>
          <p:cNvSpPr/>
          <p:nvPr/>
        </p:nvSpPr>
        <p:spPr>
          <a:xfrm>
            <a:off x="813816" y="3840480"/>
            <a:ext cx="5166360" cy="201168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96696" y="3986784"/>
            <a:ext cx="4800600" cy="168249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CROSS-VALIDATION · HOW THE SETTINGS ARE CHOSEN</a:t>
            </a:r>
          </a:p>
          <a:p>
            <a:pPr algn="l">
              <a:spcAft>
                <a:spcPts val="600"/>
              </a:spcAft>
            </a:pPr>
            <a:r>
              <a:rPr sz="1200" b="0" i="0">
                <a:solidFill>
                  <a:srgbClr val="232323"/>
                </a:solidFill>
                <a:latin typeface="Segoe UI"/>
              </a:rPr>
              <a:t>The training set is cut into 5 folds. Each candidate setting is trained on 4 folds and scored on the 5th, five times over, and the scores are averaged.</a:t>
            </a:r>
          </a:p>
          <a:p>
            <a:pPr algn="l">
              <a:spcAft>
                <a:spcPts val="600"/>
              </a:spcAft>
            </a:pPr>
            <a:r>
              <a:rPr sz="1200" b="0" i="0">
                <a:solidFill>
                  <a:srgbClr val="232323"/>
                </a:solidFill>
                <a:latin typeface="Segoe UI"/>
              </a:rPr>
              <a:t>Every model has settings to choose (tree depth, learning rate, number of rounds). Cross-validation picks them without ever touching the test set.</a:t>
            </a:r>
          </a:p>
          <a:p>
            <a:pPr algn="l">
              <a:spcAft>
                <a:spcPts val="600"/>
              </a:spcAft>
            </a:pPr>
            <a:r>
              <a:rPr sz="1200" b="0" i="0">
                <a:solidFill>
                  <a:srgbClr val="232323"/>
                </a:solidFill>
                <a:latin typeface="Segoe UI"/>
              </a:rPr>
              <a:t>Each of these runs is recorded in the Fabric experiment, so the winning settings can be promoted rather than retyped.</a:t>
            </a:r>
          </a:p>
        </p:txBody>
      </p:sp>
      <p:sp>
        <p:nvSpPr>
          <p:cNvPr id="14" name="Rounded Rectangle 13"/>
          <p:cNvSpPr/>
          <p:nvPr/>
        </p:nvSpPr>
        <p:spPr>
          <a:xfrm>
            <a:off x="6208776" y="3840480"/>
            <a:ext cx="5166360" cy="201168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91656" y="3986784"/>
            <a:ext cx="4800600" cy="168249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THREE CHECKS BEFORE ANY MODEL IS FITTED</a:t>
            </a:r>
          </a:p>
          <a:p>
            <a:pPr algn="l">
              <a:spcAft>
                <a:spcPts val="600"/>
              </a:spcAft>
            </a:pPr>
            <a:r>
              <a:rPr sz="1200" b="0" i="0">
                <a:solidFill>
                  <a:srgbClr val="232323"/>
                </a:solidFill>
                <a:latin typeface="Segoe UI"/>
              </a:rPr>
              <a:t>•  No after-surgery column can be a feature (nothing from the six-month questionnaire).</a:t>
            </a:r>
          </a:p>
          <a:p>
            <a:pPr algn="l">
              <a:spcAft>
                <a:spcPts val="600"/>
              </a:spcAft>
            </a:pPr>
            <a:r>
              <a:rPr sz="1200" b="0" i="0">
                <a:solidFill>
                  <a:srgbClr val="232323"/>
                </a:solidFill>
                <a:latin typeface="Segoe UI"/>
              </a:rPr>
              <a:t>•  Every feature the model expects really exists in the data.</a:t>
            </a:r>
          </a:p>
          <a:p>
            <a:pPr algn="l">
              <a:spcAft>
                <a:spcPts val="600"/>
              </a:spcAft>
            </a:pPr>
            <a:r>
              <a:rPr sz="1200" b="0" i="0">
                <a:solidFill>
                  <a:srgbClr val="232323"/>
                </a:solidFill>
                <a:latin typeface="Segoe UI"/>
              </a:rPr>
              <a:t>•  Age band and sex are never filled in by imputation.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572768"/>
            <a:ext cx="10543032" cy="1417320"/>
          </a:xfrm>
        </p:spPr>
        <p:txBody>
          <a:bodyPr anchor="ctr"/>
          <a:lstStyle/>
          <a:p>
            <a:r>
              <a:rPr sz="4800" b="1">
                <a:latin typeface="Segoe UI"/>
              </a:rPr>
              <a:t>Training and tracking in Fabric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Three models we compared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Same training data, same test data, same metrics. Only the model changes.</a:t>
            </a:r>
          </a:p>
        </p:txBody>
      </p:sp>
      <p:graphicFrame>
        <p:nvGraphicFramePr>
          <p:cNvPr id="4" name="Table 3"/>
          <p:cNvGraphicFramePr>
            <a:graphicFrameLocks noGrp="1"/>
          </p:cNvGraphicFramePr>
          <p:nvPr/>
        </p:nvGraphicFramePr>
        <p:xfrm>
          <a:off x="813816" y="1691640"/>
          <a:ext cx="10561317" cy="2926080"/>
        </p:xfrm>
        <a:graphic>
          <a:graphicData uri="http://schemas.openxmlformats.org/drawingml/2006/table">
            <a:tbl>
              <a:tblPr firstRow="0" bandRow="0">
                <a:tableStyleId>{5C22544A-7EE6-4342-B048-85BDC9FD1C3A}</a:tableStyleId>
              </a:tblPr>
              <a:tblGrid>
                <a:gridCol w="1866440"/>
                <a:gridCol w="2731375"/>
                <a:gridCol w="2048531"/>
                <a:gridCol w="1729871"/>
                <a:gridCol w="1047027"/>
                <a:gridCol w="1138073"/>
              </a:tblGrid>
              <a:tr h="731520">
                <a:tc>
                  <a:txBody>
                    <a:bodyPr wrap="square"/>
                    <a:lstStyle/>
                    <a:p>
                      <a:r>
                        <a:rPr sz="1200" b="1" i="0">
                          <a:solidFill>
                            <a:srgbClr val="FFFFFF"/>
                          </a:solidFill>
                          <a:latin typeface="Segoe UI"/>
                        </a:rPr>
                        <a:t>Model</a:t>
                      </a:r>
                    </a:p>
                  </a:txBody>
                  <a:tcPr marL="73152" marR="73152" marT="36576" marB="36576" anchor="ctr">
                    <a:solidFill>
                      <a:srgbClr val="003E34"/>
                    </a:solidFill>
                  </a:tcPr>
                </a:tc>
                <a:tc>
                  <a:txBody>
                    <a:bodyPr wrap="square"/>
                    <a:lstStyle/>
                    <a:p>
                      <a:r>
                        <a:rPr sz="1200" b="1" i="0">
                          <a:solidFill>
                            <a:srgbClr val="FFFFFF"/>
                          </a:solidFill>
                          <a:latin typeface="Segoe UI"/>
                        </a:rPr>
                        <a:t>How it works</a:t>
                      </a:r>
                    </a:p>
                  </a:txBody>
                  <a:tcPr marL="73152" marR="73152" marT="36576" marB="36576" anchor="ctr">
                    <a:solidFill>
                      <a:srgbClr val="003E34"/>
                    </a:solidFill>
                  </a:tcPr>
                </a:tc>
                <a:tc>
                  <a:txBody>
                    <a:bodyPr wrap="square"/>
                    <a:lstStyle/>
                    <a:p>
                      <a:r>
                        <a:rPr sz="1200" b="1" i="0">
                          <a:solidFill>
                            <a:srgbClr val="FFFFFF"/>
                          </a:solidFill>
                          <a:latin typeface="Segoe UI"/>
                        </a:rPr>
                        <a:t>Can a person read it?</a:t>
                      </a:r>
                    </a:p>
                  </a:txBody>
                  <a:tcPr marL="73152" marR="73152" marT="36576" marB="36576" anchor="ctr">
                    <a:solidFill>
                      <a:srgbClr val="003E34"/>
                    </a:solidFill>
                  </a:tcPr>
                </a:tc>
                <a:tc>
                  <a:txBody>
                    <a:bodyPr wrap="square"/>
                    <a:lstStyle/>
                    <a:p>
                      <a:r>
                        <a:rPr sz="1200" b="1" i="0">
                          <a:solidFill>
                            <a:srgbClr val="FFFFFF"/>
                          </a:solidFill>
                          <a:latin typeface="Segoe UI"/>
                        </a:rPr>
                        <a:t>Role</a:t>
                      </a:r>
                    </a:p>
                  </a:txBody>
                  <a:tcPr marL="73152" marR="73152" marT="36576" marB="36576" anchor="ctr">
                    <a:solidFill>
                      <a:srgbClr val="003E34"/>
                    </a:solidFill>
                  </a:tcPr>
                </a:tc>
                <a:tc>
                  <a:txBody>
                    <a:bodyPr wrap="square"/>
                    <a:lstStyle/>
                    <a:p>
                      <a:r>
                        <a:rPr sz="1200" b="1" i="0">
                          <a:solidFill>
                            <a:srgbClr val="FFFFFF"/>
                          </a:solidFill>
                          <a:latin typeface="Segoe UI"/>
                        </a:rPr>
                        <a:t>Average precision</a:t>
                      </a:r>
                    </a:p>
                  </a:txBody>
                  <a:tcPr marL="73152" marR="73152" marT="36576" marB="36576" anchor="ctr">
                    <a:solidFill>
                      <a:srgbClr val="003E34"/>
                    </a:solidFill>
                  </a:tcPr>
                </a:tc>
                <a:tc>
                  <a:txBody>
                    <a:bodyPr wrap="square"/>
                    <a:lstStyle/>
                    <a:p>
                      <a:r>
                        <a:rPr sz="1200" b="1" i="0">
                          <a:solidFill>
                            <a:srgbClr val="FFFFFF"/>
                          </a:solidFill>
                          <a:latin typeface="Segoe UI"/>
                        </a:rPr>
                        <a:t>Calibration error</a:t>
                      </a:r>
                    </a:p>
                  </a:txBody>
                  <a:tcPr marL="73152" marR="73152" marT="36576" marB="36576" anchor="ctr">
                    <a:solidFill>
                      <a:srgbClr val="003E34"/>
                    </a:solidFill>
                  </a:tcPr>
                </a:tc>
              </a:tr>
              <a:tr h="731520">
                <a:tc>
                  <a:txBody>
                    <a:bodyPr wrap="square"/>
                    <a:lstStyle/>
                    <a:p>
                      <a:r>
                        <a:rPr sz="1200" b="1" i="0">
                          <a:solidFill>
                            <a:srgbClr val="232323"/>
                          </a:solidFill>
                          <a:latin typeface="Segoe UI"/>
                        </a:rPr>
                        <a:t>Logistic regression</a:t>
                      </a:r>
                    </a:p>
                  </a:txBody>
                  <a:tcPr marL="73152" marR="73152" marT="36576" marB="36576" anchor="ctr">
                    <a:solidFill>
                      <a:srgbClr val="FFFFFF"/>
                    </a:solidFill>
                  </a:tcPr>
                </a:tc>
                <a:tc>
                  <a:txBody>
                    <a:bodyPr wrap="square"/>
                    <a:lstStyle/>
                    <a:p>
                      <a:r>
                        <a:rPr sz="1200" b="0" i="0">
                          <a:solidFill>
                            <a:srgbClr val="232323"/>
                          </a:solidFill>
                          <a:latin typeface="Segoe UI"/>
                        </a:rPr>
                        <a:t>One weight per variable, added up. Class-weighted so the minority class counts.</a:t>
                      </a:r>
                    </a:p>
                  </a:txBody>
                  <a:tcPr marL="73152" marR="73152" marT="36576" marB="36576" anchor="ctr">
                    <a:solidFill>
                      <a:srgbClr val="FFFFFF"/>
                    </a:solidFill>
                  </a:tcPr>
                </a:tc>
                <a:tc>
                  <a:txBody>
                    <a:bodyPr wrap="square"/>
                    <a:lstStyle/>
                    <a:p>
                      <a:r>
                        <a:rPr sz="1200" b="0" i="0">
                          <a:solidFill>
                            <a:srgbClr val="232323"/>
                          </a:solidFill>
                          <a:latin typeface="Segoe UI"/>
                        </a:rPr>
                        <a:t>Yes — a linear model</a:t>
                      </a:r>
                    </a:p>
                  </a:txBody>
                  <a:tcPr marL="73152" marR="73152" marT="36576" marB="36576" anchor="ctr">
                    <a:solidFill>
                      <a:srgbClr val="FFFFFF"/>
                    </a:solidFill>
                  </a:tcPr>
                </a:tc>
                <a:tc>
                  <a:txBody>
                    <a:bodyPr wrap="square"/>
                    <a:lstStyle/>
                    <a:p>
                      <a:r>
                        <a:rPr sz="1200" b="0" i="0">
                          <a:solidFill>
                            <a:srgbClr val="232323"/>
                          </a:solidFill>
                          <a:latin typeface="Segoe UI"/>
                        </a:rPr>
                        <a:t>Baseline: the floor to beat</a:t>
                      </a:r>
                    </a:p>
                  </a:txBody>
                  <a:tcPr marL="73152" marR="73152" marT="36576" marB="36576" anchor="ctr">
                    <a:solidFill>
                      <a:srgbClr val="FFFFFF"/>
                    </a:solidFill>
                  </a:tcPr>
                </a:tc>
                <a:tc>
                  <a:txBody>
                    <a:bodyPr wrap="square"/>
                    <a:lstStyle/>
                    <a:p>
                      <a:r>
                        <a:rPr sz="1200" b="0" i="0">
                          <a:solidFill>
                            <a:srgbClr val="232323"/>
                          </a:solidFill>
                          <a:latin typeface="Segoe UI"/>
                        </a:rPr>
                        <a:t>0.374</a:t>
                      </a:r>
                    </a:p>
                  </a:txBody>
                  <a:tcPr marL="73152" marR="73152" marT="36576" marB="36576" anchor="ctr">
                    <a:solidFill>
                      <a:srgbClr val="FFFFFF"/>
                    </a:solidFill>
                  </a:tcPr>
                </a:tc>
                <a:tc>
                  <a:txBody>
                    <a:bodyPr wrap="square"/>
                    <a:lstStyle/>
                    <a:p>
                      <a:r>
                        <a:rPr sz="1200" b="0" i="0">
                          <a:solidFill>
                            <a:srgbClr val="232323"/>
                          </a:solidFill>
                          <a:latin typeface="Segoe UI"/>
                        </a:rPr>
                        <a:t>0.288</a:t>
                      </a:r>
                    </a:p>
                  </a:txBody>
                  <a:tcPr marL="73152" marR="73152" marT="36576" marB="36576" anchor="ctr">
                    <a:solidFill>
                      <a:srgbClr val="FFFFFF"/>
                    </a:solidFill>
                  </a:tcPr>
                </a:tc>
              </a:tr>
              <a:tr h="731520">
                <a:tc>
                  <a:txBody>
                    <a:bodyPr wrap="square"/>
                    <a:lstStyle/>
                    <a:p>
                      <a:r>
                        <a:rPr sz="1200" b="1" i="0">
                          <a:solidFill>
                            <a:srgbClr val="232323"/>
                          </a:solidFill>
                          <a:latin typeface="Segoe UI"/>
                        </a:rPr>
                        <a:t>Random forest</a:t>
                      </a:r>
                    </a:p>
                  </a:txBody>
                  <a:tcPr marL="73152" marR="73152" marT="36576" marB="36576" anchor="ctr">
                    <a:solidFill>
                      <a:srgbClr val="F6F8F7"/>
                    </a:solidFill>
                  </a:tcPr>
                </a:tc>
                <a:tc>
                  <a:txBody>
                    <a:bodyPr wrap="square"/>
                    <a:lstStyle/>
                    <a:p>
                      <a:r>
                        <a:rPr sz="1200" b="0" i="0">
                          <a:solidFill>
                            <a:srgbClr val="232323"/>
                          </a:solidFill>
                          <a:latin typeface="Segoe UI"/>
                        </a:rPr>
                        <a:t>Hundreds of decision trees, averaged.</a:t>
                      </a:r>
                    </a:p>
                  </a:txBody>
                  <a:tcPr marL="73152" marR="73152" marT="36576" marB="36576" anchor="ctr">
                    <a:solidFill>
                      <a:srgbClr val="F6F8F7"/>
                    </a:solidFill>
                  </a:tcPr>
                </a:tc>
                <a:tc>
                  <a:txBody>
                    <a:bodyPr wrap="square"/>
                    <a:lstStyle/>
                    <a:p>
                      <a:r>
                        <a:rPr sz="1200" b="0" i="0">
                          <a:solidFill>
                            <a:srgbClr val="232323"/>
                          </a:solidFill>
                          <a:latin typeface="Segoe UI"/>
                        </a:rPr>
                        <a:t>No — needs a second method (SHAP) to explain it</a:t>
                      </a:r>
                    </a:p>
                  </a:txBody>
                  <a:tcPr marL="73152" marR="73152" marT="36576" marB="36576" anchor="ctr">
                    <a:solidFill>
                      <a:srgbClr val="F6F8F7"/>
                    </a:solidFill>
                  </a:tcPr>
                </a:tc>
                <a:tc>
                  <a:txBody>
                    <a:bodyPr wrap="square"/>
                    <a:lstStyle/>
                    <a:p>
                      <a:r>
                        <a:rPr sz="1200" b="0" i="0">
                          <a:solidFill>
                            <a:srgbClr val="232323"/>
                          </a:solidFill>
                          <a:latin typeface="Segoe UI"/>
                        </a:rPr>
                        <a:t>Challenger: strong but a black box</a:t>
                      </a:r>
                    </a:p>
                  </a:txBody>
                  <a:tcPr marL="73152" marR="73152" marT="36576" marB="36576" anchor="ctr">
                    <a:solidFill>
                      <a:srgbClr val="F6F8F7"/>
                    </a:solidFill>
                  </a:tcPr>
                </a:tc>
                <a:tc>
                  <a:txBody>
                    <a:bodyPr wrap="square"/>
                    <a:lstStyle/>
                    <a:p>
                      <a:r>
                        <a:rPr sz="1200" b="0" i="0">
                          <a:solidFill>
                            <a:srgbClr val="232323"/>
                          </a:solidFill>
                          <a:latin typeface="Segoe UI"/>
                        </a:rPr>
                        <a:t>0.378</a:t>
                      </a:r>
                    </a:p>
                  </a:txBody>
                  <a:tcPr marL="73152" marR="73152" marT="36576" marB="36576" anchor="ctr">
                    <a:solidFill>
                      <a:srgbClr val="F6F8F7"/>
                    </a:solidFill>
                  </a:tcPr>
                </a:tc>
                <a:tc>
                  <a:txBody>
                    <a:bodyPr wrap="square"/>
                    <a:lstStyle/>
                    <a:p>
                      <a:r>
                        <a:rPr sz="1200" b="0" i="0">
                          <a:solidFill>
                            <a:srgbClr val="232323"/>
                          </a:solidFill>
                          <a:latin typeface="Segoe UI"/>
                        </a:rPr>
                        <a:t>0.278</a:t>
                      </a:r>
                    </a:p>
                  </a:txBody>
                  <a:tcPr marL="73152" marR="73152" marT="36576" marB="36576" anchor="ctr">
                    <a:solidFill>
                      <a:srgbClr val="F6F8F7"/>
                    </a:solidFill>
                  </a:tcPr>
                </a:tc>
              </a:tr>
              <a:tr h="731520">
                <a:tc>
                  <a:txBody>
                    <a:bodyPr wrap="square"/>
                    <a:lstStyle/>
                    <a:p>
                      <a:r>
                        <a:rPr sz="1200" b="1" i="0">
                          <a:solidFill>
                            <a:srgbClr val="232323"/>
                          </a:solidFill>
                          <a:latin typeface="Segoe UI"/>
                        </a:rPr>
                        <a:t>Explainable boosting machine (EBM)</a:t>
                      </a:r>
                    </a:p>
                  </a:txBody>
                  <a:tcPr marL="73152" marR="73152" marT="36576" marB="36576" anchor="ctr">
                    <a:solidFill>
                      <a:srgbClr val="FFFFFF"/>
                    </a:solidFill>
                  </a:tcPr>
                </a:tc>
                <a:tc>
                  <a:txBody>
                    <a:bodyPr wrap="square"/>
                    <a:lstStyle/>
                    <a:p>
                      <a:r>
                        <a:rPr sz="1200" b="0" i="0">
                          <a:solidFill>
                            <a:srgbClr val="232323"/>
                          </a:solidFill>
                          <a:latin typeface="Segoe UI"/>
                        </a:rPr>
                        <a:t>One curve per variable, learned by boosting; prediction = the sum of the curves.</a:t>
                      </a:r>
                    </a:p>
                  </a:txBody>
                  <a:tcPr marL="73152" marR="73152" marT="36576" marB="36576" anchor="ctr">
                    <a:solidFill>
                      <a:srgbClr val="FFFFFF"/>
                    </a:solidFill>
                  </a:tcPr>
                </a:tc>
                <a:tc>
                  <a:txBody>
                    <a:bodyPr wrap="square"/>
                    <a:lstStyle/>
                    <a:p>
                      <a:r>
                        <a:rPr sz="1200" b="0" i="0">
                          <a:solidFill>
                            <a:srgbClr val="232323"/>
                          </a:solidFill>
                          <a:latin typeface="Segoe UI"/>
                        </a:rPr>
                        <a:t>Yes — the curves are the model</a:t>
                      </a:r>
                    </a:p>
                  </a:txBody>
                  <a:tcPr marL="73152" marR="73152" marT="36576" marB="36576" anchor="ctr">
                    <a:solidFill>
                      <a:srgbClr val="FFFFFF"/>
                    </a:solidFill>
                  </a:tcPr>
                </a:tc>
                <a:tc>
                  <a:txBody>
                    <a:bodyPr wrap="square"/>
                    <a:lstStyle/>
                    <a:p>
                      <a:r>
                        <a:rPr sz="1200" b="0" i="0">
                          <a:solidFill>
                            <a:srgbClr val="232323"/>
                          </a:solidFill>
                          <a:latin typeface="Segoe UI"/>
                        </a:rPr>
                        <a:t>Candidate: the one we calibrate and ship</a:t>
                      </a:r>
                    </a:p>
                  </a:txBody>
                  <a:tcPr marL="73152" marR="73152" marT="36576" marB="36576" anchor="ctr">
                    <a:solidFill>
                      <a:srgbClr val="FFFFFF"/>
                    </a:solidFill>
                  </a:tcPr>
                </a:tc>
                <a:tc>
                  <a:txBody>
                    <a:bodyPr wrap="square"/>
                    <a:lstStyle/>
                    <a:p>
                      <a:r>
                        <a:rPr sz="1200" b="0" i="0">
                          <a:solidFill>
                            <a:srgbClr val="232323"/>
                          </a:solidFill>
                          <a:latin typeface="Segoe UI"/>
                        </a:rPr>
                        <a:t>0.390</a:t>
                      </a:r>
                    </a:p>
                  </a:txBody>
                  <a:tcPr marL="73152" marR="73152" marT="36576" marB="36576" anchor="ctr">
                    <a:solidFill>
                      <a:srgbClr val="FFFFFF"/>
                    </a:solidFill>
                  </a:tcPr>
                </a:tc>
                <a:tc>
                  <a:txBody>
                    <a:bodyPr wrap="square"/>
                    <a:lstStyle/>
                    <a:p>
                      <a:r>
                        <a:rPr sz="1200" b="0" i="0">
                          <a:solidFill>
                            <a:srgbClr val="232323"/>
                          </a:solidFill>
                          <a:latin typeface="Segoe UI"/>
                        </a:rPr>
                        <a:t>0.004</a:t>
                      </a:r>
                    </a:p>
                  </a:txBody>
                  <a:tcPr marL="73152" marR="73152" marT="36576" marB="36576" anchor="ctr">
                    <a:solidFill>
                      <a:srgbClr val="FFFFFF"/>
                    </a:solidFill>
                  </a:tcPr>
                </a:tc>
              </a:tr>
            </a:tbl>
          </a:graphicData>
        </a:graphic>
      </p:graphicFrame>
      <p:sp>
        <p:nvSpPr>
          <p:cNvPr id="5" name="TextBox 4"/>
          <p:cNvSpPr txBox="1"/>
          <p:nvPr/>
        </p:nvSpPr>
        <p:spPr>
          <a:xfrm>
            <a:off x="813816" y="4754880"/>
            <a:ext cx="10561320" cy="274320"/>
          </a:xfrm>
          <a:prstGeom prst="rect">
            <a:avLst/>
          </a:prstGeom>
          <a:noFill/>
        </p:spPr>
        <p:txBody>
          <a:bodyPr wrap="square" anchor="t" lIns="27432" rIns="27432" tIns="18288" bIns="18288">
            <a:spAutoFit/>
          </a:bodyPr>
          <a:lstStyle/>
          <a:p>
            <a:pPr algn="l">
              <a:spcAft>
                <a:spcPts val="400"/>
              </a:spcAft>
            </a:pPr>
            <a:r>
              <a:rPr sz="1100" b="0" i="0">
                <a:solidFill>
                  <a:srgbClr val="44536A"/>
                </a:solidFill>
                <a:latin typeface="Segoe UI"/>
              </a:rPr>
              <a:t>Held-out test set, 25,997 patients. A model with no skill would score 0.165 — the share of poor outcomes.</a:t>
            </a:r>
          </a:p>
        </p:txBody>
      </p:sp>
      <p:sp>
        <p:nvSpPr>
          <p:cNvPr id="6" name="Rounded Rectangle 5"/>
          <p:cNvSpPr/>
          <p:nvPr/>
        </p:nvSpPr>
        <p:spPr>
          <a:xfrm>
            <a:off x="813816" y="5074920"/>
            <a:ext cx="10561320" cy="86868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96696" y="5221224"/>
            <a:ext cx="10195560" cy="539496"/>
          </a:xfrm>
          <a:prstGeom prst="rect">
            <a:avLst/>
          </a:prstGeom>
          <a:noFill/>
        </p:spPr>
        <p:txBody>
          <a:bodyPr wrap="square" anchor="t" lIns="27432" rIns="27432" tIns="18288" bIns="18288">
            <a:spAutoFit/>
          </a:bodyPr>
          <a:lstStyle/>
          <a:p>
            <a:pPr algn="l">
              <a:spcAft>
                <a:spcPts val="600"/>
              </a:spcAft>
            </a:pPr>
            <a:r>
              <a:rPr sz="1300" b="0" i="0">
                <a:solidFill>
                  <a:srgbClr val="232323"/>
                </a:solidFill>
                <a:latin typeface="Segoe UI"/>
              </a:rPr>
              <a:t>The EBM beats the linear floor and edges past the random forest, so its extra complexity earns its place — and its probabilities are already close to honest, where the other two are far off. Both checks come from the experiment, not from assumption.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ML experiments: every training run is recorded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A Fabric ML experiment is the workspace item where each run writes its parameters, metrics, tags and model file.</a:t>
            </a:r>
          </a:p>
        </p:txBody>
      </p:sp>
      <p:sp>
        <p:nvSpPr>
          <p:cNvPr id="4" name="Rounded Rectangle 3"/>
          <p:cNvSpPr/>
          <p:nvPr/>
        </p:nvSpPr>
        <p:spPr>
          <a:xfrm>
            <a:off x="813816" y="1737360"/>
            <a:ext cx="6400800" cy="406908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6035040" cy="373989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HOW OUR EXPERIMENT IS ORGANISED</a:t>
            </a:r>
          </a:p>
          <a:p>
            <a:pPr algn="l">
              <a:spcAft>
                <a:spcPts val="400"/>
              </a:spcAft>
            </a:pPr>
            <a:r>
              <a:rPr sz="1600" b="1" i="0">
                <a:solidFill>
                  <a:srgbClr val="003E34"/>
                </a:solidFill>
                <a:latin typeface="Segoe UI"/>
              </a:rPr>
              <a:t>One parent run, one child run per model</a:t>
            </a:r>
          </a:p>
          <a:p>
            <a:pPr algn="l">
              <a:spcAft>
                <a:spcPts val="600"/>
              </a:spcAft>
            </a:pPr>
            <a:r>
              <a:rPr sz="1300" b="0" i="0">
                <a:solidFill>
                  <a:srgbClr val="232323"/>
                </a:solidFill>
                <a:latin typeface="Segoe UI"/>
              </a:rPr>
              <a:t>Parent: “training-session” — split sizes, number of features, the baseline to beat.</a:t>
            </a:r>
          </a:p>
          <a:p>
            <a:pPr algn="l">
              <a:spcAft>
                <a:spcPts val="600"/>
              </a:spcAft>
            </a:pPr>
            <a:r>
              <a:rPr sz="1300" b="0" i="0">
                <a:solidFill>
                  <a:srgbClr val="232323"/>
                </a:solidFill>
                <a:latin typeface="Segoe UI"/>
              </a:rPr>
              <a:t>Children: logistic-regression, random-forest, ebm — each with its own parameters, metrics and tags.</a:t>
            </a:r>
          </a:p>
          <a:p>
            <a:pPr algn="l">
              <a:spcAft>
                <a:spcPts val="600"/>
              </a:spcAft>
            </a:pPr>
            <a:r>
              <a:rPr sz="1300" b="0" i="0">
                <a:solidFill>
                  <a:srgbClr val="232323"/>
                </a:solidFill>
                <a:latin typeface="Segoe UI"/>
              </a:rPr>
              <a:t>Hyper-parameter searches sit alongside as their own runs — 35 in this experiment so far — so winning settings are promoted, not copied by hand.</a:t>
            </a:r>
          </a:p>
          <a:p>
            <a:pPr algn="l">
              <a:spcAft>
                <a:spcPts val="600"/>
              </a:spcAft>
            </a:pPr>
            <a:r>
              <a:rPr sz="1300" b="0" i="0">
                <a:solidFill>
                  <a:srgbClr val="232323"/>
                </a:solidFill>
                <a:latin typeface="Segoe UI"/>
              </a:rPr>
              <a:t>One more run: ebm-calibrated — the version that ships.</a:t>
            </a:r>
          </a:p>
          <a:p>
            <a:pPr algn="l">
              <a:spcBef>
                <a:spcPts val="800"/>
              </a:spcBef>
              <a:spcAft>
                <a:spcPts val="300"/>
              </a:spcAft>
            </a:pPr>
            <a:r>
              <a:rPr sz="1100" b="1" i="0">
                <a:solidFill>
                  <a:srgbClr val="44536A"/>
                </a:solidFill>
                <a:latin typeface="Segoe UI"/>
              </a:rPr>
              <a:t>WHAT EVERY RUN CARRIES</a:t>
            </a:r>
          </a:p>
          <a:p>
            <a:pPr algn="l">
              <a:spcAft>
                <a:spcPts val="600"/>
              </a:spcAft>
            </a:pPr>
            <a:r>
              <a:rPr sz="1200" b="0" i="0">
                <a:solidFill>
                  <a:srgbClr val="232323"/>
                </a:solidFill>
                <a:latin typeface="Segoe UI"/>
              </a:rPr>
              <a:t>•  Parameters — the settings, so the run can be repeated</a:t>
            </a:r>
          </a:p>
          <a:p>
            <a:pPr algn="l">
              <a:spcAft>
                <a:spcPts val="600"/>
              </a:spcAft>
            </a:pPr>
            <a:r>
              <a:rPr sz="1200" b="0" i="0">
                <a:solidFill>
                  <a:srgbClr val="232323"/>
                </a:solidFill>
                <a:latin typeface="Segoe UI"/>
              </a:rPr>
              <a:t>•  Metrics — average precision, Brier score, calibration error, recall at 80% precision</a:t>
            </a:r>
          </a:p>
          <a:p>
            <a:pPr algn="l">
              <a:spcAft>
                <a:spcPts val="600"/>
              </a:spcAft>
            </a:pPr>
            <a:r>
              <a:rPr sz="1200" b="0" i="0">
                <a:solidFill>
                  <a:srgbClr val="232323"/>
                </a:solidFill>
                <a:latin typeface="Segoe UI"/>
              </a:rPr>
              <a:t>•  Tags — facts you filter on: data version, interpretability, risk class, approval</a:t>
            </a:r>
          </a:p>
          <a:p>
            <a:pPr algn="l">
              <a:spcAft>
                <a:spcPts val="600"/>
              </a:spcAft>
            </a:pPr>
            <a:r>
              <a:rPr sz="1200" b="0" i="0">
                <a:solidFill>
                  <a:srgbClr val="232323"/>
                </a:solidFill>
                <a:latin typeface="Segoe UI"/>
              </a:rPr>
              <a:t>•  Artifacts — the model file, its input signature and the fitted preprocessing</a:t>
            </a:r>
          </a:p>
        </p:txBody>
      </p:sp>
      <p:sp>
        <p:nvSpPr>
          <p:cNvPr id="6" name="Rounded Rectangle 5"/>
          <p:cNvSpPr/>
          <p:nvPr/>
        </p:nvSpPr>
        <p:spPr>
          <a:xfrm>
            <a:off x="7443216" y="1737360"/>
            <a:ext cx="3931920" cy="406908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626096" y="1883664"/>
            <a:ext cx="3566160" cy="373989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WHY IT MATTERS</a:t>
            </a:r>
          </a:p>
          <a:p>
            <a:pPr algn="l">
              <a:spcAft>
                <a:spcPts val="600"/>
              </a:spcAft>
            </a:pPr>
            <a:r>
              <a:rPr sz="1300" b="0" i="0">
                <a:solidFill>
                  <a:srgbClr val="232323"/>
                </a:solidFill>
                <a:latin typeface="Segoe UI"/>
              </a:rPr>
              <a:t>Six weeks later nobody remembers which run produced the model in use. The experiment does.</a:t>
            </a:r>
          </a:p>
          <a:p>
            <a:pPr algn="l">
              <a:spcAft>
                <a:spcPts val="600"/>
              </a:spcAft>
            </a:pPr>
            <a:r>
              <a:rPr sz="1300" b="0" i="0">
                <a:solidFill>
                  <a:srgbClr val="232323"/>
                </a:solidFill>
                <a:latin typeface="Segoe UI"/>
              </a:rPr>
              <a:t>You can compare the three models side by side in the Fabric UI instead of in someone’s memory.</a:t>
            </a:r>
          </a:p>
          <a:p>
            <a:pPr algn="l">
              <a:spcAft>
                <a:spcPts val="600"/>
              </a:spcAft>
            </a:pPr>
            <a:r>
              <a:rPr sz="1300" b="0" i="0">
                <a:solidFill>
                  <a:srgbClr val="232323"/>
                </a:solidFill>
                <a:latin typeface="Segoe UI"/>
              </a:rPr>
              <a:t>Fabric’s automatic logging is switched off on purpose: it logs accuracy-first metrics on every internal fit and buries the runs you care about. We log explicitly.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Tags: the facts an auditor asks for</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Metrics say how good a run is. Tags say what it is, what it was trained on, and whether it may be used.</a:t>
            </a:r>
          </a:p>
        </p:txBody>
      </p:sp>
      <p:graphicFrame>
        <p:nvGraphicFramePr>
          <p:cNvPr id="4" name="Table 3"/>
          <p:cNvGraphicFramePr>
            <a:graphicFrameLocks noGrp="1"/>
          </p:cNvGraphicFramePr>
          <p:nvPr/>
        </p:nvGraphicFramePr>
        <p:xfrm>
          <a:off x="813816" y="1691640"/>
          <a:ext cx="10561319" cy="3291840"/>
        </p:xfrm>
        <a:graphic>
          <a:graphicData uri="http://schemas.openxmlformats.org/drawingml/2006/table">
            <a:tbl>
              <a:tblPr firstRow="0" bandRow="0">
                <a:tableStyleId>{5C22544A-7EE6-4342-B048-85BDC9FD1C3A}</a:tableStyleId>
              </a:tblPr>
              <a:tblGrid>
                <a:gridCol w="1463039"/>
                <a:gridCol w="3931920"/>
                <a:gridCol w="5166360"/>
              </a:tblGrid>
              <a:tr h="658368">
                <a:tc>
                  <a:txBody>
                    <a:bodyPr wrap="square"/>
                    <a:lstStyle/>
                    <a:p>
                      <a:r>
                        <a:rPr sz="1200" b="1" i="0">
                          <a:solidFill>
                            <a:srgbClr val="FFFFFF"/>
                          </a:solidFill>
                          <a:latin typeface="Segoe UI"/>
                        </a:rPr>
                        <a:t>Group</a:t>
                      </a:r>
                    </a:p>
                  </a:txBody>
                  <a:tcPr marL="73152" marR="73152" marT="36576" marB="36576" anchor="ctr">
                    <a:solidFill>
                      <a:srgbClr val="003E34"/>
                    </a:solidFill>
                  </a:tcPr>
                </a:tc>
                <a:tc>
                  <a:txBody>
                    <a:bodyPr wrap="square"/>
                    <a:lstStyle/>
                    <a:p>
                      <a:r>
                        <a:rPr sz="1200" b="1" i="0">
                          <a:solidFill>
                            <a:srgbClr val="FFFFFF"/>
                          </a:solidFill>
                          <a:latin typeface="Segoe UI"/>
                        </a:rPr>
                        <a:t>Tags</a:t>
                      </a:r>
                    </a:p>
                  </a:txBody>
                  <a:tcPr marL="73152" marR="73152" marT="36576" marB="36576" anchor="ctr">
                    <a:solidFill>
                      <a:srgbClr val="003E34"/>
                    </a:solidFill>
                  </a:tcPr>
                </a:tc>
                <a:tc>
                  <a:txBody>
                    <a:bodyPr wrap="square"/>
                    <a:lstStyle/>
                    <a:p>
                      <a:r>
                        <a:rPr sz="1200" b="1" i="0">
                          <a:solidFill>
                            <a:srgbClr val="FFFFFF"/>
                          </a:solidFill>
                          <a:latin typeface="Segoe UI"/>
                        </a:rPr>
                        <a:t>The question it answers</a:t>
                      </a:r>
                    </a:p>
                  </a:txBody>
                  <a:tcPr marL="73152" marR="73152" marT="36576" marB="36576" anchor="ctr">
                    <a:solidFill>
                      <a:srgbClr val="003E34"/>
                    </a:solidFill>
                  </a:tcPr>
                </a:tc>
              </a:tr>
              <a:tr h="658368">
                <a:tc>
                  <a:txBody>
                    <a:bodyPr wrap="square"/>
                    <a:lstStyle/>
                    <a:p>
                      <a:r>
                        <a:rPr sz="1200" b="1" i="0">
                          <a:solidFill>
                            <a:srgbClr val="232323"/>
                          </a:solidFill>
                          <a:latin typeface="Segoe UI"/>
                        </a:rPr>
                        <a:t>Identity</a:t>
                      </a:r>
                    </a:p>
                  </a:txBody>
                  <a:tcPr marL="73152" marR="73152" marT="36576" marB="36576" anchor="ctr">
                    <a:solidFill>
                      <a:srgbClr val="FFFFFF"/>
                    </a:solidFill>
                  </a:tcPr>
                </a:tc>
                <a:tc>
                  <a:txBody>
                    <a:bodyPr wrap="square"/>
                    <a:lstStyle/>
                    <a:p>
                      <a:r>
                        <a:rPr sz="1200" b="0" i="0">
                          <a:solidFill>
                            <a:srgbClr val="232323"/>
                          </a:solidFill>
                          <a:latin typeface="Segoe UI"/>
                        </a:rPr>
                        <a:t>model_family, model_role, interpretability, calibrated</a:t>
                      </a:r>
                    </a:p>
                  </a:txBody>
                  <a:tcPr marL="73152" marR="73152" marT="36576" marB="36576" anchor="ctr">
                    <a:solidFill>
                      <a:srgbClr val="FFFFFF"/>
                    </a:solidFill>
                  </a:tcPr>
                </a:tc>
                <a:tc>
                  <a:txBody>
                    <a:bodyPr wrap="square"/>
                    <a:lstStyle/>
                    <a:p>
                      <a:r>
                        <a:rPr sz="1200" b="0" i="0">
                          <a:solidFill>
                            <a:srgbClr val="232323"/>
                          </a:solidFill>
                          <a:latin typeface="Segoe UI"/>
                        </a:rPr>
                        <a:t>What is this run? Is it a glassbox model? Is the probability calibrated?</a:t>
                      </a:r>
                    </a:p>
                  </a:txBody>
                  <a:tcPr marL="73152" marR="73152" marT="36576" marB="36576" anchor="ctr">
                    <a:solidFill>
                      <a:srgbClr val="FFFFFF"/>
                    </a:solidFill>
                  </a:tcPr>
                </a:tc>
              </a:tr>
              <a:tr h="658368">
                <a:tc>
                  <a:txBody>
                    <a:bodyPr wrap="square"/>
                    <a:lstStyle/>
                    <a:p>
                      <a:r>
                        <a:rPr sz="1200" b="1" i="0">
                          <a:solidFill>
                            <a:srgbClr val="232323"/>
                          </a:solidFill>
                          <a:latin typeface="Segoe UI"/>
                        </a:rPr>
                        <a:t>Data</a:t>
                      </a:r>
                    </a:p>
                  </a:txBody>
                  <a:tcPr marL="73152" marR="73152" marT="36576" marB="36576" anchor="ctr">
                    <a:solidFill>
                      <a:srgbClr val="F6F8F7"/>
                    </a:solidFill>
                  </a:tcPr>
                </a:tc>
                <a:tc>
                  <a:txBody>
                    <a:bodyPr wrap="square"/>
                    <a:lstStyle/>
                    <a:p>
                      <a:r>
                        <a:rPr sz="1200" b="0" i="0">
                          <a:solidFill>
                            <a:srgbClr val="232323"/>
                          </a:solidFill>
                          <a:latin typeface="Segoe UI"/>
                        </a:rPr>
                        <a:t>gold_table, gold_table_version, feature_set_version, target_definition, cohort</a:t>
                      </a:r>
                    </a:p>
                  </a:txBody>
                  <a:tcPr marL="73152" marR="73152" marT="36576" marB="36576" anchor="ctr">
                    <a:solidFill>
                      <a:srgbClr val="F6F8F7"/>
                    </a:solidFill>
                  </a:tcPr>
                </a:tc>
                <a:tc>
                  <a:txBody>
                    <a:bodyPr wrap="square"/>
                    <a:lstStyle/>
                    <a:p>
                      <a:r>
                        <a:rPr sz="1200" b="0" i="0">
                          <a:solidFill>
                            <a:srgbClr val="232323"/>
                          </a:solidFill>
                          <a:latin typeface="Segoe UI"/>
                        </a:rPr>
                        <a:t>What exactly was it trained on? “gold as of version 51” can be reconstructed with Delta time travel.</a:t>
                      </a:r>
                    </a:p>
                  </a:txBody>
                  <a:tcPr marL="73152" marR="73152" marT="36576" marB="36576" anchor="ctr">
                    <a:solidFill>
                      <a:srgbClr val="F6F8F7"/>
                    </a:solidFill>
                  </a:tcPr>
                </a:tc>
              </a:tr>
              <a:tr h="658368">
                <a:tc>
                  <a:txBody>
                    <a:bodyPr wrap="square"/>
                    <a:lstStyle/>
                    <a:p>
                      <a:r>
                        <a:rPr sz="1200" b="1" i="0">
                          <a:solidFill>
                            <a:srgbClr val="232323"/>
                          </a:solidFill>
                          <a:latin typeface="Segoe UI"/>
                        </a:rPr>
                        <a:t>Governance</a:t>
                      </a:r>
                    </a:p>
                  </a:txBody>
                  <a:tcPr marL="73152" marR="73152" marT="36576" marB="36576" anchor="ctr">
                    <a:solidFill>
                      <a:srgbClr val="FFFFFF"/>
                    </a:solidFill>
                  </a:tcPr>
                </a:tc>
                <a:tc>
                  <a:txBody>
                    <a:bodyPr wrap="square"/>
                    <a:lstStyle/>
                    <a:p>
                      <a:r>
                        <a:rPr sz="1200" b="0" i="0">
                          <a:solidFill>
                            <a:srgbClr val="232323"/>
                          </a:solidFill>
                          <a:latin typeface="Segoe UI"/>
                        </a:rPr>
                        <a:t>intended_use, risk_class, human_oversight, approved_by, approved_on, gate_status</a:t>
                      </a:r>
                    </a:p>
                  </a:txBody>
                  <a:tcPr marL="73152" marR="73152" marT="36576" marB="36576" anchor="ctr">
                    <a:solidFill>
                      <a:srgbClr val="FFFFFF"/>
                    </a:solidFill>
                  </a:tcPr>
                </a:tc>
                <a:tc>
                  <a:txBody>
                    <a:bodyPr wrap="square"/>
                    <a:lstStyle/>
                    <a:p>
                      <a:r>
                        <a:rPr sz="1200" b="0" i="0">
                          <a:solidFill>
                            <a:srgbClr val="232323"/>
                          </a:solidFill>
                          <a:latin typeface="Segoe UI"/>
                        </a:rPr>
                        <a:t>May we deploy it, and who signed it off? approved_by starts as “pending” and is set later by a named clinician.</a:t>
                      </a:r>
                    </a:p>
                  </a:txBody>
                  <a:tcPr marL="73152" marR="73152" marT="36576" marB="36576" anchor="ctr">
                    <a:solidFill>
                      <a:srgbClr val="FFFFFF"/>
                    </a:solidFill>
                  </a:tcPr>
                </a:tc>
              </a:tr>
              <a:tr h="658368">
                <a:tc>
                  <a:txBody>
                    <a:bodyPr wrap="square"/>
                    <a:lstStyle/>
                    <a:p>
                      <a:r>
                        <a:rPr sz="1200" b="1" i="0">
                          <a:solidFill>
                            <a:srgbClr val="232323"/>
                          </a:solidFill>
                          <a:latin typeface="Segoe UI"/>
                        </a:rPr>
                        <a:t>Provenance</a:t>
                      </a:r>
                    </a:p>
                  </a:txBody>
                  <a:tcPr marL="73152" marR="73152" marT="36576" marB="36576" anchor="ctr">
                    <a:solidFill>
                      <a:srgbClr val="F6F8F7"/>
                    </a:solidFill>
                  </a:tcPr>
                </a:tc>
                <a:tc>
                  <a:txBody>
                    <a:bodyPr wrap="square"/>
                    <a:lstStyle/>
                    <a:p>
                      <a:r>
                        <a:rPr sz="1200" b="0" i="0">
                          <a:solidFill>
                            <a:srgbClr val="232323"/>
                          </a:solidFill>
                          <a:latin typeface="Segoe UI"/>
                        </a:rPr>
                        <a:t>git_sha, notebook, run_by, fabric_workspace</a:t>
                      </a:r>
                    </a:p>
                  </a:txBody>
                  <a:tcPr marL="73152" marR="73152" marT="36576" marB="36576" anchor="ctr">
                    <a:solidFill>
                      <a:srgbClr val="F6F8F7"/>
                    </a:solidFill>
                  </a:tcPr>
                </a:tc>
                <a:tc>
                  <a:txBody>
                    <a:bodyPr wrap="square"/>
                    <a:lstStyle/>
                    <a:p>
                      <a:r>
                        <a:rPr sz="1200" b="0" i="0">
                          <a:solidFill>
                            <a:srgbClr val="232323"/>
                          </a:solidFill>
                          <a:latin typeface="Segoe UI"/>
                        </a:rPr>
                        <a:t>Can we rebuild it?</a:t>
                      </a:r>
                    </a:p>
                  </a:txBody>
                  <a:tcPr marL="73152" marR="73152" marT="36576" marB="36576" anchor="ctr">
                    <a:solidFill>
                      <a:srgbClr val="F6F8F7"/>
                    </a:solidFill>
                  </a:tcPr>
                </a:tc>
              </a:tr>
            </a:tbl>
          </a:graphicData>
        </a:graphic>
      </p:graphicFrame>
      <p:sp>
        <p:nvSpPr>
          <p:cNvPr id="5" name="Rounded Rectangle 4"/>
          <p:cNvSpPr/>
          <p:nvPr/>
        </p:nvSpPr>
        <p:spPr>
          <a:xfrm>
            <a:off x="813816" y="512064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3816" y="512064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69848" y="517550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Two years later: “reconstruct the exact input this model was trained on, and show me who approved it.” The tags are the answer.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Calibration: a probability you can read at face value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A model can rank patients well and still be wrong about the numbers it shows.</a:t>
            </a:r>
          </a:p>
        </p:txBody>
      </p:sp>
      <p:sp>
        <p:nvSpPr>
          <p:cNvPr id="4" name="Rounded Rectangle 3"/>
          <p:cNvSpPr/>
          <p:nvPr/>
        </p:nvSpPr>
        <p:spPr>
          <a:xfrm>
            <a:off x="813816" y="1737360"/>
            <a:ext cx="5166360" cy="33375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0083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CALIBRATED MEANS</a:t>
            </a:r>
          </a:p>
          <a:p>
            <a:pPr algn="l">
              <a:spcAft>
                <a:spcPts val="400"/>
              </a:spcAft>
            </a:pPr>
            <a:r>
              <a:rPr sz="1600" b="1" i="0">
                <a:solidFill>
                  <a:srgbClr val="003E34"/>
                </a:solidFill>
                <a:latin typeface="Segoe UI"/>
              </a:rPr>
              <a:t>34% should mean 34 in 100</a:t>
            </a:r>
          </a:p>
          <a:p>
            <a:pPr algn="l">
              <a:spcAft>
                <a:spcPts val="600"/>
              </a:spcAft>
            </a:pPr>
            <a:r>
              <a:rPr sz="1300" b="0" i="0">
                <a:solidFill>
                  <a:srgbClr val="232323"/>
                </a:solidFill>
                <a:latin typeface="Segoe UI"/>
              </a:rPr>
              <a:t>Of a hundred patients scored 34%, about thirty-four should have a poor outcome. If it is really fifty, the number misleads the clinician.</a:t>
            </a:r>
          </a:p>
          <a:p>
            <a:pPr algn="l">
              <a:spcAft>
                <a:spcPts val="600"/>
              </a:spcAft>
            </a:pPr>
            <a:r>
              <a:rPr sz="1300" b="0" i="0">
                <a:solidFill>
                  <a:srgbClr val="232323"/>
                </a:solidFill>
                <a:latin typeface="Segoe UI"/>
              </a:rPr>
              <a:t>We check this with the Brier score and the expected calibration error (ECE), not with average precision.</a:t>
            </a:r>
          </a:p>
        </p:txBody>
      </p:sp>
      <p:sp>
        <p:nvSpPr>
          <p:cNvPr id="6" name="Rounded Rectangle 5"/>
          <p:cNvSpPr/>
          <p:nvPr/>
        </p:nvSpPr>
        <p:spPr>
          <a:xfrm>
            <a:off x="6208776" y="1737360"/>
            <a:ext cx="5166360" cy="333756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0083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WE DID</a:t>
            </a:r>
          </a:p>
          <a:p>
            <a:pPr algn="l">
              <a:spcAft>
                <a:spcPts val="400"/>
              </a:spcAft>
            </a:pPr>
            <a:r>
              <a:rPr sz="1600" b="1" i="0">
                <a:solidFill>
                  <a:srgbClr val="003E34"/>
                </a:solidFill>
                <a:latin typeface="Segoe UI"/>
              </a:rPr>
              <a:t>Isotonic calibration on a held-out fold</a:t>
            </a:r>
          </a:p>
          <a:p>
            <a:pPr algn="l">
              <a:spcAft>
                <a:spcPts val="600"/>
              </a:spcAft>
            </a:pPr>
            <a:r>
              <a:rPr sz="1300" b="0" i="0">
                <a:solidFill>
                  <a:srgbClr val="232323"/>
                </a:solidFill>
                <a:latin typeface="Segoe UI"/>
              </a:rPr>
              <a:t>The EBM is fitted, then its probabilities are corrected on data it did not train on.</a:t>
            </a:r>
          </a:p>
          <a:p>
            <a:pPr algn="l">
              <a:spcAft>
                <a:spcPts val="600"/>
              </a:spcAft>
            </a:pPr>
            <a:r>
              <a:rPr sz="1300" b="0" i="0">
                <a:solidFill>
                  <a:srgbClr val="232323"/>
                </a:solidFill>
                <a:latin typeface="Segoe UI"/>
              </a:rPr>
              <a:t>Ranking barely changes; the numbers become honest. The calibrated run is the one that is registered.</a:t>
            </a:r>
          </a:p>
          <a:p>
            <a:pPr algn="l">
              <a:spcAft>
                <a:spcPts val="600"/>
              </a:spcAft>
            </a:pPr>
            <a:r>
              <a:rPr sz="1300" b="1" i="0">
                <a:solidFill>
                  <a:srgbClr val="232323"/>
                </a:solidFill>
                <a:latin typeface="Segoe UI"/>
              </a:rPr>
              <a:t>Calibration error: EBM 0.0042 → 0.0032 after calibration</a:t>
            </a:r>
          </a:p>
          <a:p>
            <a:pPr algn="l">
              <a:spcAft>
                <a:spcPts val="600"/>
              </a:spcAft>
            </a:pPr>
            <a:r>
              <a:rPr sz="1300" b="1" i="0">
                <a:solidFill>
                  <a:srgbClr val="232323"/>
                </a:solidFill>
                <a:latin typeface="Segoe UI"/>
              </a:rPr>
              <a:t>For contrast: the random forest sits at 0.278 and the linear model at 0.288 — those probabilities cannot be read at face value.</a:t>
            </a:r>
          </a:p>
        </p:txBody>
      </p:sp>
      <p:sp>
        <p:nvSpPr>
          <p:cNvPr id="8" name="Rounded Rectangle 7"/>
          <p:cNvSpPr/>
          <p:nvPr/>
        </p:nvSpPr>
        <p:spPr>
          <a:xfrm>
            <a:off x="813816" y="530352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13816" y="530352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35838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Calibration is a property of the group, not of one person. The app says so next to every number.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The ML model item: versions and a gate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Registering promotes a run’s model file to a Fabric ML model: a versioned, permissioned item in the workspace.</a:t>
            </a:r>
          </a:p>
        </p:txBody>
      </p:sp>
      <p:sp>
        <p:nvSpPr>
          <p:cNvPr id="4" name="Rounded Rectangle 3"/>
          <p:cNvSpPr/>
          <p:nvPr/>
        </p:nvSpPr>
        <p:spPr>
          <a:xfrm>
            <a:off x="813816" y="1737360"/>
            <a:ext cx="5166360" cy="3886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REGISTERED MODEL</a:t>
            </a:r>
          </a:p>
          <a:p>
            <a:pPr algn="l">
              <a:spcAft>
                <a:spcPts val="400"/>
              </a:spcAft>
            </a:pPr>
            <a:r>
              <a:rPr sz="1600" b="1" i="0">
                <a:solidFill>
                  <a:srgbClr val="003E34"/>
                </a:solidFill>
                <a:latin typeface="Segoe UI"/>
              </a:rPr>
              <a:t>knee-poor-outcome-ebm</a:t>
            </a:r>
          </a:p>
          <a:p>
            <a:pPr algn="l">
              <a:spcAft>
                <a:spcPts val="600"/>
              </a:spcAft>
            </a:pPr>
            <a:r>
              <a:rPr sz="1300" b="0" i="0">
                <a:solidFill>
                  <a:srgbClr val="232323"/>
                </a:solidFill>
                <a:latin typeface="Segoe UI"/>
              </a:rPr>
              <a:t>•  Each training that passes becomes a new version</a:t>
            </a:r>
          </a:p>
          <a:p>
            <a:pPr algn="l">
              <a:spcAft>
                <a:spcPts val="600"/>
              </a:spcAft>
            </a:pPr>
            <a:r>
              <a:rPr sz="1300" b="0" i="0">
                <a:solidFill>
                  <a:srgbClr val="232323"/>
                </a:solidFill>
                <a:latin typeface="Segoe UI"/>
              </a:rPr>
              <a:t>•  Each version carries the run’s tags plus a signature: the exact input columns it accepts</a:t>
            </a:r>
          </a:p>
          <a:p>
            <a:pPr algn="l">
              <a:spcAft>
                <a:spcPts val="600"/>
              </a:spcAft>
            </a:pPr>
            <a:r>
              <a:rPr sz="1300" b="0" i="0">
                <a:solidFill>
                  <a:srgbClr val="232323"/>
                </a:solidFill>
                <a:latin typeface="Segoe UI"/>
              </a:rPr>
              <a:t>•  Exactly one version is tagged champion = true</a:t>
            </a:r>
          </a:p>
          <a:p>
            <a:pPr algn="l">
              <a:spcAft>
                <a:spcPts val="600"/>
              </a:spcAft>
            </a:pPr>
            <a:r>
              <a:rPr sz="1300" b="0" i="0">
                <a:solidFill>
                  <a:srgbClr val="232323"/>
                </a:solidFill>
                <a:latin typeface="Segoe UI"/>
              </a:rPr>
              <a:t>•  The app and the endpoint refer to the name and the champion tag — never to a file</a:t>
            </a:r>
          </a:p>
          <a:p>
            <a:pPr algn="l">
              <a:spcAft>
                <a:spcPts val="400"/>
              </a:spcAft>
            </a:pPr>
            <a:r>
              <a:rPr sz="1100" b="0" i="0">
                <a:solidFill>
                  <a:srgbClr val="44536A"/>
                </a:solidFill>
                <a:latin typeface="Segoe UI"/>
              </a:rPr>
              <a:t>Champion today: version 4, trained on gold version 51, test average precision 0.389.</a:t>
            </a:r>
          </a:p>
        </p:txBody>
      </p:sp>
      <p:sp>
        <p:nvSpPr>
          <p:cNvPr id="6" name="Rounded Rectangle 5"/>
          <p:cNvSpPr/>
          <p:nvPr/>
        </p:nvSpPr>
        <p:spPr>
          <a:xfrm>
            <a:off x="6208776" y="1737360"/>
            <a:ext cx="5166360" cy="38862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DEPLOYMENT GATE · THE LAST STEP OF TRAINING</a:t>
            </a:r>
          </a:p>
          <a:p>
            <a:pPr algn="l">
              <a:spcAft>
                <a:spcPts val="400"/>
              </a:spcAft>
            </a:pPr>
            <a:r>
              <a:rPr sz="1600" b="1" i="0">
                <a:solidFill>
                  <a:srgbClr val="003E34"/>
                </a:solidFill>
                <a:latin typeface="Segoe UI"/>
              </a:rPr>
              <a:t>Four checks, pass or fail</a:t>
            </a:r>
          </a:p>
          <a:p>
            <a:pPr algn="l">
              <a:spcAft>
                <a:spcPts val="600"/>
              </a:spcAft>
            </a:pPr>
            <a:r>
              <a:rPr sz="1300" b="0" i="0">
                <a:solidFill>
                  <a:srgbClr val="232323"/>
                </a:solidFill>
                <a:latin typeface="Segoe UI"/>
              </a:rPr>
              <a:t>•  Beats the no-skill baseline by at least 1.3×</a:t>
            </a:r>
          </a:p>
          <a:p>
            <a:pPr algn="l">
              <a:spcAft>
                <a:spcPts val="600"/>
              </a:spcAft>
            </a:pPr>
            <a:r>
              <a:rPr sz="1300" b="0" i="0">
                <a:solidFill>
                  <a:srgbClr val="232323"/>
                </a:solidFill>
                <a:latin typeface="Segoe UI"/>
              </a:rPr>
              <a:t>•  Calibration error under 5%</a:t>
            </a:r>
          </a:p>
          <a:p>
            <a:pPr algn="l">
              <a:spcAft>
                <a:spcPts val="600"/>
              </a:spcAft>
            </a:pPr>
            <a:r>
              <a:rPr sz="1300" b="0" i="0">
                <a:solidFill>
                  <a:srgbClr val="232323"/>
                </a:solidFill>
                <a:latin typeface="Segoe UI"/>
              </a:rPr>
              <a:t>•  Recall at 80% precision above 5%</a:t>
            </a:r>
          </a:p>
          <a:p>
            <a:pPr algn="l">
              <a:spcAft>
                <a:spcPts val="600"/>
              </a:spcAft>
            </a:pPr>
            <a:r>
              <a:rPr sz="1300" b="0" i="0">
                <a:solidFill>
                  <a:srgbClr val="232323"/>
                </a:solidFill>
                <a:latin typeface="Segoe UI"/>
              </a:rPr>
              <a:t>•  Interpretable model family</a:t>
            </a:r>
          </a:p>
          <a:p>
            <a:pPr algn="l">
              <a:spcBef>
                <a:spcPts val="600"/>
              </a:spcBef>
              <a:spcAft>
                <a:spcPts val="600"/>
              </a:spcAft>
            </a:pPr>
            <a:r>
              <a:rPr sz="1300" b="0" i="0">
                <a:solidFill>
                  <a:srgbClr val="232323"/>
                </a:solidFill>
                <a:latin typeface="Segoe UI"/>
              </a:rPr>
              <a:t>The result is written to gate_status. None of the checks can set approved_by: that waits for a named clinician.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Serving the model: batch and real-time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Two ways to use one registered model. Both resolve the champion version, so they cannot disagree.</a:t>
            </a:r>
          </a:p>
        </p:txBody>
      </p:sp>
      <p:sp>
        <p:nvSpPr>
          <p:cNvPr id="4" name="Rounded Rectangle 3"/>
          <p:cNvSpPr/>
          <p:nvPr/>
        </p:nvSpPr>
        <p:spPr>
          <a:xfrm>
            <a:off x="813816" y="1737360"/>
            <a:ext cx="5166360" cy="329184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2962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BATCH SCORING</a:t>
            </a:r>
          </a:p>
          <a:p>
            <a:pPr algn="l">
              <a:spcAft>
                <a:spcPts val="400"/>
              </a:spcAft>
            </a:pPr>
            <a:r>
              <a:rPr sz="1600" b="1" i="0">
                <a:solidFill>
                  <a:srgbClr val="003E34"/>
                </a:solidFill>
                <a:latin typeface="Segoe UI"/>
              </a:rPr>
              <a:t>The whole waiting list, on a schedule</a:t>
            </a:r>
          </a:p>
          <a:p>
            <a:pPr algn="l">
              <a:spcAft>
                <a:spcPts val="600"/>
              </a:spcAft>
            </a:pPr>
            <a:r>
              <a:rPr sz="1300" b="0" i="0">
                <a:solidFill>
                  <a:srgbClr val="232323"/>
                </a:solidFill>
                <a:latin typeface="Segoe UI"/>
              </a:rPr>
              <a:t>A Data Pipeline runs the steps in order and re-scores every patient awaiting surgery.</a:t>
            </a:r>
          </a:p>
          <a:p>
            <a:pPr algn="l">
              <a:spcAft>
                <a:spcPts val="600"/>
              </a:spcAft>
            </a:pPr>
            <a:r>
              <a:rPr sz="1300" b="0" i="0">
                <a:solidFill>
                  <a:srgbClr val="232323"/>
                </a:solidFill>
                <a:latin typeface="Segoe UI"/>
              </a:rPr>
              <a:t>It writes two gold tables: gold.patient_risk (one probability per patient) and gold.risk_explanation (the reasons). Both stamped with the model version.</a:t>
            </a:r>
          </a:p>
          <a:p>
            <a:pPr algn="l">
              <a:spcAft>
                <a:spcPts val="600"/>
              </a:spcAft>
            </a:pPr>
            <a:r>
              <a:rPr sz="1300" b="0" i="0">
                <a:solidFill>
                  <a:srgbClr val="232323"/>
                </a:solidFill>
                <a:latin typeface="Segoe UI"/>
              </a:rPr>
              <a:t>Feeds: the worklist, the overview, the Data Agent.</a:t>
            </a:r>
          </a:p>
        </p:txBody>
      </p:sp>
      <p:sp>
        <p:nvSpPr>
          <p:cNvPr id="6" name="Rounded Rectangle 5"/>
          <p:cNvSpPr/>
          <p:nvPr/>
        </p:nvSpPr>
        <p:spPr>
          <a:xfrm>
            <a:off x="6208776" y="1737360"/>
            <a:ext cx="5166360" cy="329184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2962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REAL-TIME ENDPOINT · FROM THE ML MODEL ITEM</a:t>
            </a:r>
          </a:p>
          <a:p>
            <a:pPr algn="l">
              <a:spcAft>
                <a:spcPts val="400"/>
              </a:spcAft>
            </a:pPr>
            <a:r>
              <a:rPr sz="1600" b="1" i="0">
                <a:solidFill>
                  <a:srgbClr val="003E34"/>
                </a:solidFill>
                <a:latin typeface="Segoe UI"/>
              </a:rPr>
              <a:t>One patient, right now</a:t>
            </a:r>
          </a:p>
          <a:p>
            <a:pPr algn="l">
              <a:spcAft>
                <a:spcPts val="600"/>
              </a:spcAft>
            </a:pPr>
            <a:r>
              <a:rPr sz="1300" b="0" i="0">
                <a:solidFill>
                  <a:srgbClr val="232323"/>
                </a:solidFill>
                <a:latin typeface="Segoe UI"/>
              </a:rPr>
              <a:t>Fabric can stand up a managed web endpoint from the registered version. A single patient is scored in milliseconds; a Spark session would take minutes.</a:t>
            </a:r>
          </a:p>
          <a:p>
            <a:pPr algn="l">
              <a:spcAft>
                <a:spcPts val="600"/>
              </a:spcAft>
            </a:pPr>
            <a:r>
              <a:rPr sz="1300" b="0" i="0">
                <a:solidFill>
                  <a:srgbClr val="232323"/>
                </a:solidFill>
                <a:latin typeface="Segoe UI"/>
              </a:rPr>
              <a:t>Authenticated with Entra ID, versioned, inside the workspace. No model file leaves the estate.</a:t>
            </a:r>
          </a:p>
          <a:p>
            <a:pPr algn="l">
              <a:spcAft>
                <a:spcPts val="600"/>
              </a:spcAft>
            </a:pPr>
            <a:r>
              <a:rPr sz="1300" b="0" i="0">
                <a:solidFill>
                  <a:srgbClr val="232323"/>
                </a:solidFill>
                <a:latin typeface="Segoe UI"/>
              </a:rPr>
              <a:t>Feeds: a what-if on a patient page, or another system.</a:t>
            </a:r>
          </a:p>
        </p:txBody>
      </p:sp>
      <p:sp>
        <p:nvSpPr>
          <p:cNvPr id="8" name="Rounded Rectangle 7"/>
          <p:cNvSpPr/>
          <p:nvPr/>
        </p:nvSpPr>
        <p:spPr>
          <a:xfrm>
            <a:off x="813816" y="525780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13816" y="525780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312664"/>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Why it matters: a model that only lives in a notebook is not in production. The endpoint makes the registered version callable by other systems, safely.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the endpoint returns</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score never travels alone.</a:t>
            </a:r>
          </a:p>
        </p:txBody>
      </p:sp>
      <p:graphicFrame>
        <p:nvGraphicFramePr>
          <p:cNvPr id="4" name="Table 3"/>
          <p:cNvGraphicFramePr>
            <a:graphicFrameLocks noGrp="1"/>
          </p:cNvGraphicFramePr>
          <p:nvPr/>
        </p:nvGraphicFramePr>
        <p:xfrm>
          <a:off x="813816" y="1691640"/>
          <a:ext cx="6583680" cy="3520440"/>
        </p:xfrm>
        <a:graphic>
          <a:graphicData uri="http://schemas.openxmlformats.org/drawingml/2006/table">
            <a:tbl>
              <a:tblPr firstRow="0" bandRow="0">
                <a:tableStyleId>{5C22544A-7EE6-4342-B048-85BDC9FD1C3A}</a:tableStyleId>
              </a:tblPr>
              <a:tblGrid>
                <a:gridCol w="1828800"/>
                <a:gridCol w="2377440"/>
                <a:gridCol w="2377440"/>
              </a:tblGrid>
              <a:tr h="502920">
                <a:tc>
                  <a:txBody>
                    <a:bodyPr wrap="square"/>
                    <a:lstStyle/>
                    <a:p>
                      <a:r>
                        <a:rPr sz="1100" b="1" i="0">
                          <a:solidFill>
                            <a:srgbClr val="FFFFFF"/>
                          </a:solidFill>
                          <a:latin typeface="Segoe UI"/>
                        </a:rPr>
                        <a:t>Field</a:t>
                      </a:r>
                    </a:p>
                  </a:txBody>
                  <a:tcPr marL="73152" marR="73152" marT="36576" marB="36576" anchor="ctr">
                    <a:solidFill>
                      <a:srgbClr val="003E34"/>
                    </a:solidFill>
                  </a:tcPr>
                </a:tc>
                <a:tc>
                  <a:txBody>
                    <a:bodyPr wrap="square"/>
                    <a:lstStyle/>
                    <a:p>
                      <a:r>
                        <a:rPr sz="1100" b="1" i="0">
                          <a:solidFill>
                            <a:srgbClr val="FFFFFF"/>
                          </a:solidFill>
                          <a:latin typeface="Segoe UI"/>
                        </a:rPr>
                        <a:t>Example</a:t>
                      </a:r>
                    </a:p>
                  </a:txBody>
                  <a:tcPr marL="73152" marR="73152" marT="36576" marB="36576" anchor="ctr">
                    <a:solidFill>
                      <a:srgbClr val="003E34"/>
                    </a:solidFill>
                  </a:tcPr>
                </a:tc>
                <a:tc>
                  <a:txBody>
                    <a:bodyPr wrap="square"/>
                    <a:lstStyle/>
                    <a:p>
                      <a:r>
                        <a:rPr sz="1100" b="1" i="0">
                          <a:solidFill>
                            <a:srgbClr val="FFFFFF"/>
                          </a:solidFill>
                          <a:latin typeface="Segoe UI"/>
                        </a:rPr>
                        <a:t>Why it is there</a:t>
                      </a:r>
                    </a:p>
                  </a:txBody>
                  <a:tcPr marL="73152" marR="73152" marT="36576" marB="36576" anchor="ctr">
                    <a:solidFill>
                      <a:srgbClr val="003E34"/>
                    </a:solidFill>
                  </a:tcPr>
                </a:tc>
              </a:tr>
              <a:tr h="502920">
                <a:tc>
                  <a:txBody>
                    <a:bodyPr wrap="square"/>
                    <a:lstStyle/>
                    <a:p>
                      <a:r>
                        <a:rPr sz="1100" b="1" i="0">
                          <a:solidFill>
                            <a:srgbClr val="232323"/>
                          </a:solidFill>
                          <a:latin typeface="Segoe UI"/>
                        </a:rPr>
                        <a:t>episode_id</a:t>
                      </a:r>
                    </a:p>
                  </a:txBody>
                  <a:tcPr marL="73152" marR="73152" marT="36576" marB="36576" anchor="ctr">
                    <a:solidFill>
                      <a:srgbClr val="FFFFFF"/>
                    </a:solidFill>
                  </a:tcPr>
                </a:tc>
                <a:tc>
                  <a:txBody>
                    <a:bodyPr wrap="square"/>
                    <a:lstStyle/>
                    <a:p>
                      <a:r>
                        <a:rPr sz="1100" b="0" i="0">
                          <a:solidFill>
                            <a:srgbClr val="232323"/>
                          </a:solidFill>
                          <a:latin typeface="Segoe UI"/>
                        </a:rPr>
                        <a:t>MFC-2026-100070</a:t>
                      </a:r>
                    </a:p>
                  </a:txBody>
                  <a:tcPr marL="73152" marR="73152" marT="36576" marB="36576" anchor="ctr">
                    <a:solidFill>
                      <a:srgbClr val="FFFFFF"/>
                    </a:solidFill>
                  </a:tcPr>
                </a:tc>
                <a:tc>
                  <a:txBody>
                    <a:bodyPr wrap="square"/>
                    <a:lstStyle/>
                    <a:p>
                      <a:r>
                        <a:rPr sz="1100" b="0" i="0">
                          <a:solidFill>
                            <a:srgbClr val="232323"/>
                          </a:solidFill>
                          <a:latin typeface="Segoe UI"/>
                        </a:rPr>
                        <a:t>Which patient</a:t>
                      </a:r>
                    </a:p>
                  </a:txBody>
                  <a:tcPr marL="73152" marR="73152" marT="36576" marB="36576" anchor="ctr">
                    <a:solidFill>
                      <a:srgbClr val="FFFFFF"/>
                    </a:solidFill>
                  </a:tcPr>
                </a:tc>
              </a:tr>
              <a:tr h="502920">
                <a:tc>
                  <a:txBody>
                    <a:bodyPr wrap="square"/>
                    <a:lstStyle/>
                    <a:p>
                      <a:r>
                        <a:rPr sz="1100" b="1" i="0">
                          <a:solidFill>
                            <a:srgbClr val="232323"/>
                          </a:solidFill>
                          <a:latin typeface="Segoe UI"/>
                        </a:rPr>
                        <a:t>risk</a:t>
                      </a:r>
                    </a:p>
                  </a:txBody>
                  <a:tcPr marL="73152" marR="73152" marT="36576" marB="36576" anchor="ctr">
                    <a:solidFill>
                      <a:srgbClr val="F6F8F7"/>
                    </a:solidFill>
                  </a:tcPr>
                </a:tc>
                <a:tc>
                  <a:txBody>
                    <a:bodyPr wrap="square"/>
                    <a:lstStyle/>
                    <a:p>
                      <a:r>
                        <a:rPr sz="1100" b="0" i="0">
                          <a:solidFill>
                            <a:srgbClr val="232323"/>
                          </a:solidFill>
                          <a:latin typeface="Segoe UI"/>
                        </a:rPr>
                        <a:t>0.63 (calibrated)</a:t>
                      </a:r>
                    </a:p>
                  </a:txBody>
                  <a:tcPr marL="73152" marR="73152" marT="36576" marB="36576" anchor="ctr">
                    <a:solidFill>
                      <a:srgbClr val="F6F8F7"/>
                    </a:solidFill>
                  </a:tcPr>
                </a:tc>
                <a:tc>
                  <a:txBody>
                    <a:bodyPr wrap="square"/>
                    <a:lstStyle/>
                    <a:p>
                      <a:r>
                        <a:rPr sz="1100" b="0" i="0">
                          <a:solidFill>
                            <a:srgbClr val="232323"/>
                          </a:solidFill>
                          <a:latin typeface="Segoe UI"/>
                        </a:rPr>
                        <a:t>The probability of a poor outcome</a:t>
                      </a:r>
                    </a:p>
                  </a:txBody>
                  <a:tcPr marL="73152" marR="73152" marT="36576" marB="36576" anchor="ctr">
                    <a:solidFill>
                      <a:srgbClr val="F6F8F7"/>
                    </a:solidFill>
                  </a:tcPr>
                </a:tc>
              </a:tr>
              <a:tr h="502920">
                <a:tc>
                  <a:txBody>
                    <a:bodyPr wrap="square"/>
                    <a:lstStyle/>
                    <a:p>
                      <a:r>
                        <a:rPr sz="1100" b="1" i="0">
                          <a:solidFill>
                            <a:srgbClr val="232323"/>
                          </a:solidFill>
                          <a:latin typeface="Segoe UI"/>
                        </a:rPr>
                        <a:t>threshold, flagged</a:t>
                      </a:r>
                    </a:p>
                  </a:txBody>
                  <a:tcPr marL="73152" marR="73152" marT="36576" marB="36576" anchor="ctr">
                    <a:solidFill>
                      <a:srgbClr val="FFFFFF"/>
                    </a:solidFill>
                  </a:tcPr>
                </a:tc>
                <a:tc>
                  <a:txBody>
                    <a:bodyPr wrap="square"/>
                    <a:lstStyle/>
                    <a:p>
                      <a:r>
                        <a:rPr sz="1100" b="0" i="0">
                          <a:solidFill>
                            <a:srgbClr val="232323"/>
                          </a:solidFill>
                          <a:latin typeface="Segoe UI"/>
                        </a:rPr>
                        <a:t>0.62, true</a:t>
                      </a:r>
                    </a:p>
                  </a:txBody>
                  <a:tcPr marL="73152" marR="73152" marT="36576" marB="36576" anchor="ctr">
                    <a:solidFill>
                      <a:srgbClr val="FFFFFF"/>
                    </a:solidFill>
                  </a:tcPr>
                </a:tc>
                <a:tc>
                  <a:txBody>
                    <a:bodyPr wrap="square"/>
                    <a:lstStyle/>
                    <a:p>
                      <a:r>
                        <a:rPr sz="1100" b="0" i="0">
                          <a:solidFill>
                            <a:srgbClr val="232323"/>
                          </a:solidFill>
                          <a:latin typeface="Segoe UI"/>
                        </a:rPr>
                        <a:t>The cut-off in use and the decision at that cut-off</a:t>
                      </a:r>
                    </a:p>
                  </a:txBody>
                  <a:tcPr marL="73152" marR="73152" marT="36576" marB="36576" anchor="ctr">
                    <a:solidFill>
                      <a:srgbClr val="FFFFFF"/>
                    </a:solidFill>
                  </a:tcPr>
                </a:tc>
              </a:tr>
              <a:tr h="502920">
                <a:tc>
                  <a:txBody>
                    <a:bodyPr wrap="square"/>
                    <a:lstStyle/>
                    <a:p>
                      <a:r>
                        <a:rPr sz="1100" b="1" i="0">
                          <a:solidFill>
                            <a:srgbClr val="232323"/>
                          </a:solidFill>
                          <a:latin typeface="Segoe UI"/>
                        </a:rPr>
                        <a:t>contributions</a:t>
                      </a:r>
                    </a:p>
                  </a:txBody>
                  <a:tcPr marL="73152" marR="73152" marT="36576" marB="36576" anchor="ctr">
                    <a:solidFill>
                      <a:srgbClr val="F6F8F7"/>
                    </a:solidFill>
                  </a:tcPr>
                </a:tc>
                <a:tc>
                  <a:txBody>
                    <a:bodyPr wrap="square"/>
                    <a:lstStyle/>
                    <a:p>
                      <a:r>
                        <a:rPr sz="1100" b="0" i="0">
                          <a:solidFill>
                            <a:srgbClr val="232323"/>
                          </a:solidFill>
                          <a:latin typeface="Segoe UI"/>
                        </a:rPr>
                        <a:t>six terms, e.g. previous surgery +0.43</a:t>
                      </a:r>
                    </a:p>
                  </a:txBody>
                  <a:tcPr marL="73152" marR="73152" marT="36576" marB="36576" anchor="ctr">
                    <a:solidFill>
                      <a:srgbClr val="F6F8F7"/>
                    </a:solidFill>
                  </a:tcPr>
                </a:tc>
                <a:tc>
                  <a:txBody>
                    <a:bodyPr wrap="square"/>
                    <a:lstStyle/>
                    <a:p>
                      <a:r>
                        <a:rPr sz="1100" b="0" i="0">
                          <a:solidFill>
                            <a:srgbClr val="232323"/>
                          </a:solidFill>
                          <a:latin typeface="Segoe UI"/>
                        </a:rPr>
                        <a:t>The reasons, in the model’s own units</a:t>
                      </a:r>
                    </a:p>
                  </a:txBody>
                  <a:tcPr marL="73152" marR="73152" marT="36576" marB="36576" anchor="ctr">
                    <a:solidFill>
                      <a:srgbClr val="F6F8F7"/>
                    </a:solidFill>
                  </a:tcPr>
                </a:tc>
              </a:tr>
              <a:tr h="502920">
                <a:tc>
                  <a:txBody>
                    <a:bodyPr wrap="square"/>
                    <a:lstStyle/>
                    <a:p>
                      <a:r>
                        <a:rPr sz="1100" b="1" i="0">
                          <a:solidFill>
                            <a:srgbClr val="232323"/>
                          </a:solidFill>
                          <a:latin typeface="Segoe UI"/>
                        </a:rPr>
                        <a:t>model_version</a:t>
                      </a:r>
                    </a:p>
                  </a:txBody>
                  <a:tcPr marL="73152" marR="73152" marT="36576" marB="36576" anchor="ctr">
                    <a:solidFill>
                      <a:srgbClr val="FFFFFF"/>
                    </a:solidFill>
                  </a:tcPr>
                </a:tc>
                <a:tc>
                  <a:txBody>
                    <a:bodyPr wrap="square"/>
                    <a:lstStyle/>
                    <a:p>
                      <a:r>
                        <a:rPr sz="1100" b="0" i="0">
                          <a:solidFill>
                            <a:srgbClr val="232323"/>
                          </a:solidFill>
                          <a:latin typeface="Segoe UI"/>
                        </a:rPr>
                        <a:t>knee-poor-outcome-ebm v4, champion</a:t>
                      </a:r>
                    </a:p>
                  </a:txBody>
                  <a:tcPr marL="73152" marR="73152" marT="36576" marB="36576" anchor="ctr">
                    <a:solidFill>
                      <a:srgbClr val="FFFFFF"/>
                    </a:solidFill>
                  </a:tcPr>
                </a:tc>
                <a:tc>
                  <a:txBody>
                    <a:bodyPr wrap="square"/>
                    <a:lstStyle/>
                    <a:p>
                      <a:r>
                        <a:rPr sz="1100" b="0" i="0">
                          <a:solidFill>
                            <a:srgbClr val="232323"/>
                          </a:solidFill>
                          <a:latin typeface="Segoe UI"/>
                        </a:rPr>
                        <a:t>Which model produced the score</a:t>
                      </a:r>
                    </a:p>
                  </a:txBody>
                  <a:tcPr marL="73152" marR="73152" marT="36576" marB="36576" anchor="ctr">
                    <a:solidFill>
                      <a:srgbClr val="FFFFFF"/>
                    </a:solidFill>
                  </a:tcPr>
                </a:tc>
              </a:tr>
              <a:tr h="502920">
                <a:tc>
                  <a:txBody>
                    <a:bodyPr wrap="square"/>
                    <a:lstStyle/>
                    <a:p>
                      <a:r>
                        <a:rPr sz="1100" b="1" i="0">
                          <a:solidFill>
                            <a:srgbClr val="232323"/>
                          </a:solidFill>
                          <a:latin typeface="Segoe UI"/>
                        </a:rPr>
                        <a:t>gold_table_version</a:t>
                      </a:r>
                    </a:p>
                  </a:txBody>
                  <a:tcPr marL="73152" marR="73152" marT="36576" marB="36576" anchor="ctr">
                    <a:solidFill>
                      <a:srgbClr val="F6F8F7"/>
                    </a:solidFill>
                  </a:tcPr>
                </a:tc>
                <a:tc>
                  <a:txBody>
                    <a:bodyPr wrap="square"/>
                    <a:lstStyle/>
                    <a:p>
                      <a:r>
                        <a:rPr sz="1100" b="0" i="0">
                          <a:solidFill>
                            <a:srgbClr val="232323"/>
                          </a:solidFill>
                          <a:latin typeface="Segoe UI"/>
                        </a:rPr>
                        <a:t>51</a:t>
                      </a:r>
                    </a:p>
                  </a:txBody>
                  <a:tcPr marL="73152" marR="73152" marT="36576" marB="36576" anchor="ctr">
                    <a:solidFill>
                      <a:srgbClr val="F6F8F7"/>
                    </a:solidFill>
                  </a:tcPr>
                </a:tc>
                <a:tc>
                  <a:txBody>
                    <a:bodyPr wrap="square"/>
                    <a:lstStyle/>
                    <a:p>
                      <a:r>
                        <a:rPr sz="1100" b="0" i="0">
                          <a:solidFill>
                            <a:srgbClr val="232323"/>
                          </a:solidFill>
                          <a:latin typeface="Segoe UI"/>
                        </a:rPr>
                        <a:t>Which version of the data the model was trained on</a:t>
                      </a:r>
                    </a:p>
                  </a:txBody>
                  <a:tcPr marL="73152" marR="73152" marT="36576" marB="36576" anchor="ctr">
                    <a:solidFill>
                      <a:srgbClr val="F6F8F7"/>
                    </a:solidFill>
                  </a:tcPr>
                </a:tc>
              </a:tr>
            </a:tbl>
          </a:graphicData>
        </a:graphic>
      </p:graphicFrame>
      <p:sp>
        <p:nvSpPr>
          <p:cNvPr id="5" name="Rounded Rectangle 4"/>
          <p:cNvSpPr/>
          <p:nvPr/>
        </p:nvSpPr>
        <p:spPr>
          <a:xfrm>
            <a:off x="7635240" y="1691640"/>
            <a:ext cx="3739896" cy="352044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18119" y="1837944"/>
            <a:ext cx="3374136" cy="31912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VERSIONED, AUTHENTICATED, IN-ESTATE</a:t>
            </a:r>
          </a:p>
          <a:p>
            <a:pPr algn="l">
              <a:spcAft>
                <a:spcPts val="600"/>
              </a:spcAft>
            </a:pPr>
            <a:r>
              <a:rPr sz="1300" b="0" i="0">
                <a:solidFill>
                  <a:srgbClr val="232323"/>
                </a:solidFill>
                <a:latin typeface="Segoe UI"/>
              </a:rPr>
              <a:t>A clinician can act on the score.</a:t>
            </a:r>
          </a:p>
          <a:p>
            <a:pPr algn="l">
              <a:spcAft>
                <a:spcPts val="600"/>
              </a:spcAft>
            </a:pPr>
            <a:r>
              <a:rPr sz="1300" b="0" i="0">
                <a:solidFill>
                  <a:srgbClr val="232323"/>
                </a:solidFill>
                <a:latin typeface="Segoe UI"/>
              </a:rPr>
              <a:t>An auditor can trace it back to the model version and the data version that produced it.</a:t>
            </a:r>
          </a:p>
          <a:p>
            <a:pPr algn="l">
              <a:spcAft>
                <a:spcPts val="600"/>
              </a:spcAft>
            </a:pPr>
            <a:r>
              <a:rPr sz="1300" b="0" i="0">
                <a:solidFill>
                  <a:srgbClr val="232323"/>
                </a:solidFill>
                <a:latin typeface="Segoe UI"/>
              </a:rPr>
              <a:t>Neither needs a second system.</a:t>
            </a:r>
          </a:p>
          <a:p>
            <a:pPr algn="l">
              <a:spcAft>
                <a:spcPts val="400"/>
              </a:spcAft>
            </a:pPr>
            <a:r>
              <a:rPr sz="1100" b="0" i="0">
                <a:solidFill>
                  <a:srgbClr val="44536A"/>
                </a:solidFill>
                <a:latin typeface="Segoe UI"/>
              </a:rPr>
              <a:t>Example values are illustrative; the field list is the contract.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Demo: the experiment, the model and the endpoint</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In the Fabric workspace.</a:t>
            </a:r>
          </a:p>
        </p:txBody>
      </p:sp>
      <p:sp>
        <p:nvSpPr>
          <p:cNvPr id="4" name="Rounded Rectangle 3"/>
          <p:cNvSpPr/>
          <p:nvPr/>
        </p:nvSpPr>
        <p:spPr>
          <a:xfrm>
            <a:off x="813816" y="1783080"/>
            <a:ext cx="1965960" cy="2103120"/>
          </a:xfrm>
          <a:prstGeom prst="roundRect">
            <a:avLst>
              <a:gd name="adj" fmla="val 5000"/>
            </a:avLst>
          </a:prstGeom>
          <a:solidFill>
            <a:srgbClr val="003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BFD9D2"/>
                </a:solidFill>
                <a:latin typeface="Segoe UI"/>
              </a:rPr>
              <a:t>1 · ML EXPERIMENT</a:t>
            </a:r>
          </a:p>
          <a:p>
            <a:pPr algn="l">
              <a:spcAft>
                <a:spcPts val="400"/>
              </a:spcAft>
            </a:pPr>
            <a:r>
              <a:rPr sz="1400" b="1" i="0">
                <a:solidFill>
                  <a:srgbClr val="FFFFFF"/>
                </a:solidFill>
                <a:latin typeface="Segoe UI"/>
              </a:rPr>
              <a:t>Parent run and child runs</a:t>
            </a:r>
          </a:p>
          <a:p>
            <a:pPr algn="l">
              <a:spcAft>
                <a:spcPts val="600"/>
              </a:spcAft>
            </a:pPr>
            <a:r>
              <a:rPr sz="1200" b="0" i="0">
                <a:solidFill>
                  <a:srgbClr val="FFFFFF"/>
                </a:solidFill>
                <a:latin typeface="Segoe UI"/>
              </a:rPr>
              <a:t>Compare the three models side by side.</a:t>
            </a:r>
          </a:p>
        </p:txBody>
      </p:sp>
      <p:sp>
        <p:nvSpPr>
          <p:cNvPr id="6" name="Rounded Rectangle 5"/>
          <p:cNvSpPr/>
          <p:nvPr/>
        </p:nvSpPr>
        <p:spPr>
          <a:xfrm>
            <a:off x="2962656" y="1783080"/>
            <a:ext cx="1965960" cy="21031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10896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2 · FILTER BY TAG</a:t>
            </a:r>
          </a:p>
          <a:p>
            <a:pPr algn="l">
              <a:spcAft>
                <a:spcPts val="400"/>
              </a:spcAft>
            </a:pPr>
            <a:r>
              <a:rPr sz="1400" b="1" i="0">
                <a:solidFill>
                  <a:srgbClr val="003E34"/>
                </a:solidFill>
                <a:latin typeface="Segoe UI"/>
              </a:rPr>
              <a:t>interpretability = blackbox</a:t>
            </a:r>
          </a:p>
          <a:p>
            <a:pPr algn="l">
              <a:spcAft>
                <a:spcPts val="600"/>
              </a:spcAft>
            </a:pPr>
            <a:r>
              <a:rPr sz="1200" b="0" i="0">
                <a:solidFill>
                  <a:srgbClr val="232323"/>
                </a:solidFill>
                <a:latin typeface="Segoe UI"/>
              </a:rPr>
              <a:t>The deployment rule, as a query.</a:t>
            </a:r>
          </a:p>
        </p:txBody>
      </p:sp>
      <p:sp>
        <p:nvSpPr>
          <p:cNvPr id="8" name="Rounded Rectangle 7"/>
          <p:cNvSpPr/>
          <p:nvPr/>
        </p:nvSpPr>
        <p:spPr>
          <a:xfrm>
            <a:off x="5111496" y="1783080"/>
            <a:ext cx="1965960" cy="21031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5780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3 · ML MODEL ITEM</a:t>
            </a:r>
          </a:p>
          <a:p>
            <a:pPr algn="l">
              <a:spcAft>
                <a:spcPts val="400"/>
              </a:spcAft>
            </a:pPr>
            <a:r>
              <a:rPr sz="1400" b="1" i="0">
                <a:solidFill>
                  <a:srgbClr val="003E34"/>
                </a:solidFill>
                <a:latin typeface="Segoe UI"/>
              </a:rPr>
              <a:t>Versions and their tags</a:t>
            </a:r>
          </a:p>
          <a:p>
            <a:pPr algn="l">
              <a:spcAft>
                <a:spcPts val="600"/>
              </a:spcAft>
            </a:pPr>
            <a:r>
              <a:rPr sz="1200" b="0" i="0">
                <a:solidFill>
                  <a:srgbClr val="232323"/>
                </a:solidFill>
                <a:latin typeface="Segoe UI"/>
              </a:rPr>
              <a:t>Which version is champion, and why.</a:t>
            </a:r>
          </a:p>
        </p:txBody>
      </p:sp>
      <p:sp>
        <p:nvSpPr>
          <p:cNvPr id="10" name="Rounded Rectangle 9"/>
          <p:cNvSpPr/>
          <p:nvPr/>
        </p:nvSpPr>
        <p:spPr>
          <a:xfrm>
            <a:off x="7260336" y="1783080"/>
            <a:ext cx="1965960" cy="21031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0664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4 · THE DATA VERSION</a:t>
            </a:r>
          </a:p>
          <a:p>
            <a:pPr algn="l">
              <a:spcAft>
                <a:spcPts val="400"/>
              </a:spcAft>
            </a:pPr>
            <a:r>
              <a:rPr sz="1400" b="1" i="0">
                <a:solidFill>
                  <a:srgbClr val="003E34"/>
                </a:solidFill>
                <a:latin typeface="Segoe UI"/>
              </a:rPr>
              <a:t>gold_table_version</a:t>
            </a:r>
          </a:p>
          <a:p>
            <a:pPr algn="l">
              <a:spcAft>
                <a:spcPts val="600"/>
              </a:spcAft>
            </a:pPr>
            <a:r>
              <a:rPr sz="1200" b="0" i="0">
                <a:solidFill>
                  <a:srgbClr val="232323"/>
                </a:solidFill>
                <a:latin typeface="Segoe UI"/>
              </a:rPr>
              <a:t>Run SELECT … VERSION AS OF to show the exact training table.</a:t>
            </a:r>
          </a:p>
        </p:txBody>
      </p:sp>
      <p:sp>
        <p:nvSpPr>
          <p:cNvPr id="12" name="Rounded Rectangle 11"/>
          <p:cNvSpPr/>
          <p:nvPr/>
        </p:nvSpPr>
        <p:spPr>
          <a:xfrm>
            <a:off x="9409176" y="1783080"/>
            <a:ext cx="1965960" cy="2103120"/>
          </a:xfrm>
          <a:prstGeom prst="roundRect">
            <a:avLst>
              <a:gd name="adj" fmla="val 5000"/>
            </a:avLst>
          </a:prstGeom>
          <a:solidFill>
            <a:srgbClr val="FBF5E6"/>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5548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5 · THE ENDPOINT</a:t>
            </a:r>
          </a:p>
          <a:p>
            <a:pPr algn="l">
              <a:spcAft>
                <a:spcPts val="400"/>
              </a:spcAft>
            </a:pPr>
            <a:r>
              <a:rPr sz="1400" b="1" i="0">
                <a:solidFill>
                  <a:srgbClr val="003E34"/>
                </a:solidFill>
                <a:latin typeface="Segoe UI"/>
              </a:rPr>
              <a:t>Send one patient</a:t>
            </a:r>
          </a:p>
          <a:p>
            <a:pPr algn="l">
              <a:spcAft>
                <a:spcPts val="600"/>
              </a:spcAft>
            </a:pPr>
            <a:r>
              <a:rPr sz="1200" b="0" i="0">
                <a:solidFill>
                  <a:srgbClr val="232323"/>
                </a:solidFill>
                <a:latin typeface="Segoe UI"/>
              </a:rPr>
              <a:t>Read back the risk, the reasons and the versions.</a:t>
            </a:r>
          </a:p>
        </p:txBody>
      </p:sp>
      <p:sp>
        <p:nvSpPr>
          <p:cNvPr id="14" name="Rounded Rectangle 13"/>
          <p:cNvSpPr/>
          <p:nvPr/>
        </p:nvSpPr>
        <p:spPr>
          <a:xfrm>
            <a:off x="813816" y="420624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13816" y="420624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69848" y="426110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If the endpoint is not deployed on the day: show the batch scoring run and the gold.patient_risk table instead.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572768"/>
            <a:ext cx="10543032" cy="1417320"/>
          </a:xfrm>
        </p:spPr>
        <p:txBody>
          <a:bodyPr anchor="ctr"/>
          <a:lstStyle/>
          <a:p>
            <a:r>
              <a:rPr sz="4800" b="1">
                <a:latin typeface="Segoe UI"/>
              </a:rPr>
              <a:t>A model a clinician can argue with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Why we chose the explainable boosting machine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Interpretability is a requirement here, not a preference: the EU AI Act asks for meaningful human oversight of high-risk clinical decision support.</a:t>
            </a:r>
          </a:p>
        </p:txBody>
      </p:sp>
      <p:sp>
        <p:nvSpPr>
          <p:cNvPr id="4" name="Rounded Rectangle 3"/>
          <p:cNvSpPr/>
          <p:nvPr/>
        </p:nvSpPr>
        <p:spPr>
          <a:xfrm>
            <a:off x="813816" y="1737360"/>
            <a:ext cx="5166360" cy="36576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3284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EBM</a:t>
            </a:r>
          </a:p>
          <a:p>
            <a:pPr algn="l">
              <a:spcAft>
                <a:spcPts val="400"/>
              </a:spcAft>
            </a:pPr>
            <a:r>
              <a:rPr sz="1600" b="1" i="0">
                <a:solidFill>
                  <a:srgbClr val="003E34"/>
                </a:solidFill>
                <a:latin typeface="Segoe UI"/>
              </a:rPr>
              <a:t>Prediction = the sum of one curve per variable</a:t>
            </a:r>
          </a:p>
          <a:p>
            <a:pPr algn="l">
              <a:spcAft>
                <a:spcPts val="600"/>
              </a:spcAft>
            </a:pPr>
            <a:r>
              <a:rPr sz="1300" b="0" i="0">
                <a:solidFill>
                  <a:srgbClr val="232323"/>
                </a:solidFill>
                <a:latin typeface="Segoe UI"/>
              </a:rPr>
              <a:t>The model learns one curve per variable: given this value, how much does the risk move? The score is the intercept plus those curves added up.</a:t>
            </a:r>
          </a:p>
          <a:p>
            <a:pPr algn="l">
              <a:spcAft>
                <a:spcPts val="600"/>
              </a:spcAft>
            </a:pPr>
            <a:r>
              <a:rPr sz="1300" b="0" i="0">
                <a:solidFill>
                  <a:srgbClr val="232323"/>
                </a:solidFill>
                <a:latin typeface="Segoe UI"/>
              </a:rPr>
              <a:t>So the explanation is the model. When it says a pre-operative score of 16 added +0.42, that is what the model did, not an estimate of it.</a:t>
            </a:r>
          </a:p>
          <a:p>
            <a:pPr algn="l">
              <a:spcAft>
                <a:spcPts val="600"/>
              </a:spcAft>
            </a:pPr>
            <a:r>
              <a:rPr sz="1300" b="0" i="0">
                <a:solidFill>
                  <a:srgbClr val="232323"/>
                </a:solidFill>
                <a:latin typeface="Segoe UI"/>
              </a:rPr>
              <a:t>A clinician can read the curves and disagree with them.</a:t>
            </a:r>
          </a:p>
        </p:txBody>
      </p:sp>
      <p:sp>
        <p:nvSpPr>
          <p:cNvPr id="6" name="Rounded Rectangle 5"/>
          <p:cNvSpPr/>
          <p:nvPr/>
        </p:nvSpPr>
        <p:spPr>
          <a:xfrm>
            <a:off x="6208776" y="1737360"/>
            <a:ext cx="5166360" cy="36576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3284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RANDOM FOREST</a:t>
            </a:r>
          </a:p>
          <a:p>
            <a:pPr algn="l">
              <a:spcAft>
                <a:spcPts val="400"/>
              </a:spcAft>
            </a:pPr>
            <a:r>
              <a:rPr sz="1600" b="1" i="0">
                <a:solidFill>
                  <a:srgbClr val="003E34"/>
                </a:solidFill>
                <a:latin typeface="Segoe UI"/>
              </a:rPr>
              <a:t>Needs a second model to explain the first</a:t>
            </a:r>
          </a:p>
          <a:p>
            <a:pPr algn="l">
              <a:spcAft>
                <a:spcPts val="600"/>
              </a:spcAft>
            </a:pPr>
            <a:r>
              <a:rPr sz="1300" b="0" i="0">
                <a:solidFill>
                  <a:srgbClr val="232323"/>
                </a:solidFill>
                <a:latin typeface="Segoe UI"/>
              </a:rPr>
              <a:t>SHAP is good work — but it is an approximation built on top of the model. In front of a regulator you have to answer: how do you know the explanation is faithful?</a:t>
            </a:r>
          </a:p>
          <a:p>
            <a:pPr algn="l">
              <a:spcAft>
                <a:spcPts val="600"/>
              </a:spcAft>
            </a:pPr>
            <a:r>
              <a:rPr sz="1300" b="0" i="0">
                <a:solidFill>
                  <a:srgbClr val="232323"/>
                </a:solidFill>
                <a:latin typeface="Segoe UI"/>
              </a:rPr>
              <a:t>For a glassbox model that question does not arise.</a:t>
            </a:r>
          </a:p>
          <a:p>
            <a:pPr algn="l">
              <a:spcAft>
                <a:spcPts val="600"/>
              </a:spcAft>
            </a:pPr>
            <a:r>
              <a:rPr sz="1300" b="1" i="0">
                <a:solidFill>
                  <a:srgbClr val="232323"/>
                </a:solidFill>
                <a:latin typeface="Segoe UI"/>
              </a:rPr>
              <a:t>And we do not pay for it: average precision 0.390 for the EBM against 0.378 for the random forest.</a:t>
            </a:r>
          </a:p>
          <a:p>
            <a:pPr algn="l">
              <a:spcAft>
                <a:spcPts val="600"/>
              </a:spcAft>
            </a:pPr>
            <a:r>
              <a:rPr sz="1300" b="0" i="0">
                <a:solidFill>
                  <a:srgbClr val="232323"/>
                </a:solidFill>
                <a:latin typeface="Segoe UI"/>
              </a:rPr>
              <a:t>The two rank the drivers almost the same way — a rank correlation of 0.86 — so readability is not bought by seeing something different.</a:t>
            </a:r>
          </a:p>
        </p:txBody>
      </p:sp>
      <p:sp>
        <p:nvSpPr>
          <p:cNvPr id="8" name="Rounded Rectangle 7"/>
          <p:cNvSpPr/>
          <p:nvPr/>
        </p:nvSpPr>
        <p:spPr>
          <a:xfrm>
            <a:off x="813816" y="557784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13816" y="557784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63270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A clinician cannot disagree with a random forest. Oversight of something you cannot disagree with is not oversight.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Explaining one patient’s score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six largest terms for one patient, in the model’s own units. They add up, with the intercept, to the score.</a:t>
            </a:r>
          </a:p>
        </p:txBody>
      </p:sp>
      <p:sp>
        <p:nvSpPr>
          <p:cNvPr id="4" name="TextBox 3"/>
          <p:cNvSpPr txBox="1"/>
          <p:nvPr/>
        </p:nvSpPr>
        <p:spPr>
          <a:xfrm>
            <a:off x="4526280" y="1508760"/>
            <a:ext cx="1188720" cy="274320"/>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 LOWERS</a:t>
            </a:r>
          </a:p>
        </p:txBody>
      </p:sp>
      <p:sp>
        <p:nvSpPr>
          <p:cNvPr id="5" name="TextBox 4"/>
          <p:cNvSpPr txBox="1"/>
          <p:nvPr/>
        </p:nvSpPr>
        <p:spPr>
          <a:xfrm>
            <a:off x="5715000" y="1508760"/>
            <a:ext cx="2011680" cy="274320"/>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RAISES RISK →</a:t>
            </a:r>
          </a:p>
        </p:txBody>
      </p:sp>
      <p:sp>
        <p:nvSpPr>
          <p:cNvPr id="6" name="Rectangle 5"/>
          <p:cNvSpPr/>
          <p:nvPr/>
        </p:nvSpPr>
        <p:spPr>
          <a:xfrm>
            <a:off x="5669280" y="1783080"/>
            <a:ext cx="18288" cy="356616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3816" y="1828800"/>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Previous surgery on this knee</a:t>
            </a:r>
          </a:p>
        </p:txBody>
      </p:sp>
      <p:sp>
        <p:nvSpPr>
          <p:cNvPr id="8" name="Rectangle 7"/>
          <p:cNvSpPr/>
          <p:nvPr/>
        </p:nvSpPr>
        <p:spPr>
          <a:xfrm>
            <a:off x="5669280" y="1901952"/>
            <a:ext cx="1258214"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73214" y="1828800"/>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+0.43</a:t>
            </a:r>
          </a:p>
        </p:txBody>
      </p:sp>
      <p:sp>
        <p:nvSpPr>
          <p:cNvPr id="10" name="TextBox 9"/>
          <p:cNvSpPr txBox="1"/>
          <p:nvPr/>
        </p:nvSpPr>
        <p:spPr>
          <a:xfrm>
            <a:off x="813816" y="2395728"/>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Mobility (EQ-5D)</a:t>
            </a:r>
          </a:p>
        </p:txBody>
      </p:sp>
      <p:sp>
        <p:nvSpPr>
          <p:cNvPr id="11" name="Rectangle 10"/>
          <p:cNvSpPr/>
          <p:nvPr/>
        </p:nvSpPr>
        <p:spPr>
          <a:xfrm>
            <a:off x="5669280" y="2468880"/>
            <a:ext cx="1170432"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85432" y="2395728"/>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+0.40</a:t>
            </a:r>
          </a:p>
        </p:txBody>
      </p:sp>
      <p:sp>
        <p:nvSpPr>
          <p:cNvPr id="13" name="TextBox 12"/>
          <p:cNvSpPr txBox="1"/>
          <p:nvPr/>
        </p:nvSpPr>
        <p:spPr>
          <a:xfrm>
            <a:off x="813816" y="2962656"/>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Pre-operative pain</a:t>
            </a:r>
          </a:p>
        </p:txBody>
      </p:sp>
      <p:sp>
        <p:nvSpPr>
          <p:cNvPr id="14" name="Rectangle 13"/>
          <p:cNvSpPr/>
          <p:nvPr/>
        </p:nvSpPr>
        <p:spPr>
          <a:xfrm>
            <a:off x="5669280" y="3035808"/>
            <a:ext cx="877824"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92824" y="2962656"/>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+0.30</a:t>
            </a:r>
          </a:p>
        </p:txBody>
      </p:sp>
      <p:sp>
        <p:nvSpPr>
          <p:cNvPr id="16" name="TextBox 15"/>
          <p:cNvSpPr txBox="1"/>
          <p:nvPr/>
        </p:nvSpPr>
        <p:spPr>
          <a:xfrm>
            <a:off x="813816" y="3529584"/>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Number of long-term conditions</a:t>
            </a:r>
          </a:p>
        </p:txBody>
      </p:sp>
      <p:sp>
        <p:nvSpPr>
          <p:cNvPr id="17" name="Rectangle 16"/>
          <p:cNvSpPr/>
          <p:nvPr/>
        </p:nvSpPr>
        <p:spPr>
          <a:xfrm>
            <a:off x="5084064" y="3602736"/>
            <a:ext cx="585216" cy="329184"/>
          </a:xfrm>
          <a:prstGeom prst="rect">
            <a:avLst/>
          </a:prstGeom>
          <a:solidFill>
            <a:srgbClr val="1E7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17136" y="3529584"/>
            <a:ext cx="530352" cy="457200"/>
          </a:xfrm>
          <a:prstGeom prst="rect">
            <a:avLst/>
          </a:prstGeom>
          <a:noFill/>
        </p:spPr>
        <p:txBody>
          <a:bodyPr wrap="square" anchor="ctr" lIns="27432" rIns="27432" tIns="18288" bIns="18288">
            <a:spAutoFit/>
          </a:bodyPr>
          <a:lstStyle/>
          <a:p>
            <a:pPr algn="r"/>
            <a:r>
              <a:rPr sz="1200" b="1" i="0">
                <a:solidFill>
                  <a:srgbClr val="1E7A5C"/>
                </a:solidFill>
                <a:latin typeface="Segoe UI"/>
              </a:rPr>
              <a:t>-0.20</a:t>
            </a:r>
          </a:p>
        </p:txBody>
      </p:sp>
      <p:sp>
        <p:nvSpPr>
          <p:cNvPr id="19" name="TextBox 18"/>
          <p:cNvSpPr txBox="1"/>
          <p:nvPr/>
        </p:nvSpPr>
        <p:spPr>
          <a:xfrm>
            <a:off x="813816" y="4096512"/>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How long symptoms have lasted</a:t>
            </a:r>
          </a:p>
        </p:txBody>
      </p:sp>
      <p:sp>
        <p:nvSpPr>
          <p:cNvPr id="20" name="Rectangle 19"/>
          <p:cNvSpPr/>
          <p:nvPr/>
        </p:nvSpPr>
        <p:spPr>
          <a:xfrm>
            <a:off x="5669280" y="4169664"/>
            <a:ext cx="468172"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83172" y="4096512"/>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+0.16</a:t>
            </a:r>
          </a:p>
        </p:txBody>
      </p:sp>
      <p:sp>
        <p:nvSpPr>
          <p:cNvPr id="22" name="TextBox 21"/>
          <p:cNvSpPr txBox="1"/>
          <p:nvPr/>
        </p:nvSpPr>
        <p:spPr>
          <a:xfrm>
            <a:off x="813816" y="4663440"/>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Pre-operative Oxford Knee Score</a:t>
            </a:r>
          </a:p>
        </p:txBody>
      </p:sp>
      <p:sp>
        <p:nvSpPr>
          <p:cNvPr id="23" name="Rectangle 22"/>
          <p:cNvSpPr/>
          <p:nvPr/>
        </p:nvSpPr>
        <p:spPr>
          <a:xfrm>
            <a:off x="5669280" y="4736592"/>
            <a:ext cx="351129"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066129" y="4663440"/>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+0.12</a:t>
            </a:r>
          </a:p>
        </p:txBody>
      </p:sp>
      <p:sp>
        <p:nvSpPr>
          <p:cNvPr id="25" name="Rounded Rectangle 24"/>
          <p:cNvSpPr/>
          <p:nvPr/>
        </p:nvSpPr>
        <p:spPr>
          <a:xfrm>
            <a:off x="7863840" y="1828800"/>
            <a:ext cx="3511296" cy="352044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046719" y="1975104"/>
            <a:ext cx="3145536" cy="31912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HOW TO READ IT</a:t>
            </a:r>
          </a:p>
          <a:p>
            <a:pPr algn="l">
              <a:spcAft>
                <a:spcPts val="600"/>
              </a:spcAft>
            </a:pPr>
            <a:r>
              <a:rPr sz="1300" b="0" i="0">
                <a:solidFill>
                  <a:srgbClr val="232323"/>
                </a:solidFill>
                <a:latin typeface="Segoe UI"/>
              </a:rPr>
              <a:t>Each bar is one variable’s contribution in log-odds. Positive raises the risk, negative lowers it.</a:t>
            </a:r>
          </a:p>
          <a:p>
            <a:pPr algn="l">
              <a:spcAft>
                <a:spcPts val="600"/>
              </a:spcAft>
            </a:pPr>
            <a:r>
              <a:rPr sz="1300" b="0" i="0">
                <a:solidFill>
                  <a:srgbClr val="232323"/>
                </a:solidFill>
                <a:latin typeface="Segoe UI"/>
              </a:rPr>
              <a:t>The six bars plus the smaller terms and the intercept add up to this patient’s probability.</a:t>
            </a:r>
          </a:p>
          <a:p>
            <a:pPr algn="l">
              <a:spcAft>
                <a:spcPts val="600"/>
              </a:spcAft>
            </a:pPr>
            <a:r>
              <a:rPr sz="1300" b="0" i="0">
                <a:solidFill>
                  <a:srgbClr val="232323"/>
                </a:solidFill>
                <a:latin typeface="Segoe UI"/>
              </a:rPr>
              <a:t>This is the arithmetic a clinician can check and challenge — and the same numbers the app and the Data Agent show.</a:t>
            </a:r>
          </a:p>
          <a:p>
            <a:pPr algn="l">
              <a:spcAft>
                <a:spcPts val="400"/>
              </a:spcAft>
            </a:pPr>
            <a:r>
              <a:rPr sz="1100" b="0" i="0">
                <a:solidFill>
                  <a:srgbClr val="44536A"/>
                </a:solidFill>
                <a:latin typeface="Segoe UI"/>
              </a:rPr>
              <a:t>Illustrative values; replace with a real patient from the Fabric run.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Choosing the cut-off with the service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trade-off is known. Now it has to be made in patients, by the people who run the pathway.</a:t>
            </a:r>
          </a:p>
        </p:txBody>
      </p:sp>
      <p:graphicFrame>
        <p:nvGraphicFramePr>
          <p:cNvPr id="4" name="Table 3"/>
          <p:cNvGraphicFramePr>
            <a:graphicFrameLocks noGrp="1"/>
          </p:cNvGraphicFramePr>
          <p:nvPr/>
        </p:nvGraphicFramePr>
        <p:xfrm>
          <a:off x="813816" y="1691640"/>
          <a:ext cx="6675118" cy="1901952"/>
        </p:xfrm>
        <a:graphic>
          <a:graphicData uri="http://schemas.openxmlformats.org/drawingml/2006/table">
            <a:tbl>
              <a:tblPr firstRow="0" bandRow="0">
                <a:tableStyleId>{5C22544A-7EE6-4342-B048-85BDC9FD1C3A}</a:tableStyleId>
              </a:tblPr>
              <a:tblGrid>
                <a:gridCol w="2743199"/>
                <a:gridCol w="1920239"/>
                <a:gridCol w="2011680"/>
              </a:tblGrid>
              <a:tr h="475488">
                <a:tc>
                  <a:txBody>
                    <a:bodyPr wrap="square"/>
                    <a:lstStyle/>
                    <a:p>
                      <a:r>
                        <a:rPr sz="1200" b="1" i="0">
                          <a:solidFill>
                            <a:srgbClr val="FFFFFF"/>
                          </a:solidFill>
                          <a:latin typeface="Segoe UI"/>
                        </a:rPr>
                        <a:t>At the chosen cut-off of 0.62</a:t>
                      </a:r>
                    </a:p>
                  </a:txBody>
                  <a:tcPr marL="73152" marR="73152" marT="36576" marB="36576" anchor="ctr">
                    <a:solidFill>
                      <a:srgbClr val="003E34"/>
                    </a:solidFill>
                  </a:tcPr>
                </a:tc>
                <a:tc>
                  <a:txBody>
                    <a:bodyPr wrap="square"/>
                    <a:lstStyle/>
                    <a:p>
                      <a:r>
                        <a:rPr sz="1200" b="1" i="0">
                          <a:solidFill>
                            <a:srgbClr val="FFFFFF"/>
                          </a:solidFill>
                          <a:latin typeface="Segoe UI"/>
                        </a:rPr>
                        <a:t>Per 1,000 patients</a:t>
                      </a:r>
                    </a:p>
                  </a:txBody>
                  <a:tcPr marL="73152" marR="73152" marT="36576" marB="36576" anchor="ctr">
                    <a:solidFill>
                      <a:srgbClr val="003E34"/>
                    </a:solidFill>
                  </a:tcPr>
                </a:tc>
                <a:tc>
                  <a:txBody>
                    <a:bodyPr wrap="square"/>
                    <a:lstStyle/>
                    <a:p>
                      <a:r>
                        <a:rPr sz="1200" b="1" i="0">
                          <a:solidFill>
                            <a:srgbClr val="FFFFFF"/>
                          </a:solidFill>
                          <a:latin typeface="Segoe UI"/>
                        </a:rPr>
                        <a:t>On the 25,997 test patients</a:t>
                      </a:r>
                    </a:p>
                  </a:txBody>
                  <a:tcPr marL="73152" marR="73152" marT="36576" marB="36576" anchor="ctr">
                    <a:solidFill>
                      <a:srgbClr val="003E34"/>
                    </a:solidFill>
                  </a:tcPr>
                </a:tc>
              </a:tr>
              <a:tr h="475488">
                <a:tc>
                  <a:txBody>
                    <a:bodyPr wrap="square"/>
                    <a:lstStyle/>
                    <a:p>
                      <a:r>
                        <a:rPr sz="1200" b="1" i="0">
                          <a:solidFill>
                            <a:srgbClr val="232323"/>
                          </a:solidFill>
                          <a:latin typeface="Segoe UI"/>
                        </a:rPr>
                        <a:t>Flagged for review</a:t>
                      </a:r>
                    </a:p>
                  </a:txBody>
                  <a:tcPr marL="73152" marR="73152" marT="36576" marB="36576" anchor="ctr">
                    <a:solidFill>
                      <a:srgbClr val="FFFFFF"/>
                    </a:solidFill>
                  </a:tcPr>
                </a:tc>
                <a:tc>
                  <a:txBody>
                    <a:bodyPr wrap="square"/>
                    <a:lstStyle/>
                    <a:p>
                      <a:r>
                        <a:rPr sz="1200" b="0" i="0">
                          <a:solidFill>
                            <a:srgbClr val="232323"/>
                          </a:solidFill>
                          <a:latin typeface="Segoe UI"/>
                        </a:rPr>
                        <a:t>12</a:t>
                      </a:r>
                    </a:p>
                  </a:txBody>
                  <a:tcPr marL="73152" marR="73152" marT="36576" marB="36576" anchor="ctr">
                    <a:solidFill>
                      <a:srgbClr val="FFFFFF"/>
                    </a:solidFill>
                  </a:tcPr>
                </a:tc>
                <a:tc>
                  <a:txBody>
                    <a:bodyPr wrap="square"/>
                    <a:lstStyle/>
                    <a:p>
                      <a:r>
                        <a:rPr sz="1200" b="0" i="0">
                          <a:solidFill>
                            <a:srgbClr val="232323"/>
                          </a:solidFill>
                          <a:latin typeface="Segoe UI"/>
                        </a:rPr>
                        <a:t>300</a:t>
                      </a:r>
                    </a:p>
                  </a:txBody>
                  <a:tcPr marL="73152" marR="73152" marT="36576" marB="36576" anchor="ctr">
                    <a:solidFill>
                      <a:srgbClr val="FFFFFF"/>
                    </a:solidFill>
                  </a:tcPr>
                </a:tc>
              </a:tr>
              <a:tr h="475488">
                <a:tc>
                  <a:txBody>
                    <a:bodyPr wrap="square"/>
                    <a:lstStyle/>
                    <a:p>
                      <a:r>
                        <a:rPr sz="1200" b="1" i="0">
                          <a:solidFill>
                            <a:srgbClr val="232323"/>
                          </a:solidFill>
                          <a:latin typeface="Segoe UI"/>
                        </a:rPr>
                        <a:t>Of which unnecessary</a:t>
                      </a:r>
                    </a:p>
                  </a:txBody>
                  <a:tcPr marL="73152" marR="73152" marT="36576" marB="36576" anchor="ctr">
                    <a:solidFill>
                      <a:srgbClr val="F6F8F7"/>
                    </a:solidFill>
                  </a:tcPr>
                </a:tc>
                <a:tc>
                  <a:txBody>
                    <a:bodyPr wrap="square"/>
                    <a:lstStyle/>
                    <a:p>
                      <a:r>
                        <a:rPr sz="1200" b="0" i="0">
                          <a:solidFill>
                            <a:srgbClr val="232323"/>
                          </a:solidFill>
                          <a:latin typeface="Segoe UI"/>
                        </a:rPr>
                        <a:t>2</a:t>
                      </a:r>
                    </a:p>
                  </a:txBody>
                  <a:tcPr marL="73152" marR="73152" marT="36576" marB="36576" anchor="ctr">
                    <a:solidFill>
                      <a:srgbClr val="F6F8F7"/>
                    </a:solidFill>
                  </a:tcPr>
                </a:tc>
                <a:tc>
                  <a:txBody>
                    <a:bodyPr wrap="square"/>
                    <a:lstStyle/>
                    <a:p>
                      <a:r>
                        <a:rPr sz="1200" b="0" i="0">
                          <a:solidFill>
                            <a:srgbClr val="232323"/>
                          </a:solidFill>
                          <a:latin typeface="Segoe UI"/>
                        </a:rPr>
                        <a:t>60</a:t>
                      </a:r>
                    </a:p>
                  </a:txBody>
                  <a:tcPr marL="73152" marR="73152" marT="36576" marB="36576" anchor="ctr">
                    <a:solidFill>
                      <a:srgbClr val="F6F8F7"/>
                    </a:solidFill>
                  </a:tcPr>
                </a:tc>
              </a:tr>
              <a:tr h="475488">
                <a:tc>
                  <a:txBody>
                    <a:bodyPr wrap="square"/>
                    <a:lstStyle/>
                    <a:p>
                      <a:r>
                        <a:rPr sz="1200" b="1" i="0">
                          <a:solidFill>
                            <a:srgbClr val="232323"/>
                          </a:solidFill>
                          <a:latin typeface="Segoe UI"/>
                        </a:rPr>
                        <a:t>Poor outcomes missed</a:t>
                      </a:r>
                    </a:p>
                  </a:txBody>
                  <a:tcPr marL="73152" marR="73152" marT="36576" marB="36576" anchor="ctr">
                    <a:solidFill>
                      <a:srgbClr val="FFFFFF"/>
                    </a:solidFill>
                  </a:tcPr>
                </a:tc>
                <a:tc>
                  <a:txBody>
                    <a:bodyPr wrap="square"/>
                    <a:lstStyle/>
                    <a:p>
                      <a:r>
                        <a:rPr sz="1200" b="0" i="0">
                          <a:solidFill>
                            <a:srgbClr val="232323"/>
                          </a:solidFill>
                          <a:latin typeface="Segoe UI"/>
                        </a:rPr>
                        <a:t>156</a:t>
                      </a:r>
                    </a:p>
                  </a:txBody>
                  <a:tcPr marL="73152" marR="73152" marT="36576" marB="36576" anchor="ctr">
                    <a:solidFill>
                      <a:srgbClr val="FFFFFF"/>
                    </a:solidFill>
                  </a:tcPr>
                </a:tc>
                <a:tc>
                  <a:txBody>
                    <a:bodyPr wrap="square"/>
                    <a:lstStyle/>
                    <a:p>
                      <a:r>
                        <a:rPr sz="1200" b="0" i="0">
                          <a:solidFill>
                            <a:srgbClr val="232323"/>
                          </a:solidFill>
                          <a:latin typeface="Segoe UI"/>
                        </a:rPr>
                        <a:t>4,055</a:t>
                      </a:r>
                    </a:p>
                  </a:txBody>
                  <a:tcPr marL="73152" marR="73152" marT="36576" marB="36576" anchor="ctr">
                    <a:solidFill>
                      <a:srgbClr val="FFFFFF"/>
                    </a:solidFill>
                  </a:tcPr>
                </a:tc>
              </a:tr>
            </a:tbl>
          </a:graphicData>
        </a:graphic>
      </p:graphicFrame>
      <p:sp>
        <p:nvSpPr>
          <p:cNvPr id="5" name="Rounded Rectangle 4"/>
          <p:cNvSpPr/>
          <p:nvPr/>
        </p:nvSpPr>
        <p:spPr>
          <a:xfrm>
            <a:off x="7726679" y="1691640"/>
            <a:ext cx="3648456" cy="265176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09559" y="1837944"/>
            <a:ext cx="3282696" cy="23225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HOW WE GOT THERE</a:t>
            </a:r>
          </a:p>
          <a:p>
            <a:pPr algn="l">
              <a:spcAft>
                <a:spcPts val="600"/>
              </a:spcAft>
            </a:pPr>
            <a:r>
              <a:rPr sz="1300" b="0" i="0">
                <a:solidFill>
                  <a:srgbClr val="232323"/>
                </a:solidFill>
                <a:latin typeface="Segoe UI"/>
              </a:rPr>
              <a:t>We held precision at 80% — four of five flagged patients should really be at risk, or the review pathway loses credibility — and took the highest recall that allows. That put the cut-off at 0.62.</a:t>
            </a:r>
          </a:p>
          <a:p>
            <a:pPr algn="l">
              <a:spcAft>
                <a:spcPts val="600"/>
              </a:spcAft>
            </a:pPr>
            <a:r>
              <a:rPr sz="1300" b="0" i="0">
                <a:solidFill>
                  <a:srgbClr val="232323"/>
                </a:solidFill>
                <a:latin typeface="Segoe UI"/>
              </a:rPr>
              <a:t>Counts per 1,000 make the cost visible to a clinic manager, not only to a data scientist.</a:t>
            </a:r>
          </a:p>
        </p:txBody>
      </p:sp>
      <p:sp>
        <p:nvSpPr>
          <p:cNvPr id="7" name="Rounded Rectangle 6"/>
          <p:cNvSpPr/>
          <p:nvPr/>
        </p:nvSpPr>
        <p:spPr>
          <a:xfrm>
            <a:off x="813816" y="3794760"/>
            <a:ext cx="6675120" cy="18288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96696" y="3941064"/>
            <a:ext cx="6309359" cy="14996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TWO MORE CHECKS BEFORE THE CUT-OFF IS WRITTEN INTO A PATHWAY</a:t>
            </a:r>
          </a:p>
          <a:p>
            <a:pPr algn="l">
              <a:spcAft>
                <a:spcPts val="600"/>
              </a:spcAft>
            </a:pPr>
            <a:r>
              <a:rPr sz="1300" b="0" i="0">
                <a:solidFill>
                  <a:srgbClr val="232323"/>
                </a:solidFill>
                <a:latin typeface="Segoe UI"/>
              </a:rPr>
              <a:t>•  Does it hold for each subgroup — for example the over-80s? A rule that works on average and fails for one group goes in the model card as a limitation.</a:t>
            </a:r>
          </a:p>
          <a:p>
            <a:pPr algn="l">
              <a:spcAft>
                <a:spcPts val="600"/>
              </a:spcAft>
            </a:pPr>
            <a:r>
              <a:rPr sz="1300" b="0" i="0">
                <a:solidFill>
                  <a:srgbClr val="232323"/>
                </a:solidFill>
                <a:latin typeface="Segoe UI"/>
              </a:rPr>
              <a:t>•  Is using the model at this cut-off better than reviewing everyone, or nobody?</a:t>
            </a:r>
          </a:p>
        </p:txBody>
      </p:sp>
      <p:sp>
        <p:nvSpPr>
          <p:cNvPr id="9" name="Rounded Rectangle 8"/>
          <p:cNvSpPr/>
          <p:nvPr/>
        </p:nvSpPr>
        <p:spPr>
          <a:xfrm>
            <a:off x="7726679" y="4526280"/>
            <a:ext cx="3648456" cy="1097280"/>
          </a:xfrm>
          <a:prstGeom prst="roundRect">
            <a:avLst>
              <a:gd name="adj" fmla="val 5000"/>
            </a:avLst>
          </a:prstGeom>
          <a:solidFill>
            <a:srgbClr val="FB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09559" y="4672584"/>
            <a:ext cx="3282696" cy="768096"/>
          </a:xfrm>
          <a:prstGeom prst="rect">
            <a:avLst/>
          </a:prstGeom>
          <a:noFill/>
        </p:spPr>
        <p:txBody>
          <a:bodyPr wrap="square" anchor="t" lIns="27432" rIns="27432" tIns="18288" bIns="18288">
            <a:spAutoFit/>
          </a:bodyPr>
          <a:lstStyle/>
          <a:p>
            <a:pPr algn="l">
              <a:spcAft>
                <a:spcPts val="600"/>
              </a:spcAft>
            </a:pPr>
            <a:r>
              <a:rPr sz="1200" b="0" i="0">
                <a:solidFill>
                  <a:srgbClr val="232323"/>
                </a:solidFill>
                <a:latin typeface="Segoe UI"/>
              </a:rPr>
              <a:t>The chosen cut-off is recorded on the model version, so the number the app uses can always be traced to this analysis.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572768"/>
            <a:ext cx="10543032" cy="1417320"/>
          </a:xfrm>
        </p:spPr>
        <p:txBody>
          <a:bodyPr anchor="ctr"/>
          <a:lstStyle/>
          <a:p>
            <a:r>
              <a:rPr sz="4800" b="1">
                <a:latin typeface="Segoe UI"/>
              </a:rPr>
              <a:t>Delivery: the clinician app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it took to build the clinician app</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Rayfin: a Microsoft toolkit that provisions a full application inside the Fabric workspace from one command.</a:t>
            </a:r>
          </a:p>
        </p:txBody>
      </p:sp>
      <p:sp>
        <p:nvSpPr>
          <p:cNvPr id="4" name="Rounded Rectangle 3"/>
          <p:cNvSpPr/>
          <p:nvPr/>
        </p:nvSpPr>
        <p:spPr>
          <a:xfrm>
            <a:off x="813816" y="1737360"/>
            <a:ext cx="5166360" cy="3886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RAYFIN IS</a:t>
            </a:r>
          </a:p>
          <a:p>
            <a:pPr algn="l">
              <a:spcAft>
                <a:spcPts val="400"/>
              </a:spcAft>
            </a:pPr>
            <a:r>
              <a:rPr sz="1600" b="1" i="0">
                <a:solidFill>
                  <a:srgbClr val="003E34"/>
                </a:solidFill>
                <a:latin typeface="Segoe UI"/>
              </a:rPr>
              <a:t>npx rayfin up</a:t>
            </a:r>
          </a:p>
          <a:p>
            <a:pPr algn="l">
              <a:spcAft>
                <a:spcPts val="600"/>
              </a:spcAft>
            </a:pPr>
            <a:r>
              <a:rPr sz="1300" b="0" i="0">
                <a:solidFill>
                  <a:srgbClr val="232323"/>
                </a:solidFill>
                <a:latin typeface="Segoe UI"/>
              </a:rPr>
              <a:t>You describe the data model as TypeScript classes. One command provisions, inside the workspace:</a:t>
            </a:r>
          </a:p>
          <a:p>
            <a:pPr algn="l">
              <a:spcAft>
                <a:spcPts val="600"/>
              </a:spcAft>
            </a:pPr>
            <a:r>
              <a:rPr sz="1300" b="0" i="0">
                <a:solidFill>
                  <a:srgbClr val="232323"/>
                </a:solidFill>
                <a:latin typeface="Segoe UI"/>
              </a:rPr>
              <a:t>•  a SQL database in Fabric</a:t>
            </a:r>
          </a:p>
          <a:p>
            <a:pPr algn="l">
              <a:spcAft>
                <a:spcPts val="600"/>
              </a:spcAft>
            </a:pPr>
            <a:r>
              <a:rPr sz="1300" b="0" i="0">
                <a:solidFill>
                  <a:srgbClr val="232323"/>
                </a:solidFill>
                <a:latin typeface="Segoe UI"/>
              </a:rPr>
              <a:t>•  a GraphQL API (Data API Builder)</a:t>
            </a:r>
          </a:p>
          <a:p>
            <a:pPr algn="l">
              <a:spcAft>
                <a:spcPts val="600"/>
              </a:spcAft>
            </a:pPr>
            <a:r>
              <a:rPr sz="1300" b="0" i="0">
                <a:solidFill>
                  <a:srgbClr val="232323"/>
                </a:solidFill>
                <a:latin typeface="Segoe UI"/>
              </a:rPr>
              <a:t>•  Entra ID sign-in with claims</a:t>
            </a:r>
          </a:p>
          <a:p>
            <a:pPr algn="l">
              <a:spcAft>
                <a:spcPts val="600"/>
              </a:spcAft>
            </a:pPr>
            <a:r>
              <a:rPr sz="1300" b="0" i="0">
                <a:solidFill>
                  <a:srgbClr val="232323"/>
                </a:solidFill>
                <a:latin typeface="Segoe UI"/>
              </a:rPr>
              <a:t>•  static hosting for the React front end</a:t>
            </a:r>
          </a:p>
          <a:p>
            <a:pPr algn="l">
              <a:spcBef>
                <a:spcPts val="600"/>
              </a:spcBef>
              <a:spcAft>
                <a:spcPts val="600"/>
              </a:spcAft>
            </a:pPr>
            <a:r>
              <a:rPr sz="1300" b="0" i="0">
                <a:solidFill>
                  <a:srgbClr val="232323"/>
                </a:solidFill>
                <a:latin typeface="Segoe UI"/>
              </a:rPr>
              <a:t>No separate cloud subscription, no second identity provider, nothing to re-govern.</a:t>
            </a:r>
          </a:p>
        </p:txBody>
      </p:sp>
      <p:sp>
        <p:nvSpPr>
          <p:cNvPr id="6" name="Rounded Rectangle 5"/>
          <p:cNvSpPr/>
          <p:nvPr/>
        </p:nvSpPr>
        <p:spPr>
          <a:xfrm>
            <a:off x="6208776" y="1737360"/>
            <a:ext cx="5166360" cy="38862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WHY IT IS RELEVANT HERE</a:t>
            </a:r>
          </a:p>
          <a:p>
            <a:pPr algn="l">
              <a:spcAft>
                <a:spcPts val="400"/>
              </a:spcAft>
            </a:pPr>
            <a:r>
              <a:rPr sz="1600" b="1" i="0">
                <a:solidFill>
                  <a:srgbClr val="003E34"/>
                </a:solidFill>
                <a:latin typeface="Segoe UI"/>
              </a:rPr>
              <a:t>Row-level security lives next to the data</a:t>
            </a:r>
          </a:p>
          <a:p>
            <a:pPr algn="l">
              <a:spcAft>
                <a:spcPts val="600"/>
              </a:spcAft>
            </a:pPr>
            <a:r>
              <a:rPr sz="1300" b="0" i="0">
                <a:solidFill>
                  <a:srgbClr val="232323"/>
                </a:solidFill>
                <a:latin typeface="Segoe UI"/>
              </a:rPr>
              <a:t>The rule “a clinician sees only their own patients” is declared on the data entity and enforced by the API before a row leaves Fabric — not by a filter in the web page.</a:t>
            </a:r>
          </a:p>
          <a:p>
            <a:pPr algn="l">
              <a:spcAft>
                <a:spcPts val="600"/>
              </a:spcAft>
            </a:pPr>
            <a:r>
              <a:rPr sz="1300" b="0" i="0">
                <a:solidFill>
                  <a:srgbClr val="232323"/>
                </a:solidFill>
                <a:latin typeface="Segoe UI"/>
              </a:rPr>
              <a:t>The scored tables are copied from the Lakehouse into the app’s SQL database. The app never loads a model; it reads governed tables.</a:t>
            </a:r>
          </a:p>
          <a:p>
            <a:pPr algn="l">
              <a:spcAft>
                <a:spcPts val="600"/>
              </a:spcAft>
            </a:pPr>
            <a:r>
              <a:rPr sz="1300" b="0" i="0">
                <a:solidFill>
                  <a:srgbClr val="232323"/>
                </a:solidFill>
                <a:latin typeface="Segoe UI"/>
              </a:rPr>
              <a:t>The Data Agent reads the same gold tables in the Lakehouse, under the same permissions.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the clinician sees, and what is recorded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Decision support, not decision making.</a:t>
            </a:r>
          </a:p>
        </p:txBody>
      </p:sp>
      <p:sp>
        <p:nvSpPr>
          <p:cNvPr id="4" name="Rounded Rectangle 3"/>
          <p:cNvSpPr/>
          <p:nvPr/>
        </p:nvSpPr>
        <p:spPr>
          <a:xfrm>
            <a:off x="813816" y="1783080"/>
            <a:ext cx="2468880" cy="22860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78408" y="1911095"/>
            <a:ext cx="2139696" cy="1993392"/>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1 · WORKLIST</a:t>
            </a:r>
          </a:p>
          <a:p>
            <a:pPr algn="l">
              <a:spcAft>
                <a:spcPts val="400"/>
              </a:spcAft>
            </a:pPr>
            <a:r>
              <a:rPr sz="1400" b="1" i="0">
                <a:solidFill>
                  <a:srgbClr val="003E34"/>
                </a:solidFill>
                <a:latin typeface="Segoe UI"/>
              </a:rPr>
              <a:t>Their own patients, highest risk first</a:t>
            </a:r>
          </a:p>
          <a:p>
            <a:pPr algn="l">
              <a:spcAft>
                <a:spcPts val="600"/>
              </a:spcAft>
            </a:pPr>
            <a:r>
              <a:rPr sz="1200" b="0" i="0">
                <a:solidFill>
                  <a:srgbClr val="232323"/>
                </a:solidFill>
                <a:latin typeface="Segoe UI"/>
              </a:rPr>
              <a:t>Filtered by row-level security on the data.</a:t>
            </a:r>
          </a:p>
        </p:txBody>
      </p:sp>
      <p:sp>
        <p:nvSpPr>
          <p:cNvPr id="6" name="Rounded Rectangle 5"/>
          <p:cNvSpPr/>
          <p:nvPr/>
        </p:nvSpPr>
        <p:spPr>
          <a:xfrm>
            <a:off x="3511296" y="1783080"/>
            <a:ext cx="2468880" cy="22860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75888" y="1911095"/>
            <a:ext cx="2139696" cy="1993392"/>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2 · ONE PATIENT</a:t>
            </a:r>
          </a:p>
          <a:p>
            <a:pPr algn="l">
              <a:spcAft>
                <a:spcPts val="400"/>
              </a:spcAft>
            </a:pPr>
            <a:r>
              <a:rPr sz="1400" b="1" i="0">
                <a:solidFill>
                  <a:srgbClr val="003E34"/>
                </a:solidFill>
                <a:latin typeface="Segoe UI"/>
              </a:rPr>
              <a:t>The probability and the reasons</a:t>
            </a:r>
          </a:p>
          <a:p>
            <a:pPr algn="l">
              <a:spcAft>
                <a:spcPts val="600"/>
              </a:spcAft>
            </a:pPr>
            <a:r>
              <a:rPr sz="1200" b="0" i="0">
                <a:solidFill>
                  <a:srgbClr val="232323"/>
                </a:solidFill>
                <a:latin typeface="Segoe UI"/>
              </a:rPr>
              <a:t>The calibrated score, its band, and the six largest terms in plain words.</a:t>
            </a:r>
          </a:p>
        </p:txBody>
      </p:sp>
      <p:sp>
        <p:nvSpPr>
          <p:cNvPr id="8" name="Rounded Rectangle 7"/>
          <p:cNvSpPr/>
          <p:nvPr/>
        </p:nvSpPr>
        <p:spPr>
          <a:xfrm>
            <a:off x="6208776" y="1783080"/>
            <a:ext cx="2468880" cy="22860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73368" y="1911095"/>
            <a:ext cx="2139696" cy="1993392"/>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3 · THE DECISION</a:t>
            </a:r>
          </a:p>
          <a:p>
            <a:pPr algn="l">
              <a:spcAft>
                <a:spcPts val="400"/>
              </a:spcAft>
            </a:pPr>
            <a:r>
              <a:rPr sz="1400" b="1" i="0">
                <a:solidFill>
                  <a:srgbClr val="003E34"/>
                </a:solidFill>
                <a:latin typeface="Segoe UI"/>
              </a:rPr>
              <a:t>Agree or override, with a reason</a:t>
            </a:r>
          </a:p>
          <a:p>
            <a:pPr algn="l">
              <a:spcAft>
                <a:spcPts val="600"/>
              </a:spcAft>
            </a:pPr>
            <a:r>
              <a:rPr sz="1200" b="0" i="0">
                <a:solidFill>
                  <a:srgbClr val="232323"/>
                </a:solidFill>
                <a:latin typeface="Segoe UI"/>
              </a:rPr>
              <a:t>Nothing is pre-selected. Stored with the score and model version the clinician saw.</a:t>
            </a:r>
          </a:p>
        </p:txBody>
      </p:sp>
      <p:sp>
        <p:nvSpPr>
          <p:cNvPr id="10" name="Rounded Rectangle 9"/>
          <p:cNvSpPr/>
          <p:nvPr/>
        </p:nvSpPr>
        <p:spPr>
          <a:xfrm>
            <a:off x="8906256" y="1783080"/>
            <a:ext cx="2468880" cy="22860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070848" y="1911095"/>
            <a:ext cx="2139696" cy="1993392"/>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4 · ASK</a:t>
            </a:r>
          </a:p>
          <a:p>
            <a:pPr algn="l">
              <a:spcAft>
                <a:spcPts val="400"/>
              </a:spcAft>
            </a:pPr>
            <a:r>
              <a:rPr sz="1400" b="1" i="0">
                <a:solidFill>
                  <a:srgbClr val="003E34"/>
                </a:solidFill>
                <a:latin typeface="Segoe UI"/>
              </a:rPr>
              <a:t>Questions in plain language</a:t>
            </a:r>
          </a:p>
          <a:p>
            <a:pPr algn="l">
              <a:spcAft>
                <a:spcPts val="600"/>
              </a:spcAft>
            </a:pPr>
            <a:r>
              <a:rPr sz="1200" b="0" i="0">
                <a:solidFill>
                  <a:srgbClr val="232323"/>
                </a:solidFill>
                <a:latin typeface="Segoe UI"/>
              </a:rPr>
              <a:t>The Data Agent answers from the governed tables, cites them, and declines clinical advice.</a:t>
            </a:r>
          </a:p>
        </p:txBody>
      </p:sp>
      <p:sp>
        <p:nvSpPr>
          <p:cNvPr id="12" name="Rounded Rectangle 11"/>
          <p:cNvSpPr/>
          <p:nvPr/>
        </p:nvSpPr>
        <p:spPr>
          <a:xfrm>
            <a:off x="813816" y="438912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13816" y="438912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69848" y="444398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The recorded decision — including every override — is the human-oversight record the EU AI Act asks for, kept as a table.</a:t>
            </a:r>
          </a:p>
        </p:txBody>
      </p:sp>
      <p:sp>
        <p:nvSpPr>
          <p:cNvPr id="15" name="TextBox 14"/>
          <p:cNvSpPr txBox="1"/>
          <p:nvPr/>
        </p:nvSpPr>
        <p:spPr>
          <a:xfrm>
            <a:off x="813816" y="5120640"/>
            <a:ext cx="10561320" cy="548640"/>
          </a:xfrm>
          <a:prstGeom prst="rect">
            <a:avLst/>
          </a:prstGeom>
          <a:noFill/>
        </p:spPr>
        <p:txBody>
          <a:bodyPr wrap="square" anchor="t" lIns="27432" rIns="27432" tIns="18288" bIns="18288">
            <a:spAutoFit/>
          </a:bodyPr>
          <a:lstStyle/>
          <a:p>
            <a:pPr algn="l">
              <a:spcAft>
                <a:spcPts val="400"/>
              </a:spcAft>
            </a:pPr>
            <a:r>
              <a:rPr sz="1100" b="0" i="0">
                <a:solidFill>
                  <a:srgbClr val="44536A"/>
                </a:solidFill>
                <a:latin typeface="Segoe UI"/>
              </a:rPr>
              <a:t>Demo: open the worklist, open the top patient, record a decision, ask the agent one question and one it must refuse.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572768"/>
            <a:ext cx="10543032" cy="1417320"/>
          </a:xfrm>
        </p:spPr>
        <p:txBody>
          <a:bodyPr anchor="ctr"/>
          <a:lstStyle/>
          <a:p>
            <a:r>
              <a:rPr sz="4800" b="1">
                <a:latin typeface="Segoe UI"/>
              </a:rPr>
              <a:t>Learnings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we learned building it</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Six things we would do again.</a:t>
            </a:r>
          </a:p>
        </p:txBody>
      </p:sp>
      <p:sp>
        <p:nvSpPr>
          <p:cNvPr id="4" name="Rounded Rectangle 3"/>
          <p:cNvSpPr/>
          <p:nvPr/>
        </p:nvSpPr>
        <p:spPr>
          <a:xfrm>
            <a:off x="813816" y="1737360"/>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184708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1.  Decide the label with clinicians first</a:t>
            </a:r>
          </a:p>
          <a:p>
            <a:pPr algn="l">
              <a:spcAft>
                <a:spcPts val="600"/>
              </a:spcAft>
            </a:pPr>
            <a:r>
              <a:rPr sz="1200" b="0" i="0">
                <a:solidFill>
                  <a:srgbClr val="232323"/>
                </a:solidFill>
                <a:latin typeface="Segoe UI"/>
              </a:rPr>
              <a:t>The 7-point rule is a clinical fact. Everything else follows from it.</a:t>
            </a:r>
          </a:p>
        </p:txBody>
      </p:sp>
      <p:sp>
        <p:nvSpPr>
          <p:cNvPr id="6" name="Rounded Rectangle 5"/>
          <p:cNvSpPr/>
          <p:nvPr/>
        </p:nvSpPr>
        <p:spPr>
          <a:xfrm>
            <a:off x="6208776" y="1737360"/>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55080" y="184708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2.  Treat missing values by cause, not by column</a:t>
            </a:r>
          </a:p>
          <a:p>
            <a:pPr algn="l">
              <a:spcAft>
                <a:spcPts val="600"/>
              </a:spcAft>
            </a:pPr>
            <a:r>
              <a:rPr sz="1200" b="0" i="0">
                <a:solidFill>
                  <a:srgbClr val="232323"/>
                </a:solidFill>
                <a:latin typeface="Segoe UI"/>
              </a:rPr>
              <a:t>Suppressed by NHS: keep as not recorded. Skipped by the patient: impute. Never guess a protected characteristic.</a:t>
            </a:r>
          </a:p>
        </p:txBody>
      </p:sp>
      <p:sp>
        <p:nvSpPr>
          <p:cNvPr id="8" name="Rounded Rectangle 7"/>
          <p:cNvSpPr/>
          <p:nvPr/>
        </p:nvSpPr>
        <p:spPr>
          <a:xfrm>
            <a:off x="813816" y="3063239"/>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317296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3.  Split before you fit anything</a:t>
            </a:r>
          </a:p>
          <a:p>
            <a:pPr algn="l">
              <a:spcAft>
                <a:spcPts val="600"/>
              </a:spcAft>
            </a:pPr>
            <a:r>
              <a:rPr sz="1200" b="0" i="0">
                <a:solidFill>
                  <a:srgbClr val="232323"/>
                </a:solidFill>
                <a:latin typeface="Segoe UI"/>
              </a:rPr>
              <a:t>Imputation and encoding fitted on all data leak the test set into training.</a:t>
            </a:r>
          </a:p>
        </p:txBody>
      </p:sp>
      <p:sp>
        <p:nvSpPr>
          <p:cNvPr id="10" name="Rounded Rectangle 9"/>
          <p:cNvSpPr/>
          <p:nvPr/>
        </p:nvSpPr>
        <p:spPr>
          <a:xfrm>
            <a:off x="6208776" y="3063239"/>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55080" y="317296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4.  Use the metric that matches the harm</a:t>
            </a:r>
          </a:p>
          <a:p>
            <a:pPr algn="l">
              <a:spcAft>
                <a:spcPts val="600"/>
              </a:spcAft>
            </a:pPr>
            <a:r>
              <a:rPr sz="1200" b="0" i="0">
                <a:solidFill>
                  <a:srgbClr val="232323"/>
                </a:solidFill>
                <a:latin typeface="Segoe UI"/>
              </a:rPr>
              <a:t>Precision–recall for a rare bad outcome. Calibrate, because the number is shown to a person.</a:t>
            </a:r>
          </a:p>
        </p:txBody>
      </p:sp>
      <p:sp>
        <p:nvSpPr>
          <p:cNvPr id="12" name="Rounded Rectangle 11"/>
          <p:cNvSpPr/>
          <p:nvPr/>
        </p:nvSpPr>
        <p:spPr>
          <a:xfrm>
            <a:off x="813816" y="4389120"/>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0120" y="449884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5.  Log decisions, not just results</a:t>
            </a:r>
          </a:p>
          <a:p>
            <a:pPr algn="l">
              <a:spcAft>
                <a:spcPts val="600"/>
              </a:spcAft>
            </a:pPr>
            <a:r>
              <a:rPr sz="1200" b="0" i="0">
                <a:solidFill>
                  <a:srgbClr val="232323"/>
                </a:solidFill>
                <a:latin typeface="Segoe UI"/>
              </a:rPr>
              <a:t>Tags for data version, interpretability and approval; a gate that can say no; the cut-off recorded on the model version.</a:t>
            </a:r>
          </a:p>
        </p:txBody>
      </p:sp>
      <p:sp>
        <p:nvSpPr>
          <p:cNvPr id="14" name="Rounded Rectangle 13"/>
          <p:cNvSpPr/>
          <p:nvPr/>
        </p:nvSpPr>
        <p:spPr>
          <a:xfrm>
            <a:off x="6208776" y="4389120"/>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55080" y="449884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6.  Prefer a model people can read</a:t>
            </a:r>
          </a:p>
          <a:p>
            <a:pPr algn="l">
              <a:spcAft>
                <a:spcPts val="600"/>
              </a:spcAft>
            </a:pPr>
            <a:r>
              <a:rPr sz="1200" b="0" i="0">
                <a:solidFill>
                  <a:srgbClr val="232323"/>
                </a:solidFill>
                <a:latin typeface="Segoe UI"/>
              </a:rPr>
              <a:t>The EBM kept up with the random forest and can be challenged at the bedside.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How this applies in a clinical setting</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What has to be true before a score like this reaches a patient.</a:t>
            </a:r>
          </a:p>
        </p:txBody>
      </p:sp>
      <p:graphicFrame>
        <p:nvGraphicFramePr>
          <p:cNvPr id="4" name="Table 3"/>
          <p:cNvGraphicFramePr>
            <a:graphicFrameLocks noGrp="1"/>
          </p:cNvGraphicFramePr>
          <p:nvPr/>
        </p:nvGraphicFramePr>
        <p:xfrm>
          <a:off x="813816" y="1691640"/>
          <a:ext cx="10561320" cy="4023360"/>
        </p:xfrm>
        <a:graphic>
          <a:graphicData uri="http://schemas.openxmlformats.org/drawingml/2006/table">
            <a:tbl>
              <a:tblPr firstRow="0" bandRow="0">
                <a:tableStyleId>{5C22544A-7EE6-4342-B048-85BDC9FD1C3A}</a:tableStyleId>
              </a:tblPr>
              <a:tblGrid>
                <a:gridCol w="2194560"/>
                <a:gridCol w="4114800"/>
                <a:gridCol w="4251960"/>
              </a:tblGrid>
              <a:tr h="502920">
                <a:tc>
                  <a:txBody>
                    <a:bodyPr wrap="square"/>
                    <a:lstStyle/>
                    <a:p>
                      <a:r>
                        <a:rPr sz="1100" b="1" i="0">
                          <a:solidFill>
                            <a:srgbClr val="FFFFFF"/>
                          </a:solidFill>
                          <a:latin typeface="Segoe UI"/>
                        </a:rPr>
                        <a:t>Requirement</a:t>
                      </a:r>
                    </a:p>
                  </a:txBody>
                  <a:tcPr marL="73152" marR="73152" marT="36576" marB="36576" anchor="ctr">
                    <a:solidFill>
                      <a:srgbClr val="003E34"/>
                    </a:solidFill>
                  </a:tcPr>
                </a:tc>
                <a:tc>
                  <a:txBody>
                    <a:bodyPr wrap="square"/>
                    <a:lstStyle/>
                    <a:p>
                      <a:r>
                        <a:rPr sz="1100" b="1" i="0">
                          <a:solidFill>
                            <a:srgbClr val="FFFFFF"/>
                          </a:solidFill>
                          <a:latin typeface="Segoe UI"/>
                        </a:rPr>
                        <a:t>What it means in practice</a:t>
                      </a:r>
                    </a:p>
                  </a:txBody>
                  <a:tcPr marL="73152" marR="73152" marT="36576" marB="36576" anchor="ctr">
                    <a:solidFill>
                      <a:srgbClr val="003E34"/>
                    </a:solidFill>
                  </a:tcPr>
                </a:tc>
                <a:tc>
                  <a:txBody>
                    <a:bodyPr wrap="square"/>
                    <a:lstStyle/>
                    <a:p>
                      <a:r>
                        <a:rPr sz="1100" b="1" i="0">
                          <a:solidFill>
                            <a:srgbClr val="FFFFFF"/>
                          </a:solidFill>
                          <a:latin typeface="Segoe UI"/>
                        </a:rPr>
                        <a:t>How we met it</a:t>
                      </a:r>
                    </a:p>
                  </a:txBody>
                  <a:tcPr marL="73152" marR="73152" marT="36576" marB="36576" anchor="ctr">
                    <a:solidFill>
                      <a:srgbClr val="003E34"/>
                    </a:solidFill>
                  </a:tcPr>
                </a:tc>
              </a:tr>
              <a:tr h="502920">
                <a:tc>
                  <a:txBody>
                    <a:bodyPr wrap="square"/>
                    <a:lstStyle/>
                    <a:p>
                      <a:r>
                        <a:rPr sz="1100" b="1" i="0">
                          <a:solidFill>
                            <a:srgbClr val="232323"/>
                          </a:solidFill>
                          <a:latin typeface="Segoe UI"/>
                        </a:rPr>
                        <a:t>Human oversight</a:t>
                      </a:r>
                    </a:p>
                  </a:txBody>
                  <a:tcPr marL="73152" marR="73152" marT="36576" marB="36576" anchor="ctr">
                    <a:solidFill>
                      <a:srgbClr val="FFFFFF"/>
                    </a:solidFill>
                  </a:tcPr>
                </a:tc>
                <a:tc>
                  <a:txBody>
                    <a:bodyPr wrap="square"/>
                    <a:lstStyle/>
                    <a:p>
                      <a:r>
                        <a:rPr sz="1100" b="0" i="0">
                          <a:solidFill>
                            <a:srgbClr val="232323"/>
                          </a:solidFill>
                          <a:latin typeface="Segoe UI"/>
                        </a:rPr>
                        <a:t>A clinician makes the decision and can disagree with the model</a:t>
                      </a:r>
                    </a:p>
                  </a:txBody>
                  <a:tcPr marL="73152" marR="73152" marT="36576" marB="36576" anchor="ctr">
                    <a:solidFill>
                      <a:srgbClr val="FFFFFF"/>
                    </a:solidFill>
                  </a:tcPr>
                </a:tc>
                <a:tc>
                  <a:txBody>
                    <a:bodyPr wrap="square"/>
                    <a:lstStyle/>
                    <a:p>
                      <a:r>
                        <a:rPr sz="1100" b="0" i="0">
                          <a:solidFill>
                            <a:srgbClr val="232323"/>
                          </a:solidFill>
                          <a:latin typeface="Segoe UI"/>
                        </a:rPr>
                        <a:t>Readable model; agree/override recorded with a reason</a:t>
                      </a:r>
                    </a:p>
                  </a:txBody>
                  <a:tcPr marL="73152" marR="73152" marT="36576" marB="36576" anchor="ctr">
                    <a:solidFill>
                      <a:srgbClr val="FFFFFF"/>
                    </a:solidFill>
                  </a:tcPr>
                </a:tc>
              </a:tr>
              <a:tr h="502920">
                <a:tc>
                  <a:txBody>
                    <a:bodyPr wrap="square"/>
                    <a:lstStyle/>
                    <a:p>
                      <a:r>
                        <a:rPr sz="1100" b="1" i="0">
                          <a:solidFill>
                            <a:srgbClr val="232323"/>
                          </a:solidFill>
                          <a:latin typeface="Segoe UI"/>
                        </a:rPr>
                        <a:t>Explanation for the patient</a:t>
                      </a:r>
                    </a:p>
                  </a:txBody>
                  <a:tcPr marL="73152" marR="73152" marT="36576" marB="36576" anchor="ctr">
                    <a:solidFill>
                      <a:srgbClr val="F6F8F7"/>
                    </a:solidFill>
                  </a:tcPr>
                </a:tc>
                <a:tc>
                  <a:txBody>
                    <a:bodyPr wrap="square"/>
                    <a:lstStyle/>
                    <a:p>
                      <a:r>
                        <a:rPr sz="1100" b="0" i="0">
                          <a:solidFill>
                            <a:srgbClr val="232323"/>
                          </a:solidFill>
                          <a:latin typeface="Segoe UI"/>
                        </a:rPr>
                        <a:t>The patient can be told why, in plain words</a:t>
                      </a:r>
                    </a:p>
                  </a:txBody>
                  <a:tcPr marL="73152" marR="73152" marT="36576" marB="36576" anchor="ctr">
                    <a:solidFill>
                      <a:srgbClr val="F6F8F7"/>
                    </a:solidFill>
                  </a:tcPr>
                </a:tc>
                <a:tc>
                  <a:txBody>
                    <a:bodyPr wrap="square"/>
                    <a:lstStyle/>
                    <a:p>
                      <a:r>
                        <a:rPr sz="1100" b="0" i="0">
                          <a:solidFill>
                            <a:srgbClr val="232323"/>
                          </a:solidFill>
                          <a:latin typeface="Segoe UI"/>
                        </a:rPr>
                        <a:t>Per-patient terms with clinician-readable labels</a:t>
                      </a:r>
                    </a:p>
                  </a:txBody>
                  <a:tcPr marL="73152" marR="73152" marT="36576" marB="36576" anchor="ctr">
                    <a:solidFill>
                      <a:srgbClr val="F6F8F7"/>
                    </a:solidFill>
                  </a:tcPr>
                </a:tc>
              </a:tr>
              <a:tr h="502920">
                <a:tc>
                  <a:txBody>
                    <a:bodyPr wrap="square"/>
                    <a:lstStyle/>
                    <a:p>
                      <a:r>
                        <a:rPr sz="1100" b="1" i="0">
                          <a:solidFill>
                            <a:srgbClr val="232323"/>
                          </a:solidFill>
                          <a:latin typeface="Segoe UI"/>
                        </a:rPr>
                        <a:t>A number that means what it says</a:t>
                      </a:r>
                    </a:p>
                  </a:txBody>
                  <a:tcPr marL="73152" marR="73152" marT="36576" marB="36576" anchor="ctr">
                    <a:solidFill>
                      <a:srgbClr val="FFFFFF"/>
                    </a:solidFill>
                  </a:tcPr>
                </a:tc>
                <a:tc>
                  <a:txBody>
                    <a:bodyPr wrap="square"/>
                    <a:lstStyle/>
                    <a:p>
                      <a:r>
                        <a:rPr sz="1100" b="0" i="0">
                          <a:solidFill>
                            <a:srgbClr val="232323"/>
                          </a:solidFill>
                          <a:latin typeface="Segoe UI"/>
                        </a:rPr>
                        <a:t>A probability is acted on as a probability</a:t>
                      </a:r>
                    </a:p>
                  </a:txBody>
                  <a:tcPr marL="73152" marR="73152" marT="36576" marB="36576" anchor="ctr">
                    <a:solidFill>
                      <a:srgbClr val="FFFFFF"/>
                    </a:solidFill>
                  </a:tcPr>
                </a:tc>
                <a:tc>
                  <a:txBody>
                    <a:bodyPr wrap="square"/>
                    <a:lstStyle/>
                    <a:p>
                      <a:r>
                        <a:rPr sz="1100" b="0" i="0">
                          <a:solidFill>
                            <a:srgbClr val="232323"/>
                          </a:solidFill>
                          <a:latin typeface="Segoe UI"/>
                        </a:rPr>
                        <a:t>Calibrated model; group-not-individual caveat shown</a:t>
                      </a:r>
                    </a:p>
                  </a:txBody>
                  <a:tcPr marL="73152" marR="73152" marT="36576" marB="36576" anchor="ctr">
                    <a:solidFill>
                      <a:srgbClr val="FFFFFF"/>
                    </a:solidFill>
                  </a:tcPr>
                </a:tc>
              </a:tr>
              <a:tr h="502920">
                <a:tc>
                  <a:txBody>
                    <a:bodyPr wrap="square"/>
                    <a:lstStyle/>
                    <a:p>
                      <a:r>
                        <a:rPr sz="1100" b="1" i="0">
                          <a:solidFill>
                            <a:srgbClr val="232323"/>
                          </a:solidFill>
                          <a:latin typeface="Segoe UI"/>
                        </a:rPr>
                        <a:t>A cut-off owned by the service</a:t>
                      </a:r>
                    </a:p>
                  </a:txBody>
                  <a:tcPr marL="73152" marR="73152" marT="36576" marB="36576" anchor="ctr">
                    <a:solidFill>
                      <a:srgbClr val="F6F8F7"/>
                    </a:solidFill>
                  </a:tcPr>
                </a:tc>
                <a:tc>
                  <a:txBody>
                    <a:bodyPr wrap="square"/>
                    <a:lstStyle/>
                    <a:p>
                      <a:r>
                        <a:rPr sz="1100" b="0" i="0">
                          <a:solidFill>
                            <a:srgbClr val="232323"/>
                          </a:solidFill>
                          <a:latin typeface="Segoe UI"/>
                        </a:rPr>
                        <a:t>Capacity and harm decide the threshold, not the data scientist</a:t>
                      </a:r>
                    </a:p>
                  </a:txBody>
                  <a:tcPr marL="73152" marR="73152" marT="36576" marB="36576" anchor="ctr">
                    <a:solidFill>
                      <a:srgbClr val="F6F8F7"/>
                    </a:solidFill>
                  </a:tcPr>
                </a:tc>
                <a:tc>
                  <a:txBody>
                    <a:bodyPr wrap="square"/>
                    <a:lstStyle/>
                    <a:p>
                      <a:r>
                        <a:rPr sz="1100" b="0" i="0">
                          <a:solidFill>
                            <a:srgbClr val="232323"/>
                          </a:solidFill>
                          <a:latin typeface="Segoe UI"/>
                        </a:rPr>
                        <a:t>Sweep in patients per 1,000; choice recorded on the model version</a:t>
                      </a:r>
                    </a:p>
                  </a:txBody>
                  <a:tcPr marL="73152" marR="73152" marT="36576" marB="36576" anchor="ctr">
                    <a:solidFill>
                      <a:srgbClr val="F6F8F7"/>
                    </a:solidFill>
                  </a:tcPr>
                </a:tc>
              </a:tr>
              <a:tr h="502920">
                <a:tc>
                  <a:txBody>
                    <a:bodyPr wrap="square"/>
                    <a:lstStyle/>
                    <a:p>
                      <a:r>
                        <a:rPr sz="1100" b="1" i="0">
                          <a:solidFill>
                            <a:srgbClr val="232323"/>
                          </a:solidFill>
                          <a:latin typeface="Segoe UI"/>
                        </a:rPr>
                        <a:t>Fairness across groups</a:t>
                      </a:r>
                    </a:p>
                  </a:txBody>
                  <a:tcPr marL="73152" marR="73152" marT="36576" marB="36576" anchor="ctr">
                    <a:solidFill>
                      <a:srgbClr val="FFFFFF"/>
                    </a:solidFill>
                  </a:tcPr>
                </a:tc>
                <a:tc>
                  <a:txBody>
                    <a:bodyPr wrap="square"/>
                    <a:lstStyle/>
                    <a:p>
                      <a:r>
                        <a:rPr sz="1100" b="0" i="0">
                          <a:solidFill>
                            <a:srgbClr val="232323"/>
                          </a:solidFill>
                          <a:latin typeface="Segoe UI"/>
                        </a:rPr>
                        <a:t>The rule must not quietly fail for one group</a:t>
                      </a:r>
                    </a:p>
                  </a:txBody>
                  <a:tcPr marL="73152" marR="73152" marT="36576" marB="36576" anchor="ctr">
                    <a:solidFill>
                      <a:srgbClr val="FFFFFF"/>
                    </a:solidFill>
                  </a:tcPr>
                </a:tc>
                <a:tc>
                  <a:txBody>
                    <a:bodyPr wrap="square"/>
                    <a:lstStyle/>
                    <a:p>
                      <a:r>
                        <a:rPr sz="1100" b="0" i="0">
                          <a:solidFill>
                            <a:srgbClr val="232323"/>
                          </a:solidFill>
                          <a:latin typeface="Segoe UI"/>
                        </a:rPr>
                        <a:t>Subgroup check of the cut-off; limitations in the model card</a:t>
                      </a:r>
                    </a:p>
                  </a:txBody>
                  <a:tcPr marL="73152" marR="73152" marT="36576" marB="36576" anchor="ctr">
                    <a:solidFill>
                      <a:srgbClr val="FFFFFF"/>
                    </a:solidFill>
                  </a:tcPr>
                </a:tc>
              </a:tr>
              <a:tr h="502920">
                <a:tc>
                  <a:txBody>
                    <a:bodyPr wrap="square"/>
                    <a:lstStyle/>
                    <a:p>
                      <a:r>
                        <a:rPr sz="1100" b="1" i="0">
                          <a:solidFill>
                            <a:srgbClr val="232323"/>
                          </a:solidFill>
                          <a:latin typeface="Segoe UI"/>
                        </a:rPr>
                        <a:t>Traceability</a:t>
                      </a:r>
                    </a:p>
                  </a:txBody>
                  <a:tcPr marL="73152" marR="73152" marT="36576" marB="36576" anchor="ctr">
                    <a:solidFill>
                      <a:srgbClr val="F6F8F7"/>
                    </a:solidFill>
                  </a:tcPr>
                </a:tc>
                <a:tc>
                  <a:txBody>
                    <a:bodyPr wrap="square"/>
                    <a:lstStyle/>
                    <a:p>
                      <a:r>
                        <a:rPr sz="1100" b="0" i="0">
                          <a:solidFill>
                            <a:srgbClr val="232323"/>
                          </a:solidFill>
                          <a:latin typeface="Segoe UI"/>
                        </a:rPr>
                        <a:t>Which data and which model produced this score, and who approved it</a:t>
                      </a:r>
                    </a:p>
                  </a:txBody>
                  <a:tcPr marL="73152" marR="73152" marT="36576" marB="36576" anchor="ctr">
                    <a:solidFill>
                      <a:srgbClr val="F6F8F7"/>
                    </a:solidFill>
                  </a:tcPr>
                </a:tc>
                <a:tc>
                  <a:txBody>
                    <a:bodyPr wrap="square"/>
                    <a:lstStyle/>
                    <a:p>
                      <a:r>
                        <a:rPr sz="1100" b="0" i="0">
                          <a:solidFill>
                            <a:srgbClr val="232323"/>
                          </a:solidFill>
                          <a:latin typeface="Segoe UI"/>
                        </a:rPr>
                        <a:t>Delta versions, MLflow tags, approved_by, scores stamped with the model version</a:t>
                      </a:r>
                    </a:p>
                  </a:txBody>
                  <a:tcPr marL="73152" marR="73152" marT="36576" marB="36576" anchor="ctr">
                    <a:solidFill>
                      <a:srgbClr val="F6F8F7"/>
                    </a:solidFill>
                  </a:tcPr>
                </a:tc>
              </a:tr>
              <a:tr h="502920">
                <a:tc>
                  <a:txBody>
                    <a:bodyPr wrap="square"/>
                    <a:lstStyle/>
                    <a:p>
                      <a:r>
                        <a:rPr sz="1100" b="1" i="0">
                          <a:solidFill>
                            <a:srgbClr val="232323"/>
                          </a:solidFill>
                          <a:latin typeface="Segoe UI"/>
                        </a:rPr>
                        <a:t>Access control</a:t>
                      </a:r>
                    </a:p>
                  </a:txBody>
                  <a:tcPr marL="73152" marR="73152" marT="36576" marB="36576" anchor="ctr">
                    <a:solidFill>
                      <a:srgbClr val="FFFFFF"/>
                    </a:solidFill>
                  </a:tcPr>
                </a:tc>
                <a:tc>
                  <a:txBody>
                    <a:bodyPr wrap="square"/>
                    <a:lstStyle/>
                    <a:p>
                      <a:r>
                        <a:rPr sz="1100" b="0" i="0">
                          <a:solidFill>
                            <a:srgbClr val="232323"/>
                          </a:solidFill>
                          <a:latin typeface="Segoe UI"/>
                        </a:rPr>
                        <a:t>Clinicians see only their own patients</a:t>
                      </a:r>
                    </a:p>
                  </a:txBody>
                  <a:tcPr marL="73152" marR="73152" marT="36576" marB="36576" anchor="ctr">
                    <a:solidFill>
                      <a:srgbClr val="FFFFFF"/>
                    </a:solidFill>
                  </a:tcPr>
                </a:tc>
                <a:tc>
                  <a:txBody>
                    <a:bodyPr wrap="square"/>
                    <a:lstStyle/>
                    <a:p>
                      <a:r>
                        <a:rPr sz="1100" b="0" i="0">
                          <a:solidFill>
                            <a:srgbClr val="232323"/>
                          </a:solidFill>
                          <a:latin typeface="Segoe UI"/>
                        </a:rPr>
                        <a:t>Row-level security on the data entity, enforced before rows leave Fabric</a:t>
                      </a:r>
                    </a:p>
                  </a:txBody>
                  <a:tcPr marL="73152" marR="73152" marT="36576" marB="36576"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Why Fabric fits healthcare applications</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Data, analytics and the decision stay in one governed place. No copies, no exports.</a:t>
            </a:r>
          </a:p>
        </p:txBody>
      </p:sp>
      <p:sp>
        <p:nvSpPr>
          <p:cNvPr id="4" name="Rounded Rectangle 3"/>
          <p:cNvSpPr/>
          <p:nvPr/>
        </p:nvSpPr>
        <p:spPr>
          <a:xfrm>
            <a:off x="813816" y="1737360"/>
            <a:ext cx="3368040" cy="37947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3002280" cy="346557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One estate</a:t>
            </a:r>
          </a:p>
          <a:p>
            <a:pPr algn="l">
              <a:spcAft>
                <a:spcPts val="600"/>
              </a:spcAft>
            </a:pPr>
            <a:r>
              <a:rPr sz="1300" b="0" i="0">
                <a:solidFill>
                  <a:srgbClr val="232323"/>
                </a:solidFill>
                <a:latin typeface="Segoe UI"/>
              </a:rPr>
              <a:t>•  OneLake holds the raw files, the cleaned tables and the scores</a:t>
            </a:r>
          </a:p>
          <a:p>
            <a:pPr algn="l">
              <a:spcAft>
                <a:spcPts val="600"/>
              </a:spcAft>
            </a:pPr>
            <a:r>
              <a:rPr sz="1300" b="0" i="0">
                <a:solidFill>
                  <a:srgbClr val="232323"/>
                </a:solidFill>
                <a:latin typeface="Segoe UI"/>
              </a:rPr>
              <a:t>•  Delta versions: any training input can be reconstructed exactly</a:t>
            </a:r>
          </a:p>
          <a:p>
            <a:pPr algn="l">
              <a:spcAft>
                <a:spcPts val="600"/>
              </a:spcAft>
            </a:pPr>
            <a:r>
              <a:rPr sz="1300" b="0" i="0">
                <a:solidFill>
                  <a:srgbClr val="232323"/>
                </a:solidFill>
                <a:latin typeface="Segoe UI"/>
              </a:rPr>
              <a:t>•  Lineage from the raw file to the recorded decision</a:t>
            </a:r>
          </a:p>
          <a:p>
            <a:pPr algn="l">
              <a:spcAft>
                <a:spcPts val="600"/>
              </a:spcAft>
            </a:pPr>
            <a:r>
              <a:rPr sz="1300" b="0" i="0">
                <a:solidFill>
                  <a:srgbClr val="232323"/>
                </a:solidFill>
                <a:latin typeface="Segoe UI"/>
              </a:rPr>
              <a:t>•  Sensitivity labels follow the data downstream</a:t>
            </a:r>
          </a:p>
        </p:txBody>
      </p:sp>
      <p:sp>
        <p:nvSpPr>
          <p:cNvPr id="6" name="Rounded Rectangle 5"/>
          <p:cNvSpPr/>
          <p:nvPr/>
        </p:nvSpPr>
        <p:spPr>
          <a:xfrm>
            <a:off x="4410456" y="1737360"/>
            <a:ext cx="3368040" cy="37947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93336" y="1883664"/>
            <a:ext cx="3002280" cy="346557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Built-in machine learning</a:t>
            </a:r>
          </a:p>
          <a:p>
            <a:pPr algn="l">
              <a:spcAft>
                <a:spcPts val="600"/>
              </a:spcAft>
            </a:pPr>
            <a:r>
              <a:rPr sz="1300" b="0" i="0">
                <a:solidFill>
                  <a:srgbClr val="232323"/>
                </a:solidFill>
                <a:latin typeface="Segoe UI"/>
              </a:rPr>
              <a:t>•  Notebooks with Spark for the big steps and Python for the interpretable model</a:t>
            </a:r>
          </a:p>
          <a:p>
            <a:pPr algn="l">
              <a:spcAft>
                <a:spcPts val="600"/>
              </a:spcAft>
            </a:pPr>
            <a:r>
              <a:rPr sz="1300" b="0" i="0">
                <a:solidFill>
                  <a:srgbClr val="232323"/>
                </a:solidFill>
                <a:latin typeface="Segoe UI"/>
              </a:rPr>
              <a:t>•  MLflow experiments and the model registry are workspace items, with permissions</a:t>
            </a:r>
          </a:p>
          <a:p>
            <a:pPr algn="l">
              <a:spcAft>
                <a:spcPts val="600"/>
              </a:spcAft>
            </a:pPr>
            <a:r>
              <a:rPr sz="1300" b="0" i="0">
                <a:solidFill>
                  <a:srgbClr val="232323"/>
                </a:solidFill>
                <a:latin typeface="Segoe UI"/>
              </a:rPr>
              <a:t>•  Managed endpoints from a registered model</a:t>
            </a:r>
          </a:p>
          <a:p>
            <a:pPr algn="l">
              <a:spcAft>
                <a:spcPts val="600"/>
              </a:spcAft>
            </a:pPr>
            <a:r>
              <a:rPr sz="1300" b="0" i="0">
                <a:solidFill>
                  <a:srgbClr val="232323"/>
                </a:solidFill>
                <a:latin typeface="Segoe UI"/>
              </a:rPr>
              <a:t>•  Data Pipelines to run scoring on a schedule</a:t>
            </a:r>
          </a:p>
        </p:txBody>
      </p:sp>
      <p:sp>
        <p:nvSpPr>
          <p:cNvPr id="8" name="Rounded Rectangle 7"/>
          <p:cNvSpPr/>
          <p:nvPr/>
        </p:nvSpPr>
        <p:spPr>
          <a:xfrm>
            <a:off x="8007096" y="1737360"/>
            <a:ext cx="3368040" cy="37947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89976" y="1883664"/>
            <a:ext cx="3002280" cy="346557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Delivery without leaving</a:t>
            </a:r>
          </a:p>
          <a:p>
            <a:pPr algn="l">
              <a:spcAft>
                <a:spcPts val="600"/>
              </a:spcAft>
            </a:pPr>
            <a:r>
              <a:rPr sz="1300" b="0" i="0">
                <a:solidFill>
                  <a:srgbClr val="232323"/>
                </a:solidFill>
                <a:latin typeface="Segoe UI"/>
              </a:rPr>
              <a:t>•  An application with database, API, sign-in and hosting inside the workspace (Rayfin)</a:t>
            </a:r>
          </a:p>
          <a:p>
            <a:pPr algn="l">
              <a:spcAft>
                <a:spcPts val="600"/>
              </a:spcAft>
            </a:pPr>
            <a:r>
              <a:rPr sz="1300" b="0" i="0">
                <a:solidFill>
                  <a:srgbClr val="232323"/>
                </a:solidFill>
                <a:latin typeface="Segoe UI"/>
              </a:rPr>
              <a:t>•  Row-level security enforced on the data</a:t>
            </a:r>
          </a:p>
          <a:p>
            <a:pPr algn="l">
              <a:spcAft>
                <a:spcPts val="600"/>
              </a:spcAft>
            </a:pPr>
            <a:r>
              <a:rPr sz="1300" b="0" i="0">
                <a:solidFill>
                  <a:srgbClr val="232323"/>
                </a:solidFill>
                <a:latin typeface="Segoe UI"/>
              </a:rPr>
              <a:t>•  A Data Agent that answers only from the governed tables, under the same permissions</a:t>
            </a:r>
          </a:p>
          <a:p>
            <a:pPr algn="l">
              <a:spcAft>
                <a:spcPts val="600"/>
              </a:spcAft>
            </a:pPr>
            <a:r>
              <a:rPr sz="1300" b="0" i="0">
                <a:solidFill>
                  <a:srgbClr val="232323"/>
                </a:solidFill>
                <a:latin typeface="Segoe UI"/>
              </a:rPr>
              <a:t>•  Healthcare data solutions for clinical data standards when you go beyond a single dataset</a:t>
            </a:r>
          </a:p>
        </p:txBody>
      </p:sp>
      <p:sp>
        <p:nvSpPr>
          <p:cNvPr id="10" name="Rounded Rectangle 9"/>
          <p:cNvSpPr/>
          <p:nvPr/>
        </p:nvSpPr>
        <p:spPr>
          <a:xfrm>
            <a:off x="813816" y="566928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13816" y="566928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9848" y="5724144"/>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Accuracy gets a model into the room. Traceability, oversight and governed delivery get it to the bedside.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2026-09-17T19:22:18Z</dcterms:created>
  <dcterms:modified xsi:type="dcterms:W3CDTF">2026-09-17T19:22:18Z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2026-09-17T00:00:00Z</vt:filetime>
  </property>
  <property fmtid="{D5CDD505-2E9C-101B-9397-08002B2CF9AE}" pid="4" name="LastSaved">
    <vt:filetime>2026-09-17T00:00:00Z</vt:filetime>
  </property>
</Properties>
</file>