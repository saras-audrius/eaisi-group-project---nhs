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media/image10.jpg" ContentType="image/jpg"/>
  <Override PartName="/ppt/media/image14.jpg" ContentType="image/jpg"/>
  <Override PartName="/ppt/media/image15.jpg" ContentType="image/jpg"/>
  <Override PartName="/ppt/media/image2.jpg" ContentType="image/jpg"/>
  <Override PartName="/ppt/media/image20.jpg" ContentType="image/jpg"/>
  <Override PartName="/ppt/media/image21.jpg" ContentType="image/jpg"/>
  <Override PartName="/ppt/media/image26.jpg" ContentType="image/jpg"/>
  <Override PartName="/ppt/media/image27.jpg" ContentType="image/jpg"/>
  <Override PartName="/ppt/media/image3.jpg" ContentType="image/jpg"/>
  <Override PartName="/ppt/media/image4.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90" r:id="rId40"/>
    <p:sldId id="291" r:id="rId41"/>
    <p:sldId id="292" r:id="rId42"/>
    <p:sldId id="293" r:id="rId43"/>
    <p:sldId id="294" r:id="rId44"/>
    <p:sldId id="295" r:id="rId45"/>
    <p:sldId id="296" r:id="rId46"/>
    <p:sldId id="297" r:id="rId47"/>
    <p:sldId id="298" r:id="rId48"/>
    <p:sldId id="276" r:id="rId26"/>
    <p:sldId id="299" r:id="rId49"/>
    <p:sldId id="300" r:id="rId50"/>
    <p:sldId id="301" r:id="rId51"/>
    <p:sldId id="302" r:id="rId52"/>
    <p:sldId id="303" r:id="rId53"/>
    <p:sldId id="304" r:id="rId54"/>
    <p:sldId id="305" r:id="rId55"/>
    <p:sldId id="282" r:id="rId32"/>
    <p:sldId id="306" r:id="rId56"/>
    <p:sldId id="307" r:id="rId57"/>
    <p:sldId id="308" r:id="rId58"/>
    <p:sldId id="309" r:id="rId59"/>
    <p:sldId id="310" r:id="rId60"/>
    <p:sldId id="311" r:id="rId61"/>
    <p:sldId id="312" r:id="rId62"/>
    <p:sldId id="313" r:id="rId63"/>
    <p:sldId id="314" r:id="rId64"/>
    <p:sldId id="289" r:id="rId39"/>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6" Type="http://schemas.openxmlformats.org/officeDocument/2006/relationships/slide" Target="slides/slide21.xml"/><Relationship Id="rId32" Type="http://schemas.openxmlformats.org/officeDocument/2006/relationships/slide" Target="slides/slide27.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cohort before anything else. 139,236 knee episodes across 2016/17-2018/19, roughly 46,412 a year. Everything on the input side is pre-operative: what you know before the decision to operate. The target is derived, not supplied — oks_delta = oks_t1 - oks_t0 — and the positive class is deliberately the bad outcome, because that is the class worth finding. Say out loud that the data is anonymised and national: every interesting problem in this talk is downstream of governance someone else already did.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slide to slow down on. The MCID came from patients, not from a validation curve. Left panel: the distribution is wide, straddles zero, and 17% of patients sit at or below 7 points. Right panel is the counter-intuitive bit — mean gain FALLS as the pre-op score rises. The clinical rule of thumb ('the worse they are, the more they need surgery') is roughly the opposite of what predicts a poor outcome. That is the reason to build the model at all: it finds the patients the rule of thumb misses.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Hip gains are larger and more reliable — 8.8% below MCID against 17.1% for knee. Knee is the harder, more useful prediction problem. Point out the cohort choice was made and documented, not assumed.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patient in six has a poor outcome. A model that predicts 'good outcome' for everybody scores 82.9% accuracy and finds nobody. The PR baseline is the prevalence, 0.171 — every number later in the talk is measured against that. And name the asymmetry: we buy precision with recall, on purpose, because telling a patient surgery may not help is a claim that has to be right.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that separates a careful pipeline from a fast one. Age band and sex are missing on exactly the same 9,402 rows — one NHS disclosure-control rule, not two gaps. Imputing them means training a model to reconstruct what NHS hid to protect that patient, then serving clinical decisions on the reconstruction: a question for a DPO, not a modelling choice. Questionnaire items are genuine non-response and get MICE. The line to land: impute non-response, never impute a protected characteristic.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and memorable. The same code 9 means 'not answered' everywhere except the twelve comorbidity flags, where it means NO. Read it wrong on the comorbidities and you invert twelve features at once. Silver decodes both; the assertions prove it. This is the domain detail no AutoML finds for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 that changed the pipeline. np.nan &gt; 7 is False, so every non-responder silently fell into the positive class. 4,185 episodes — 15.3% of the minority class would have been 'we do not know' labelled as 'poor outcome'. Gold now marks them has_label = false and notebook 40 excludes them. Mention the honest caveat: the training population is patients who responded, and the model card says 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segment 3. Notebook 31_data_exploration in the 35_Exploration folder, pre-run, read-only. Walk the five findings in order, then come back to the deck. If the capacity is slow, the outputs are already there — do not re-run the whole notebook on stage.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 The split happens before imputation and encoding: MICE fits a LightGBM model per column, so fitting on everything lets test-set information into training features. Then the two guards — no post-operative column may reach the feature matrix, and every declared feature must exist in gold. Both would be caught by a reviewer eventually; catching them here means they never reach a metric anyone quotes.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models, one table, τ = 0.8. Logistic regression is perfect and useless: 18 patients flagged. Random forest and the EBM are effectively tied on every metric. So the tie-breaker is interpretability, and that is a deployment requirement here, not a preference. Be honest about the operating point: about 4 of 152 poor outcomes a week get flagged. That is a service decision, and the next slides show how it is exposed as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glassbox model the explanation IS the model: risk = sigmoid(intercept + sum of the shape functions). The bars are those terms, not a surrogate. Global — one shape function. Local — six contributions for one patient. Contrast — the same patient through the random forest via SHAP, one approximation further away. The line to land: a clinician cannot disagree with a random forest, and oversight of something you cannot disagree with is not oversight.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is what makes the number actionable. Of a hundred patients scored 34%, about thirty-four should have a poor outcome. Isotonic regression on a held-out fold; watch Brier and ECE move, not average precision. State the caveat that is on screen in the app: calibration is a property of the group, not the individual.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real sweep: precision climbs from 0.667 to 0.957 as τ goes 0.5 to 0.8, and the flagged count falls from 2,696 to 583. Right, the same decision as the clinician sees it — cost per 1,000 patients, live. The threshold is a service decision, and the app treats it as one rather than burying it in a config file.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an auditor asks two years later: reconstruct the exact input this model was trained on, and show me who approved it. Most teams cannot — the answer was never written anywhere. These tags are the answer. gold_table_version is the one they ask for; interpretability is the one that acts as a gate.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statement. 'Trained on gold' becomes 'gold as of version 7', and Delta time travel returns that table byte for byte. This is the moment the governance argument stops being a promise.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segment 5. Experiment item, parent and child runs, filter by tag interpretability = blackbox, then the registered model and its versions. Finish on gold_table_version from the shipped run, then run the VERSION AS OF query so the training input appears on screen.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 never travels alone. Six contributions, the model version, and the Delta version of the training table, in one authenticated in-estate response. A clinician can act on it and an auditor can reconstruct it without a second system.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provisions a SQL database in Fabric, a GraphQL API through Data API Builder, Entra sign-in and static hosting — all inside the workspace. The important detail is where the security policy lives: on the entity, next to the field it protects, not in middleware someone has to remember to call.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segment 6. This is one clinician's list, and the filtering happened in the data layer before the rows left Fabric. Sort by risk, point at the leading factor column, then open the top patient.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calibrated probability with its band and the cohort context. Right: the six terms that produced it, in log-odds, with the plain-English multiplier beside each. Everything on this page came from gold; nothing is derived in the app.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pre-selected — agreeing and overriding cost the same two clicks. The disagreement rate is the cheapest drift signal a service has, and every decision is stored against the model version the clinician actually saw. This is the oversight record the AI Act asks for, as a table.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Grep RayfinDataService for a WHERE clause on clinician — there isn't one. Then sign in as a second clinician and reload the same deep link: the policy is evaluated before the query runs, so the rows never enter the response.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segment 7. The agent reads the same gold tables under the same permissions, and the grounding is the column comments the notebooks wrote. Ask the flagged-patients question, show the cited tables, then ask it whether to cancel an operation and let it decline. Refusal is a feature here.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the opening number: 1,872 papers, 56 models in practice. The gap is not modelling capability, it is that data, analytics and decision live in three estates with the lineage broken at every boundary. One governed place, one lineage, and a score a clinician is allowed to argue with. Clinicians are not the blocker.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these five and stop. Repo QR is on screen — ten Fabric notebooks, the medallion and MLflow notes, the app with its offline mode, and the model card. Leave the QR up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150" b="1" i="0">
                <a:solidFill>
                  <a:srgbClr val="BB9F45"/>
                </a:solidFill>
                <a:latin typeface="Arial"/>
                <a:cs typeface="Arial"/>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type="body" idx="1"/>
          </p:nvPr>
        </p:nvSpPr>
        <p:spPr/>
        <p:txBody>
          <a:bodyPr lIns="0" tIns="0" rIns="0" bIns="0"/>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idx="2" sz="half"/>
          </p:nvPr>
        </p:nvSpPr>
        <p:spPr>
          <a:xfrm>
            <a:off x="996696" y="1847595"/>
            <a:ext cx="3374390" cy="3512185"/>
          </a:xfrm>
          <a:prstGeom prst="rect">
            <a:avLst/>
          </a:prstGeom>
        </p:spPr>
        <p:txBody>
          <a:bodyPr wrap="square" lIns="0" tIns="0" rIns="0" bIns="0">
            <a:spAutoFit/>
          </a:bodyPr>
          <a:lstStyle>
            <a:lvl1pPr>
              <a:defRPr sz="1500" b="1" i="0">
                <a:solidFill>
                  <a:schemeClr val="bg1"/>
                </a:solidFill>
                <a:latin typeface="Segoe UI"/>
                <a:cs typeface="Segoe UI"/>
              </a:defRPr>
            </a:lvl1pPr>
          </a:lstStyle>
          <a:p/>
        </p:txBody>
      </p:sp>
      <p:sp>
        <p:nvSpPr>
          <p:cNvPr id="4" name="Holder 4"/>
          <p:cNvSpPr>
            <a:spLocks noGrp="1"/>
          </p:cNvSpPr>
          <p:nvPr>
            <p:ph idx="3" sz="half"/>
          </p:nvPr>
        </p:nvSpPr>
        <p:spPr>
          <a:xfrm>
            <a:off x="8001000" y="1399336"/>
            <a:ext cx="3200400" cy="4399915"/>
          </a:xfrm>
          <a:prstGeom prst="rect">
            <a:avLst/>
          </a:prstGeom>
        </p:spPr>
        <p:txBody>
          <a:bodyPr wrap="square" lIns="0" tIns="0" rIns="0" bIns="0">
            <a:spAutoFit/>
          </a:bodyPr>
          <a:lstStyle>
            <a:lvl1pPr>
              <a:defRPr b="0" i="0">
                <a:solidFill>
                  <a:schemeClr val="tx1"/>
                </a:solidFill>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62"/>
            <a:ext cx="12188952" cy="6857937"/>
          </a:xfrm>
          <a:prstGeom prst="rect">
            <a:avLst/>
          </a:prstGeom>
        </p:spPr>
      </p:pic>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62"/>
            <a:ext cx="12188952" cy="6857937"/>
          </a:xfrm>
          <a:prstGeom prst="rect">
            <a:avLst/>
          </a:prstGeom>
        </p:spPr>
      </p:pic>
      <p:sp>
        <p:nvSpPr>
          <p:cNvPr id="2" name="Holder 2"/>
          <p:cNvSpPr>
            <a:spLocks noGrp="1"/>
          </p:cNvSpPr>
          <p:nvPr>
            <p:ph type="title"/>
          </p:nvPr>
        </p:nvSpPr>
        <p:spPr>
          <a:xfrm>
            <a:off x="817511" y="218135"/>
            <a:ext cx="10587240" cy="1209471"/>
          </a:xfrm>
          <a:prstGeom prst="rect">
            <a:avLst/>
          </a:prstGeom>
        </p:spPr>
        <p:txBody>
          <a:bodyPr wrap="square" lIns="0" tIns="0" rIns="0" bIns="0">
            <a:spAutoFit/>
          </a:bodyPr>
          <a:lstStyle>
            <a:lvl1pPr>
              <a:defRPr sz="3150" b="1" i="0">
                <a:solidFill>
                  <a:srgbClr val="BB9F45"/>
                </a:solidFill>
                <a:latin typeface="Arial"/>
                <a:cs typeface="Arial"/>
              </a:defRPr>
            </a:lvl1pPr>
          </a:lstStyle>
          <a:p/>
        </p:txBody>
      </p:sp>
      <p:sp>
        <p:nvSpPr>
          <p:cNvPr id="3" name="Holder 3"/>
          <p:cNvSpPr>
            <a:spLocks noGrp="1"/>
          </p:cNvSpPr>
          <p:nvPr>
            <p:ph type="body" idx="1"/>
          </p:nvPr>
        </p:nvSpPr>
        <p:spPr>
          <a:xfrm>
            <a:off x="6239890" y="2893250"/>
            <a:ext cx="5161915" cy="2633345"/>
          </a:xfrm>
          <a:prstGeom prst="rect">
            <a:avLst/>
          </a:prstGeom>
        </p:spPr>
        <p:txBody>
          <a:bodyPr wrap="square" lIns="0" tIns="0" rIns="0" bIns="0">
            <a:spAutoFit/>
          </a:bodyPr>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jpg"/><Relationship Id="rId8"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jpg"/><Relationship Id="rId3" Type="http://schemas.openxmlformats.org/officeDocument/2006/relationships/image" Target="../media/image2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notesSlide" Target="../notesSlides/notes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notesSlide" Target="../notesSlides/notesSlide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notesSlide" Target="../notesSlides/notesSlide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notesSlide" Target="../notesSlides/notesSlide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notesSlide" Target="../notesSlides/notesSlide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 Id="rId3" Type="http://schemas.openxmlformats.org/officeDocument/2006/relationships/image" Target="../media/image37.png"/><Relationship Id="rId4" Type="http://schemas.openxmlformats.org/officeDocument/2006/relationships/notesSlide" Target="../notesSlides/notesSlide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2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 Id="rId3" Type="http://schemas.openxmlformats.org/officeDocument/2006/relationships/notesSlide" Target="../notesSlides/notesSlide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notesSlide" Target="../notesSlides/notesSlide2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notesSlide" Target="../notesSlides/notesSlide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97863" y="1261870"/>
            <a:ext cx="1371600" cy="1335024"/>
          </a:xfrm>
          <a:prstGeom prst="rect">
            <a:avLst/>
          </a:prstGeom>
        </p:spPr>
      </p:pic>
      <p:pic>
        <p:nvPicPr>
          <p:cNvPr id="3" name="object 3"/>
          <p:cNvPicPr/>
          <p:nvPr/>
        </p:nvPicPr>
        <p:blipFill>
          <a:blip r:embed="rId3" cstate="print"/>
          <a:stretch>
            <a:fillRect/>
          </a:stretch>
        </p:blipFill>
        <p:spPr>
          <a:xfrm>
            <a:off x="4507991" y="457198"/>
            <a:ext cx="7680959" cy="6400800"/>
          </a:xfrm>
          <a:prstGeom prst="rect">
            <a:avLst/>
          </a:prstGeom>
        </p:spPr>
      </p:pic>
      <p:sp>
        <p:nvSpPr>
          <p:cNvPr id="4" name="object 4" descr="$PPTXTitle"/>
          <p:cNvSpPr txBox="1">
            <a:spLocks noGrp="1"/>
          </p:cNvSpPr>
          <p:nvPr>
            <p:ph type="title"/>
          </p:nvPr>
        </p:nvSpPr>
        <p:spPr>
          <a:xfrm>
            <a:off x="1148092" y="2790950"/>
            <a:ext cx="2680970" cy="726440"/>
          </a:xfrm>
          <a:prstGeom prst="rect"/>
        </p:spPr>
        <p:txBody>
          <a:bodyPr wrap="square" lIns="0" tIns="12700" rIns="0" bIns="0" rtlCol="0" vert="horz">
            <a:spAutoFit/>
          </a:bodyPr>
          <a:lstStyle/>
          <a:p>
            <a:pPr marL="12700">
              <a:lnSpc>
                <a:spcPct val="100000"/>
              </a:lnSpc>
              <a:spcBef>
                <a:spcPts val="100"/>
              </a:spcBef>
            </a:pPr>
            <a:r>
              <a:rPr dirty="0" sz="4600" spc="-630" b="0">
                <a:solidFill>
                  <a:srgbClr val="007B5D"/>
                </a:solidFill>
                <a:latin typeface="Arial MT"/>
                <a:cs typeface="Arial MT"/>
              </a:rPr>
              <a:t>EUROPEAN</a:t>
            </a:r>
            <a:endParaRPr sz="4600">
              <a:latin typeface="Arial MT"/>
              <a:cs typeface="Arial MT"/>
            </a:endParaRPr>
          </a:p>
        </p:txBody>
      </p:sp>
      <p:sp>
        <p:nvSpPr>
          <p:cNvPr id="5" name="object 5"/>
          <p:cNvSpPr txBox="1"/>
          <p:nvPr/>
        </p:nvSpPr>
        <p:spPr>
          <a:xfrm>
            <a:off x="1152498" y="3250944"/>
            <a:ext cx="3114040" cy="734060"/>
          </a:xfrm>
          <a:prstGeom prst="rect">
            <a:avLst/>
          </a:prstGeom>
        </p:spPr>
        <p:txBody>
          <a:bodyPr wrap="square" lIns="0" tIns="12700" rIns="0" bIns="0" rtlCol="0" vert="horz">
            <a:spAutoFit/>
          </a:bodyPr>
          <a:lstStyle/>
          <a:p>
            <a:pPr marL="12700">
              <a:lnSpc>
                <a:spcPct val="100000"/>
              </a:lnSpc>
              <a:spcBef>
                <a:spcPts val="100"/>
              </a:spcBef>
            </a:pPr>
            <a:r>
              <a:rPr dirty="0" sz="4650" spc="-430">
                <a:solidFill>
                  <a:srgbClr val="012A46"/>
                </a:solidFill>
                <a:latin typeface="Arial Black"/>
                <a:cs typeface="Arial Black"/>
              </a:rPr>
              <a:t>MICROOFT</a:t>
            </a:r>
            <a:endParaRPr sz="4650">
              <a:latin typeface="Arial Black"/>
              <a:cs typeface="Arial Black"/>
            </a:endParaRPr>
          </a:p>
        </p:txBody>
      </p:sp>
      <p:sp>
        <p:nvSpPr>
          <p:cNvPr id="6" name="object 6"/>
          <p:cNvSpPr txBox="1"/>
          <p:nvPr/>
        </p:nvSpPr>
        <p:spPr>
          <a:xfrm>
            <a:off x="1150949" y="3723638"/>
            <a:ext cx="3171190" cy="726440"/>
          </a:xfrm>
          <a:prstGeom prst="rect">
            <a:avLst/>
          </a:prstGeom>
        </p:spPr>
        <p:txBody>
          <a:bodyPr wrap="square" lIns="0" tIns="12700" rIns="0" bIns="0" rtlCol="0" vert="horz">
            <a:spAutoFit/>
          </a:bodyPr>
          <a:lstStyle/>
          <a:p>
            <a:pPr marL="12700">
              <a:lnSpc>
                <a:spcPct val="100000"/>
              </a:lnSpc>
              <a:spcBef>
                <a:spcPts val="100"/>
              </a:spcBef>
            </a:pPr>
            <a:r>
              <a:rPr dirty="0" sz="4600" spc="-775">
                <a:solidFill>
                  <a:srgbClr val="002849"/>
                </a:solidFill>
                <a:latin typeface="Arial Black"/>
                <a:cs typeface="Arial Black"/>
              </a:rPr>
              <a:t>FABRIC</a:t>
            </a:r>
            <a:r>
              <a:rPr dirty="0" sz="4600" spc="385">
                <a:solidFill>
                  <a:srgbClr val="002849"/>
                </a:solidFill>
                <a:latin typeface="Arial Black"/>
                <a:cs typeface="Arial Black"/>
              </a:rPr>
              <a:t> </a:t>
            </a:r>
            <a:r>
              <a:rPr dirty="0" sz="4600" spc="-409">
                <a:solidFill>
                  <a:srgbClr val="002A4B"/>
                </a:solidFill>
                <a:latin typeface="Arial Black"/>
                <a:cs typeface="Arial Black"/>
              </a:rPr>
              <a:t>SäL</a:t>
            </a:r>
            <a:endParaRPr sz="4600">
              <a:latin typeface="Arial Black"/>
              <a:cs typeface="Arial Black"/>
            </a:endParaRPr>
          </a:p>
        </p:txBody>
      </p:sp>
      <p:sp>
        <p:nvSpPr>
          <p:cNvPr id="7" name="object 7"/>
          <p:cNvSpPr txBox="1"/>
          <p:nvPr/>
        </p:nvSpPr>
        <p:spPr>
          <a:xfrm>
            <a:off x="1161284" y="4257292"/>
            <a:ext cx="2885440" cy="398780"/>
          </a:xfrm>
          <a:prstGeom prst="rect">
            <a:avLst/>
          </a:prstGeom>
        </p:spPr>
        <p:txBody>
          <a:bodyPr wrap="square" lIns="0" tIns="12700" rIns="0" bIns="0" rtlCol="0" vert="horz">
            <a:spAutoFit/>
          </a:bodyPr>
          <a:lstStyle/>
          <a:p>
            <a:pPr marL="12700">
              <a:lnSpc>
                <a:spcPct val="100000"/>
              </a:lnSpc>
              <a:spcBef>
                <a:spcPts val="100"/>
              </a:spcBef>
            </a:pPr>
            <a:r>
              <a:rPr dirty="0" sz="2450" spc="-409">
                <a:solidFill>
                  <a:srgbClr val="1D1D1D"/>
                </a:solidFill>
                <a:latin typeface="Arial Black"/>
                <a:cs typeface="Arial Black"/>
              </a:rPr>
              <a:t>CoitmunityConfeænce</a:t>
            </a:r>
            <a:endParaRPr sz="2450">
              <a:latin typeface="Arial Black"/>
              <a:cs typeface="Arial Black"/>
            </a:endParaRPr>
          </a:p>
        </p:txBody>
      </p:sp>
      <p:sp>
        <p:nvSpPr>
          <p:cNvPr id="8" name="object 8"/>
          <p:cNvSpPr txBox="1"/>
          <p:nvPr/>
        </p:nvSpPr>
        <p:spPr>
          <a:xfrm>
            <a:off x="1174772" y="5440171"/>
            <a:ext cx="2386330" cy="579755"/>
          </a:xfrm>
          <a:prstGeom prst="rect">
            <a:avLst/>
          </a:prstGeom>
        </p:spPr>
        <p:txBody>
          <a:bodyPr wrap="square" lIns="0" tIns="12700" rIns="0" bIns="0" rtlCol="0" vert="horz">
            <a:spAutoFit/>
          </a:bodyPr>
          <a:lstStyle/>
          <a:p>
            <a:pPr marL="12700">
              <a:lnSpc>
                <a:spcPts val="2270"/>
              </a:lnSpc>
              <a:spcBef>
                <a:spcPts val="100"/>
              </a:spcBef>
            </a:pPr>
            <a:r>
              <a:rPr dirty="0" sz="2100" spc="-290">
                <a:solidFill>
                  <a:srgbClr val="9A933A"/>
                </a:solidFill>
                <a:latin typeface="Arial MT"/>
                <a:cs typeface="Arial MT"/>
              </a:rPr>
              <a:t>BARCELONA</a:t>
            </a:r>
            <a:endParaRPr sz="2100">
              <a:latin typeface="Arial MT"/>
              <a:cs typeface="Arial MT"/>
            </a:endParaRPr>
          </a:p>
          <a:p>
            <a:pPr marL="947419">
              <a:lnSpc>
                <a:spcPts val="2090"/>
              </a:lnSpc>
            </a:pPr>
            <a:r>
              <a:rPr dirty="0" sz="1950">
                <a:solidFill>
                  <a:srgbClr val="979075"/>
                </a:solidFill>
                <a:latin typeface="Arial MT"/>
                <a:cs typeface="Arial MT"/>
              </a:rPr>
              <a:t>-</a:t>
            </a:r>
            <a:r>
              <a:rPr dirty="0" sz="1950" spc="60">
                <a:solidFill>
                  <a:srgbClr val="979075"/>
                </a:solidFill>
                <a:latin typeface="Arial MT"/>
                <a:cs typeface="Arial MT"/>
              </a:rPr>
              <a:t> </a:t>
            </a:r>
            <a:r>
              <a:rPr dirty="0" sz="1950" spc="-185">
                <a:solidFill>
                  <a:srgbClr val="908A50"/>
                </a:solidFill>
                <a:latin typeface="Arial MT"/>
                <a:cs typeface="Arial MT"/>
              </a:rPr>
              <a:t>01</a:t>
            </a:r>
            <a:r>
              <a:rPr dirty="0" sz="1950" spc="-5">
                <a:solidFill>
                  <a:srgbClr val="908A50"/>
                </a:solidFill>
                <a:latin typeface="Arial MT"/>
                <a:cs typeface="Arial MT"/>
              </a:rPr>
              <a:t> </a:t>
            </a:r>
            <a:r>
              <a:rPr dirty="0" sz="1950" spc="-295">
                <a:solidFill>
                  <a:srgbClr val="8C824B"/>
                </a:solidFill>
                <a:latin typeface="Arial MT"/>
                <a:cs typeface="Arial MT"/>
              </a:rPr>
              <a:t>OCT</a:t>
            </a:r>
            <a:r>
              <a:rPr dirty="0" sz="1950" spc="85">
                <a:solidFill>
                  <a:srgbClr val="8C824B"/>
                </a:solidFill>
                <a:latin typeface="Arial MT"/>
                <a:cs typeface="Arial MT"/>
              </a:rPr>
              <a:t> </a:t>
            </a:r>
            <a:r>
              <a:rPr dirty="0" sz="1950" spc="-135">
                <a:solidFill>
                  <a:srgbClr val="8E8C1F"/>
                </a:solidFill>
                <a:latin typeface="Arial MT"/>
                <a:cs typeface="Arial MT"/>
              </a:rPr>
              <a:t>2026</a:t>
            </a:r>
            <a:endParaRPr sz="195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2"/>
            <a:ext cx="12189460" cy="6858000"/>
            <a:chOff x="0" y="12"/>
            <a:chExt cx="12189460" cy="6858000"/>
          </a:xfrm>
        </p:grpSpPr>
        <p:pic>
          <p:nvPicPr>
            <p:cNvPr id="3" name="object 3"/>
            <p:cNvPicPr/>
            <p:nvPr/>
          </p:nvPicPr>
          <p:blipFill>
            <a:blip r:embed="rId2" cstate="print"/>
            <a:stretch>
              <a:fillRect/>
            </a:stretch>
          </p:blipFill>
          <p:spPr>
            <a:xfrm>
              <a:off x="0" y="62"/>
              <a:ext cx="12188952" cy="6857937"/>
            </a:xfrm>
            <a:prstGeom prst="rect">
              <a:avLst/>
            </a:prstGeom>
          </p:spPr>
        </p:pic>
        <p:sp>
          <p:nvSpPr>
            <p:cNvPr id="4" name="object 4"/>
            <p:cNvSpPr/>
            <p:nvPr/>
          </p:nvSpPr>
          <p:spPr>
            <a:xfrm>
              <a:off x="0" y="12"/>
              <a:ext cx="12189460" cy="475615"/>
            </a:xfrm>
            <a:custGeom>
              <a:avLst/>
              <a:gdLst/>
              <a:ahLst/>
              <a:cxnLst/>
              <a:rect l="l" t="t" r="r" b="b"/>
              <a:pathLst>
                <a:path w="12189460" h="475615">
                  <a:moveTo>
                    <a:pt x="12188952" y="0"/>
                  </a:moveTo>
                  <a:lnTo>
                    <a:pt x="0" y="0"/>
                  </a:lnTo>
                  <a:lnTo>
                    <a:pt x="0" y="475602"/>
                  </a:lnTo>
                  <a:lnTo>
                    <a:pt x="12188952" y="475602"/>
                  </a:lnTo>
                  <a:lnTo>
                    <a:pt x="12188952" y="0"/>
                  </a:lnTo>
                  <a:close/>
                </a:path>
              </a:pathLst>
            </a:custGeom>
            <a:solidFill>
              <a:srgbClr val="BB9F45"/>
            </a:solidFill>
          </p:spPr>
          <p:txBody>
            <a:bodyPr wrap="square" lIns="0" tIns="0" rIns="0" bIns="0" rtlCol="0"/>
            <a:lstStyle/>
            <a:p/>
          </p:txBody>
        </p:sp>
      </p:grpSp>
      <p:sp>
        <p:nvSpPr>
          <p:cNvPr id="5" name="object 5" descr="$PPTXTitle"/>
          <p:cNvSpPr txBox="1">
            <a:spLocks noGrp="1"/>
          </p:cNvSpPr>
          <p:nvPr>
            <p:ph type="title"/>
          </p:nvPr>
        </p:nvSpPr>
        <p:spPr>
          <a:xfrm>
            <a:off x="687603" y="1322019"/>
            <a:ext cx="7356475" cy="2042795"/>
          </a:xfrm>
          <a:prstGeom prst="rect"/>
        </p:spPr>
        <p:txBody>
          <a:bodyPr wrap="square" lIns="0" tIns="9525" rIns="0" bIns="0" rtlCol="0" vert="horz">
            <a:spAutoFit/>
          </a:bodyPr>
          <a:lstStyle/>
          <a:p>
            <a:pPr marL="12700" marR="5080">
              <a:lnSpc>
                <a:spcPct val="100400"/>
              </a:lnSpc>
              <a:spcBef>
                <a:spcPts val="75"/>
              </a:spcBef>
            </a:pPr>
            <a:r>
              <a:rPr dirty="0" sz="4400">
                <a:solidFill>
                  <a:srgbClr val="F1F1F1"/>
                </a:solidFill>
                <a:latin typeface="Segoe UI"/>
                <a:cs typeface="Segoe UI"/>
              </a:rPr>
              <a:t>From</a:t>
            </a:r>
            <a:r>
              <a:rPr dirty="0" sz="4400" spc="-55">
                <a:solidFill>
                  <a:srgbClr val="F1F1F1"/>
                </a:solidFill>
                <a:latin typeface="Segoe UI"/>
                <a:cs typeface="Segoe UI"/>
              </a:rPr>
              <a:t> </a:t>
            </a:r>
            <a:r>
              <a:rPr dirty="0" sz="4400">
                <a:solidFill>
                  <a:srgbClr val="F1F1F1"/>
                </a:solidFill>
                <a:latin typeface="Segoe UI"/>
                <a:cs typeface="Segoe UI"/>
              </a:rPr>
              <a:t>Notebook</a:t>
            </a:r>
            <a:r>
              <a:rPr dirty="0" sz="4400" spc="-65">
                <a:solidFill>
                  <a:srgbClr val="F1F1F1"/>
                </a:solidFill>
                <a:latin typeface="Segoe UI"/>
                <a:cs typeface="Segoe UI"/>
              </a:rPr>
              <a:t> </a:t>
            </a:r>
            <a:r>
              <a:rPr dirty="0" sz="4400">
                <a:solidFill>
                  <a:srgbClr val="F1F1F1"/>
                </a:solidFill>
                <a:latin typeface="Segoe UI"/>
                <a:cs typeface="Segoe UI"/>
              </a:rPr>
              <a:t>to</a:t>
            </a:r>
            <a:r>
              <a:rPr dirty="0" sz="4400" spc="-80">
                <a:solidFill>
                  <a:srgbClr val="F1F1F1"/>
                </a:solidFill>
                <a:latin typeface="Segoe UI"/>
                <a:cs typeface="Segoe UI"/>
              </a:rPr>
              <a:t> </a:t>
            </a:r>
            <a:r>
              <a:rPr dirty="0" sz="4400" spc="-10">
                <a:solidFill>
                  <a:srgbClr val="F1F1F1"/>
                </a:solidFill>
                <a:latin typeface="Segoe UI"/>
                <a:cs typeface="Segoe UI"/>
              </a:rPr>
              <a:t>Bedside: </a:t>
            </a:r>
            <a:r>
              <a:rPr dirty="0" sz="4400">
                <a:solidFill>
                  <a:srgbClr val="F1F1F1"/>
                </a:solidFill>
                <a:latin typeface="Segoe UI"/>
                <a:cs typeface="Segoe UI"/>
              </a:rPr>
              <a:t>Building</a:t>
            </a:r>
            <a:r>
              <a:rPr dirty="0" sz="4400" spc="-70">
                <a:solidFill>
                  <a:srgbClr val="F1F1F1"/>
                </a:solidFill>
                <a:latin typeface="Segoe UI"/>
                <a:cs typeface="Segoe UI"/>
              </a:rPr>
              <a:t> </a:t>
            </a:r>
            <a:r>
              <a:rPr dirty="0" sz="4400">
                <a:solidFill>
                  <a:srgbClr val="F1F1F1"/>
                </a:solidFill>
                <a:latin typeface="Segoe UI"/>
                <a:cs typeface="Segoe UI"/>
              </a:rPr>
              <a:t>a</a:t>
            </a:r>
            <a:r>
              <a:rPr dirty="0" sz="4400" spc="-125">
                <a:solidFill>
                  <a:srgbClr val="F1F1F1"/>
                </a:solidFill>
                <a:latin typeface="Segoe UI"/>
                <a:cs typeface="Segoe UI"/>
              </a:rPr>
              <a:t> </a:t>
            </a:r>
            <a:r>
              <a:rPr dirty="0" sz="4400">
                <a:solidFill>
                  <a:srgbClr val="F1F1F1"/>
                </a:solidFill>
                <a:latin typeface="Segoe UI"/>
                <a:cs typeface="Segoe UI"/>
              </a:rPr>
              <a:t>Clinical</a:t>
            </a:r>
            <a:r>
              <a:rPr dirty="0" sz="4400" spc="-85">
                <a:solidFill>
                  <a:srgbClr val="F1F1F1"/>
                </a:solidFill>
                <a:latin typeface="Segoe UI"/>
                <a:cs typeface="Segoe UI"/>
              </a:rPr>
              <a:t> </a:t>
            </a:r>
            <a:r>
              <a:rPr dirty="0" sz="4400" spc="-20">
                <a:solidFill>
                  <a:srgbClr val="F1F1F1"/>
                </a:solidFill>
                <a:latin typeface="Segoe UI"/>
                <a:cs typeface="Segoe UI"/>
              </a:rPr>
              <a:t>Risk </a:t>
            </a:r>
            <a:r>
              <a:rPr dirty="0" sz="4400">
                <a:solidFill>
                  <a:srgbClr val="F1F1F1"/>
                </a:solidFill>
                <a:latin typeface="Segoe UI"/>
                <a:cs typeface="Segoe UI"/>
              </a:rPr>
              <a:t>Prediction</a:t>
            </a:r>
            <a:r>
              <a:rPr dirty="0" sz="4400" spc="-90">
                <a:solidFill>
                  <a:srgbClr val="F1F1F1"/>
                </a:solidFill>
                <a:latin typeface="Segoe UI"/>
                <a:cs typeface="Segoe UI"/>
              </a:rPr>
              <a:t> </a:t>
            </a:r>
            <a:r>
              <a:rPr dirty="0" sz="4400">
                <a:solidFill>
                  <a:srgbClr val="F1F1F1"/>
                </a:solidFill>
                <a:latin typeface="Segoe UI"/>
                <a:cs typeface="Segoe UI"/>
              </a:rPr>
              <a:t>Pipeline</a:t>
            </a:r>
            <a:r>
              <a:rPr dirty="0" sz="4400" spc="-75">
                <a:solidFill>
                  <a:srgbClr val="F1F1F1"/>
                </a:solidFill>
                <a:latin typeface="Segoe UI"/>
                <a:cs typeface="Segoe UI"/>
              </a:rPr>
              <a:t> </a:t>
            </a:r>
            <a:r>
              <a:rPr dirty="0" sz="4400">
                <a:solidFill>
                  <a:srgbClr val="F1F1F1"/>
                </a:solidFill>
                <a:latin typeface="Segoe UI"/>
                <a:cs typeface="Segoe UI"/>
              </a:rPr>
              <a:t>in</a:t>
            </a:r>
            <a:r>
              <a:rPr dirty="0" sz="4400" spc="-5">
                <a:solidFill>
                  <a:srgbClr val="F1F1F1"/>
                </a:solidFill>
                <a:latin typeface="Segoe UI"/>
                <a:cs typeface="Segoe UI"/>
              </a:rPr>
              <a:t> </a:t>
            </a:r>
            <a:r>
              <a:rPr dirty="0" sz="4400" spc="-10">
                <a:solidFill>
                  <a:srgbClr val="F1F1F1"/>
                </a:solidFill>
                <a:latin typeface="Segoe UI"/>
                <a:cs typeface="Segoe UI"/>
              </a:rPr>
              <a:t>Fabric</a:t>
            </a:r>
            <a:endParaRPr sz="4400">
              <a:latin typeface="Segoe UI"/>
              <a:cs typeface="Segoe UI"/>
            </a:endParaRPr>
          </a:p>
        </p:txBody>
      </p:sp>
      <p:sp>
        <p:nvSpPr>
          <p:cNvPr id="6" name="object 6"/>
          <p:cNvSpPr txBox="1"/>
          <p:nvPr/>
        </p:nvSpPr>
        <p:spPr>
          <a:xfrm>
            <a:off x="3644265" y="63944"/>
            <a:ext cx="4980305" cy="333375"/>
          </a:xfrm>
          <a:prstGeom prst="rect">
            <a:avLst/>
          </a:prstGeom>
        </p:spPr>
        <p:txBody>
          <a:bodyPr wrap="square" lIns="0" tIns="14604" rIns="0" bIns="0" rtlCol="0" vert="horz">
            <a:spAutoFit/>
          </a:bodyPr>
          <a:lstStyle/>
          <a:p>
            <a:pPr marL="12700">
              <a:lnSpc>
                <a:spcPct val="100000"/>
              </a:lnSpc>
              <a:spcBef>
                <a:spcPts val="114"/>
              </a:spcBef>
            </a:pPr>
            <a:r>
              <a:rPr dirty="0" sz="2000" spc="60">
                <a:solidFill>
                  <a:srgbClr val="125B44"/>
                </a:solidFill>
                <a:latin typeface="Arial MT"/>
                <a:cs typeface="Arial MT"/>
              </a:rPr>
              <a:t>Do</a:t>
            </a:r>
            <a:r>
              <a:rPr dirty="0" sz="2000" spc="130">
                <a:solidFill>
                  <a:srgbClr val="125B44"/>
                </a:solidFill>
                <a:latin typeface="Arial MT"/>
                <a:cs typeface="Arial MT"/>
              </a:rPr>
              <a:t> </a:t>
            </a:r>
            <a:r>
              <a:rPr dirty="0" sz="2000" spc="65">
                <a:solidFill>
                  <a:srgbClr val="125B44"/>
                </a:solidFill>
                <a:latin typeface="Arial MT"/>
                <a:cs typeface="Arial MT"/>
              </a:rPr>
              <a:t>not</a:t>
            </a:r>
            <a:r>
              <a:rPr dirty="0" sz="2000" spc="190">
                <a:solidFill>
                  <a:srgbClr val="125B44"/>
                </a:solidFill>
                <a:latin typeface="Arial MT"/>
                <a:cs typeface="Arial MT"/>
              </a:rPr>
              <a:t> </a:t>
            </a:r>
            <a:r>
              <a:rPr dirty="0" sz="2000" spc="70">
                <a:solidFill>
                  <a:srgbClr val="125B44"/>
                </a:solidFill>
                <a:latin typeface="Arial MT"/>
                <a:cs typeface="Arial MT"/>
              </a:rPr>
              <a:t>record</a:t>
            </a:r>
            <a:r>
              <a:rPr dirty="0" sz="2000" spc="204">
                <a:solidFill>
                  <a:srgbClr val="125B44"/>
                </a:solidFill>
                <a:latin typeface="Arial MT"/>
                <a:cs typeface="Arial MT"/>
              </a:rPr>
              <a:t> </a:t>
            </a:r>
            <a:r>
              <a:rPr dirty="0" sz="2000" spc="50">
                <a:solidFill>
                  <a:srgbClr val="125B44"/>
                </a:solidFill>
                <a:latin typeface="Arial MT"/>
                <a:cs typeface="Arial MT"/>
              </a:rPr>
              <a:t>or</a:t>
            </a:r>
            <a:r>
              <a:rPr dirty="0" sz="2000" spc="225">
                <a:solidFill>
                  <a:srgbClr val="125B44"/>
                </a:solidFill>
                <a:latin typeface="Arial MT"/>
                <a:cs typeface="Arial MT"/>
              </a:rPr>
              <a:t> </a:t>
            </a:r>
            <a:r>
              <a:rPr dirty="0" sz="2000" spc="75">
                <a:solidFill>
                  <a:srgbClr val="125B44"/>
                </a:solidFill>
                <a:latin typeface="Arial MT"/>
                <a:cs typeface="Arial MT"/>
              </a:rPr>
              <a:t>livestream</a:t>
            </a:r>
            <a:r>
              <a:rPr dirty="0" sz="2000" spc="225">
                <a:solidFill>
                  <a:srgbClr val="125B44"/>
                </a:solidFill>
                <a:latin typeface="Arial MT"/>
                <a:cs typeface="Arial MT"/>
              </a:rPr>
              <a:t> </a:t>
            </a:r>
            <a:r>
              <a:rPr dirty="0" sz="2000" spc="55">
                <a:solidFill>
                  <a:srgbClr val="125B44"/>
                </a:solidFill>
                <a:latin typeface="Arial MT"/>
                <a:cs typeface="Arial MT"/>
              </a:rPr>
              <a:t>this</a:t>
            </a:r>
            <a:r>
              <a:rPr dirty="0" sz="2000" spc="250">
                <a:solidFill>
                  <a:srgbClr val="125B44"/>
                </a:solidFill>
                <a:latin typeface="Arial MT"/>
                <a:cs typeface="Arial MT"/>
              </a:rPr>
              <a:t> </a:t>
            </a:r>
            <a:r>
              <a:rPr dirty="0" sz="2000" spc="65">
                <a:solidFill>
                  <a:srgbClr val="125B44"/>
                </a:solidFill>
                <a:latin typeface="Arial MT"/>
                <a:cs typeface="Arial MT"/>
              </a:rPr>
              <a:t>session</a:t>
            </a:r>
            <a:endParaRPr sz="2000">
              <a:latin typeface="Arial MT"/>
              <a:cs typeface="Arial MT"/>
            </a:endParaRPr>
          </a:p>
        </p:txBody>
      </p:sp>
      <p:sp>
        <p:nvSpPr>
          <p:cNvPr id="7" name="object 7"/>
          <p:cNvSpPr txBox="1"/>
          <p:nvPr/>
        </p:nvSpPr>
        <p:spPr>
          <a:xfrm>
            <a:off x="5908166" y="3776090"/>
            <a:ext cx="2625725" cy="947419"/>
          </a:xfrm>
          <a:prstGeom prst="rect">
            <a:avLst/>
          </a:prstGeom>
        </p:spPr>
        <p:txBody>
          <a:bodyPr wrap="square" lIns="0" tIns="15240" rIns="0" bIns="0" rtlCol="0" vert="horz">
            <a:spAutoFit/>
          </a:bodyPr>
          <a:lstStyle/>
          <a:p>
            <a:pPr marL="12700">
              <a:lnSpc>
                <a:spcPts val="2390"/>
              </a:lnSpc>
              <a:spcBef>
                <a:spcPts val="120"/>
              </a:spcBef>
            </a:pPr>
            <a:r>
              <a:rPr dirty="0" sz="2000" b="1">
                <a:solidFill>
                  <a:srgbClr val="BB9F45"/>
                </a:solidFill>
                <a:latin typeface="Arial"/>
                <a:cs typeface="Arial"/>
              </a:rPr>
              <a:t>Manu</a:t>
            </a:r>
            <a:r>
              <a:rPr dirty="0" sz="2000" spc="-50" b="1">
                <a:solidFill>
                  <a:srgbClr val="BB9F45"/>
                </a:solidFill>
                <a:latin typeface="Arial"/>
                <a:cs typeface="Arial"/>
              </a:rPr>
              <a:t> </a:t>
            </a:r>
            <a:r>
              <a:rPr dirty="0" sz="2000" spc="-10" b="1">
                <a:solidFill>
                  <a:srgbClr val="BB9F45"/>
                </a:solidFill>
                <a:latin typeface="Arial"/>
                <a:cs typeface="Arial"/>
              </a:rPr>
              <a:t>Huygens</a:t>
            </a:r>
            <a:endParaRPr sz="2000">
              <a:latin typeface="Arial"/>
              <a:cs typeface="Arial"/>
            </a:endParaRPr>
          </a:p>
          <a:p>
            <a:pPr marL="12700">
              <a:lnSpc>
                <a:spcPts val="2390"/>
              </a:lnSpc>
            </a:pPr>
            <a:r>
              <a:rPr dirty="0" sz="2000">
                <a:solidFill>
                  <a:srgbClr val="BB9F45"/>
                </a:solidFill>
                <a:latin typeface="Arial MT"/>
                <a:cs typeface="Arial MT"/>
              </a:rPr>
              <a:t>Cloud</a:t>
            </a:r>
            <a:r>
              <a:rPr dirty="0" sz="2000" spc="-60">
                <a:solidFill>
                  <a:srgbClr val="BB9F45"/>
                </a:solidFill>
                <a:latin typeface="Arial MT"/>
                <a:cs typeface="Arial MT"/>
              </a:rPr>
              <a:t> </a:t>
            </a:r>
            <a:r>
              <a:rPr dirty="0" sz="2000">
                <a:solidFill>
                  <a:srgbClr val="BB9F45"/>
                </a:solidFill>
                <a:latin typeface="Arial MT"/>
                <a:cs typeface="Arial MT"/>
              </a:rPr>
              <a:t>&amp; Data</a:t>
            </a:r>
            <a:r>
              <a:rPr dirty="0" sz="2000" spc="-60">
                <a:solidFill>
                  <a:srgbClr val="BB9F45"/>
                </a:solidFill>
                <a:latin typeface="Arial MT"/>
                <a:cs typeface="Arial MT"/>
              </a:rPr>
              <a:t> </a:t>
            </a:r>
            <a:r>
              <a:rPr dirty="0" sz="2000" spc="-10">
                <a:solidFill>
                  <a:srgbClr val="BB9F45"/>
                </a:solidFill>
                <a:latin typeface="Arial MT"/>
                <a:cs typeface="Arial MT"/>
              </a:rPr>
              <a:t>Engineer</a:t>
            </a:r>
            <a:endParaRPr sz="2000">
              <a:latin typeface="Arial MT"/>
              <a:cs typeface="Arial MT"/>
            </a:endParaRPr>
          </a:p>
          <a:p>
            <a:pPr marL="12700">
              <a:lnSpc>
                <a:spcPct val="100000"/>
              </a:lnSpc>
              <a:spcBef>
                <a:spcPts val="50"/>
              </a:spcBef>
            </a:pPr>
            <a:r>
              <a:rPr dirty="0" sz="2000">
                <a:solidFill>
                  <a:srgbClr val="BB9F45"/>
                </a:solidFill>
                <a:latin typeface="Arial MT"/>
                <a:cs typeface="Arial MT"/>
              </a:rPr>
              <a:t>KPMG</a:t>
            </a:r>
            <a:r>
              <a:rPr dirty="0" sz="2000" spc="-65">
                <a:solidFill>
                  <a:srgbClr val="BB9F45"/>
                </a:solidFill>
                <a:latin typeface="Arial MT"/>
                <a:cs typeface="Arial MT"/>
              </a:rPr>
              <a:t> </a:t>
            </a:r>
            <a:r>
              <a:rPr dirty="0" sz="2000" spc="-10">
                <a:solidFill>
                  <a:srgbClr val="BB9F45"/>
                </a:solidFill>
                <a:latin typeface="Arial MT"/>
                <a:cs typeface="Arial MT"/>
              </a:rPr>
              <a:t>Netherlands</a:t>
            </a:r>
            <a:endParaRPr sz="2000">
              <a:latin typeface="Arial MT"/>
              <a:cs typeface="Arial MT"/>
            </a:endParaRPr>
          </a:p>
        </p:txBody>
      </p:sp>
      <p:pic>
        <p:nvPicPr>
          <p:cNvPr id="8" name="object 8"/>
          <p:cNvPicPr/>
          <p:nvPr/>
        </p:nvPicPr>
        <p:blipFill>
          <a:blip r:embed="rId3" cstate="print"/>
          <a:stretch>
            <a:fillRect/>
          </a:stretch>
        </p:blipFill>
        <p:spPr>
          <a:xfrm>
            <a:off x="1783079" y="4902377"/>
            <a:ext cx="320039" cy="329260"/>
          </a:xfrm>
          <a:prstGeom prst="rect">
            <a:avLst/>
          </a:prstGeom>
        </p:spPr>
      </p:pic>
      <p:sp>
        <p:nvSpPr>
          <p:cNvPr id="9" name="object 9"/>
          <p:cNvSpPr txBox="1"/>
          <p:nvPr/>
        </p:nvSpPr>
        <p:spPr>
          <a:xfrm>
            <a:off x="1798447" y="3742372"/>
            <a:ext cx="2209800" cy="1438275"/>
          </a:xfrm>
          <a:prstGeom prst="rect">
            <a:avLst/>
          </a:prstGeom>
        </p:spPr>
        <p:txBody>
          <a:bodyPr wrap="square" lIns="0" tIns="14604" rIns="0" bIns="0" rtlCol="0" vert="horz">
            <a:spAutoFit/>
          </a:bodyPr>
          <a:lstStyle/>
          <a:p>
            <a:pPr marL="12700">
              <a:lnSpc>
                <a:spcPts val="2390"/>
              </a:lnSpc>
              <a:spcBef>
                <a:spcPts val="114"/>
              </a:spcBef>
            </a:pPr>
            <a:r>
              <a:rPr dirty="0" sz="2000" b="1">
                <a:solidFill>
                  <a:srgbClr val="BB9F45"/>
                </a:solidFill>
                <a:latin typeface="Arial"/>
                <a:cs typeface="Arial"/>
              </a:rPr>
              <a:t>Audrius</a:t>
            </a:r>
            <a:r>
              <a:rPr dirty="0" sz="2000" spc="-65" b="1">
                <a:solidFill>
                  <a:srgbClr val="BB9F45"/>
                </a:solidFill>
                <a:latin typeface="Arial"/>
                <a:cs typeface="Arial"/>
              </a:rPr>
              <a:t> </a:t>
            </a:r>
            <a:r>
              <a:rPr dirty="0" sz="2000" spc="-20" b="1">
                <a:solidFill>
                  <a:srgbClr val="BB9F45"/>
                </a:solidFill>
                <a:latin typeface="Arial"/>
                <a:cs typeface="Arial"/>
              </a:rPr>
              <a:t>Šaras</a:t>
            </a:r>
            <a:endParaRPr sz="2000">
              <a:latin typeface="Arial"/>
              <a:cs typeface="Arial"/>
            </a:endParaRPr>
          </a:p>
          <a:p>
            <a:pPr marL="12700">
              <a:lnSpc>
                <a:spcPts val="2390"/>
              </a:lnSpc>
            </a:pPr>
            <a:r>
              <a:rPr dirty="0" sz="2000">
                <a:solidFill>
                  <a:srgbClr val="BB9F45"/>
                </a:solidFill>
                <a:latin typeface="Arial MT"/>
                <a:cs typeface="Arial MT"/>
              </a:rPr>
              <a:t>AI</a:t>
            </a:r>
            <a:r>
              <a:rPr dirty="0" sz="2000" spc="-40">
                <a:solidFill>
                  <a:srgbClr val="BB9F45"/>
                </a:solidFill>
                <a:latin typeface="Arial MT"/>
                <a:cs typeface="Arial MT"/>
              </a:rPr>
              <a:t> </a:t>
            </a:r>
            <a:r>
              <a:rPr dirty="0" sz="2000">
                <a:solidFill>
                  <a:srgbClr val="BB9F45"/>
                </a:solidFill>
                <a:latin typeface="Arial MT"/>
                <a:cs typeface="Arial MT"/>
              </a:rPr>
              <a:t>&amp;</a:t>
            </a:r>
            <a:r>
              <a:rPr dirty="0" sz="2000" spc="-35">
                <a:solidFill>
                  <a:srgbClr val="BB9F45"/>
                </a:solidFill>
                <a:latin typeface="Arial MT"/>
                <a:cs typeface="Arial MT"/>
              </a:rPr>
              <a:t> </a:t>
            </a:r>
            <a:r>
              <a:rPr dirty="0" sz="2000">
                <a:solidFill>
                  <a:srgbClr val="BB9F45"/>
                </a:solidFill>
                <a:latin typeface="Arial MT"/>
                <a:cs typeface="Arial MT"/>
              </a:rPr>
              <a:t>Data</a:t>
            </a:r>
            <a:r>
              <a:rPr dirty="0" sz="2000" spc="-30">
                <a:solidFill>
                  <a:srgbClr val="BB9F45"/>
                </a:solidFill>
                <a:latin typeface="Arial MT"/>
                <a:cs typeface="Arial MT"/>
              </a:rPr>
              <a:t> </a:t>
            </a:r>
            <a:r>
              <a:rPr dirty="0" sz="2000" spc="-10">
                <a:solidFill>
                  <a:srgbClr val="BB9F45"/>
                </a:solidFill>
                <a:latin typeface="Arial MT"/>
                <a:cs typeface="Arial MT"/>
              </a:rPr>
              <a:t>Engineer</a:t>
            </a:r>
            <a:endParaRPr sz="2000">
              <a:latin typeface="Arial MT"/>
              <a:cs typeface="Arial MT"/>
            </a:endParaRPr>
          </a:p>
          <a:p>
            <a:pPr marL="12700">
              <a:lnSpc>
                <a:spcPct val="100000"/>
              </a:lnSpc>
              <a:spcBef>
                <a:spcPts val="55"/>
              </a:spcBef>
            </a:pPr>
            <a:r>
              <a:rPr dirty="0" sz="2000">
                <a:solidFill>
                  <a:srgbClr val="BB9F45"/>
                </a:solidFill>
                <a:latin typeface="Arial MT"/>
                <a:cs typeface="Arial MT"/>
              </a:rPr>
              <a:t>KPMG</a:t>
            </a:r>
            <a:r>
              <a:rPr dirty="0" sz="2000" spc="-75">
                <a:solidFill>
                  <a:srgbClr val="BB9F45"/>
                </a:solidFill>
                <a:latin typeface="Arial MT"/>
                <a:cs typeface="Arial MT"/>
              </a:rPr>
              <a:t> </a:t>
            </a:r>
            <a:r>
              <a:rPr dirty="0" sz="2000" spc="-10">
                <a:solidFill>
                  <a:srgbClr val="BB9F45"/>
                </a:solidFill>
                <a:latin typeface="Arial MT"/>
                <a:cs typeface="Arial MT"/>
              </a:rPr>
              <a:t>Netherlands</a:t>
            </a:r>
            <a:endParaRPr sz="2000">
              <a:latin typeface="Arial MT"/>
              <a:cs typeface="Arial MT"/>
            </a:endParaRPr>
          </a:p>
          <a:p>
            <a:pPr marL="460375">
              <a:lnSpc>
                <a:spcPct val="100000"/>
              </a:lnSpc>
              <a:spcBef>
                <a:spcPts val="2250"/>
              </a:spcBef>
            </a:pPr>
            <a:r>
              <a:rPr dirty="0" sz="1350" spc="-10">
                <a:solidFill>
                  <a:srgbClr val="FFFFFF"/>
                </a:solidFill>
                <a:latin typeface="Segoe UI"/>
                <a:cs typeface="Segoe UI"/>
              </a:rPr>
              <a:t>/sarasaudrius</a:t>
            </a:r>
            <a:endParaRPr sz="1350">
              <a:latin typeface="Segoe UI"/>
              <a:cs typeface="Segoe UI"/>
            </a:endParaRPr>
          </a:p>
        </p:txBody>
      </p:sp>
      <p:grpSp>
        <p:nvGrpSpPr>
          <p:cNvPr id="10" name="object 10"/>
          <p:cNvGrpSpPr/>
          <p:nvPr/>
        </p:nvGrpSpPr>
        <p:grpSpPr>
          <a:xfrm>
            <a:off x="292608" y="3767328"/>
            <a:ext cx="5907405" cy="1861185"/>
            <a:chOff x="292608" y="3767328"/>
            <a:chExt cx="5907405" cy="1861185"/>
          </a:xfrm>
        </p:grpSpPr>
        <p:pic>
          <p:nvPicPr>
            <p:cNvPr id="11" name="object 11"/>
            <p:cNvPicPr/>
            <p:nvPr/>
          </p:nvPicPr>
          <p:blipFill>
            <a:blip r:embed="rId3" cstate="print"/>
            <a:stretch>
              <a:fillRect/>
            </a:stretch>
          </p:blipFill>
          <p:spPr>
            <a:xfrm>
              <a:off x="5870448" y="4920666"/>
              <a:ext cx="329184" cy="329260"/>
            </a:xfrm>
            <a:prstGeom prst="rect">
              <a:avLst/>
            </a:prstGeom>
          </p:spPr>
        </p:pic>
        <p:pic>
          <p:nvPicPr>
            <p:cNvPr id="12" name="object 12" descr="Profile image"/>
            <p:cNvPicPr/>
            <p:nvPr/>
          </p:nvPicPr>
          <p:blipFill>
            <a:blip r:embed="rId4" cstate="print"/>
            <a:stretch>
              <a:fillRect/>
            </a:stretch>
          </p:blipFill>
          <p:spPr>
            <a:xfrm>
              <a:off x="4398263" y="3831336"/>
              <a:ext cx="1531619" cy="1796795"/>
            </a:xfrm>
            <a:prstGeom prst="rect">
              <a:avLst/>
            </a:prstGeom>
          </p:spPr>
        </p:pic>
        <p:pic>
          <p:nvPicPr>
            <p:cNvPr id="13" name="object 13" descr="Profile image"/>
            <p:cNvPicPr/>
            <p:nvPr/>
          </p:nvPicPr>
          <p:blipFill>
            <a:blip r:embed="rId5" cstate="print"/>
            <a:stretch>
              <a:fillRect/>
            </a:stretch>
          </p:blipFill>
          <p:spPr>
            <a:xfrm>
              <a:off x="292608" y="3767328"/>
              <a:ext cx="1531620" cy="1796795"/>
            </a:xfrm>
            <a:prstGeom prst="rect">
              <a:avLst/>
            </a:prstGeom>
          </p:spPr>
        </p:pic>
      </p:grpSp>
      <p:sp>
        <p:nvSpPr>
          <p:cNvPr id="14" name="object 14"/>
          <p:cNvSpPr txBox="1"/>
          <p:nvPr/>
        </p:nvSpPr>
        <p:spPr>
          <a:xfrm>
            <a:off x="6341745" y="4964112"/>
            <a:ext cx="93345" cy="234315"/>
          </a:xfrm>
          <a:prstGeom prst="rect">
            <a:avLst/>
          </a:prstGeom>
        </p:spPr>
        <p:txBody>
          <a:bodyPr wrap="square" lIns="0" tIns="15240" rIns="0" bIns="0" rtlCol="0" vert="horz">
            <a:spAutoFit/>
          </a:bodyPr>
          <a:lstStyle/>
          <a:p>
            <a:pPr marL="12700">
              <a:lnSpc>
                <a:spcPct val="100000"/>
              </a:lnSpc>
              <a:spcBef>
                <a:spcPts val="120"/>
              </a:spcBef>
            </a:pPr>
            <a:r>
              <a:rPr dirty="0" sz="1350" spc="-50">
                <a:solidFill>
                  <a:srgbClr val="FFFFFF"/>
                </a:solidFill>
                <a:latin typeface="Segoe UI"/>
                <a:cs typeface="Segoe UI"/>
              </a:rPr>
              <a:t>/</a:t>
            </a:r>
            <a:endParaRPr sz="1350">
              <a:latin typeface="Segoe UI"/>
              <a:cs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16510" rIns="0" bIns="0" rtlCol="0" vert="horz">
            <a:spAutoFit/>
          </a:bodyPr>
          <a:lstStyle/>
          <a:p>
            <a:pPr marL="112395">
              <a:lnSpc>
                <a:spcPct val="100000"/>
              </a:lnSpc>
              <a:spcBef>
                <a:spcPts val="130"/>
              </a:spcBef>
            </a:pPr>
            <a:r>
              <a:rPr dirty="0" sz="4800" spc="-10">
                <a:latin typeface="Segoe UI"/>
                <a:cs typeface="Segoe UI"/>
              </a:rPr>
              <a:t>Agenda</a:t>
            </a:r>
            <a:endParaRPr sz="4800">
              <a:latin typeface="Segoe UI"/>
              <a:cs typeface="Segoe UI"/>
            </a:endParaRPr>
          </a:p>
        </p:txBody>
      </p:sp>
      <p:graphicFrame>
        <p:nvGraphicFramePr>
          <p:cNvPr id="4" name="object 4"/>
          <p:cNvGraphicFramePr>
            <a:graphicFrameLocks noGrp="1"/>
          </p:cNvGraphicFramePr>
          <p:nvPr/>
        </p:nvGraphicFramePr>
        <p:xfrm>
          <a:off x="953592" y="1468629"/>
          <a:ext cx="5141595" cy="3318509"/>
        </p:xfrm>
        <a:graphic>
          <a:graphicData uri="http://schemas.openxmlformats.org/drawingml/2006/table">
            <a:tbl>
              <a:tblPr firstRow="1" bandRow="1">
                <a:tableStyleId>{2D5ABB26-0587-4C30-8999-92F81FD0307C}</a:tableStyleId>
              </a:tblPr>
              <a:tblGrid>
                <a:gridCol w="557530"/>
                <a:gridCol w="3959860"/>
                <a:gridCol w="547370"/>
              </a:tblGrid>
              <a:tr h="530225">
                <a:tc>
                  <a:txBody>
                    <a:bodyPr/>
                    <a:lstStyle/>
                    <a:p>
                      <a:pPr algn="ctr" marR="10795">
                        <a:lnSpc>
                          <a:spcPct val="100000"/>
                        </a:lnSpc>
                        <a:spcBef>
                          <a:spcPts val="270"/>
                        </a:spcBef>
                      </a:pPr>
                      <a:r>
                        <a:rPr dirty="0" sz="3150" spc="-25" b="1">
                          <a:solidFill>
                            <a:srgbClr val="BB9F45"/>
                          </a:solidFill>
                          <a:latin typeface="Segoe UI"/>
                          <a:cs typeface="Segoe UI"/>
                        </a:rPr>
                        <a:t>01</a:t>
                      </a:r>
                      <a:endParaRPr sz="3150">
                        <a:latin typeface="Segoe UI"/>
                        <a:cs typeface="Segoe UI"/>
                      </a:endParaRPr>
                    </a:p>
                  </a:txBody>
                  <a:tcPr marL="0" marR="0" marB="0" marT="34290"/>
                </a:tc>
                <a:tc>
                  <a:txBody>
                    <a:bodyPr/>
                    <a:lstStyle/>
                    <a:p>
                      <a:pPr>
                        <a:lnSpc>
                          <a:spcPct val="100000"/>
                        </a:lnSpc>
                        <a:spcBef>
                          <a:spcPts val="65"/>
                        </a:spcBef>
                      </a:pPr>
                      <a:endParaRPr sz="1550">
                        <a:latin typeface="Times New Roman"/>
                        <a:cs typeface="Times New Roman"/>
                      </a:endParaRPr>
                    </a:p>
                    <a:p>
                      <a:pPr marL="50165">
                        <a:lnSpc>
                          <a:spcPct val="100000"/>
                        </a:lnSpc>
                        <a:spcBef>
                          <a:spcPts val="5"/>
                        </a:spcBef>
                      </a:pPr>
                      <a:r>
                        <a:rPr dirty="0" sz="1550">
                          <a:solidFill>
                            <a:srgbClr val="BB9F45"/>
                          </a:solidFill>
                          <a:latin typeface="Segoe UI"/>
                          <a:cs typeface="Segoe UI"/>
                        </a:rPr>
                        <a:t>Fabric</a:t>
                      </a:r>
                      <a:r>
                        <a:rPr dirty="0" sz="1550" spc="35">
                          <a:solidFill>
                            <a:srgbClr val="BB9F45"/>
                          </a:solidFill>
                          <a:latin typeface="Segoe UI"/>
                          <a:cs typeface="Segoe UI"/>
                        </a:rPr>
                        <a:t> </a:t>
                      </a:r>
                      <a:r>
                        <a:rPr dirty="0" sz="1550">
                          <a:solidFill>
                            <a:srgbClr val="BB9F45"/>
                          </a:solidFill>
                          <a:latin typeface="Segoe UI"/>
                          <a:cs typeface="Segoe UI"/>
                        </a:rPr>
                        <a:t>Data</a:t>
                      </a:r>
                      <a:r>
                        <a:rPr dirty="0" sz="1550" spc="114">
                          <a:solidFill>
                            <a:srgbClr val="BB9F45"/>
                          </a:solidFill>
                          <a:latin typeface="Segoe UI"/>
                          <a:cs typeface="Segoe UI"/>
                        </a:rPr>
                        <a:t> </a:t>
                      </a:r>
                      <a:r>
                        <a:rPr dirty="0" sz="1550">
                          <a:solidFill>
                            <a:srgbClr val="BB9F45"/>
                          </a:solidFill>
                          <a:latin typeface="Segoe UI"/>
                          <a:cs typeface="Segoe UI"/>
                        </a:rPr>
                        <a:t>Science</a:t>
                      </a:r>
                      <a:r>
                        <a:rPr dirty="0" sz="1550" spc="90">
                          <a:solidFill>
                            <a:srgbClr val="BB9F45"/>
                          </a:solidFill>
                          <a:latin typeface="Segoe UI"/>
                          <a:cs typeface="Segoe UI"/>
                        </a:rPr>
                        <a:t> </a:t>
                      </a:r>
                      <a:r>
                        <a:rPr dirty="0" sz="1550">
                          <a:solidFill>
                            <a:srgbClr val="BB9F45"/>
                          </a:solidFill>
                          <a:latin typeface="Segoe UI"/>
                          <a:cs typeface="Segoe UI"/>
                        </a:rPr>
                        <a:t>&amp;</a:t>
                      </a:r>
                      <a:r>
                        <a:rPr dirty="0" sz="1550" spc="80">
                          <a:solidFill>
                            <a:srgbClr val="BB9F45"/>
                          </a:solidFill>
                          <a:latin typeface="Segoe UI"/>
                          <a:cs typeface="Segoe UI"/>
                        </a:rPr>
                        <a:t> </a:t>
                      </a:r>
                      <a:r>
                        <a:rPr dirty="0" sz="1550" spc="-25">
                          <a:solidFill>
                            <a:srgbClr val="BB9F45"/>
                          </a:solidFill>
                          <a:latin typeface="Segoe UI"/>
                          <a:cs typeface="Segoe UI"/>
                        </a:rPr>
                        <a:t>ML</a:t>
                      </a:r>
                      <a:endParaRPr sz="1550">
                        <a:latin typeface="Segoe UI"/>
                        <a:cs typeface="Segoe UI"/>
                      </a:endParaRPr>
                    </a:p>
                  </a:txBody>
                  <a:tcPr marL="0" marR="0" marB="0" marT="8255"/>
                </a:tc>
                <a:tc>
                  <a:txBody>
                    <a:bodyPr/>
                    <a:lstStyle/>
                    <a:p>
                      <a:pPr>
                        <a:lnSpc>
                          <a:spcPct val="100000"/>
                        </a:lnSpc>
                        <a:spcBef>
                          <a:spcPts val="65"/>
                        </a:spcBef>
                      </a:pPr>
                      <a:endParaRPr sz="1550">
                        <a:latin typeface="Times New Roman"/>
                        <a:cs typeface="Times New Roman"/>
                      </a:endParaRPr>
                    </a:p>
                    <a:p>
                      <a:pPr algn="r" marR="24130">
                        <a:lnSpc>
                          <a:spcPct val="100000"/>
                        </a:lnSpc>
                        <a:spcBef>
                          <a:spcPts val="5"/>
                        </a:spcBef>
                      </a:pPr>
                      <a:r>
                        <a:rPr dirty="0" sz="1550" spc="-25">
                          <a:solidFill>
                            <a:srgbClr val="BB9F45"/>
                          </a:solidFill>
                          <a:latin typeface="Segoe UI"/>
                          <a:cs typeface="Segoe UI"/>
                        </a:rPr>
                        <a:t>XX</a:t>
                      </a:r>
                      <a:endParaRPr sz="1550">
                        <a:latin typeface="Segoe UI"/>
                        <a:cs typeface="Segoe UI"/>
                      </a:endParaRPr>
                    </a:p>
                  </a:txBody>
                  <a:tcPr marL="0" marR="0" marB="0" marT="8255"/>
                </a:tc>
              </a:tr>
              <a:tr h="565150">
                <a:tc>
                  <a:txBody>
                    <a:bodyPr/>
                    <a:lstStyle/>
                    <a:p>
                      <a:pPr algn="ctr" marR="10795">
                        <a:lnSpc>
                          <a:spcPct val="100000"/>
                        </a:lnSpc>
                        <a:spcBef>
                          <a:spcPts val="259"/>
                        </a:spcBef>
                      </a:pPr>
                      <a:r>
                        <a:rPr dirty="0" sz="3150" spc="-25" b="1">
                          <a:solidFill>
                            <a:srgbClr val="BB9F45"/>
                          </a:solidFill>
                          <a:latin typeface="Segoe UI"/>
                          <a:cs typeface="Segoe UI"/>
                        </a:rPr>
                        <a:t>02</a:t>
                      </a:r>
                      <a:endParaRPr sz="3150">
                        <a:latin typeface="Segoe UI"/>
                        <a:cs typeface="Segoe UI"/>
                      </a:endParaRPr>
                    </a:p>
                  </a:txBody>
                  <a:tcPr marL="0" marR="0" marB="0" marT="33019"/>
                </a:tc>
                <a:tc>
                  <a:txBody>
                    <a:bodyPr/>
                    <a:lstStyle/>
                    <a:p>
                      <a:pPr>
                        <a:lnSpc>
                          <a:spcPct val="100000"/>
                        </a:lnSpc>
                        <a:spcBef>
                          <a:spcPts val="55"/>
                        </a:spcBef>
                      </a:pPr>
                      <a:endParaRPr sz="1550">
                        <a:latin typeface="Times New Roman"/>
                        <a:cs typeface="Times New Roman"/>
                      </a:endParaRPr>
                    </a:p>
                    <a:p>
                      <a:pPr marL="50165">
                        <a:lnSpc>
                          <a:spcPct val="100000"/>
                        </a:lnSpc>
                      </a:pPr>
                      <a:r>
                        <a:rPr dirty="0" sz="1550">
                          <a:solidFill>
                            <a:srgbClr val="BB9F45"/>
                          </a:solidFill>
                          <a:latin typeface="Segoe UI"/>
                          <a:cs typeface="Segoe UI"/>
                        </a:rPr>
                        <a:t>Prediction</a:t>
                      </a:r>
                      <a:r>
                        <a:rPr dirty="0" sz="1550" spc="130">
                          <a:solidFill>
                            <a:srgbClr val="BB9F45"/>
                          </a:solidFill>
                          <a:latin typeface="Segoe UI"/>
                          <a:cs typeface="Segoe UI"/>
                        </a:rPr>
                        <a:t> </a:t>
                      </a:r>
                      <a:r>
                        <a:rPr dirty="0" sz="1550">
                          <a:solidFill>
                            <a:srgbClr val="BB9F45"/>
                          </a:solidFill>
                          <a:latin typeface="Segoe UI"/>
                          <a:cs typeface="Segoe UI"/>
                        </a:rPr>
                        <a:t>models</a:t>
                      </a:r>
                      <a:r>
                        <a:rPr dirty="0" sz="1550" spc="60">
                          <a:solidFill>
                            <a:srgbClr val="BB9F45"/>
                          </a:solidFill>
                          <a:latin typeface="Segoe UI"/>
                          <a:cs typeface="Segoe UI"/>
                        </a:rPr>
                        <a:t> </a:t>
                      </a:r>
                      <a:r>
                        <a:rPr dirty="0" sz="1550">
                          <a:solidFill>
                            <a:srgbClr val="BB9F45"/>
                          </a:solidFill>
                          <a:latin typeface="Segoe UI"/>
                          <a:cs typeface="Segoe UI"/>
                        </a:rPr>
                        <a:t>within</a:t>
                      </a:r>
                      <a:r>
                        <a:rPr dirty="0" sz="1550" spc="135">
                          <a:solidFill>
                            <a:srgbClr val="BB9F45"/>
                          </a:solidFill>
                          <a:latin typeface="Segoe UI"/>
                          <a:cs typeface="Segoe UI"/>
                        </a:rPr>
                        <a:t> </a:t>
                      </a:r>
                      <a:r>
                        <a:rPr dirty="0" sz="1550">
                          <a:solidFill>
                            <a:srgbClr val="BB9F45"/>
                          </a:solidFill>
                          <a:latin typeface="Segoe UI"/>
                          <a:cs typeface="Segoe UI"/>
                        </a:rPr>
                        <a:t>EU</a:t>
                      </a:r>
                      <a:r>
                        <a:rPr dirty="0" sz="1550" spc="80">
                          <a:solidFill>
                            <a:srgbClr val="BB9F45"/>
                          </a:solidFill>
                          <a:latin typeface="Segoe UI"/>
                          <a:cs typeface="Segoe UI"/>
                        </a:rPr>
                        <a:t> </a:t>
                      </a:r>
                      <a:r>
                        <a:rPr dirty="0" sz="1550" spc="-10">
                          <a:solidFill>
                            <a:srgbClr val="BB9F45"/>
                          </a:solidFill>
                          <a:latin typeface="Segoe UI"/>
                          <a:cs typeface="Segoe UI"/>
                        </a:rPr>
                        <a:t>healthcare</a:t>
                      </a:r>
                      <a:endParaRPr sz="1550">
                        <a:latin typeface="Segoe UI"/>
                        <a:cs typeface="Segoe UI"/>
                      </a:endParaRPr>
                    </a:p>
                  </a:txBody>
                  <a:tcPr marL="0" marR="0" marB="0" marT="6985"/>
                </a:tc>
                <a:tc>
                  <a:txBody>
                    <a:bodyPr/>
                    <a:lstStyle/>
                    <a:p>
                      <a:pPr>
                        <a:lnSpc>
                          <a:spcPct val="100000"/>
                        </a:lnSpc>
                        <a:spcBef>
                          <a:spcPts val="55"/>
                        </a:spcBef>
                      </a:pPr>
                      <a:endParaRPr sz="1550">
                        <a:latin typeface="Times New Roman"/>
                        <a:cs typeface="Times New Roman"/>
                      </a:endParaRPr>
                    </a:p>
                    <a:p>
                      <a:pPr algn="r" marR="24130">
                        <a:lnSpc>
                          <a:spcPct val="100000"/>
                        </a:lnSpc>
                      </a:pPr>
                      <a:r>
                        <a:rPr dirty="0" sz="1550" spc="-25">
                          <a:solidFill>
                            <a:srgbClr val="BB9F45"/>
                          </a:solidFill>
                          <a:latin typeface="Segoe UI"/>
                          <a:cs typeface="Segoe UI"/>
                        </a:rPr>
                        <a:t>XX</a:t>
                      </a:r>
                      <a:endParaRPr sz="1550">
                        <a:latin typeface="Segoe UI"/>
                        <a:cs typeface="Segoe UI"/>
                      </a:endParaRPr>
                    </a:p>
                  </a:txBody>
                  <a:tcPr marL="0" marR="0" marB="0" marT="6985"/>
                </a:tc>
              </a:tr>
              <a:tr h="629920">
                <a:tc>
                  <a:txBody>
                    <a:bodyPr/>
                    <a:lstStyle/>
                    <a:p>
                      <a:pPr algn="ctr" marR="10795">
                        <a:lnSpc>
                          <a:spcPct val="100000"/>
                        </a:lnSpc>
                        <a:spcBef>
                          <a:spcPts val="520"/>
                        </a:spcBef>
                      </a:pPr>
                      <a:r>
                        <a:rPr dirty="0" sz="3150" spc="-25" b="1">
                          <a:solidFill>
                            <a:srgbClr val="BB9F45"/>
                          </a:solidFill>
                          <a:latin typeface="Segoe UI"/>
                          <a:cs typeface="Segoe UI"/>
                        </a:rPr>
                        <a:t>03</a:t>
                      </a:r>
                      <a:endParaRPr sz="3150">
                        <a:latin typeface="Segoe UI"/>
                        <a:cs typeface="Segoe UI"/>
                      </a:endParaRPr>
                    </a:p>
                  </a:txBody>
                  <a:tcPr marL="0" marR="0" marB="0" marT="66040"/>
                </a:tc>
                <a:tc>
                  <a:txBody>
                    <a:bodyPr/>
                    <a:lstStyle/>
                    <a:p>
                      <a:pPr marL="50165" marR="269875">
                        <a:lnSpc>
                          <a:spcPct val="100800"/>
                        </a:lnSpc>
                        <a:spcBef>
                          <a:spcPts val="1110"/>
                        </a:spcBef>
                      </a:pPr>
                      <a:r>
                        <a:rPr dirty="0" sz="1550">
                          <a:solidFill>
                            <a:srgbClr val="BB9F45"/>
                          </a:solidFill>
                          <a:latin typeface="Segoe UI"/>
                          <a:cs typeface="Segoe UI"/>
                        </a:rPr>
                        <a:t>Case</a:t>
                      </a:r>
                      <a:r>
                        <a:rPr dirty="0" sz="1550" spc="105">
                          <a:solidFill>
                            <a:srgbClr val="BB9F45"/>
                          </a:solidFill>
                          <a:latin typeface="Segoe UI"/>
                          <a:cs typeface="Segoe UI"/>
                        </a:rPr>
                        <a:t> </a:t>
                      </a:r>
                      <a:r>
                        <a:rPr dirty="0" sz="1550">
                          <a:solidFill>
                            <a:srgbClr val="BB9F45"/>
                          </a:solidFill>
                          <a:latin typeface="Segoe UI"/>
                          <a:cs typeface="Segoe UI"/>
                        </a:rPr>
                        <a:t>Study:</a:t>
                      </a:r>
                      <a:r>
                        <a:rPr dirty="0" sz="1550" spc="80">
                          <a:solidFill>
                            <a:srgbClr val="BB9F45"/>
                          </a:solidFill>
                          <a:latin typeface="Segoe UI"/>
                          <a:cs typeface="Segoe UI"/>
                        </a:rPr>
                        <a:t> </a:t>
                      </a:r>
                      <a:r>
                        <a:rPr dirty="0" sz="1550">
                          <a:solidFill>
                            <a:srgbClr val="BB9F45"/>
                          </a:solidFill>
                          <a:latin typeface="Segoe UI"/>
                          <a:cs typeface="Segoe UI"/>
                        </a:rPr>
                        <a:t>predicting</a:t>
                      </a:r>
                      <a:r>
                        <a:rPr dirty="0" sz="1550" spc="70">
                          <a:solidFill>
                            <a:srgbClr val="BB9F45"/>
                          </a:solidFill>
                          <a:latin typeface="Segoe UI"/>
                          <a:cs typeface="Segoe UI"/>
                        </a:rPr>
                        <a:t> </a:t>
                      </a:r>
                      <a:r>
                        <a:rPr dirty="0" sz="1550">
                          <a:solidFill>
                            <a:srgbClr val="BB9F45"/>
                          </a:solidFill>
                          <a:latin typeface="Segoe UI"/>
                          <a:cs typeface="Segoe UI"/>
                        </a:rPr>
                        <a:t>knee</a:t>
                      </a:r>
                      <a:r>
                        <a:rPr dirty="0" sz="1550" spc="105">
                          <a:solidFill>
                            <a:srgbClr val="BB9F45"/>
                          </a:solidFill>
                          <a:latin typeface="Segoe UI"/>
                          <a:cs typeface="Segoe UI"/>
                        </a:rPr>
                        <a:t> </a:t>
                      </a:r>
                      <a:r>
                        <a:rPr dirty="0" sz="1550" spc="-10">
                          <a:solidFill>
                            <a:srgbClr val="BB9F45"/>
                          </a:solidFill>
                          <a:latin typeface="Segoe UI"/>
                          <a:cs typeface="Segoe UI"/>
                        </a:rPr>
                        <a:t>replacement outcomes</a:t>
                      </a:r>
                      <a:endParaRPr sz="1550">
                        <a:latin typeface="Segoe UI"/>
                        <a:cs typeface="Segoe UI"/>
                      </a:endParaRPr>
                    </a:p>
                  </a:txBody>
                  <a:tcPr marL="0" marR="0" marB="0" marT="140970"/>
                </a:tc>
                <a:tc>
                  <a:txBody>
                    <a:bodyPr/>
                    <a:lstStyle/>
                    <a:p>
                      <a:pPr>
                        <a:lnSpc>
                          <a:spcPct val="100000"/>
                        </a:lnSpc>
                        <a:spcBef>
                          <a:spcPts val="315"/>
                        </a:spcBef>
                      </a:pPr>
                      <a:endParaRPr sz="1550">
                        <a:latin typeface="Times New Roman"/>
                        <a:cs typeface="Times New Roman"/>
                      </a:endParaRPr>
                    </a:p>
                    <a:p>
                      <a:pPr algn="r" marR="24130">
                        <a:lnSpc>
                          <a:spcPct val="100000"/>
                        </a:lnSpc>
                      </a:pPr>
                      <a:r>
                        <a:rPr dirty="0" sz="1550" spc="-25">
                          <a:solidFill>
                            <a:srgbClr val="BB9F45"/>
                          </a:solidFill>
                          <a:latin typeface="Segoe UI"/>
                          <a:cs typeface="Segoe UI"/>
                        </a:rPr>
                        <a:t>XX</a:t>
                      </a:r>
                      <a:endParaRPr sz="1550">
                        <a:latin typeface="Segoe UI"/>
                        <a:cs typeface="Segoe UI"/>
                      </a:endParaRPr>
                    </a:p>
                  </a:txBody>
                  <a:tcPr marL="0" marR="0" marB="0" marT="40005"/>
                </a:tc>
              </a:tr>
              <a:tr h="530860">
                <a:tc>
                  <a:txBody>
                    <a:bodyPr/>
                    <a:lstStyle/>
                    <a:p>
                      <a:pPr algn="ctr" marR="10795">
                        <a:lnSpc>
                          <a:spcPct val="100000"/>
                        </a:lnSpc>
                        <a:spcBef>
                          <a:spcPts val="275"/>
                        </a:spcBef>
                      </a:pPr>
                      <a:r>
                        <a:rPr dirty="0" sz="3150" spc="-25" b="1">
                          <a:solidFill>
                            <a:srgbClr val="BB9F45"/>
                          </a:solidFill>
                          <a:latin typeface="Segoe UI"/>
                          <a:cs typeface="Segoe UI"/>
                        </a:rPr>
                        <a:t>04</a:t>
                      </a:r>
                      <a:endParaRPr sz="3150">
                        <a:latin typeface="Segoe UI"/>
                        <a:cs typeface="Segoe UI"/>
                      </a:endParaRPr>
                    </a:p>
                  </a:txBody>
                  <a:tcPr marL="0" marR="0" marB="0" marT="34925"/>
                </a:tc>
                <a:tc>
                  <a:txBody>
                    <a:bodyPr/>
                    <a:lstStyle/>
                    <a:p>
                      <a:pPr>
                        <a:lnSpc>
                          <a:spcPct val="100000"/>
                        </a:lnSpc>
                        <a:spcBef>
                          <a:spcPts val="70"/>
                        </a:spcBef>
                      </a:pPr>
                      <a:endParaRPr sz="1550">
                        <a:latin typeface="Times New Roman"/>
                        <a:cs typeface="Times New Roman"/>
                      </a:endParaRPr>
                    </a:p>
                    <a:p>
                      <a:pPr marL="50165">
                        <a:lnSpc>
                          <a:spcPct val="100000"/>
                        </a:lnSpc>
                      </a:pPr>
                      <a:r>
                        <a:rPr dirty="0" sz="1550">
                          <a:solidFill>
                            <a:srgbClr val="BB9F45"/>
                          </a:solidFill>
                          <a:latin typeface="Segoe UI"/>
                          <a:cs typeface="Segoe UI"/>
                        </a:rPr>
                        <a:t>Governed</a:t>
                      </a:r>
                      <a:r>
                        <a:rPr dirty="0" sz="1550" spc="135">
                          <a:solidFill>
                            <a:srgbClr val="BB9F45"/>
                          </a:solidFill>
                          <a:latin typeface="Segoe UI"/>
                          <a:cs typeface="Segoe UI"/>
                        </a:rPr>
                        <a:t> </a:t>
                      </a:r>
                      <a:r>
                        <a:rPr dirty="0" sz="1550" spc="-25">
                          <a:solidFill>
                            <a:srgbClr val="BB9F45"/>
                          </a:solidFill>
                          <a:latin typeface="Segoe UI"/>
                          <a:cs typeface="Segoe UI"/>
                        </a:rPr>
                        <a:t>ML</a:t>
                      </a:r>
                      <a:endParaRPr sz="1550">
                        <a:latin typeface="Segoe UI"/>
                        <a:cs typeface="Segoe UI"/>
                      </a:endParaRPr>
                    </a:p>
                  </a:txBody>
                  <a:tcPr marL="0" marR="0" marB="0" marT="8890"/>
                </a:tc>
                <a:tc>
                  <a:txBody>
                    <a:bodyPr/>
                    <a:lstStyle/>
                    <a:p>
                      <a:pPr>
                        <a:lnSpc>
                          <a:spcPct val="100000"/>
                        </a:lnSpc>
                        <a:spcBef>
                          <a:spcPts val="70"/>
                        </a:spcBef>
                      </a:pPr>
                      <a:endParaRPr sz="1550">
                        <a:latin typeface="Times New Roman"/>
                        <a:cs typeface="Times New Roman"/>
                      </a:endParaRPr>
                    </a:p>
                    <a:p>
                      <a:pPr algn="r" marR="24130">
                        <a:lnSpc>
                          <a:spcPct val="100000"/>
                        </a:lnSpc>
                      </a:pPr>
                      <a:r>
                        <a:rPr dirty="0" sz="1550" spc="-25">
                          <a:solidFill>
                            <a:srgbClr val="BB9F45"/>
                          </a:solidFill>
                          <a:latin typeface="Segoe UI"/>
                          <a:cs typeface="Segoe UI"/>
                        </a:rPr>
                        <a:t>XX</a:t>
                      </a:r>
                      <a:endParaRPr sz="1550">
                        <a:latin typeface="Segoe UI"/>
                        <a:cs typeface="Segoe UI"/>
                      </a:endParaRPr>
                    </a:p>
                  </a:txBody>
                  <a:tcPr marL="0" marR="0" marB="0" marT="8890"/>
                </a:tc>
              </a:tr>
              <a:tr h="528320">
                <a:tc>
                  <a:txBody>
                    <a:bodyPr/>
                    <a:lstStyle/>
                    <a:p>
                      <a:pPr algn="ctr" marR="10795">
                        <a:lnSpc>
                          <a:spcPct val="100000"/>
                        </a:lnSpc>
                        <a:spcBef>
                          <a:spcPts val="260"/>
                        </a:spcBef>
                      </a:pPr>
                      <a:r>
                        <a:rPr dirty="0" sz="3150" spc="-25" b="1">
                          <a:solidFill>
                            <a:srgbClr val="BB9F45"/>
                          </a:solidFill>
                          <a:latin typeface="Segoe UI"/>
                          <a:cs typeface="Segoe UI"/>
                        </a:rPr>
                        <a:t>05</a:t>
                      </a:r>
                      <a:endParaRPr sz="3150">
                        <a:latin typeface="Segoe UI"/>
                        <a:cs typeface="Segoe UI"/>
                      </a:endParaRPr>
                    </a:p>
                  </a:txBody>
                  <a:tcPr marL="0" marR="0" marB="0" marT="33020"/>
                </a:tc>
                <a:tc>
                  <a:txBody>
                    <a:bodyPr/>
                    <a:lstStyle/>
                    <a:p>
                      <a:pPr>
                        <a:lnSpc>
                          <a:spcPct val="100000"/>
                        </a:lnSpc>
                        <a:spcBef>
                          <a:spcPts val="55"/>
                        </a:spcBef>
                      </a:pPr>
                      <a:endParaRPr sz="1550">
                        <a:latin typeface="Times New Roman"/>
                        <a:cs typeface="Times New Roman"/>
                      </a:endParaRPr>
                    </a:p>
                    <a:p>
                      <a:pPr marL="50165">
                        <a:lnSpc>
                          <a:spcPct val="100000"/>
                        </a:lnSpc>
                      </a:pPr>
                      <a:r>
                        <a:rPr dirty="0" sz="1550">
                          <a:solidFill>
                            <a:srgbClr val="BB9F45"/>
                          </a:solidFill>
                          <a:latin typeface="Segoe UI"/>
                          <a:cs typeface="Segoe UI"/>
                        </a:rPr>
                        <a:t>Main</a:t>
                      </a:r>
                      <a:r>
                        <a:rPr dirty="0" sz="1550" spc="75">
                          <a:solidFill>
                            <a:srgbClr val="BB9F45"/>
                          </a:solidFill>
                          <a:latin typeface="Segoe UI"/>
                          <a:cs typeface="Segoe UI"/>
                        </a:rPr>
                        <a:t> </a:t>
                      </a:r>
                      <a:r>
                        <a:rPr dirty="0" sz="1550" spc="-10">
                          <a:solidFill>
                            <a:srgbClr val="BB9F45"/>
                          </a:solidFill>
                          <a:latin typeface="Segoe UI"/>
                          <a:cs typeface="Segoe UI"/>
                        </a:rPr>
                        <a:t>Learnings</a:t>
                      </a:r>
                      <a:endParaRPr sz="1550">
                        <a:latin typeface="Segoe UI"/>
                        <a:cs typeface="Segoe UI"/>
                      </a:endParaRPr>
                    </a:p>
                  </a:txBody>
                  <a:tcPr marL="0" marR="0" marB="0" marT="6985"/>
                </a:tc>
                <a:tc>
                  <a:txBody>
                    <a:bodyPr/>
                    <a:lstStyle/>
                    <a:p>
                      <a:pPr>
                        <a:lnSpc>
                          <a:spcPct val="100000"/>
                        </a:lnSpc>
                        <a:spcBef>
                          <a:spcPts val="55"/>
                        </a:spcBef>
                      </a:pPr>
                      <a:endParaRPr sz="1550">
                        <a:latin typeface="Times New Roman"/>
                        <a:cs typeface="Times New Roman"/>
                      </a:endParaRPr>
                    </a:p>
                    <a:p>
                      <a:pPr algn="r" marR="24130">
                        <a:lnSpc>
                          <a:spcPct val="100000"/>
                        </a:lnSpc>
                      </a:pPr>
                      <a:r>
                        <a:rPr dirty="0" sz="1550" spc="-25">
                          <a:solidFill>
                            <a:srgbClr val="BB9F45"/>
                          </a:solidFill>
                          <a:latin typeface="Segoe UI"/>
                          <a:cs typeface="Segoe UI"/>
                        </a:rPr>
                        <a:t>XX</a:t>
                      </a:r>
                      <a:endParaRPr sz="1550">
                        <a:latin typeface="Segoe UI"/>
                        <a:cs typeface="Segoe UI"/>
                      </a:endParaRPr>
                    </a:p>
                  </a:txBody>
                  <a:tcPr marL="0" marR="0" marB="0" marT="6985"/>
                </a:tc>
              </a:tr>
              <a:tr h="534035">
                <a:tc>
                  <a:txBody>
                    <a:bodyPr/>
                    <a:lstStyle/>
                    <a:p>
                      <a:pPr algn="ctr" marR="10795">
                        <a:lnSpc>
                          <a:spcPct val="100000"/>
                        </a:lnSpc>
                        <a:spcBef>
                          <a:spcPts val="259"/>
                        </a:spcBef>
                      </a:pPr>
                      <a:r>
                        <a:rPr dirty="0" sz="3150" spc="-25" b="1">
                          <a:solidFill>
                            <a:srgbClr val="BB9F45"/>
                          </a:solidFill>
                          <a:latin typeface="Segoe UI"/>
                          <a:cs typeface="Segoe UI"/>
                        </a:rPr>
                        <a:t>06</a:t>
                      </a:r>
                      <a:endParaRPr sz="3150">
                        <a:latin typeface="Segoe UI"/>
                        <a:cs typeface="Segoe UI"/>
                      </a:endParaRPr>
                    </a:p>
                  </a:txBody>
                  <a:tcPr marL="0" marR="0" marB="0" marT="33019"/>
                </a:tc>
                <a:tc>
                  <a:txBody>
                    <a:bodyPr/>
                    <a:lstStyle/>
                    <a:p>
                      <a:pPr>
                        <a:lnSpc>
                          <a:spcPct val="100000"/>
                        </a:lnSpc>
                        <a:spcBef>
                          <a:spcPts val="55"/>
                        </a:spcBef>
                      </a:pPr>
                      <a:endParaRPr sz="1550">
                        <a:latin typeface="Times New Roman"/>
                        <a:cs typeface="Times New Roman"/>
                      </a:endParaRPr>
                    </a:p>
                    <a:p>
                      <a:pPr marL="50165">
                        <a:lnSpc>
                          <a:spcPct val="100000"/>
                        </a:lnSpc>
                      </a:pPr>
                      <a:r>
                        <a:rPr dirty="0" sz="1550">
                          <a:solidFill>
                            <a:srgbClr val="BB9F45"/>
                          </a:solidFill>
                          <a:latin typeface="Segoe UI"/>
                          <a:cs typeface="Segoe UI"/>
                        </a:rPr>
                        <a:t>Lorem</a:t>
                      </a:r>
                      <a:r>
                        <a:rPr dirty="0" sz="1550" spc="60">
                          <a:solidFill>
                            <a:srgbClr val="BB9F45"/>
                          </a:solidFill>
                          <a:latin typeface="Segoe UI"/>
                          <a:cs typeface="Segoe UI"/>
                        </a:rPr>
                        <a:t> </a:t>
                      </a:r>
                      <a:r>
                        <a:rPr dirty="0" sz="1550">
                          <a:solidFill>
                            <a:srgbClr val="BB9F45"/>
                          </a:solidFill>
                          <a:latin typeface="Segoe UI"/>
                          <a:cs typeface="Segoe UI"/>
                        </a:rPr>
                        <a:t>ipsum</a:t>
                      </a:r>
                      <a:r>
                        <a:rPr dirty="0" sz="1550" spc="90">
                          <a:solidFill>
                            <a:srgbClr val="BB9F45"/>
                          </a:solidFill>
                          <a:latin typeface="Segoe UI"/>
                          <a:cs typeface="Segoe UI"/>
                        </a:rPr>
                        <a:t> </a:t>
                      </a:r>
                      <a:r>
                        <a:rPr dirty="0" sz="1550">
                          <a:solidFill>
                            <a:srgbClr val="BB9F45"/>
                          </a:solidFill>
                          <a:latin typeface="Segoe UI"/>
                          <a:cs typeface="Segoe UI"/>
                        </a:rPr>
                        <a:t>dolor</a:t>
                      </a:r>
                      <a:r>
                        <a:rPr dirty="0" sz="1550" spc="120">
                          <a:solidFill>
                            <a:srgbClr val="BB9F45"/>
                          </a:solidFill>
                          <a:latin typeface="Segoe UI"/>
                          <a:cs typeface="Segoe UI"/>
                        </a:rPr>
                        <a:t> </a:t>
                      </a:r>
                      <a:r>
                        <a:rPr dirty="0" sz="1550">
                          <a:solidFill>
                            <a:srgbClr val="BB9F45"/>
                          </a:solidFill>
                          <a:latin typeface="Segoe UI"/>
                          <a:cs typeface="Segoe UI"/>
                        </a:rPr>
                        <a:t>sit</a:t>
                      </a:r>
                      <a:r>
                        <a:rPr dirty="0" sz="1550" spc="50">
                          <a:solidFill>
                            <a:srgbClr val="BB9F45"/>
                          </a:solidFill>
                          <a:latin typeface="Segoe UI"/>
                          <a:cs typeface="Segoe UI"/>
                        </a:rPr>
                        <a:t> </a:t>
                      </a:r>
                      <a:r>
                        <a:rPr dirty="0" sz="1550" spc="-20">
                          <a:solidFill>
                            <a:srgbClr val="BB9F45"/>
                          </a:solidFill>
                          <a:latin typeface="Segoe UI"/>
                          <a:cs typeface="Segoe UI"/>
                        </a:rPr>
                        <a:t>amet</a:t>
                      </a:r>
                      <a:endParaRPr sz="1550">
                        <a:latin typeface="Segoe UI"/>
                        <a:cs typeface="Segoe UI"/>
                      </a:endParaRPr>
                    </a:p>
                  </a:txBody>
                  <a:tcPr marL="0" marR="0" marB="0" marT="6985"/>
                </a:tc>
                <a:tc>
                  <a:txBody>
                    <a:bodyPr/>
                    <a:lstStyle/>
                    <a:p>
                      <a:pPr>
                        <a:lnSpc>
                          <a:spcPct val="100000"/>
                        </a:lnSpc>
                        <a:spcBef>
                          <a:spcPts val="55"/>
                        </a:spcBef>
                      </a:pPr>
                      <a:endParaRPr sz="1550">
                        <a:latin typeface="Times New Roman"/>
                        <a:cs typeface="Times New Roman"/>
                      </a:endParaRPr>
                    </a:p>
                    <a:p>
                      <a:pPr algn="r" marR="24130">
                        <a:lnSpc>
                          <a:spcPct val="100000"/>
                        </a:lnSpc>
                      </a:pPr>
                      <a:r>
                        <a:rPr dirty="0" sz="1550" spc="-25">
                          <a:solidFill>
                            <a:srgbClr val="BB9F45"/>
                          </a:solidFill>
                          <a:latin typeface="Segoe UI"/>
                          <a:cs typeface="Segoe UI"/>
                        </a:rPr>
                        <a:t>XX</a:t>
                      </a:r>
                      <a:endParaRPr sz="1550">
                        <a:latin typeface="Segoe UI"/>
                        <a:cs typeface="Segoe UI"/>
                      </a:endParaRPr>
                    </a:p>
                  </a:txBody>
                  <a:tcPr marL="0" marR="0" marB="0" marT="698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7460" y="2357831"/>
            <a:ext cx="9055100" cy="1421765"/>
          </a:xfrm>
          <a:prstGeom prst="rect"/>
        </p:spPr>
        <p:txBody>
          <a:bodyPr wrap="square" lIns="0" tIns="99060" rIns="0" bIns="0" rtlCol="0" vert="horz">
            <a:spAutoFit/>
          </a:bodyPr>
          <a:lstStyle/>
          <a:p>
            <a:pPr marL="12700" marR="5080">
              <a:lnSpc>
                <a:spcPts val="5190"/>
              </a:lnSpc>
              <a:spcBef>
                <a:spcPts val="780"/>
              </a:spcBef>
            </a:pPr>
            <a:r>
              <a:rPr dirty="0" sz="4800"/>
              <a:t>Fabric</a:t>
            </a:r>
            <a:r>
              <a:rPr dirty="0" sz="4800" spc="-80"/>
              <a:t> </a:t>
            </a:r>
            <a:r>
              <a:rPr dirty="0" sz="4800"/>
              <a:t>Data</a:t>
            </a:r>
            <a:r>
              <a:rPr dirty="0" sz="4800" spc="-65"/>
              <a:t> </a:t>
            </a:r>
            <a:r>
              <a:rPr dirty="0" sz="4800"/>
              <a:t>Science</a:t>
            </a:r>
            <a:r>
              <a:rPr dirty="0" sz="4800" spc="-65"/>
              <a:t> </a:t>
            </a:r>
            <a:r>
              <a:rPr dirty="0" sz="4800"/>
              <a:t>&amp;</a:t>
            </a:r>
            <a:r>
              <a:rPr dirty="0" sz="4800" spc="-70"/>
              <a:t> </a:t>
            </a:r>
            <a:r>
              <a:rPr dirty="0" sz="4800" spc="-10"/>
              <a:t>Machine Learning</a:t>
            </a:r>
            <a:endParaRPr sz="4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66293" rIns="0" bIns="0" rtlCol="0" vert="horz">
            <a:spAutoFit/>
          </a:bodyPr>
          <a:lstStyle/>
          <a:p>
            <a:pPr marL="13970">
              <a:lnSpc>
                <a:spcPct val="100000"/>
              </a:lnSpc>
              <a:spcBef>
                <a:spcPts val="130"/>
              </a:spcBef>
            </a:pPr>
            <a:r>
              <a:rPr dirty="0" sz="4800">
                <a:solidFill>
                  <a:srgbClr val="003E34"/>
                </a:solidFill>
                <a:latin typeface="Segoe UI"/>
                <a:cs typeface="Segoe UI"/>
              </a:rPr>
              <a:t>ML</a:t>
            </a:r>
            <a:r>
              <a:rPr dirty="0" sz="4800" spc="-80">
                <a:solidFill>
                  <a:srgbClr val="003E34"/>
                </a:solidFill>
                <a:latin typeface="Segoe UI"/>
                <a:cs typeface="Segoe UI"/>
              </a:rPr>
              <a:t> </a:t>
            </a:r>
            <a:r>
              <a:rPr dirty="0" sz="4800">
                <a:solidFill>
                  <a:srgbClr val="003E34"/>
                </a:solidFill>
                <a:latin typeface="Segoe UI"/>
                <a:cs typeface="Segoe UI"/>
              </a:rPr>
              <a:t>as</a:t>
            </a:r>
            <a:r>
              <a:rPr dirty="0" sz="4800" spc="-25">
                <a:solidFill>
                  <a:srgbClr val="003E34"/>
                </a:solidFill>
                <a:latin typeface="Segoe UI"/>
                <a:cs typeface="Segoe UI"/>
              </a:rPr>
              <a:t> </a:t>
            </a:r>
            <a:r>
              <a:rPr dirty="0" sz="4800">
                <a:solidFill>
                  <a:srgbClr val="003E34"/>
                </a:solidFill>
                <a:latin typeface="Segoe UI"/>
                <a:cs typeface="Segoe UI"/>
              </a:rPr>
              <a:t>a</a:t>
            </a:r>
            <a:r>
              <a:rPr dirty="0" sz="4800" spc="-50">
                <a:solidFill>
                  <a:srgbClr val="003E34"/>
                </a:solidFill>
                <a:latin typeface="Segoe UI"/>
                <a:cs typeface="Segoe UI"/>
              </a:rPr>
              <a:t> </a:t>
            </a:r>
            <a:r>
              <a:rPr dirty="0" sz="4800">
                <a:solidFill>
                  <a:srgbClr val="003E34"/>
                </a:solidFill>
                <a:latin typeface="Segoe UI"/>
                <a:cs typeface="Segoe UI"/>
              </a:rPr>
              <a:t>subset</a:t>
            </a:r>
            <a:r>
              <a:rPr dirty="0" sz="4800" spc="-60">
                <a:solidFill>
                  <a:srgbClr val="003E34"/>
                </a:solidFill>
                <a:latin typeface="Segoe UI"/>
                <a:cs typeface="Segoe UI"/>
              </a:rPr>
              <a:t> </a:t>
            </a:r>
            <a:r>
              <a:rPr dirty="0" sz="4800">
                <a:solidFill>
                  <a:srgbClr val="003E34"/>
                </a:solidFill>
                <a:latin typeface="Segoe UI"/>
                <a:cs typeface="Segoe UI"/>
              </a:rPr>
              <a:t>of</a:t>
            </a:r>
            <a:r>
              <a:rPr dirty="0" sz="4800" spc="-30">
                <a:solidFill>
                  <a:srgbClr val="003E34"/>
                </a:solidFill>
                <a:latin typeface="Segoe UI"/>
                <a:cs typeface="Segoe UI"/>
              </a:rPr>
              <a:t> </a:t>
            </a:r>
            <a:r>
              <a:rPr dirty="0" sz="4800" spc="-25">
                <a:solidFill>
                  <a:srgbClr val="003E34"/>
                </a:solidFill>
                <a:latin typeface="Segoe UI"/>
                <a:cs typeface="Segoe UI"/>
              </a:rPr>
              <a:t>AI</a:t>
            </a:r>
            <a:endParaRPr sz="4800">
              <a:latin typeface="Segoe UI"/>
              <a:cs typeface="Segoe UI"/>
            </a:endParaRPr>
          </a:p>
        </p:txBody>
      </p:sp>
      <p:pic>
        <p:nvPicPr>
          <p:cNvPr id="4" name="object 4" descr="AI vs Machine Learning vs Deep Learning"/>
          <p:cNvPicPr/>
          <p:nvPr/>
        </p:nvPicPr>
        <p:blipFill>
          <a:blip r:embed="rId3" cstate="print"/>
          <a:stretch>
            <a:fillRect/>
          </a:stretch>
        </p:blipFill>
        <p:spPr>
          <a:xfrm>
            <a:off x="1572767" y="1820062"/>
            <a:ext cx="9281160" cy="38963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40735" y="6352032"/>
            <a:ext cx="9345167" cy="505968"/>
          </a:xfrm>
          <a:prstGeom prst="rect">
            <a:avLst/>
          </a:prstGeom>
        </p:spPr>
      </p:pic>
      <p:pic>
        <p:nvPicPr>
          <p:cNvPr id="3" name="object 3"/>
          <p:cNvPicPr/>
          <p:nvPr/>
        </p:nvPicPr>
        <p:blipFill>
          <a:blip r:embed="rId3" cstate="print"/>
          <a:stretch>
            <a:fillRect/>
          </a:stretch>
        </p:blipFill>
        <p:spPr>
          <a:xfrm>
            <a:off x="923544" y="2356104"/>
            <a:ext cx="10091928" cy="2886455"/>
          </a:xfrm>
          <a:prstGeom prst="rect">
            <a:avLst/>
          </a:prstGeom>
        </p:spPr>
      </p:pic>
      <p:pic>
        <p:nvPicPr>
          <p:cNvPr id="4" name="object 4"/>
          <p:cNvPicPr/>
          <p:nvPr/>
        </p:nvPicPr>
        <p:blipFill>
          <a:blip r:embed="rId4" cstate="print"/>
          <a:stretch>
            <a:fillRect/>
          </a:stretch>
        </p:blipFill>
        <p:spPr>
          <a:xfrm>
            <a:off x="1566672" y="1609344"/>
            <a:ext cx="615696" cy="627887"/>
          </a:xfrm>
          <a:prstGeom prst="rect">
            <a:avLst/>
          </a:prstGeom>
        </p:spPr>
      </p:pic>
      <p:pic>
        <p:nvPicPr>
          <p:cNvPr id="5" name="object 5"/>
          <p:cNvPicPr/>
          <p:nvPr/>
        </p:nvPicPr>
        <p:blipFill>
          <a:blip r:embed="rId5" cstate="print"/>
          <a:stretch>
            <a:fillRect/>
          </a:stretch>
        </p:blipFill>
        <p:spPr>
          <a:xfrm>
            <a:off x="5693664" y="1618488"/>
            <a:ext cx="551688" cy="554736"/>
          </a:xfrm>
          <a:prstGeom prst="rect">
            <a:avLst/>
          </a:prstGeom>
        </p:spPr>
      </p:pic>
      <p:pic>
        <p:nvPicPr>
          <p:cNvPr id="6" name="object 6"/>
          <p:cNvPicPr/>
          <p:nvPr/>
        </p:nvPicPr>
        <p:blipFill>
          <a:blip r:embed="rId6" cstate="print"/>
          <a:stretch>
            <a:fillRect/>
          </a:stretch>
        </p:blipFill>
        <p:spPr>
          <a:xfrm>
            <a:off x="9820656" y="1609344"/>
            <a:ext cx="615696" cy="627887"/>
          </a:xfrm>
          <a:prstGeom prst="rect">
            <a:avLst/>
          </a:prstGeom>
        </p:spPr>
      </p:pic>
      <p:grpSp>
        <p:nvGrpSpPr>
          <p:cNvPr id="7" name="object 7"/>
          <p:cNvGrpSpPr/>
          <p:nvPr/>
        </p:nvGrpSpPr>
        <p:grpSpPr>
          <a:xfrm>
            <a:off x="231647" y="6428232"/>
            <a:ext cx="350520" cy="344805"/>
            <a:chOff x="231647" y="6428232"/>
            <a:chExt cx="350520" cy="344805"/>
          </a:xfrm>
        </p:grpSpPr>
        <p:pic>
          <p:nvPicPr>
            <p:cNvPr id="8" name="object 8"/>
            <p:cNvPicPr/>
            <p:nvPr/>
          </p:nvPicPr>
          <p:blipFill>
            <a:blip r:embed="rId7" cstate="print"/>
            <a:stretch>
              <a:fillRect/>
            </a:stretch>
          </p:blipFill>
          <p:spPr>
            <a:xfrm>
              <a:off x="408431" y="6711696"/>
              <a:ext cx="143256" cy="60960"/>
            </a:xfrm>
            <a:prstGeom prst="rect">
              <a:avLst/>
            </a:prstGeom>
          </p:spPr>
        </p:pic>
        <p:pic>
          <p:nvPicPr>
            <p:cNvPr id="9" name="object 9"/>
            <p:cNvPicPr/>
            <p:nvPr/>
          </p:nvPicPr>
          <p:blipFill>
            <a:blip r:embed="rId8" cstate="print"/>
            <a:stretch>
              <a:fillRect/>
            </a:stretch>
          </p:blipFill>
          <p:spPr>
            <a:xfrm>
              <a:off x="231647" y="6428232"/>
              <a:ext cx="350520" cy="283464"/>
            </a:xfrm>
            <a:prstGeom prst="rect">
              <a:avLst/>
            </a:prstGeom>
          </p:spPr>
        </p:pic>
      </p:grpSp>
      <p:sp>
        <p:nvSpPr>
          <p:cNvPr id="10" name="object 10" descr="$PPTXTitle"/>
          <p:cNvSpPr txBox="1">
            <a:spLocks noGrp="1"/>
          </p:cNvSpPr>
          <p:nvPr>
            <p:ph type="title"/>
          </p:nvPr>
        </p:nvSpPr>
        <p:spPr>
          <a:prstGeom prst="rect"/>
        </p:spPr>
        <p:txBody>
          <a:bodyPr wrap="square" lIns="0" tIns="445820" rIns="0" bIns="0" rtlCol="0" vert="horz">
            <a:spAutoFit/>
          </a:bodyPr>
          <a:lstStyle/>
          <a:p>
            <a:pPr marL="104139">
              <a:lnSpc>
                <a:spcPct val="100000"/>
              </a:lnSpc>
              <a:spcBef>
                <a:spcPts val="100"/>
              </a:spcBef>
            </a:pPr>
            <a:r>
              <a:rPr dirty="0" sz="3700" spc="-815" b="0">
                <a:solidFill>
                  <a:srgbClr val="131313"/>
                </a:solidFill>
                <a:latin typeface="Arial Black"/>
                <a:cs typeface="Arial Black"/>
              </a:rPr>
              <a:t>The</a:t>
            </a:r>
            <a:r>
              <a:rPr dirty="0" sz="3700" spc="-175" b="0">
                <a:solidFill>
                  <a:srgbClr val="131313"/>
                </a:solidFill>
                <a:latin typeface="Arial Black"/>
                <a:cs typeface="Arial Black"/>
              </a:rPr>
              <a:t> </a:t>
            </a:r>
            <a:r>
              <a:rPr dirty="0" sz="3700" spc="-730" b="0">
                <a:solidFill>
                  <a:srgbClr val="131313"/>
                </a:solidFill>
                <a:latin typeface="Arial Black"/>
                <a:cs typeface="Arial Black"/>
              </a:rPr>
              <a:t>data</a:t>
            </a:r>
            <a:r>
              <a:rPr dirty="0" sz="3700" spc="-35" b="0">
                <a:solidFill>
                  <a:srgbClr val="131313"/>
                </a:solidFill>
                <a:latin typeface="Arial Black"/>
                <a:cs typeface="Arial Black"/>
              </a:rPr>
              <a:t> </a:t>
            </a:r>
            <a:r>
              <a:rPr dirty="0" sz="3700" spc="-819" b="0">
                <a:solidFill>
                  <a:srgbClr val="131313"/>
                </a:solidFill>
                <a:latin typeface="Arial Black"/>
                <a:cs typeface="Arial Black"/>
              </a:rPr>
              <a:t>science</a:t>
            </a:r>
            <a:r>
              <a:rPr dirty="0" sz="3700" spc="25" b="0">
                <a:solidFill>
                  <a:srgbClr val="131313"/>
                </a:solidFill>
                <a:latin typeface="Arial Black"/>
                <a:cs typeface="Arial Black"/>
              </a:rPr>
              <a:t> </a:t>
            </a:r>
            <a:r>
              <a:rPr dirty="0" sz="3700" spc="-795" b="0">
                <a:solidFill>
                  <a:srgbClr val="131313"/>
                </a:solidFill>
                <a:latin typeface="Arial Black"/>
                <a:cs typeface="Arial Black"/>
              </a:rPr>
              <a:t>process</a:t>
            </a:r>
            <a:endParaRPr sz="3700">
              <a:latin typeface="Arial Black"/>
              <a:cs typeface="Arial Black"/>
            </a:endParaRPr>
          </a:p>
        </p:txBody>
      </p:sp>
      <p:sp>
        <p:nvSpPr>
          <p:cNvPr id="11" name="object 11"/>
          <p:cNvSpPr txBox="1"/>
          <p:nvPr/>
        </p:nvSpPr>
        <p:spPr>
          <a:xfrm>
            <a:off x="636242" y="6366002"/>
            <a:ext cx="1995170" cy="377825"/>
          </a:xfrm>
          <a:prstGeom prst="rect">
            <a:avLst/>
          </a:prstGeom>
        </p:spPr>
        <p:txBody>
          <a:bodyPr wrap="square" lIns="0" tIns="12700" rIns="0" bIns="0" rtlCol="0" vert="horz">
            <a:spAutoFit/>
          </a:bodyPr>
          <a:lstStyle/>
          <a:p>
            <a:pPr marL="12700">
              <a:lnSpc>
                <a:spcPts val="1385"/>
              </a:lnSpc>
              <a:spcBef>
                <a:spcPts val="100"/>
              </a:spcBef>
            </a:pPr>
            <a:r>
              <a:rPr dirty="0" sz="1350" spc="-275">
                <a:solidFill>
                  <a:srgbClr val="599990"/>
                </a:solidFill>
                <a:latin typeface="Arial Black"/>
                <a:cs typeface="Arial Black"/>
              </a:rPr>
              <a:t>EUROPEAN</a:t>
            </a:r>
            <a:endParaRPr sz="1350">
              <a:latin typeface="Arial Black"/>
              <a:cs typeface="Arial Black"/>
            </a:endParaRPr>
          </a:p>
          <a:p>
            <a:pPr marL="12700">
              <a:lnSpc>
                <a:spcPts val="1385"/>
              </a:lnSpc>
            </a:pPr>
            <a:r>
              <a:rPr dirty="0" sz="1350" spc="-180">
                <a:solidFill>
                  <a:srgbClr val="012D4F"/>
                </a:solidFill>
                <a:latin typeface="Arial Black"/>
                <a:cs typeface="Arial Black"/>
              </a:rPr>
              <a:t>MICROSOFT</a:t>
            </a:r>
            <a:r>
              <a:rPr dirty="0" sz="1350" spc="-155">
                <a:solidFill>
                  <a:srgbClr val="012D4F"/>
                </a:solidFill>
                <a:latin typeface="Arial Black"/>
                <a:cs typeface="Arial Black"/>
              </a:rPr>
              <a:t> </a:t>
            </a:r>
            <a:r>
              <a:rPr dirty="0" sz="1350" spc="-180">
                <a:solidFill>
                  <a:srgbClr val="052B42"/>
                </a:solidFill>
                <a:latin typeface="Arial Black"/>
                <a:cs typeface="Arial Black"/>
              </a:rPr>
              <a:t>FABRIC</a:t>
            </a:r>
            <a:r>
              <a:rPr dirty="0" sz="1350" spc="125">
                <a:solidFill>
                  <a:srgbClr val="052B42"/>
                </a:solidFill>
                <a:latin typeface="Arial Black"/>
                <a:cs typeface="Arial Black"/>
              </a:rPr>
              <a:t> </a:t>
            </a:r>
            <a:r>
              <a:rPr dirty="0" sz="1350" spc="-90">
                <a:solidFill>
                  <a:srgbClr val="002A44"/>
                </a:solidFill>
                <a:latin typeface="Arial Black"/>
                <a:cs typeface="Arial Black"/>
              </a:rPr>
              <a:t>SQL</a:t>
            </a:r>
            <a:endParaRPr sz="1350">
              <a:latin typeface="Arial Black"/>
              <a:cs typeface="Arial Black"/>
            </a:endParaRPr>
          </a:p>
        </p:txBody>
      </p:sp>
      <p:sp>
        <p:nvSpPr>
          <p:cNvPr id="12" name="object 12"/>
          <p:cNvSpPr txBox="1"/>
          <p:nvPr/>
        </p:nvSpPr>
        <p:spPr>
          <a:xfrm>
            <a:off x="638409" y="6671056"/>
            <a:ext cx="896619" cy="132080"/>
          </a:xfrm>
          <a:prstGeom prst="rect">
            <a:avLst/>
          </a:prstGeom>
        </p:spPr>
        <p:txBody>
          <a:bodyPr wrap="square" lIns="0" tIns="12700" rIns="0" bIns="0" rtlCol="0" vert="horz">
            <a:spAutoFit/>
          </a:bodyPr>
          <a:lstStyle/>
          <a:p>
            <a:pPr marL="12700">
              <a:lnSpc>
                <a:spcPct val="100000"/>
              </a:lnSpc>
              <a:spcBef>
                <a:spcPts val="100"/>
              </a:spcBef>
            </a:pPr>
            <a:r>
              <a:rPr dirty="0" sz="700" spc="-130">
                <a:solidFill>
                  <a:srgbClr val="131313"/>
                </a:solidFill>
                <a:latin typeface="Arial Black"/>
                <a:cs typeface="Arial Black"/>
              </a:rPr>
              <a:t>Community</a:t>
            </a:r>
            <a:r>
              <a:rPr dirty="0" sz="700" spc="10">
                <a:solidFill>
                  <a:srgbClr val="131313"/>
                </a:solidFill>
                <a:latin typeface="Arial Black"/>
                <a:cs typeface="Arial Black"/>
              </a:rPr>
              <a:t> </a:t>
            </a:r>
            <a:r>
              <a:rPr dirty="0" sz="700" spc="-95">
                <a:solidFill>
                  <a:srgbClr val="0C0C0C"/>
                </a:solidFill>
                <a:latin typeface="Arial Black"/>
                <a:cs typeface="Arial Black"/>
              </a:rPr>
              <a:t>Conference</a:t>
            </a:r>
            <a:endParaRPr sz="700">
              <a:latin typeface="Arial Black"/>
              <a:cs typeface="Arial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21995" rIns="0" bIns="0" rtlCol="0" vert="horz">
            <a:spAutoFit/>
          </a:bodyPr>
          <a:lstStyle/>
          <a:p>
            <a:pPr marL="12700">
              <a:lnSpc>
                <a:spcPct val="100000"/>
              </a:lnSpc>
              <a:spcBef>
                <a:spcPts val="120"/>
              </a:spcBef>
            </a:pPr>
            <a:r>
              <a:rPr dirty="0">
                <a:solidFill>
                  <a:srgbClr val="003E34"/>
                </a:solidFill>
              </a:rPr>
              <a:t>Microsoft</a:t>
            </a:r>
            <a:r>
              <a:rPr dirty="0" spc="25">
                <a:solidFill>
                  <a:srgbClr val="003E34"/>
                </a:solidFill>
              </a:rPr>
              <a:t> </a:t>
            </a:r>
            <a:r>
              <a:rPr dirty="0">
                <a:solidFill>
                  <a:srgbClr val="003E34"/>
                </a:solidFill>
              </a:rPr>
              <a:t>Fabric</a:t>
            </a:r>
            <a:r>
              <a:rPr dirty="0" spc="40">
                <a:solidFill>
                  <a:srgbClr val="003E34"/>
                </a:solidFill>
              </a:rPr>
              <a:t> </a:t>
            </a:r>
            <a:r>
              <a:rPr dirty="0">
                <a:solidFill>
                  <a:srgbClr val="003E34"/>
                </a:solidFill>
              </a:rPr>
              <a:t>as</a:t>
            </a:r>
            <a:r>
              <a:rPr dirty="0" spc="45">
                <a:solidFill>
                  <a:srgbClr val="003E34"/>
                </a:solidFill>
              </a:rPr>
              <a:t> </a:t>
            </a:r>
            <a:r>
              <a:rPr dirty="0">
                <a:solidFill>
                  <a:srgbClr val="003E34"/>
                </a:solidFill>
              </a:rPr>
              <a:t>a</a:t>
            </a:r>
            <a:r>
              <a:rPr dirty="0" spc="45">
                <a:solidFill>
                  <a:srgbClr val="003E34"/>
                </a:solidFill>
              </a:rPr>
              <a:t> </a:t>
            </a:r>
            <a:r>
              <a:rPr dirty="0">
                <a:solidFill>
                  <a:srgbClr val="003E34"/>
                </a:solidFill>
              </a:rPr>
              <a:t>platform</a:t>
            </a:r>
            <a:r>
              <a:rPr dirty="0" spc="65">
                <a:solidFill>
                  <a:srgbClr val="003E34"/>
                </a:solidFill>
              </a:rPr>
              <a:t> </a:t>
            </a:r>
            <a:r>
              <a:rPr dirty="0">
                <a:solidFill>
                  <a:srgbClr val="003E34"/>
                </a:solidFill>
              </a:rPr>
              <a:t>for</a:t>
            </a:r>
            <a:r>
              <a:rPr dirty="0" spc="5">
                <a:solidFill>
                  <a:srgbClr val="003E34"/>
                </a:solidFill>
              </a:rPr>
              <a:t> </a:t>
            </a:r>
            <a:r>
              <a:rPr dirty="0">
                <a:solidFill>
                  <a:srgbClr val="003E34"/>
                </a:solidFill>
              </a:rPr>
              <a:t>Data</a:t>
            </a:r>
            <a:r>
              <a:rPr dirty="0" spc="45">
                <a:solidFill>
                  <a:srgbClr val="003E34"/>
                </a:solidFill>
              </a:rPr>
              <a:t> </a:t>
            </a:r>
            <a:r>
              <a:rPr dirty="0" spc="-10">
                <a:solidFill>
                  <a:srgbClr val="003E34"/>
                </a:solidFill>
              </a:rPr>
              <a:t>Science</a:t>
            </a:r>
          </a:p>
        </p:txBody>
      </p:sp>
      <p:pic>
        <p:nvPicPr>
          <p:cNvPr id="3" name="object 3"/>
          <p:cNvPicPr/>
          <p:nvPr/>
        </p:nvPicPr>
        <p:blipFill>
          <a:blip r:embed="rId2" cstate="print"/>
          <a:stretch>
            <a:fillRect/>
          </a:stretch>
        </p:blipFill>
        <p:spPr>
          <a:xfrm>
            <a:off x="4140453" y="1847595"/>
            <a:ext cx="3935476" cy="2919348"/>
          </a:xfrm>
          <a:prstGeom prst="rect">
            <a:avLst/>
          </a:prstGeom>
        </p:spPr>
      </p:pic>
      <p:sp>
        <p:nvSpPr>
          <p:cNvPr id="4" name="object 4"/>
          <p:cNvSpPr txBox="1"/>
          <p:nvPr/>
        </p:nvSpPr>
        <p:spPr>
          <a:xfrm>
            <a:off x="4654169" y="2108139"/>
            <a:ext cx="278765" cy="168910"/>
          </a:xfrm>
          <a:prstGeom prst="rect">
            <a:avLst/>
          </a:prstGeom>
        </p:spPr>
        <p:txBody>
          <a:bodyPr wrap="square" lIns="0" tIns="17145" rIns="0" bIns="0" rtlCol="0" vert="horz">
            <a:spAutoFit/>
          </a:bodyPr>
          <a:lstStyle/>
          <a:p>
            <a:pPr marL="12700">
              <a:lnSpc>
                <a:spcPct val="100000"/>
              </a:lnSpc>
              <a:spcBef>
                <a:spcPts val="135"/>
              </a:spcBef>
            </a:pPr>
            <a:r>
              <a:rPr dirty="0" sz="900" spc="-25" b="1">
                <a:solidFill>
                  <a:srgbClr val="126C5A"/>
                </a:solidFill>
                <a:latin typeface="Arial"/>
                <a:cs typeface="Arial"/>
              </a:rPr>
              <a:t>GOV</a:t>
            </a:r>
            <a:endParaRPr sz="900">
              <a:latin typeface="Arial"/>
              <a:cs typeface="Arial"/>
            </a:endParaRPr>
          </a:p>
        </p:txBody>
      </p:sp>
      <p:sp>
        <p:nvSpPr>
          <p:cNvPr id="5" name="object 5"/>
          <p:cNvSpPr txBox="1"/>
          <p:nvPr/>
        </p:nvSpPr>
        <p:spPr>
          <a:xfrm>
            <a:off x="7279767" y="2108139"/>
            <a:ext cx="242570" cy="168910"/>
          </a:xfrm>
          <a:prstGeom prst="rect">
            <a:avLst/>
          </a:prstGeom>
        </p:spPr>
        <p:txBody>
          <a:bodyPr wrap="square" lIns="0" tIns="17145" rIns="0" bIns="0" rtlCol="0" vert="horz">
            <a:spAutoFit/>
          </a:bodyPr>
          <a:lstStyle/>
          <a:p>
            <a:pPr marL="12700">
              <a:lnSpc>
                <a:spcPct val="100000"/>
              </a:lnSpc>
              <a:spcBef>
                <a:spcPts val="135"/>
              </a:spcBef>
            </a:pPr>
            <a:r>
              <a:rPr dirty="0" sz="900" spc="-25" b="1">
                <a:solidFill>
                  <a:srgbClr val="126C5A"/>
                </a:solidFill>
                <a:latin typeface="Arial"/>
                <a:cs typeface="Arial"/>
              </a:rPr>
              <a:t>E2E</a:t>
            </a:r>
            <a:endParaRPr sz="900">
              <a:latin typeface="Arial"/>
              <a:cs typeface="Arial"/>
            </a:endParaRPr>
          </a:p>
        </p:txBody>
      </p:sp>
      <p:sp>
        <p:nvSpPr>
          <p:cNvPr id="6" name="object 6"/>
          <p:cNvSpPr txBox="1"/>
          <p:nvPr/>
        </p:nvSpPr>
        <p:spPr>
          <a:xfrm>
            <a:off x="7569834" y="3205419"/>
            <a:ext cx="415925" cy="168910"/>
          </a:xfrm>
          <a:prstGeom prst="rect">
            <a:avLst/>
          </a:prstGeom>
        </p:spPr>
        <p:txBody>
          <a:bodyPr wrap="square" lIns="0" tIns="17145" rIns="0" bIns="0" rtlCol="0" vert="horz">
            <a:spAutoFit/>
          </a:bodyPr>
          <a:lstStyle/>
          <a:p>
            <a:pPr marL="12700">
              <a:lnSpc>
                <a:spcPct val="100000"/>
              </a:lnSpc>
              <a:spcBef>
                <a:spcPts val="135"/>
              </a:spcBef>
            </a:pPr>
            <a:r>
              <a:rPr dirty="0" sz="900" spc="-20" b="1">
                <a:solidFill>
                  <a:srgbClr val="126C5A"/>
                </a:solidFill>
                <a:latin typeface="Arial"/>
                <a:cs typeface="Arial"/>
              </a:rPr>
              <a:t>SCALE</a:t>
            </a:r>
            <a:endParaRPr sz="900">
              <a:latin typeface="Arial"/>
              <a:cs typeface="Arial"/>
            </a:endParaRPr>
          </a:p>
        </p:txBody>
      </p:sp>
      <p:sp>
        <p:nvSpPr>
          <p:cNvPr id="7" name="object 7"/>
          <p:cNvSpPr txBox="1"/>
          <p:nvPr/>
        </p:nvSpPr>
        <p:spPr>
          <a:xfrm>
            <a:off x="7095363" y="4389627"/>
            <a:ext cx="352425" cy="135255"/>
          </a:xfrm>
          <a:prstGeom prst="rect">
            <a:avLst/>
          </a:prstGeom>
        </p:spPr>
        <p:txBody>
          <a:bodyPr wrap="square" lIns="0" tIns="15240" rIns="0" bIns="0" rtlCol="0" vert="horz">
            <a:spAutoFit/>
          </a:bodyPr>
          <a:lstStyle/>
          <a:p>
            <a:pPr marL="12700">
              <a:lnSpc>
                <a:spcPct val="100000"/>
              </a:lnSpc>
              <a:spcBef>
                <a:spcPts val="120"/>
              </a:spcBef>
            </a:pPr>
            <a:r>
              <a:rPr dirty="0" sz="700" spc="-10" b="1">
                <a:solidFill>
                  <a:srgbClr val="126C5A"/>
                </a:solidFill>
                <a:latin typeface="Arial"/>
                <a:cs typeface="Arial"/>
              </a:rPr>
              <a:t>MLflow</a:t>
            </a:r>
            <a:endParaRPr sz="700">
              <a:latin typeface="Arial"/>
              <a:cs typeface="Arial"/>
            </a:endParaRPr>
          </a:p>
        </p:txBody>
      </p:sp>
      <p:sp>
        <p:nvSpPr>
          <p:cNvPr id="8" name="object 8"/>
          <p:cNvSpPr txBox="1"/>
          <p:nvPr/>
        </p:nvSpPr>
        <p:spPr>
          <a:xfrm>
            <a:off x="4713223" y="4398771"/>
            <a:ext cx="374015" cy="135255"/>
          </a:xfrm>
          <a:prstGeom prst="rect">
            <a:avLst/>
          </a:prstGeom>
        </p:spPr>
        <p:txBody>
          <a:bodyPr wrap="square" lIns="0" tIns="15240" rIns="0" bIns="0" rtlCol="0" vert="horz">
            <a:spAutoFit/>
          </a:bodyPr>
          <a:lstStyle/>
          <a:p>
            <a:pPr marL="12700">
              <a:lnSpc>
                <a:spcPct val="100000"/>
              </a:lnSpc>
              <a:spcBef>
                <a:spcPts val="120"/>
              </a:spcBef>
            </a:pPr>
            <a:r>
              <a:rPr dirty="0" sz="700" b="1">
                <a:solidFill>
                  <a:srgbClr val="126C5A"/>
                </a:solidFill>
                <a:latin typeface="Arial"/>
                <a:cs typeface="Arial"/>
              </a:rPr>
              <a:t>Auto</a:t>
            </a:r>
            <a:r>
              <a:rPr dirty="0" sz="700" spc="-80" b="1">
                <a:solidFill>
                  <a:srgbClr val="126C5A"/>
                </a:solidFill>
                <a:latin typeface="Arial"/>
                <a:cs typeface="Arial"/>
              </a:rPr>
              <a:t> </a:t>
            </a:r>
            <a:r>
              <a:rPr dirty="0" sz="700" spc="-25" b="1">
                <a:solidFill>
                  <a:srgbClr val="126C5A"/>
                </a:solidFill>
                <a:latin typeface="Arial"/>
                <a:cs typeface="Arial"/>
              </a:rPr>
              <a:t>ML</a:t>
            </a:r>
            <a:endParaRPr sz="700">
              <a:latin typeface="Arial"/>
              <a:cs typeface="Arial"/>
            </a:endParaRPr>
          </a:p>
        </p:txBody>
      </p:sp>
      <p:sp>
        <p:nvSpPr>
          <p:cNvPr id="9" name="object 9"/>
          <p:cNvSpPr txBox="1"/>
          <p:nvPr/>
        </p:nvSpPr>
        <p:spPr>
          <a:xfrm>
            <a:off x="4376673" y="3208466"/>
            <a:ext cx="113030" cy="135890"/>
          </a:xfrm>
          <a:prstGeom prst="rect">
            <a:avLst/>
          </a:prstGeom>
        </p:spPr>
        <p:txBody>
          <a:bodyPr wrap="square" lIns="0" tIns="15240" rIns="0" bIns="0" rtlCol="0" vert="horz">
            <a:spAutoFit/>
          </a:bodyPr>
          <a:lstStyle/>
          <a:p>
            <a:pPr marL="12700">
              <a:lnSpc>
                <a:spcPct val="100000"/>
              </a:lnSpc>
              <a:spcBef>
                <a:spcPts val="120"/>
              </a:spcBef>
            </a:pPr>
            <a:r>
              <a:rPr dirty="0" sz="700" spc="-25" b="1">
                <a:solidFill>
                  <a:srgbClr val="126C5A"/>
                </a:solidFill>
                <a:latin typeface="Arial"/>
                <a:cs typeface="Arial"/>
              </a:rPr>
              <a:t>AI</a:t>
            </a:r>
            <a:endParaRPr sz="700">
              <a:latin typeface="Arial"/>
              <a:cs typeface="Arial"/>
            </a:endParaRPr>
          </a:p>
        </p:txBody>
      </p:sp>
      <p:sp>
        <p:nvSpPr>
          <p:cNvPr id="10" name="object 10"/>
          <p:cNvSpPr txBox="1"/>
          <p:nvPr/>
        </p:nvSpPr>
        <p:spPr>
          <a:xfrm>
            <a:off x="2104008" y="1828669"/>
            <a:ext cx="2315210" cy="736600"/>
          </a:xfrm>
          <a:prstGeom prst="rect">
            <a:avLst/>
          </a:prstGeom>
        </p:spPr>
        <p:txBody>
          <a:bodyPr wrap="square" lIns="0" tIns="71120" rIns="0" bIns="0" rtlCol="0" vert="horz">
            <a:spAutoFit/>
          </a:bodyPr>
          <a:lstStyle/>
          <a:p>
            <a:pPr marL="278130">
              <a:lnSpc>
                <a:spcPct val="100000"/>
              </a:lnSpc>
              <a:spcBef>
                <a:spcPts val="560"/>
              </a:spcBef>
            </a:pPr>
            <a:r>
              <a:rPr dirty="0" sz="1200" b="1">
                <a:solidFill>
                  <a:srgbClr val="232323"/>
                </a:solidFill>
                <a:latin typeface="Arial"/>
                <a:cs typeface="Arial"/>
              </a:rPr>
              <a:t>Governance</a:t>
            </a:r>
            <a:r>
              <a:rPr dirty="0" sz="1200" spc="195" b="1">
                <a:solidFill>
                  <a:srgbClr val="232323"/>
                </a:solidFill>
                <a:latin typeface="Arial"/>
                <a:cs typeface="Arial"/>
              </a:rPr>
              <a:t> </a:t>
            </a:r>
            <a:r>
              <a:rPr dirty="0" sz="1200" b="1">
                <a:solidFill>
                  <a:srgbClr val="232323"/>
                </a:solidFill>
                <a:latin typeface="Arial"/>
                <a:cs typeface="Arial"/>
              </a:rPr>
              <a:t>&amp;</a:t>
            </a:r>
            <a:r>
              <a:rPr dirty="0" sz="1200" spc="120" b="1">
                <a:solidFill>
                  <a:srgbClr val="232323"/>
                </a:solidFill>
                <a:latin typeface="Arial"/>
                <a:cs typeface="Arial"/>
              </a:rPr>
              <a:t> </a:t>
            </a:r>
            <a:r>
              <a:rPr dirty="0" sz="1200" spc="-10" b="1">
                <a:solidFill>
                  <a:srgbClr val="232323"/>
                </a:solidFill>
                <a:latin typeface="Arial"/>
                <a:cs typeface="Arial"/>
              </a:rPr>
              <a:t>Compliance</a:t>
            </a:r>
            <a:endParaRPr sz="1200">
              <a:latin typeface="Arial"/>
              <a:cs typeface="Arial"/>
            </a:endParaRPr>
          </a:p>
          <a:p>
            <a:pPr algn="r" marR="5080">
              <a:lnSpc>
                <a:spcPct val="100000"/>
              </a:lnSpc>
              <a:spcBef>
                <a:spcPts val="375"/>
              </a:spcBef>
            </a:pPr>
            <a:r>
              <a:rPr dirty="0" sz="900">
                <a:solidFill>
                  <a:srgbClr val="4E565F"/>
                </a:solidFill>
                <a:latin typeface="Arial MT"/>
                <a:cs typeface="Arial MT"/>
              </a:rPr>
              <a:t>Role-based</a:t>
            </a:r>
            <a:r>
              <a:rPr dirty="0" sz="900" spc="120">
                <a:solidFill>
                  <a:srgbClr val="4E565F"/>
                </a:solidFill>
                <a:latin typeface="Arial MT"/>
                <a:cs typeface="Arial MT"/>
              </a:rPr>
              <a:t> </a:t>
            </a:r>
            <a:r>
              <a:rPr dirty="0" sz="900">
                <a:solidFill>
                  <a:srgbClr val="4E565F"/>
                </a:solidFill>
                <a:latin typeface="Arial MT"/>
                <a:cs typeface="Arial MT"/>
              </a:rPr>
              <a:t>access,</a:t>
            </a:r>
            <a:r>
              <a:rPr dirty="0" sz="900" spc="175">
                <a:solidFill>
                  <a:srgbClr val="4E565F"/>
                </a:solidFill>
                <a:latin typeface="Arial MT"/>
                <a:cs typeface="Arial MT"/>
              </a:rPr>
              <a:t> </a:t>
            </a:r>
            <a:r>
              <a:rPr dirty="0" sz="900">
                <a:solidFill>
                  <a:srgbClr val="4E565F"/>
                </a:solidFill>
                <a:latin typeface="Arial MT"/>
                <a:cs typeface="Arial MT"/>
              </a:rPr>
              <a:t>lineage</a:t>
            </a:r>
            <a:r>
              <a:rPr dirty="0" sz="900" spc="120">
                <a:solidFill>
                  <a:srgbClr val="4E565F"/>
                </a:solidFill>
                <a:latin typeface="Arial MT"/>
                <a:cs typeface="Arial MT"/>
              </a:rPr>
              <a:t> </a:t>
            </a:r>
            <a:r>
              <a:rPr dirty="0" sz="900">
                <a:solidFill>
                  <a:srgbClr val="4E565F"/>
                </a:solidFill>
                <a:latin typeface="Arial MT"/>
                <a:cs typeface="Arial MT"/>
              </a:rPr>
              <a:t>and</a:t>
            </a:r>
            <a:r>
              <a:rPr dirty="0" sz="900" spc="125">
                <a:solidFill>
                  <a:srgbClr val="4E565F"/>
                </a:solidFill>
                <a:latin typeface="Arial MT"/>
                <a:cs typeface="Arial MT"/>
              </a:rPr>
              <a:t> </a:t>
            </a:r>
            <a:r>
              <a:rPr dirty="0" sz="900" spc="-10">
                <a:solidFill>
                  <a:srgbClr val="4E565F"/>
                </a:solidFill>
                <a:latin typeface="Arial MT"/>
                <a:cs typeface="Arial MT"/>
              </a:rPr>
              <a:t>versioning</a:t>
            </a:r>
            <a:endParaRPr sz="900">
              <a:latin typeface="Arial MT"/>
              <a:cs typeface="Arial MT"/>
            </a:endParaRPr>
          </a:p>
          <a:p>
            <a:pPr algn="r" marR="7620">
              <a:lnSpc>
                <a:spcPct val="100000"/>
              </a:lnSpc>
              <a:spcBef>
                <a:spcPts val="70"/>
              </a:spcBef>
            </a:pPr>
            <a:r>
              <a:rPr dirty="0" sz="900">
                <a:solidFill>
                  <a:srgbClr val="4E565F"/>
                </a:solidFill>
                <a:latin typeface="Arial MT"/>
                <a:cs typeface="Arial MT"/>
              </a:rPr>
              <a:t>keep</a:t>
            </a:r>
            <a:r>
              <a:rPr dirty="0" sz="900" spc="155">
                <a:solidFill>
                  <a:srgbClr val="4E565F"/>
                </a:solidFill>
                <a:latin typeface="Arial MT"/>
                <a:cs typeface="Arial MT"/>
              </a:rPr>
              <a:t> </a:t>
            </a:r>
            <a:r>
              <a:rPr dirty="0" sz="900">
                <a:solidFill>
                  <a:srgbClr val="4E565F"/>
                </a:solidFill>
                <a:latin typeface="Arial MT"/>
                <a:cs typeface="Arial MT"/>
              </a:rPr>
              <a:t>models</a:t>
            </a:r>
            <a:r>
              <a:rPr dirty="0" sz="900" spc="125">
                <a:solidFill>
                  <a:srgbClr val="4E565F"/>
                </a:solidFill>
                <a:latin typeface="Arial MT"/>
                <a:cs typeface="Arial MT"/>
              </a:rPr>
              <a:t> </a:t>
            </a:r>
            <a:r>
              <a:rPr dirty="0" sz="900">
                <a:solidFill>
                  <a:srgbClr val="4E565F"/>
                </a:solidFill>
                <a:latin typeface="Arial MT"/>
                <a:cs typeface="Arial MT"/>
              </a:rPr>
              <a:t>secure,</a:t>
            </a:r>
            <a:r>
              <a:rPr dirty="0" sz="900" spc="120">
                <a:solidFill>
                  <a:srgbClr val="4E565F"/>
                </a:solidFill>
                <a:latin typeface="Arial MT"/>
                <a:cs typeface="Arial MT"/>
              </a:rPr>
              <a:t> </a:t>
            </a:r>
            <a:r>
              <a:rPr dirty="0" sz="900">
                <a:solidFill>
                  <a:srgbClr val="4E565F"/>
                </a:solidFill>
                <a:latin typeface="Arial MT"/>
                <a:cs typeface="Arial MT"/>
              </a:rPr>
              <a:t>auditable</a:t>
            </a:r>
            <a:r>
              <a:rPr dirty="0" sz="900" spc="155">
                <a:solidFill>
                  <a:srgbClr val="4E565F"/>
                </a:solidFill>
                <a:latin typeface="Arial MT"/>
                <a:cs typeface="Arial MT"/>
              </a:rPr>
              <a:t> </a:t>
            </a:r>
            <a:r>
              <a:rPr dirty="0" sz="900" spc="-25">
                <a:solidFill>
                  <a:srgbClr val="4E565F"/>
                </a:solidFill>
                <a:latin typeface="Arial MT"/>
                <a:cs typeface="Arial MT"/>
              </a:rPr>
              <a:t>and</a:t>
            </a:r>
            <a:endParaRPr sz="900">
              <a:latin typeface="Arial MT"/>
              <a:cs typeface="Arial MT"/>
            </a:endParaRPr>
          </a:p>
          <a:p>
            <a:pPr algn="r" marR="5715">
              <a:lnSpc>
                <a:spcPct val="100000"/>
              </a:lnSpc>
              <a:spcBef>
                <a:spcPts val="5"/>
              </a:spcBef>
            </a:pPr>
            <a:r>
              <a:rPr dirty="0" sz="900" spc="-10">
                <a:solidFill>
                  <a:srgbClr val="4E565F"/>
                </a:solidFill>
                <a:latin typeface="Arial MT"/>
                <a:cs typeface="Arial MT"/>
              </a:rPr>
              <a:t>compliant.</a:t>
            </a:r>
            <a:endParaRPr sz="900">
              <a:latin typeface="Arial MT"/>
              <a:cs typeface="Arial MT"/>
            </a:endParaRPr>
          </a:p>
        </p:txBody>
      </p:sp>
      <p:sp>
        <p:nvSpPr>
          <p:cNvPr id="11" name="object 11"/>
          <p:cNvSpPr txBox="1"/>
          <p:nvPr/>
        </p:nvSpPr>
        <p:spPr>
          <a:xfrm>
            <a:off x="7854315" y="1828669"/>
            <a:ext cx="2120900" cy="599440"/>
          </a:xfrm>
          <a:prstGeom prst="rect">
            <a:avLst/>
          </a:prstGeom>
        </p:spPr>
        <p:txBody>
          <a:bodyPr wrap="square" lIns="0" tIns="71120" rIns="0" bIns="0" rtlCol="0" vert="horz">
            <a:spAutoFit/>
          </a:bodyPr>
          <a:lstStyle/>
          <a:p>
            <a:pPr marL="12700">
              <a:lnSpc>
                <a:spcPct val="100000"/>
              </a:lnSpc>
              <a:spcBef>
                <a:spcPts val="560"/>
              </a:spcBef>
            </a:pPr>
            <a:r>
              <a:rPr dirty="0" sz="1200" b="1">
                <a:solidFill>
                  <a:srgbClr val="232323"/>
                </a:solidFill>
                <a:latin typeface="Arial"/>
                <a:cs typeface="Arial"/>
              </a:rPr>
              <a:t>End-to-End</a:t>
            </a:r>
            <a:r>
              <a:rPr dirty="0" sz="1200" spc="225" b="1">
                <a:solidFill>
                  <a:srgbClr val="232323"/>
                </a:solidFill>
                <a:latin typeface="Arial"/>
                <a:cs typeface="Arial"/>
              </a:rPr>
              <a:t> </a:t>
            </a:r>
            <a:r>
              <a:rPr dirty="0" sz="1200" spc="-10" b="1">
                <a:solidFill>
                  <a:srgbClr val="232323"/>
                </a:solidFill>
                <a:latin typeface="Arial"/>
                <a:cs typeface="Arial"/>
              </a:rPr>
              <a:t>Unification</a:t>
            </a:r>
            <a:endParaRPr sz="1200">
              <a:latin typeface="Arial"/>
              <a:cs typeface="Arial"/>
            </a:endParaRPr>
          </a:p>
          <a:p>
            <a:pPr marL="12700">
              <a:lnSpc>
                <a:spcPct val="100000"/>
              </a:lnSpc>
              <a:spcBef>
                <a:spcPts val="375"/>
              </a:spcBef>
            </a:pPr>
            <a:r>
              <a:rPr dirty="0" sz="900">
                <a:solidFill>
                  <a:srgbClr val="4E565F"/>
                </a:solidFill>
                <a:latin typeface="Arial MT"/>
                <a:cs typeface="Arial MT"/>
              </a:rPr>
              <a:t>One</a:t>
            </a:r>
            <a:r>
              <a:rPr dirty="0" sz="900" spc="65">
                <a:solidFill>
                  <a:srgbClr val="4E565F"/>
                </a:solidFill>
                <a:latin typeface="Arial MT"/>
                <a:cs typeface="Arial MT"/>
              </a:rPr>
              <a:t> </a:t>
            </a:r>
            <a:r>
              <a:rPr dirty="0" sz="900">
                <a:solidFill>
                  <a:srgbClr val="4E565F"/>
                </a:solidFill>
                <a:latin typeface="Arial MT"/>
                <a:cs typeface="Arial MT"/>
              </a:rPr>
              <a:t>platform</a:t>
            </a:r>
            <a:r>
              <a:rPr dirty="0" sz="900" spc="114">
                <a:solidFill>
                  <a:srgbClr val="4E565F"/>
                </a:solidFill>
                <a:latin typeface="Arial MT"/>
                <a:cs typeface="Arial MT"/>
              </a:rPr>
              <a:t> </a:t>
            </a:r>
            <a:r>
              <a:rPr dirty="0" sz="900">
                <a:solidFill>
                  <a:srgbClr val="4E565F"/>
                </a:solidFill>
                <a:latin typeface="Arial MT"/>
                <a:cs typeface="Arial MT"/>
              </a:rPr>
              <a:t>for</a:t>
            </a:r>
            <a:r>
              <a:rPr dirty="0" sz="900" spc="170">
                <a:solidFill>
                  <a:srgbClr val="4E565F"/>
                </a:solidFill>
                <a:latin typeface="Arial MT"/>
                <a:cs typeface="Arial MT"/>
              </a:rPr>
              <a:t> </a:t>
            </a:r>
            <a:r>
              <a:rPr dirty="0" sz="900">
                <a:solidFill>
                  <a:srgbClr val="4E565F"/>
                </a:solidFill>
                <a:latin typeface="Arial MT"/>
                <a:cs typeface="Arial MT"/>
              </a:rPr>
              <a:t>ingestion,</a:t>
            </a:r>
            <a:r>
              <a:rPr dirty="0" sz="900" spc="130">
                <a:solidFill>
                  <a:srgbClr val="4E565F"/>
                </a:solidFill>
                <a:latin typeface="Arial MT"/>
                <a:cs typeface="Arial MT"/>
              </a:rPr>
              <a:t> </a:t>
            </a:r>
            <a:r>
              <a:rPr dirty="0" sz="900" spc="-10">
                <a:solidFill>
                  <a:srgbClr val="4E565F"/>
                </a:solidFill>
                <a:latin typeface="Arial MT"/>
                <a:cs typeface="Arial MT"/>
              </a:rPr>
              <a:t>preparation,</a:t>
            </a:r>
            <a:endParaRPr sz="900">
              <a:latin typeface="Arial MT"/>
              <a:cs typeface="Arial MT"/>
            </a:endParaRPr>
          </a:p>
          <a:p>
            <a:pPr marL="12700">
              <a:lnSpc>
                <a:spcPct val="100000"/>
              </a:lnSpc>
              <a:spcBef>
                <a:spcPts val="70"/>
              </a:spcBef>
            </a:pPr>
            <a:r>
              <a:rPr dirty="0" sz="900" spc="10">
                <a:solidFill>
                  <a:srgbClr val="4E565F"/>
                </a:solidFill>
                <a:latin typeface="Arial MT"/>
                <a:cs typeface="Arial MT"/>
              </a:rPr>
              <a:t>training,</a:t>
            </a:r>
            <a:r>
              <a:rPr dirty="0" sz="900" spc="55">
                <a:solidFill>
                  <a:srgbClr val="4E565F"/>
                </a:solidFill>
                <a:latin typeface="Arial MT"/>
                <a:cs typeface="Arial MT"/>
              </a:rPr>
              <a:t> </a:t>
            </a:r>
            <a:r>
              <a:rPr dirty="0" sz="900" spc="10">
                <a:solidFill>
                  <a:srgbClr val="4E565F"/>
                </a:solidFill>
                <a:latin typeface="Arial MT"/>
                <a:cs typeface="Arial MT"/>
              </a:rPr>
              <a:t>deployment</a:t>
            </a:r>
            <a:r>
              <a:rPr dirty="0" sz="900" spc="55">
                <a:solidFill>
                  <a:srgbClr val="4E565F"/>
                </a:solidFill>
                <a:latin typeface="Arial MT"/>
                <a:cs typeface="Arial MT"/>
              </a:rPr>
              <a:t> </a:t>
            </a:r>
            <a:r>
              <a:rPr dirty="0" sz="900" spc="10">
                <a:solidFill>
                  <a:srgbClr val="4E565F"/>
                </a:solidFill>
                <a:latin typeface="Arial MT"/>
                <a:cs typeface="Arial MT"/>
              </a:rPr>
              <a:t>and</a:t>
            </a:r>
            <a:r>
              <a:rPr dirty="0" sz="900" spc="90">
                <a:solidFill>
                  <a:srgbClr val="4E565F"/>
                </a:solidFill>
                <a:latin typeface="Arial MT"/>
                <a:cs typeface="Arial MT"/>
              </a:rPr>
              <a:t> </a:t>
            </a:r>
            <a:r>
              <a:rPr dirty="0" sz="900" spc="-10">
                <a:solidFill>
                  <a:srgbClr val="4E565F"/>
                </a:solidFill>
                <a:latin typeface="Arial MT"/>
                <a:cs typeface="Arial MT"/>
              </a:rPr>
              <a:t>visualization.</a:t>
            </a:r>
            <a:endParaRPr sz="900">
              <a:latin typeface="Arial MT"/>
              <a:cs typeface="Arial MT"/>
            </a:endParaRPr>
          </a:p>
        </p:txBody>
      </p:sp>
      <p:sp>
        <p:nvSpPr>
          <p:cNvPr id="12" name="object 12"/>
          <p:cNvSpPr txBox="1"/>
          <p:nvPr/>
        </p:nvSpPr>
        <p:spPr>
          <a:xfrm>
            <a:off x="8220964" y="2953592"/>
            <a:ext cx="1461770" cy="736600"/>
          </a:xfrm>
          <a:prstGeom prst="rect">
            <a:avLst/>
          </a:prstGeom>
        </p:spPr>
        <p:txBody>
          <a:bodyPr wrap="square" lIns="0" tIns="71120" rIns="0" bIns="0" rtlCol="0" vert="horz">
            <a:spAutoFit/>
          </a:bodyPr>
          <a:lstStyle/>
          <a:p>
            <a:pPr marL="12700">
              <a:lnSpc>
                <a:spcPct val="100000"/>
              </a:lnSpc>
              <a:spcBef>
                <a:spcPts val="560"/>
              </a:spcBef>
            </a:pPr>
            <a:r>
              <a:rPr dirty="0" sz="1200" spc="-10" b="1">
                <a:solidFill>
                  <a:srgbClr val="232323"/>
                </a:solidFill>
                <a:latin typeface="Arial"/>
                <a:cs typeface="Arial"/>
              </a:rPr>
              <a:t>Scalability</a:t>
            </a:r>
            <a:endParaRPr sz="1200">
              <a:latin typeface="Arial"/>
              <a:cs typeface="Arial"/>
            </a:endParaRPr>
          </a:p>
          <a:p>
            <a:pPr algn="just" marL="12700" marR="5080">
              <a:lnSpc>
                <a:spcPct val="103400"/>
              </a:lnSpc>
              <a:spcBef>
                <a:spcPts val="335"/>
              </a:spcBef>
            </a:pPr>
            <a:r>
              <a:rPr dirty="0" sz="900" spc="10">
                <a:solidFill>
                  <a:srgbClr val="4E565F"/>
                </a:solidFill>
                <a:latin typeface="Arial MT"/>
                <a:cs typeface="Arial MT"/>
              </a:rPr>
              <a:t>Distributed</a:t>
            </a:r>
            <a:r>
              <a:rPr dirty="0" sz="900" spc="20">
                <a:solidFill>
                  <a:srgbClr val="4E565F"/>
                </a:solidFill>
                <a:latin typeface="Arial MT"/>
                <a:cs typeface="Arial MT"/>
              </a:rPr>
              <a:t> </a:t>
            </a:r>
            <a:r>
              <a:rPr dirty="0" sz="900" spc="10">
                <a:solidFill>
                  <a:srgbClr val="4E565F"/>
                </a:solidFill>
                <a:latin typeface="Arial MT"/>
                <a:cs typeface="Arial MT"/>
              </a:rPr>
              <a:t>Spark</a:t>
            </a:r>
            <a:r>
              <a:rPr dirty="0" sz="900" spc="95">
                <a:solidFill>
                  <a:srgbClr val="4E565F"/>
                </a:solidFill>
                <a:latin typeface="Arial MT"/>
                <a:cs typeface="Arial MT"/>
              </a:rPr>
              <a:t> </a:t>
            </a:r>
            <a:r>
              <a:rPr dirty="0" sz="900" spc="-10">
                <a:solidFill>
                  <a:srgbClr val="4E565F"/>
                </a:solidFill>
                <a:latin typeface="Arial MT"/>
                <a:cs typeface="Arial MT"/>
              </a:rPr>
              <a:t>compute </a:t>
            </a:r>
            <a:r>
              <a:rPr dirty="0" sz="900">
                <a:solidFill>
                  <a:srgbClr val="4E565F"/>
                </a:solidFill>
                <a:latin typeface="Arial MT"/>
                <a:cs typeface="Arial MT"/>
              </a:rPr>
              <a:t>handles</a:t>
            </a:r>
            <a:r>
              <a:rPr dirty="0" sz="900" spc="190">
                <a:solidFill>
                  <a:srgbClr val="4E565F"/>
                </a:solidFill>
                <a:latin typeface="Arial MT"/>
                <a:cs typeface="Arial MT"/>
              </a:rPr>
              <a:t> </a:t>
            </a:r>
            <a:r>
              <a:rPr dirty="0" sz="900">
                <a:solidFill>
                  <a:srgbClr val="4E565F"/>
                </a:solidFill>
                <a:latin typeface="Arial MT"/>
                <a:cs typeface="Arial MT"/>
              </a:rPr>
              <a:t>large</a:t>
            </a:r>
            <a:r>
              <a:rPr dirty="0" sz="900" spc="20">
                <a:solidFill>
                  <a:srgbClr val="4E565F"/>
                </a:solidFill>
                <a:latin typeface="Arial MT"/>
                <a:cs typeface="Arial MT"/>
              </a:rPr>
              <a:t> </a:t>
            </a:r>
            <a:r>
              <a:rPr dirty="0" sz="900">
                <a:solidFill>
                  <a:srgbClr val="4E565F"/>
                </a:solidFill>
                <a:latin typeface="Arial MT"/>
                <a:cs typeface="Arial MT"/>
              </a:rPr>
              <a:t>datasets</a:t>
            </a:r>
            <a:r>
              <a:rPr dirty="0" sz="900" spc="195">
                <a:solidFill>
                  <a:srgbClr val="4E565F"/>
                </a:solidFill>
                <a:latin typeface="Arial MT"/>
                <a:cs typeface="Arial MT"/>
              </a:rPr>
              <a:t> </a:t>
            </a:r>
            <a:r>
              <a:rPr dirty="0" sz="900" spc="-25">
                <a:solidFill>
                  <a:srgbClr val="4E565F"/>
                </a:solidFill>
                <a:latin typeface="Arial MT"/>
                <a:cs typeface="Arial MT"/>
              </a:rPr>
              <a:t>and </a:t>
            </a:r>
            <a:r>
              <a:rPr dirty="0" sz="900">
                <a:solidFill>
                  <a:srgbClr val="4E565F"/>
                </a:solidFill>
                <a:latin typeface="Arial MT"/>
                <a:cs typeface="Arial MT"/>
              </a:rPr>
              <a:t>complex</a:t>
            </a:r>
            <a:r>
              <a:rPr dirty="0" sz="900" spc="175">
                <a:solidFill>
                  <a:srgbClr val="4E565F"/>
                </a:solidFill>
                <a:latin typeface="Arial MT"/>
                <a:cs typeface="Arial MT"/>
              </a:rPr>
              <a:t> </a:t>
            </a:r>
            <a:r>
              <a:rPr dirty="0" sz="900">
                <a:solidFill>
                  <a:srgbClr val="4E565F"/>
                </a:solidFill>
                <a:latin typeface="Arial MT"/>
                <a:cs typeface="Arial MT"/>
              </a:rPr>
              <a:t>ML</a:t>
            </a:r>
            <a:r>
              <a:rPr dirty="0" sz="900" spc="5">
                <a:solidFill>
                  <a:srgbClr val="4E565F"/>
                </a:solidFill>
                <a:latin typeface="Arial MT"/>
                <a:cs typeface="Arial MT"/>
              </a:rPr>
              <a:t> </a:t>
            </a:r>
            <a:r>
              <a:rPr dirty="0" sz="900" spc="-10">
                <a:solidFill>
                  <a:srgbClr val="4E565F"/>
                </a:solidFill>
                <a:latin typeface="Arial MT"/>
                <a:cs typeface="Arial MT"/>
              </a:rPr>
              <a:t>models.</a:t>
            </a:r>
            <a:endParaRPr sz="900">
              <a:latin typeface="Arial MT"/>
              <a:cs typeface="Arial MT"/>
            </a:endParaRPr>
          </a:p>
        </p:txBody>
      </p:sp>
      <p:sp>
        <p:nvSpPr>
          <p:cNvPr id="13" name="object 13"/>
          <p:cNvSpPr txBox="1"/>
          <p:nvPr/>
        </p:nvSpPr>
        <p:spPr>
          <a:xfrm>
            <a:off x="7726933" y="4006846"/>
            <a:ext cx="2672080" cy="599440"/>
          </a:xfrm>
          <a:prstGeom prst="rect">
            <a:avLst/>
          </a:prstGeom>
        </p:spPr>
        <p:txBody>
          <a:bodyPr wrap="square" lIns="0" tIns="71120" rIns="0" bIns="0" rtlCol="0" vert="horz">
            <a:spAutoFit/>
          </a:bodyPr>
          <a:lstStyle/>
          <a:p>
            <a:pPr marL="12700">
              <a:lnSpc>
                <a:spcPct val="100000"/>
              </a:lnSpc>
              <a:spcBef>
                <a:spcPts val="560"/>
              </a:spcBef>
            </a:pPr>
            <a:r>
              <a:rPr dirty="0" sz="1200" b="1">
                <a:solidFill>
                  <a:srgbClr val="232323"/>
                </a:solidFill>
                <a:latin typeface="Arial"/>
                <a:cs typeface="Arial"/>
              </a:rPr>
              <a:t>MLflow</a:t>
            </a:r>
            <a:r>
              <a:rPr dirty="0" sz="1200" spc="130" b="1">
                <a:solidFill>
                  <a:srgbClr val="232323"/>
                </a:solidFill>
                <a:latin typeface="Arial"/>
                <a:cs typeface="Arial"/>
              </a:rPr>
              <a:t> </a:t>
            </a:r>
            <a:r>
              <a:rPr dirty="0" sz="1200" spc="-10" b="1">
                <a:solidFill>
                  <a:srgbClr val="232323"/>
                </a:solidFill>
                <a:latin typeface="Arial"/>
                <a:cs typeface="Arial"/>
              </a:rPr>
              <a:t>integration</a:t>
            </a:r>
            <a:endParaRPr sz="1200">
              <a:latin typeface="Arial"/>
              <a:cs typeface="Arial"/>
            </a:endParaRPr>
          </a:p>
          <a:p>
            <a:pPr marL="12700">
              <a:lnSpc>
                <a:spcPct val="100000"/>
              </a:lnSpc>
              <a:spcBef>
                <a:spcPts val="375"/>
              </a:spcBef>
            </a:pPr>
            <a:r>
              <a:rPr dirty="0" sz="900">
                <a:solidFill>
                  <a:srgbClr val="4E565F"/>
                </a:solidFill>
                <a:latin typeface="Arial MT"/>
                <a:cs typeface="Arial MT"/>
              </a:rPr>
              <a:t>Autolog</a:t>
            </a:r>
            <a:r>
              <a:rPr dirty="0" sz="900" spc="150">
                <a:solidFill>
                  <a:srgbClr val="4E565F"/>
                </a:solidFill>
                <a:latin typeface="Arial MT"/>
                <a:cs typeface="Arial MT"/>
              </a:rPr>
              <a:t> </a:t>
            </a:r>
            <a:r>
              <a:rPr dirty="0" sz="900">
                <a:solidFill>
                  <a:srgbClr val="4E565F"/>
                </a:solidFill>
                <a:latin typeface="Arial MT"/>
                <a:cs typeface="Arial MT"/>
              </a:rPr>
              <a:t>runs,</a:t>
            </a:r>
            <a:r>
              <a:rPr dirty="0" sz="900" spc="85">
                <a:solidFill>
                  <a:srgbClr val="4E565F"/>
                </a:solidFill>
                <a:latin typeface="Arial MT"/>
                <a:cs typeface="Arial MT"/>
              </a:rPr>
              <a:t> </a:t>
            </a:r>
            <a:r>
              <a:rPr dirty="0" sz="900">
                <a:solidFill>
                  <a:srgbClr val="4E565F"/>
                </a:solidFill>
                <a:latin typeface="Arial MT"/>
                <a:cs typeface="Arial MT"/>
              </a:rPr>
              <a:t>metrics</a:t>
            </a:r>
            <a:r>
              <a:rPr dirty="0" sz="900" spc="105">
                <a:solidFill>
                  <a:srgbClr val="4E565F"/>
                </a:solidFill>
                <a:latin typeface="Arial MT"/>
                <a:cs typeface="Arial MT"/>
              </a:rPr>
              <a:t> </a:t>
            </a:r>
            <a:r>
              <a:rPr dirty="0" sz="900">
                <a:solidFill>
                  <a:srgbClr val="4E565F"/>
                </a:solidFill>
                <a:latin typeface="Arial MT"/>
                <a:cs typeface="Arial MT"/>
              </a:rPr>
              <a:t>and</a:t>
            </a:r>
            <a:r>
              <a:rPr dirty="0" sz="900" spc="130">
                <a:solidFill>
                  <a:srgbClr val="4E565F"/>
                </a:solidFill>
                <a:latin typeface="Arial MT"/>
                <a:cs typeface="Arial MT"/>
              </a:rPr>
              <a:t> </a:t>
            </a:r>
            <a:r>
              <a:rPr dirty="0" sz="900">
                <a:solidFill>
                  <a:srgbClr val="4E565F"/>
                </a:solidFill>
                <a:latin typeface="Arial MT"/>
                <a:cs typeface="Arial MT"/>
              </a:rPr>
              <a:t>parameters</a:t>
            </a:r>
            <a:r>
              <a:rPr dirty="0" sz="900" spc="100">
                <a:solidFill>
                  <a:srgbClr val="4E565F"/>
                </a:solidFill>
                <a:latin typeface="Arial MT"/>
                <a:cs typeface="Arial MT"/>
              </a:rPr>
              <a:t> </a:t>
            </a:r>
            <a:r>
              <a:rPr dirty="0" sz="900">
                <a:solidFill>
                  <a:srgbClr val="4E565F"/>
                </a:solidFill>
                <a:latin typeface="Arial MT"/>
                <a:cs typeface="Arial MT"/>
              </a:rPr>
              <a:t>to</a:t>
            </a:r>
            <a:r>
              <a:rPr dirty="0" sz="900" spc="130">
                <a:solidFill>
                  <a:srgbClr val="4E565F"/>
                </a:solidFill>
                <a:latin typeface="Arial MT"/>
                <a:cs typeface="Arial MT"/>
              </a:rPr>
              <a:t> </a:t>
            </a:r>
            <a:r>
              <a:rPr dirty="0" sz="900" spc="-10">
                <a:solidFill>
                  <a:srgbClr val="4E565F"/>
                </a:solidFill>
                <a:latin typeface="Arial MT"/>
                <a:cs typeface="Arial MT"/>
              </a:rPr>
              <a:t>compare</a:t>
            </a:r>
            <a:endParaRPr sz="900">
              <a:latin typeface="Arial MT"/>
              <a:cs typeface="Arial MT"/>
            </a:endParaRPr>
          </a:p>
          <a:p>
            <a:pPr marL="12700">
              <a:lnSpc>
                <a:spcPct val="100000"/>
              </a:lnSpc>
              <a:spcBef>
                <a:spcPts val="70"/>
              </a:spcBef>
            </a:pPr>
            <a:r>
              <a:rPr dirty="0" sz="900">
                <a:solidFill>
                  <a:srgbClr val="4E565F"/>
                </a:solidFill>
                <a:latin typeface="Arial MT"/>
                <a:cs typeface="Arial MT"/>
              </a:rPr>
              <a:t>models</a:t>
            </a:r>
            <a:r>
              <a:rPr dirty="0" sz="900" spc="114">
                <a:solidFill>
                  <a:srgbClr val="4E565F"/>
                </a:solidFill>
                <a:latin typeface="Arial MT"/>
                <a:cs typeface="Arial MT"/>
              </a:rPr>
              <a:t> </a:t>
            </a:r>
            <a:r>
              <a:rPr dirty="0" sz="900">
                <a:solidFill>
                  <a:srgbClr val="4E565F"/>
                </a:solidFill>
                <a:latin typeface="Arial MT"/>
                <a:cs typeface="Arial MT"/>
              </a:rPr>
              <a:t>and</a:t>
            </a:r>
            <a:r>
              <a:rPr dirty="0" sz="900" spc="150">
                <a:solidFill>
                  <a:srgbClr val="4E565F"/>
                </a:solidFill>
                <a:latin typeface="Arial MT"/>
                <a:cs typeface="Arial MT"/>
              </a:rPr>
              <a:t> </a:t>
            </a:r>
            <a:r>
              <a:rPr dirty="0" sz="900">
                <a:solidFill>
                  <a:srgbClr val="4E565F"/>
                </a:solidFill>
                <a:latin typeface="Arial MT"/>
                <a:cs typeface="Arial MT"/>
              </a:rPr>
              <a:t>experiments</a:t>
            </a:r>
            <a:r>
              <a:rPr dirty="0" sz="900" spc="220">
                <a:solidFill>
                  <a:srgbClr val="4E565F"/>
                </a:solidFill>
                <a:latin typeface="Arial MT"/>
                <a:cs typeface="Arial MT"/>
              </a:rPr>
              <a:t> </a:t>
            </a:r>
            <a:r>
              <a:rPr dirty="0" sz="900">
                <a:solidFill>
                  <a:srgbClr val="4E565F"/>
                </a:solidFill>
                <a:latin typeface="Arial MT"/>
                <a:cs typeface="Arial MT"/>
              </a:rPr>
              <a:t>without</a:t>
            </a:r>
            <a:r>
              <a:rPr dirty="0" sz="900" spc="105">
                <a:solidFill>
                  <a:srgbClr val="4E565F"/>
                </a:solidFill>
                <a:latin typeface="Arial MT"/>
                <a:cs typeface="Arial MT"/>
              </a:rPr>
              <a:t> </a:t>
            </a:r>
            <a:r>
              <a:rPr dirty="0" sz="900">
                <a:solidFill>
                  <a:srgbClr val="4E565F"/>
                </a:solidFill>
                <a:latin typeface="Arial MT"/>
                <a:cs typeface="Arial MT"/>
              </a:rPr>
              <a:t>manual</a:t>
            </a:r>
            <a:r>
              <a:rPr dirty="0" sz="900" spc="175">
                <a:solidFill>
                  <a:srgbClr val="4E565F"/>
                </a:solidFill>
                <a:latin typeface="Arial MT"/>
                <a:cs typeface="Arial MT"/>
              </a:rPr>
              <a:t> </a:t>
            </a:r>
            <a:r>
              <a:rPr dirty="0" sz="900" spc="-10">
                <a:solidFill>
                  <a:srgbClr val="4E565F"/>
                </a:solidFill>
                <a:latin typeface="Arial MT"/>
                <a:cs typeface="Arial MT"/>
              </a:rPr>
              <a:t>tracking.</a:t>
            </a:r>
            <a:endParaRPr sz="900">
              <a:latin typeface="Arial MT"/>
              <a:cs typeface="Arial MT"/>
            </a:endParaRPr>
          </a:p>
        </p:txBody>
      </p:sp>
      <p:sp>
        <p:nvSpPr>
          <p:cNvPr id="14" name="object 14"/>
          <p:cNvSpPr txBox="1"/>
          <p:nvPr/>
        </p:nvSpPr>
        <p:spPr>
          <a:xfrm>
            <a:off x="2176779" y="4006846"/>
            <a:ext cx="2468245" cy="599440"/>
          </a:xfrm>
          <a:prstGeom prst="rect">
            <a:avLst/>
          </a:prstGeom>
        </p:spPr>
        <p:txBody>
          <a:bodyPr wrap="square" lIns="0" tIns="71120" rIns="0" bIns="0" rtlCol="0" vert="horz">
            <a:spAutoFit/>
          </a:bodyPr>
          <a:lstStyle/>
          <a:p>
            <a:pPr marL="1027430">
              <a:lnSpc>
                <a:spcPct val="100000"/>
              </a:lnSpc>
              <a:spcBef>
                <a:spcPts val="560"/>
              </a:spcBef>
            </a:pPr>
            <a:r>
              <a:rPr dirty="0" sz="1200" b="1">
                <a:solidFill>
                  <a:srgbClr val="232323"/>
                </a:solidFill>
                <a:latin typeface="Arial"/>
                <a:cs typeface="Arial"/>
              </a:rPr>
              <a:t>AutoML</a:t>
            </a:r>
            <a:r>
              <a:rPr dirty="0" sz="1200" spc="180" b="1">
                <a:solidFill>
                  <a:srgbClr val="232323"/>
                </a:solidFill>
                <a:latin typeface="Arial"/>
                <a:cs typeface="Arial"/>
              </a:rPr>
              <a:t> </a:t>
            </a:r>
            <a:r>
              <a:rPr dirty="0" sz="1200" b="1">
                <a:solidFill>
                  <a:srgbClr val="232323"/>
                </a:solidFill>
                <a:latin typeface="Arial"/>
                <a:cs typeface="Arial"/>
              </a:rPr>
              <a:t>(low-</a:t>
            </a:r>
            <a:r>
              <a:rPr dirty="0" sz="1200" spc="-20" b="1">
                <a:solidFill>
                  <a:srgbClr val="232323"/>
                </a:solidFill>
                <a:latin typeface="Arial"/>
                <a:cs typeface="Arial"/>
              </a:rPr>
              <a:t>code)</a:t>
            </a:r>
            <a:endParaRPr sz="1200">
              <a:latin typeface="Arial"/>
              <a:cs typeface="Arial"/>
            </a:endParaRPr>
          </a:p>
          <a:p>
            <a:pPr algn="r" marR="13970">
              <a:lnSpc>
                <a:spcPct val="100000"/>
              </a:lnSpc>
              <a:spcBef>
                <a:spcPts val="375"/>
              </a:spcBef>
            </a:pPr>
            <a:r>
              <a:rPr dirty="0" sz="900">
                <a:solidFill>
                  <a:srgbClr val="4E565F"/>
                </a:solidFill>
                <a:latin typeface="Arial MT"/>
                <a:cs typeface="Arial MT"/>
              </a:rPr>
              <a:t>Start</a:t>
            </a:r>
            <a:r>
              <a:rPr dirty="0" sz="900" spc="45">
                <a:solidFill>
                  <a:srgbClr val="4E565F"/>
                </a:solidFill>
                <a:latin typeface="Arial MT"/>
                <a:cs typeface="Arial MT"/>
              </a:rPr>
              <a:t> </a:t>
            </a:r>
            <a:r>
              <a:rPr dirty="0" sz="900">
                <a:solidFill>
                  <a:srgbClr val="4E565F"/>
                </a:solidFill>
                <a:latin typeface="Arial MT"/>
                <a:cs typeface="Arial MT"/>
              </a:rPr>
              <a:t>ML</a:t>
            </a:r>
            <a:r>
              <a:rPr dirty="0" sz="900" spc="85">
                <a:solidFill>
                  <a:srgbClr val="4E565F"/>
                </a:solidFill>
                <a:latin typeface="Arial MT"/>
                <a:cs typeface="Arial MT"/>
              </a:rPr>
              <a:t> </a:t>
            </a:r>
            <a:r>
              <a:rPr dirty="0" sz="900">
                <a:solidFill>
                  <a:srgbClr val="4E565F"/>
                </a:solidFill>
                <a:latin typeface="Arial MT"/>
                <a:cs typeface="Arial MT"/>
              </a:rPr>
              <a:t>tasks</a:t>
            </a:r>
            <a:r>
              <a:rPr dirty="0" sz="900" spc="145">
                <a:solidFill>
                  <a:srgbClr val="4E565F"/>
                </a:solidFill>
                <a:latin typeface="Arial MT"/>
                <a:cs typeface="Arial MT"/>
              </a:rPr>
              <a:t> </a:t>
            </a:r>
            <a:r>
              <a:rPr dirty="0" sz="900">
                <a:solidFill>
                  <a:srgbClr val="4E565F"/>
                </a:solidFill>
                <a:latin typeface="Arial MT"/>
                <a:cs typeface="Arial MT"/>
              </a:rPr>
              <a:t>quickly</a:t>
            </a:r>
            <a:r>
              <a:rPr dirty="0" sz="900" spc="150">
                <a:solidFill>
                  <a:srgbClr val="4E565F"/>
                </a:solidFill>
                <a:latin typeface="Arial MT"/>
                <a:cs typeface="Arial MT"/>
              </a:rPr>
              <a:t> </a:t>
            </a:r>
            <a:r>
              <a:rPr dirty="0" sz="900">
                <a:solidFill>
                  <a:srgbClr val="4E565F"/>
                </a:solidFill>
                <a:latin typeface="Arial MT"/>
                <a:cs typeface="Arial MT"/>
              </a:rPr>
              <a:t>while</a:t>
            </a:r>
            <a:r>
              <a:rPr dirty="0" sz="900" spc="85">
                <a:solidFill>
                  <a:srgbClr val="4E565F"/>
                </a:solidFill>
                <a:latin typeface="Arial MT"/>
                <a:cs typeface="Arial MT"/>
              </a:rPr>
              <a:t> </a:t>
            </a:r>
            <a:r>
              <a:rPr dirty="0" sz="900">
                <a:solidFill>
                  <a:srgbClr val="4E565F"/>
                </a:solidFill>
                <a:latin typeface="Arial MT"/>
                <a:cs typeface="Arial MT"/>
              </a:rPr>
              <a:t>Fabric</a:t>
            </a:r>
            <a:r>
              <a:rPr dirty="0" sz="900" spc="60">
                <a:solidFill>
                  <a:srgbClr val="4E565F"/>
                </a:solidFill>
                <a:latin typeface="Arial MT"/>
                <a:cs typeface="Arial MT"/>
              </a:rPr>
              <a:t> </a:t>
            </a:r>
            <a:r>
              <a:rPr dirty="0" sz="900" spc="-10">
                <a:solidFill>
                  <a:srgbClr val="4E565F"/>
                </a:solidFill>
                <a:latin typeface="Arial MT"/>
                <a:cs typeface="Arial MT"/>
              </a:rPr>
              <a:t>automates</a:t>
            </a:r>
            <a:endParaRPr sz="900">
              <a:latin typeface="Arial MT"/>
              <a:cs typeface="Arial MT"/>
            </a:endParaRPr>
          </a:p>
          <a:p>
            <a:pPr algn="r" marR="13970">
              <a:lnSpc>
                <a:spcPct val="100000"/>
              </a:lnSpc>
              <a:spcBef>
                <a:spcPts val="70"/>
              </a:spcBef>
            </a:pPr>
            <a:r>
              <a:rPr dirty="0" sz="900">
                <a:solidFill>
                  <a:srgbClr val="4E565F"/>
                </a:solidFill>
                <a:latin typeface="Arial MT"/>
                <a:cs typeface="Arial MT"/>
              </a:rPr>
              <a:t>much</a:t>
            </a:r>
            <a:r>
              <a:rPr dirty="0" sz="900" spc="70">
                <a:solidFill>
                  <a:srgbClr val="4E565F"/>
                </a:solidFill>
                <a:latin typeface="Arial MT"/>
                <a:cs typeface="Arial MT"/>
              </a:rPr>
              <a:t> </a:t>
            </a:r>
            <a:r>
              <a:rPr dirty="0" sz="900">
                <a:solidFill>
                  <a:srgbClr val="4E565F"/>
                </a:solidFill>
                <a:latin typeface="Arial MT"/>
                <a:cs typeface="Arial MT"/>
              </a:rPr>
              <a:t>of</a:t>
            </a:r>
            <a:r>
              <a:rPr dirty="0" sz="900" spc="45">
                <a:solidFill>
                  <a:srgbClr val="4E565F"/>
                </a:solidFill>
                <a:latin typeface="Arial MT"/>
                <a:cs typeface="Arial MT"/>
              </a:rPr>
              <a:t> </a:t>
            </a:r>
            <a:r>
              <a:rPr dirty="0" sz="900">
                <a:solidFill>
                  <a:srgbClr val="4E565F"/>
                </a:solidFill>
                <a:latin typeface="Arial MT"/>
                <a:cs typeface="Arial MT"/>
              </a:rPr>
              <a:t>the</a:t>
            </a:r>
            <a:r>
              <a:rPr dirty="0" sz="900" spc="70">
                <a:solidFill>
                  <a:srgbClr val="4E565F"/>
                </a:solidFill>
                <a:latin typeface="Arial MT"/>
                <a:cs typeface="Arial MT"/>
              </a:rPr>
              <a:t> </a:t>
            </a:r>
            <a:r>
              <a:rPr dirty="0" sz="900" spc="-10">
                <a:solidFill>
                  <a:srgbClr val="4E565F"/>
                </a:solidFill>
                <a:latin typeface="Arial MT"/>
                <a:cs typeface="Arial MT"/>
              </a:rPr>
              <a:t>workflow.</a:t>
            </a:r>
            <a:endParaRPr sz="900">
              <a:latin typeface="Arial MT"/>
              <a:cs typeface="Arial MT"/>
            </a:endParaRPr>
          </a:p>
        </p:txBody>
      </p:sp>
      <p:sp>
        <p:nvSpPr>
          <p:cNvPr id="15" name="object 15"/>
          <p:cNvSpPr txBox="1"/>
          <p:nvPr/>
        </p:nvSpPr>
        <p:spPr>
          <a:xfrm>
            <a:off x="2175255" y="2882299"/>
            <a:ext cx="1892935" cy="735330"/>
          </a:xfrm>
          <a:prstGeom prst="rect">
            <a:avLst/>
          </a:prstGeom>
        </p:spPr>
        <p:txBody>
          <a:bodyPr wrap="square" lIns="0" tIns="69850" rIns="0" bIns="0" rtlCol="0" vert="horz">
            <a:spAutoFit/>
          </a:bodyPr>
          <a:lstStyle/>
          <a:p>
            <a:pPr marL="421005">
              <a:lnSpc>
                <a:spcPct val="100000"/>
              </a:lnSpc>
              <a:spcBef>
                <a:spcPts val="550"/>
              </a:spcBef>
            </a:pPr>
            <a:r>
              <a:rPr dirty="0" sz="1200" b="1">
                <a:solidFill>
                  <a:srgbClr val="232323"/>
                </a:solidFill>
                <a:latin typeface="Arial"/>
                <a:cs typeface="Arial"/>
              </a:rPr>
              <a:t>AI-powered</a:t>
            </a:r>
            <a:r>
              <a:rPr dirty="0" sz="1200" spc="204" b="1">
                <a:solidFill>
                  <a:srgbClr val="232323"/>
                </a:solidFill>
                <a:latin typeface="Arial"/>
                <a:cs typeface="Arial"/>
              </a:rPr>
              <a:t> </a:t>
            </a:r>
            <a:r>
              <a:rPr dirty="0" sz="1200" spc="-10" b="1">
                <a:solidFill>
                  <a:srgbClr val="232323"/>
                </a:solidFill>
                <a:latin typeface="Arial"/>
                <a:cs typeface="Arial"/>
              </a:rPr>
              <a:t>Copilot</a:t>
            </a:r>
            <a:endParaRPr sz="1200">
              <a:latin typeface="Arial"/>
              <a:cs typeface="Arial"/>
            </a:endParaRPr>
          </a:p>
          <a:p>
            <a:pPr algn="r" marL="407670" marR="5080" indent="-395605">
              <a:lnSpc>
                <a:spcPct val="106900"/>
              </a:lnSpc>
              <a:spcBef>
                <a:spcPts val="300"/>
              </a:spcBef>
            </a:pPr>
            <a:r>
              <a:rPr dirty="0" sz="900">
                <a:solidFill>
                  <a:srgbClr val="4E565F"/>
                </a:solidFill>
                <a:latin typeface="Arial MT"/>
                <a:cs typeface="Arial MT"/>
              </a:rPr>
              <a:t>Accelerates</a:t>
            </a:r>
            <a:r>
              <a:rPr dirty="0" sz="900" spc="140">
                <a:solidFill>
                  <a:srgbClr val="4E565F"/>
                </a:solidFill>
                <a:latin typeface="Arial MT"/>
                <a:cs typeface="Arial MT"/>
              </a:rPr>
              <a:t> </a:t>
            </a:r>
            <a:r>
              <a:rPr dirty="0" sz="900">
                <a:solidFill>
                  <a:srgbClr val="4E565F"/>
                </a:solidFill>
                <a:latin typeface="Arial MT"/>
                <a:cs typeface="Arial MT"/>
              </a:rPr>
              <a:t>data-science</a:t>
            </a:r>
            <a:r>
              <a:rPr dirty="0" sz="900" spc="170">
                <a:solidFill>
                  <a:srgbClr val="4E565F"/>
                </a:solidFill>
                <a:latin typeface="Arial MT"/>
                <a:cs typeface="Arial MT"/>
              </a:rPr>
              <a:t> </a:t>
            </a:r>
            <a:r>
              <a:rPr dirty="0" sz="900">
                <a:solidFill>
                  <a:srgbClr val="4E565F"/>
                </a:solidFill>
                <a:latin typeface="Arial MT"/>
                <a:cs typeface="Arial MT"/>
              </a:rPr>
              <a:t>work</a:t>
            </a:r>
            <a:r>
              <a:rPr dirty="0" sz="900" spc="260">
                <a:solidFill>
                  <a:srgbClr val="4E565F"/>
                </a:solidFill>
                <a:latin typeface="Arial MT"/>
                <a:cs typeface="Arial MT"/>
              </a:rPr>
              <a:t> </a:t>
            </a:r>
            <a:r>
              <a:rPr dirty="0" sz="900" spc="-25">
                <a:solidFill>
                  <a:srgbClr val="4E565F"/>
                </a:solidFill>
                <a:latin typeface="Arial MT"/>
                <a:cs typeface="Arial MT"/>
              </a:rPr>
              <a:t>and </a:t>
            </a:r>
            <a:r>
              <a:rPr dirty="0" sz="900">
                <a:solidFill>
                  <a:srgbClr val="4E565F"/>
                </a:solidFill>
                <a:latin typeface="Arial MT"/>
                <a:cs typeface="Arial MT"/>
              </a:rPr>
              <a:t>makes</a:t>
            </a:r>
            <a:r>
              <a:rPr dirty="0" sz="900" spc="110">
                <a:solidFill>
                  <a:srgbClr val="4E565F"/>
                </a:solidFill>
                <a:latin typeface="Arial MT"/>
                <a:cs typeface="Arial MT"/>
              </a:rPr>
              <a:t> </a:t>
            </a:r>
            <a:r>
              <a:rPr dirty="0" sz="900">
                <a:solidFill>
                  <a:srgbClr val="4E565F"/>
                </a:solidFill>
                <a:latin typeface="Arial MT"/>
                <a:cs typeface="Arial MT"/>
              </a:rPr>
              <a:t>common</a:t>
            </a:r>
            <a:r>
              <a:rPr dirty="0" sz="900" spc="130">
                <a:solidFill>
                  <a:srgbClr val="4E565F"/>
                </a:solidFill>
                <a:latin typeface="Arial MT"/>
                <a:cs typeface="Arial MT"/>
              </a:rPr>
              <a:t> </a:t>
            </a:r>
            <a:r>
              <a:rPr dirty="0" sz="900">
                <a:solidFill>
                  <a:srgbClr val="4E565F"/>
                </a:solidFill>
                <a:latin typeface="Arial MT"/>
                <a:cs typeface="Arial MT"/>
              </a:rPr>
              <a:t>tasks</a:t>
            </a:r>
            <a:r>
              <a:rPr dirty="0" sz="900" spc="210">
                <a:solidFill>
                  <a:srgbClr val="4E565F"/>
                </a:solidFill>
                <a:latin typeface="Arial MT"/>
                <a:cs typeface="Arial MT"/>
              </a:rPr>
              <a:t> </a:t>
            </a:r>
            <a:r>
              <a:rPr dirty="0" sz="900" spc="-20">
                <a:solidFill>
                  <a:srgbClr val="4E565F"/>
                </a:solidFill>
                <a:latin typeface="Arial MT"/>
                <a:cs typeface="Arial MT"/>
              </a:rPr>
              <a:t>more</a:t>
            </a:r>
            <a:endParaRPr sz="900">
              <a:latin typeface="Arial MT"/>
              <a:cs typeface="Arial MT"/>
            </a:endParaRPr>
          </a:p>
          <a:p>
            <a:pPr algn="r" marR="12700">
              <a:lnSpc>
                <a:spcPct val="100000"/>
              </a:lnSpc>
            </a:pPr>
            <a:r>
              <a:rPr dirty="0" sz="900" spc="-10">
                <a:solidFill>
                  <a:srgbClr val="4E565F"/>
                </a:solidFill>
                <a:latin typeface="Arial MT"/>
                <a:cs typeface="Arial MT"/>
              </a:rPr>
              <a:t>accessible.</a:t>
            </a:r>
            <a:endParaRPr sz="900">
              <a:latin typeface="Arial MT"/>
              <a:cs typeface="Arial MT"/>
            </a:endParaRPr>
          </a:p>
        </p:txBody>
      </p:sp>
      <p:sp>
        <p:nvSpPr>
          <p:cNvPr id="16" name="object 16"/>
          <p:cNvSpPr txBox="1"/>
          <p:nvPr/>
        </p:nvSpPr>
        <p:spPr>
          <a:xfrm>
            <a:off x="5306948" y="2720788"/>
            <a:ext cx="1654175" cy="1026160"/>
          </a:xfrm>
          <a:prstGeom prst="rect">
            <a:avLst/>
          </a:prstGeom>
        </p:spPr>
        <p:txBody>
          <a:bodyPr wrap="square" lIns="0" tIns="133985" rIns="0" bIns="0" rtlCol="0" vert="horz">
            <a:spAutoFit/>
          </a:bodyPr>
          <a:lstStyle/>
          <a:p>
            <a:pPr marL="79375">
              <a:lnSpc>
                <a:spcPct val="100000"/>
              </a:lnSpc>
              <a:spcBef>
                <a:spcPts val="1055"/>
              </a:spcBef>
            </a:pPr>
            <a:r>
              <a:rPr dirty="0" sz="2000" b="1">
                <a:solidFill>
                  <a:srgbClr val="1BB79A"/>
                </a:solidFill>
                <a:latin typeface="Arial"/>
                <a:cs typeface="Arial"/>
              </a:rPr>
              <a:t>Fabric</a:t>
            </a:r>
            <a:r>
              <a:rPr dirty="0" sz="2000" spc="-20" b="1">
                <a:solidFill>
                  <a:srgbClr val="1BB79A"/>
                </a:solidFill>
                <a:latin typeface="Arial"/>
                <a:cs typeface="Arial"/>
              </a:rPr>
              <a:t>  </a:t>
            </a:r>
            <a:r>
              <a:rPr dirty="0" sz="2000" b="1">
                <a:solidFill>
                  <a:srgbClr val="1863B4"/>
                </a:solidFill>
                <a:latin typeface="Arial"/>
                <a:cs typeface="Arial"/>
              </a:rPr>
              <a:t>+</a:t>
            </a:r>
            <a:r>
              <a:rPr dirty="0" sz="2000" spc="475" b="1">
                <a:solidFill>
                  <a:srgbClr val="1863B4"/>
                </a:solidFill>
                <a:latin typeface="Arial"/>
                <a:cs typeface="Arial"/>
              </a:rPr>
              <a:t> </a:t>
            </a:r>
            <a:r>
              <a:rPr dirty="0" sz="2000" spc="-25" b="1">
                <a:solidFill>
                  <a:srgbClr val="1863B4"/>
                </a:solidFill>
                <a:latin typeface="Arial"/>
                <a:cs typeface="Arial"/>
              </a:rPr>
              <a:t>ML</a:t>
            </a:r>
            <a:endParaRPr sz="2000">
              <a:latin typeface="Arial"/>
              <a:cs typeface="Arial"/>
            </a:endParaRPr>
          </a:p>
          <a:p>
            <a:pPr marL="12700" marR="50800" indent="40005">
              <a:lnSpc>
                <a:spcPct val="100800"/>
              </a:lnSpc>
              <a:spcBef>
                <a:spcPts val="765"/>
              </a:spcBef>
            </a:pPr>
            <a:r>
              <a:rPr dirty="0" sz="1550" b="1">
                <a:solidFill>
                  <a:srgbClr val="232323"/>
                </a:solidFill>
                <a:latin typeface="Arial"/>
                <a:cs typeface="Arial"/>
              </a:rPr>
              <a:t>Data</a:t>
            </a:r>
            <a:r>
              <a:rPr dirty="0" sz="1550" spc="105" b="1">
                <a:solidFill>
                  <a:srgbClr val="232323"/>
                </a:solidFill>
                <a:latin typeface="Arial"/>
                <a:cs typeface="Arial"/>
              </a:rPr>
              <a:t> </a:t>
            </a:r>
            <a:r>
              <a:rPr dirty="0" sz="1550" b="1">
                <a:solidFill>
                  <a:srgbClr val="232323"/>
                </a:solidFill>
                <a:latin typeface="Arial"/>
                <a:cs typeface="Arial"/>
              </a:rPr>
              <a:t>Science</a:t>
            </a:r>
            <a:r>
              <a:rPr dirty="0" sz="1550" spc="110" b="1">
                <a:solidFill>
                  <a:srgbClr val="232323"/>
                </a:solidFill>
                <a:latin typeface="Arial"/>
                <a:cs typeface="Arial"/>
              </a:rPr>
              <a:t> </a:t>
            </a:r>
            <a:r>
              <a:rPr dirty="0" sz="1550" spc="-25" b="1">
                <a:solidFill>
                  <a:srgbClr val="232323"/>
                </a:solidFill>
                <a:latin typeface="Arial"/>
                <a:cs typeface="Arial"/>
              </a:rPr>
              <a:t>in </a:t>
            </a:r>
            <a:r>
              <a:rPr dirty="0" sz="1550" b="1">
                <a:solidFill>
                  <a:srgbClr val="232323"/>
                </a:solidFill>
                <a:latin typeface="Arial"/>
                <a:cs typeface="Arial"/>
              </a:rPr>
              <a:t>Microsoft</a:t>
            </a:r>
            <a:r>
              <a:rPr dirty="0" sz="1550" spc="185" b="1">
                <a:solidFill>
                  <a:srgbClr val="232323"/>
                </a:solidFill>
                <a:latin typeface="Arial"/>
                <a:cs typeface="Arial"/>
              </a:rPr>
              <a:t> </a:t>
            </a:r>
            <a:r>
              <a:rPr dirty="0" sz="1550" spc="-10" b="1">
                <a:solidFill>
                  <a:srgbClr val="232323"/>
                </a:solidFill>
                <a:latin typeface="Arial"/>
                <a:cs typeface="Arial"/>
              </a:rPr>
              <a:t>Fabric</a:t>
            </a:r>
            <a:endParaRPr sz="1550">
              <a:latin typeface="Arial"/>
              <a:cs typeface="Arial"/>
            </a:endParaRPr>
          </a:p>
        </p:txBody>
      </p:sp>
      <p:grpSp>
        <p:nvGrpSpPr>
          <p:cNvPr id="17" name="object 17"/>
          <p:cNvGrpSpPr/>
          <p:nvPr/>
        </p:nvGrpSpPr>
        <p:grpSpPr>
          <a:xfrm>
            <a:off x="5696711" y="2588437"/>
            <a:ext cx="1188720" cy="311150"/>
            <a:chOff x="5696711" y="2588437"/>
            <a:chExt cx="1188720" cy="311150"/>
          </a:xfrm>
        </p:grpSpPr>
        <p:pic>
          <p:nvPicPr>
            <p:cNvPr id="18" name="object 18" descr="Microsoft Edge Logo Transparent Iconmicrosoft Edge Icon Not Showing"/>
            <p:cNvPicPr/>
            <p:nvPr/>
          </p:nvPicPr>
          <p:blipFill>
            <a:blip r:embed="rId3" cstate="print"/>
            <a:stretch>
              <a:fillRect/>
            </a:stretch>
          </p:blipFill>
          <p:spPr>
            <a:xfrm>
              <a:off x="5696711" y="2588437"/>
              <a:ext cx="301751" cy="301828"/>
            </a:xfrm>
            <a:prstGeom prst="rect">
              <a:avLst/>
            </a:prstGeom>
          </p:spPr>
        </p:pic>
        <p:pic>
          <p:nvPicPr>
            <p:cNvPr id="19" name="object 19" descr="Documentazione di Microsoft Fabric - Microsoft Fabric | Microsoft Learn"/>
            <p:cNvPicPr/>
            <p:nvPr/>
          </p:nvPicPr>
          <p:blipFill>
            <a:blip r:embed="rId4" cstate="print"/>
            <a:stretch>
              <a:fillRect/>
            </a:stretch>
          </p:blipFill>
          <p:spPr>
            <a:xfrm>
              <a:off x="6583679" y="2597581"/>
              <a:ext cx="301751" cy="301828"/>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7460" y="2357831"/>
            <a:ext cx="5996305" cy="1421765"/>
          </a:xfrm>
          <a:prstGeom prst="rect"/>
        </p:spPr>
        <p:txBody>
          <a:bodyPr wrap="square" lIns="0" tIns="99060" rIns="0" bIns="0" rtlCol="0" vert="horz">
            <a:spAutoFit/>
          </a:bodyPr>
          <a:lstStyle/>
          <a:p>
            <a:pPr marL="12700" marR="5080">
              <a:lnSpc>
                <a:spcPts val="5190"/>
              </a:lnSpc>
              <a:spcBef>
                <a:spcPts val="780"/>
              </a:spcBef>
            </a:pPr>
            <a:r>
              <a:rPr dirty="0" sz="4800"/>
              <a:t>Prediction</a:t>
            </a:r>
            <a:r>
              <a:rPr dirty="0" sz="4800" spc="-140"/>
              <a:t> </a:t>
            </a:r>
            <a:r>
              <a:rPr dirty="0" sz="4800"/>
              <a:t>Models</a:t>
            </a:r>
            <a:r>
              <a:rPr dirty="0" sz="4800" spc="-140"/>
              <a:t> </a:t>
            </a:r>
            <a:r>
              <a:rPr dirty="0" sz="4800" spc="-25"/>
              <a:t>in </a:t>
            </a:r>
            <a:r>
              <a:rPr dirty="0" sz="4800" spc="-10"/>
              <a:t>Healthcare</a:t>
            </a:r>
            <a:endParaRPr sz="4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1067" y="272923"/>
            <a:ext cx="8949055"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latin typeface="Segoe UI"/>
                <a:cs typeface="Segoe UI"/>
              </a:rPr>
              <a:t>AI</a:t>
            </a:r>
            <a:r>
              <a:rPr dirty="0" spc="95">
                <a:solidFill>
                  <a:srgbClr val="003E34"/>
                </a:solidFill>
                <a:latin typeface="Segoe UI"/>
                <a:cs typeface="Segoe UI"/>
              </a:rPr>
              <a:t> </a:t>
            </a:r>
            <a:r>
              <a:rPr dirty="0">
                <a:solidFill>
                  <a:srgbClr val="003E34"/>
                </a:solidFill>
                <a:latin typeface="Segoe UI"/>
                <a:cs typeface="Segoe UI"/>
              </a:rPr>
              <a:t>and</a:t>
            </a:r>
            <a:r>
              <a:rPr dirty="0" spc="65">
                <a:solidFill>
                  <a:srgbClr val="003E34"/>
                </a:solidFill>
                <a:latin typeface="Segoe UI"/>
                <a:cs typeface="Segoe UI"/>
              </a:rPr>
              <a:t> </a:t>
            </a:r>
            <a:r>
              <a:rPr dirty="0">
                <a:solidFill>
                  <a:srgbClr val="003E34"/>
                </a:solidFill>
                <a:latin typeface="Segoe UI"/>
                <a:cs typeface="Segoe UI"/>
              </a:rPr>
              <a:t>ML</a:t>
            </a:r>
            <a:r>
              <a:rPr dirty="0" spc="50">
                <a:solidFill>
                  <a:srgbClr val="003E34"/>
                </a:solidFill>
                <a:latin typeface="Segoe UI"/>
                <a:cs typeface="Segoe UI"/>
              </a:rPr>
              <a:t> </a:t>
            </a:r>
            <a:r>
              <a:rPr dirty="0">
                <a:solidFill>
                  <a:srgbClr val="003E34"/>
                </a:solidFill>
                <a:latin typeface="Segoe UI"/>
                <a:cs typeface="Segoe UI"/>
              </a:rPr>
              <a:t>is</a:t>
            </a:r>
            <a:r>
              <a:rPr dirty="0" spc="70">
                <a:solidFill>
                  <a:srgbClr val="003E34"/>
                </a:solidFill>
                <a:latin typeface="Segoe UI"/>
                <a:cs typeface="Segoe UI"/>
              </a:rPr>
              <a:t> </a:t>
            </a:r>
            <a:r>
              <a:rPr dirty="0">
                <a:solidFill>
                  <a:srgbClr val="003E34"/>
                </a:solidFill>
                <a:latin typeface="Segoe UI"/>
                <a:cs typeface="Segoe UI"/>
              </a:rPr>
              <a:t>being</a:t>
            </a:r>
            <a:r>
              <a:rPr dirty="0" spc="70">
                <a:solidFill>
                  <a:srgbClr val="003E34"/>
                </a:solidFill>
                <a:latin typeface="Segoe UI"/>
                <a:cs typeface="Segoe UI"/>
              </a:rPr>
              <a:t> </a:t>
            </a:r>
            <a:r>
              <a:rPr dirty="0">
                <a:solidFill>
                  <a:srgbClr val="003E34"/>
                </a:solidFill>
                <a:latin typeface="Segoe UI"/>
                <a:cs typeface="Segoe UI"/>
              </a:rPr>
              <a:t>embedded</a:t>
            </a:r>
            <a:r>
              <a:rPr dirty="0" spc="70">
                <a:solidFill>
                  <a:srgbClr val="003E34"/>
                </a:solidFill>
                <a:latin typeface="Segoe UI"/>
                <a:cs typeface="Segoe UI"/>
              </a:rPr>
              <a:t> </a:t>
            </a:r>
            <a:r>
              <a:rPr dirty="0">
                <a:solidFill>
                  <a:srgbClr val="003E34"/>
                </a:solidFill>
                <a:latin typeface="Segoe UI"/>
                <a:cs typeface="Segoe UI"/>
              </a:rPr>
              <a:t>in</a:t>
            </a:r>
            <a:r>
              <a:rPr dirty="0" spc="110">
                <a:solidFill>
                  <a:srgbClr val="003E34"/>
                </a:solidFill>
                <a:latin typeface="Segoe UI"/>
                <a:cs typeface="Segoe UI"/>
              </a:rPr>
              <a:t> </a:t>
            </a:r>
            <a:r>
              <a:rPr dirty="0">
                <a:solidFill>
                  <a:srgbClr val="003E34"/>
                </a:solidFill>
                <a:latin typeface="Segoe UI"/>
                <a:cs typeface="Segoe UI"/>
              </a:rPr>
              <a:t>EU</a:t>
            </a:r>
            <a:r>
              <a:rPr dirty="0" spc="100">
                <a:solidFill>
                  <a:srgbClr val="003E34"/>
                </a:solidFill>
                <a:latin typeface="Segoe UI"/>
                <a:cs typeface="Segoe UI"/>
              </a:rPr>
              <a:t> </a:t>
            </a:r>
            <a:r>
              <a:rPr dirty="0" spc="-10">
                <a:solidFill>
                  <a:srgbClr val="003E34"/>
                </a:solidFill>
                <a:latin typeface="Segoe UI"/>
                <a:cs typeface="Segoe UI"/>
              </a:rPr>
              <a:t>healthcare systems</a:t>
            </a:r>
          </a:p>
        </p:txBody>
      </p:sp>
      <p:pic>
        <p:nvPicPr>
          <p:cNvPr id="3" name="object 3"/>
          <p:cNvPicPr/>
          <p:nvPr/>
        </p:nvPicPr>
        <p:blipFill>
          <a:blip r:embed="rId2" cstate="print"/>
          <a:stretch>
            <a:fillRect/>
          </a:stretch>
        </p:blipFill>
        <p:spPr>
          <a:xfrm>
            <a:off x="2855976" y="1996313"/>
            <a:ext cx="5992368" cy="3874135"/>
          </a:xfrm>
          <a:prstGeom prst="rect">
            <a:avLst/>
          </a:prstGeom>
        </p:spPr>
      </p:pic>
      <p:sp>
        <p:nvSpPr>
          <p:cNvPr id="4" name="object 4"/>
          <p:cNvSpPr txBox="1"/>
          <p:nvPr/>
        </p:nvSpPr>
        <p:spPr>
          <a:xfrm>
            <a:off x="4226940" y="1931270"/>
            <a:ext cx="1086485" cy="1306830"/>
          </a:xfrm>
          <a:prstGeom prst="rect">
            <a:avLst/>
          </a:prstGeom>
        </p:spPr>
        <p:txBody>
          <a:bodyPr wrap="square" lIns="0" tIns="318770" rIns="0" bIns="0" rtlCol="0" vert="horz">
            <a:spAutoFit/>
          </a:bodyPr>
          <a:lstStyle/>
          <a:p>
            <a:pPr marL="12700">
              <a:lnSpc>
                <a:spcPct val="100000"/>
              </a:lnSpc>
              <a:spcBef>
                <a:spcPts val="2510"/>
              </a:spcBef>
            </a:pPr>
            <a:r>
              <a:rPr dirty="0" sz="4400" spc="-25">
                <a:solidFill>
                  <a:srgbClr val="00338D"/>
                </a:solidFill>
                <a:latin typeface="Segoe UI"/>
                <a:cs typeface="Segoe UI"/>
              </a:rPr>
              <a:t>48%</a:t>
            </a:r>
            <a:endParaRPr sz="4400">
              <a:latin typeface="Segoe UI"/>
              <a:cs typeface="Segoe UI"/>
            </a:endParaRPr>
          </a:p>
          <a:p>
            <a:pPr marL="97790">
              <a:lnSpc>
                <a:spcPct val="100000"/>
              </a:lnSpc>
              <a:spcBef>
                <a:spcPts val="775"/>
              </a:spcBef>
            </a:pPr>
            <a:r>
              <a:rPr dirty="0" sz="1350" spc="-10" b="1">
                <a:solidFill>
                  <a:srgbClr val="00338D"/>
                </a:solidFill>
                <a:latin typeface="Segoe UI"/>
                <a:cs typeface="Segoe UI"/>
              </a:rPr>
              <a:t>Radiology</a:t>
            </a:r>
            <a:endParaRPr sz="1350">
              <a:latin typeface="Segoe UI"/>
              <a:cs typeface="Segoe UI"/>
            </a:endParaRPr>
          </a:p>
        </p:txBody>
      </p:sp>
      <p:sp>
        <p:nvSpPr>
          <p:cNvPr id="5" name="object 5"/>
          <p:cNvSpPr txBox="1"/>
          <p:nvPr/>
        </p:nvSpPr>
        <p:spPr>
          <a:xfrm>
            <a:off x="4452365" y="4073045"/>
            <a:ext cx="1087755" cy="1159510"/>
          </a:xfrm>
          <a:prstGeom prst="rect">
            <a:avLst/>
          </a:prstGeom>
        </p:spPr>
        <p:txBody>
          <a:bodyPr wrap="square" lIns="0" tIns="240029" rIns="0" bIns="0" rtlCol="0" vert="horz">
            <a:spAutoFit/>
          </a:bodyPr>
          <a:lstStyle/>
          <a:p>
            <a:pPr marL="12700">
              <a:lnSpc>
                <a:spcPct val="100000"/>
              </a:lnSpc>
              <a:spcBef>
                <a:spcPts val="1889"/>
              </a:spcBef>
            </a:pPr>
            <a:r>
              <a:rPr dirty="0" sz="4400" spc="-25">
                <a:solidFill>
                  <a:srgbClr val="FFC000"/>
                </a:solidFill>
                <a:latin typeface="Segoe UI"/>
                <a:cs typeface="Segoe UI"/>
              </a:rPr>
              <a:t>74%</a:t>
            </a:r>
            <a:endParaRPr sz="4400">
              <a:latin typeface="Segoe UI"/>
              <a:cs typeface="Segoe UI"/>
            </a:endParaRPr>
          </a:p>
          <a:p>
            <a:pPr marL="62230">
              <a:lnSpc>
                <a:spcPct val="100000"/>
              </a:lnSpc>
              <a:spcBef>
                <a:spcPts val="475"/>
              </a:spcBef>
            </a:pPr>
            <a:r>
              <a:rPr dirty="0" sz="1150" b="1">
                <a:solidFill>
                  <a:srgbClr val="FFC000"/>
                </a:solidFill>
                <a:latin typeface="Segoe UI"/>
                <a:cs typeface="Segoe UI"/>
              </a:rPr>
              <a:t>EU</a:t>
            </a:r>
            <a:r>
              <a:rPr dirty="0" sz="1150" spc="-55" b="1">
                <a:solidFill>
                  <a:srgbClr val="FFC000"/>
                </a:solidFill>
                <a:latin typeface="Segoe UI"/>
                <a:cs typeface="Segoe UI"/>
              </a:rPr>
              <a:t> </a:t>
            </a:r>
            <a:r>
              <a:rPr dirty="0" sz="1150" spc="-10" b="1">
                <a:solidFill>
                  <a:srgbClr val="FFC000"/>
                </a:solidFill>
                <a:latin typeface="Segoe UI"/>
                <a:cs typeface="Segoe UI"/>
              </a:rPr>
              <a:t>countries</a:t>
            </a:r>
            <a:endParaRPr sz="1150">
              <a:latin typeface="Segoe UI"/>
              <a:cs typeface="Segoe UI"/>
            </a:endParaRPr>
          </a:p>
        </p:txBody>
      </p:sp>
      <p:sp>
        <p:nvSpPr>
          <p:cNvPr id="6" name="object 6"/>
          <p:cNvSpPr txBox="1"/>
          <p:nvPr/>
        </p:nvSpPr>
        <p:spPr>
          <a:xfrm>
            <a:off x="6926960" y="2956729"/>
            <a:ext cx="1089660" cy="1183005"/>
          </a:xfrm>
          <a:prstGeom prst="rect">
            <a:avLst/>
          </a:prstGeom>
        </p:spPr>
        <p:txBody>
          <a:bodyPr wrap="square" lIns="0" tIns="163195" rIns="0" bIns="0" rtlCol="0" vert="horz">
            <a:spAutoFit/>
          </a:bodyPr>
          <a:lstStyle/>
          <a:p>
            <a:pPr marL="14604">
              <a:lnSpc>
                <a:spcPct val="100000"/>
              </a:lnSpc>
              <a:spcBef>
                <a:spcPts val="1285"/>
              </a:spcBef>
            </a:pPr>
            <a:r>
              <a:rPr dirty="0" sz="4400" spc="-25">
                <a:solidFill>
                  <a:srgbClr val="4471C4"/>
                </a:solidFill>
                <a:latin typeface="Segoe UI"/>
                <a:cs typeface="Segoe UI"/>
              </a:rPr>
              <a:t>94%</a:t>
            </a:r>
            <a:endParaRPr sz="4400">
              <a:latin typeface="Segoe UI"/>
              <a:cs typeface="Segoe UI"/>
            </a:endParaRPr>
          </a:p>
          <a:p>
            <a:pPr marL="12700">
              <a:lnSpc>
                <a:spcPct val="100000"/>
              </a:lnSpc>
              <a:spcBef>
                <a:spcPts val="484"/>
              </a:spcBef>
            </a:pPr>
            <a:r>
              <a:rPr dirty="0" sz="1800" spc="-10" b="1">
                <a:solidFill>
                  <a:srgbClr val="4471C4"/>
                </a:solidFill>
                <a:latin typeface="Segoe UI"/>
                <a:cs typeface="Segoe UI"/>
              </a:rPr>
              <a:t>Providers</a:t>
            </a:r>
            <a:endParaRPr sz="1800">
              <a:latin typeface="Segoe UI"/>
              <a:cs typeface="Segoe UI"/>
            </a:endParaRPr>
          </a:p>
        </p:txBody>
      </p:sp>
      <p:sp>
        <p:nvSpPr>
          <p:cNvPr id="7" name="object 7"/>
          <p:cNvSpPr txBox="1"/>
          <p:nvPr/>
        </p:nvSpPr>
        <p:spPr>
          <a:xfrm>
            <a:off x="8989441" y="1876192"/>
            <a:ext cx="2069464" cy="1224280"/>
          </a:xfrm>
          <a:prstGeom prst="rect">
            <a:avLst/>
          </a:prstGeom>
        </p:spPr>
        <p:txBody>
          <a:bodyPr wrap="square" lIns="0" tIns="108585" rIns="0" bIns="0" rtlCol="0" vert="horz">
            <a:spAutoFit/>
          </a:bodyPr>
          <a:lstStyle/>
          <a:p>
            <a:pPr marL="12700">
              <a:lnSpc>
                <a:spcPct val="100000"/>
              </a:lnSpc>
              <a:spcBef>
                <a:spcPts val="855"/>
              </a:spcBef>
            </a:pPr>
            <a:r>
              <a:rPr dirty="0" sz="1500" b="1">
                <a:solidFill>
                  <a:srgbClr val="EC7C30"/>
                </a:solidFill>
                <a:latin typeface="Segoe UI"/>
                <a:cs typeface="Segoe UI"/>
              </a:rPr>
              <a:t>Provider</a:t>
            </a:r>
            <a:r>
              <a:rPr dirty="0" sz="1500" spc="-65" b="1">
                <a:solidFill>
                  <a:srgbClr val="EC7C30"/>
                </a:solidFill>
                <a:latin typeface="Segoe UI"/>
                <a:cs typeface="Segoe UI"/>
              </a:rPr>
              <a:t> </a:t>
            </a:r>
            <a:r>
              <a:rPr dirty="0" sz="1500" spc="-10" b="1">
                <a:solidFill>
                  <a:srgbClr val="EC7C30"/>
                </a:solidFill>
                <a:latin typeface="Segoe UI"/>
                <a:cs typeface="Segoe UI"/>
              </a:rPr>
              <a:t>pipeline</a:t>
            </a:r>
            <a:endParaRPr sz="1500">
              <a:latin typeface="Segoe UI"/>
              <a:cs typeface="Segoe UI"/>
            </a:endParaRPr>
          </a:p>
          <a:p>
            <a:pPr marL="12700" marR="5080">
              <a:lnSpc>
                <a:spcPct val="100099"/>
              </a:lnSpc>
              <a:spcBef>
                <a:spcPts val="635"/>
              </a:spcBef>
            </a:pPr>
            <a:r>
              <a:rPr dirty="0" sz="1300">
                <a:solidFill>
                  <a:srgbClr val="EC7C30"/>
                </a:solidFill>
                <a:latin typeface="Segoe UI"/>
                <a:cs typeface="Segoe UI"/>
              </a:rPr>
              <a:t>94%</a:t>
            </a:r>
            <a:r>
              <a:rPr dirty="0" sz="1300" spc="-25">
                <a:solidFill>
                  <a:srgbClr val="EC7C30"/>
                </a:solidFill>
                <a:latin typeface="Segoe UI"/>
                <a:cs typeface="Segoe UI"/>
              </a:rPr>
              <a:t> </a:t>
            </a:r>
            <a:r>
              <a:rPr dirty="0" sz="1300">
                <a:solidFill>
                  <a:srgbClr val="EC7C30"/>
                </a:solidFill>
                <a:latin typeface="Segoe UI"/>
                <a:cs typeface="Segoe UI"/>
              </a:rPr>
              <a:t>of</a:t>
            </a:r>
            <a:r>
              <a:rPr dirty="0" sz="1300" spc="-20">
                <a:solidFill>
                  <a:srgbClr val="EC7C30"/>
                </a:solidFill>
                <a:latin typeface="Segoe UI"/>
                <a:cs typeface="Segoe UI"/>
              </a:rPr>
              <a:t> </a:t>
            </a:r>
            <a:r>
              <a:rPr dirty="0" sz="1300">
                <a:solidFill>
                  <a:srgbClr val="EC7C30"/>
                </a:solidFill>
                <a:latin typeface="Segoe UI"/>
                <a:cs typeface="Segoe UI"/>
              </a:rPr>
              <a:t>surveyed</a:t>
            </a:r>
            <a:r>
              <a:rPr dirty="0" sz="1300" spc="-75">
                <a:solidFill>
                  <a:srgbClr val="EC7C30"/>
                </a:solidFill>
                <a:latin typeface="Segoe UI"/>
                <a:cs typeface="Segoe UI"/>
              </a:rPr>
              <a:t> </a:t>
            </a:r>
            <a:r>
              <a:rPr dirty="0" sz="1300" spc="-25">
                <a:solidFill>
                  <a:srgbClr val="EC7C30"/>
                </a:solidFill>
                <a:latin typeface="Segoe UI"/>
                <a:cs typeface="Segoe UI"/>
              </a:rPr>
              <a:t>EU </a:t>
            </a:r>
            <a:r>
              <a:rPr dirty="0" sz="1300" spc="-10">
                <a:solidFill>
                  <a:srgbClr val="EC7C30"/>
                </a:solidFill>
                <a:latin typeface="Segoe UI"/>
                <a:cs typeface="Segoe UI"/>
              </a:rPr>
              <a:t>healthcare</a:t>
            </a:r>
            <a:r>
              <a:rPr dirty="0" sz="1300" spc="-35">
                <a:solidFill>
                  <a:srgbClr val="EC7C30"/>
                </a:solidFill>
                <a:latin typeface="Segoe UI"/>
                <a:cs typeface="Segoe UI"/>
              </a:rPr>
              <a:t> </a:t>
            </a:r>
            <a:r>
              <a:rPr dirty="0" sz="1300">
                <a:solidFill>
                  <a:srgbClr val="EC7C30"/>
                </a:solidFill>
                <a:latin typeface="Segoe UI"/>
                <a:cs typeface="Segoe UI"/>
              </a:rPr>
              <a:t>providers</a:t>
            </a:r>
            <a:r>
              <a:rPr dirty="0" sz="1300" spc="-50">
                <a:solidFill>
                  <a:srgbClr val="EC7C30"/>
                </a:solidFill>
                <a:latin typeface="Segoe UI"/>
                <a:cs typeface="Segoe UI"/>
              </a:rPr>
              <a:t> </a:t>
            </a:r>
            <a:r>
              <a:rPr dirty="0" sz="1300" spc="-10">
                <a:solidFill>
                  <a:srgbClr val="EC7C30"/>
                </a:solidFill>
                <a:latin typeface="Segoe UI"/>
                <a:cs typeface="Segoe UI"/>
              </a:rPr>
              <a:t>already </a:t>
            </a:r>
            <a:r>
              <a:rPr dirty="0" sz="1300">
                <a:solidFill>
                  <a:srgbClr val="EC7C30"/>
                </a:solidFill>
                <a:latin typeface="Segoe UI"/>
                <a:cs typeface="Segoe UI"/>
              </a:rPr>
              <a:t>use</a:t>
            </a:r>
            <a:r>
              <a:rPr dirty="0" sz="1300" spc="-35">
                <a:solidFill>
                  <a:srgbClr val="EC7C30"/>
                </a:solidFill>
                <a:latin typeface="Segoe UI"/>
                <a:cs typeface="Segoe UI"/>
              </a:rPr>
              <a:t> </a:t>
            </a:r>
            <a:r>
              <a:rPr dirty="0" sz="1300">
                <a:solidFill>
                  <a:srgbClr val="EC7C30"/>
                </a:solidFill>
                <a:latin typeface="Segoe UI"/>
                <a:cs typeface="Segoe UI"/>
              </a:rPr>
              <a:t>AI</a:t>
            </a:r>
            <a:r>
              <a:rPr dirty="0" sz="1300" spc="-55">
                <a:solidFill>
                  <a:srgbClr val="EC7C30"/>
                </a:solidFill>
                <a:latin typeface="Segoe UI"/>
                <a:cs typeface="Segoe UI"/>
              </a:rPr>
              <a:t> </a:t>
            </a:r>
            <a:r>
              <a:rPr dirty="0" sz="1300">
                <a:solidFill>
                  <a:srgbClr val="EC7C30"/>
                </a:solidFill>
                <a:latin typeface="Segoe UI"/>
                <a:cs typeface="Segoe UI"/>
              </a:rPr>
              <a:t>solutions</a:t>
            </a:r>
            <a:r>
              <a:rPr dirty="0" sz="1300" spc="-45">
                <a:solidFill>
                  <a:srgbClr val="EC7C30"/>
                </a:solidFill>
                <a:latin typeface="Segoe UI"/>
                <a:cs typeface="Segoe UI"/>
              </a:rPr>
              <a:t> </a:t>
            </a:r>
            <a:r>
              <a:rPr dirty="0" sz="1300">
                <a:solidFill>
                  <a:srgbClr val="EC7C30"/>
                </a:solidFill>
                <a:latin typeface="Segoe UI"/>
                <a:cs typeface="Segoe UI"/>
              </a:rPr>
              <a:t>or</a:t>
            </a:r>
            <a:r>
              <a:rPr dirty="0" sz="1300" spc="-20">
                <a:solidFill>
                  <a:srgbClr val="EC7C30"/>
                </a:solidFill>
                <a:latin typeface="Segoe UI"/>
                <a:cs typeface="Segoe UI"/>
              </a:rPr>
              <a:t> </a:t>
            </a:r>
            <a:r>
              <a:rPr dirty="0" sz="1300">
                <a:solidFill>
                  <a:srgbClr val="EC7C30"/>
                </a:solidFill>
                <a:latin typeface="Segoe UI"/>
                <a:cs typeface="Segoe UI"/>
              </a:rPr>
              <a:t>plan</a:t>
            </a:r>
            <a:r>
              <a:rPr dirty="0" sz="1300" spc="-20">
                <a:solidFill>
                  <a:srgbClr val="EC7C30"/>
                </a:solidFill>
                <a:latin typeface="Segoe UI"/>
                <a:cs typeface="Segoe UI"/>
              </a:rPr>
              <a:t> </a:t>
            </a:r>
            <a:r>
              <a:rPr dirty="0" sz="1300" spc="-25">
                <a:solidFill>
                  <a:srgbClr val="EC7C30"/>
                </a:solidFill>
                <a:latin typeface="Segoe UI"/>
                <a:cs typeface="Segoe UI"/>
              </a:rPr>
              <a:t>to </a:t>
            </a:r>
            <a:r>
              <a:rPr dirty="0" sz="1300">
                <a:solidFill>
                  <a:srgbClr val="EC7C30"/>
                </a:solidFill>
                <a:latin typeface="Segoe UI"/>
                <a:cs typeface="Segoe UI"/>
              </a:rPr>
              <a:t>adopt</a:t>
            </a:r>
            <a:r>
              <a:rPr dirty="0" sz="1300" spc="-35">
                <a:solidFill>
                  <a:srgbClr val="EC7C30"/>
                </a:solidFill>
                <a:latin typeface="Segoe UI"/>
                <a:cs typeface="Segoe UI"/>
              </a:rPr>
              <a:t> </a:t>
            </a:r>
            <a:r>
              <a:rPr dirty="0" sz="1300" spc="-10">
                <a:solidFill>
                  <a:srgbClr val="EC7C30"/>
                </a:solidFill>
                <a:latin typeface="Segoe UI"/>
                <a:cs typeface="Segoe UI"/>
              </a:rPr>
              <a:t>them.</a:t>
            </a:r>
            <a:endParaRPr sz="1300">
              <a:latin typeface="Segoe UI"/>
              <a:cs typeface="Segoe UI"/>
            </a:endParaRPr>
          </a:p>
        </p:txBody>
      </p:sp>
      <p:sp>
        <p:nvSpPr>
          <p:cNvPr id="8" name="object 8"/>
          <p:cNvSpPr txBox="1"/>
          <p:nvPr/>
        </p:nvSpPr>
        <p:spPr>
          <a:xfrm>
            <a:off x="1266189" y="4047194"/>
            <a:ext cx="2171065" cy="1022350"/>
          </a:xfrm>
          <a:prstGeom prst="rect">
            <a:avLst/>
          </a:prstGeom>
        </p:spPr>
        <p:txBody>
          <a:bodyPr wrap="square" lIns="0" tIns="107950" rIns="0" bIns="0" rtlCol="0" vert="horz">
            <a:spAutoFit/>
          </a:bodyPr>
          <a:lstStyle/>
          <a:p>
            <a:pPr marL="12700">
              <a:lnSpc>
                <a:spcPct val="100000"/>
              </a:lnSpc>
              <a:spcBef>
                <a:spcPts val="850"/>
              </a:spcBef>
            </a:pPr>
            <a:r>
              <a:rPr dirty="0" sz="1500" b="1">
                <a:solidFill>
                  <a:srgbClr val="EC7C30"/>
                </a:solidFill>
                <a:latin typeface="Segoe UI"/>
                <a:cs typeface="Segoe UI"/>
              </a:rPr>
              <a:t>Diagnostics</a:t>
            </a:r>
            <a:r>
              <a:rPr dirty="0" sz="1500" spc="-75" b="1">
                <a:solidFill>
                  <a:srgbClr val="EC7C30"/>
                </a:solidFill>
                <a:latin typeface="Segoe UI"/>
                <a:cs typeface="Segoe UI"/>
              </a:rPr>
              <a:t> </a:t>
            </a:r>
            <a:r>
              <a:rPr dirty="0" sz="1500" spc="-10" b="1">
                <a:solidFill>
                  <a:srgbClr val="EC7C30"/>
                </a:solidFill>
                <a:latin typeface="Segoe UI"/>
                <a:cs typeface="Segoe UI"/>
              </a:rPr>
              <a:t>spread</a:t>
            </a:r>
            <a:endParaRPr sz="1500">
              <a:latin typeface="Segoe UI"/>
              <a:cs typeface="Segoe UI"/>
            </a:endParaRPr>
          </a:p>
          <a:p>
            <a:pPr marL="12700" marR="5080">
              <a:lnSpc>
                <a:spcPct val="99400"/>
              </a:lnSpc>
              <a:spcBef>
                <a:spcPts val="645"/>
              </a:spcBef>
            </a:pPr>
            <a:r>
              <a:rPr dirty="0" sz="1300">
                <a:solidFill>
                  <a:srgbClr val="EC7C30"/>
                </a:solidFill>
                <a:latin typeface="Segoe UI"/>
                <a:cs typeface="Segoe UI"/>
              </a:rPr>
              <a:t>Nearly</a:t>
            </a:r>
            <a:r>
              <a:rPr dirty="0" sz="1300" spc="-65">
                <a:solidFill>
                  <a:srgbClr val="EC7C30"/>
                </a:solidFill>
                <a:latin typeface="Segoe UI"/>
                <a:cs typeface="Segoe UI"/>
              </a:rPr>
              <a:t> </a:t>
            </a:r>
            <a:r>
              <a:rPr dirty="0" sz="1300">
                <a:solidFill>
                  <a:srgbClr val="EC7C30"/>
                </a:solidFill>
                <a:latin typeface="Segoe UI"/>
                <a:cs typeface="Segoe UI"/>
              </a:rPr>
              <a:t>3</a:t>
            </a:r>
            <a:r>
              <a:rPr dirty="0" sz="1300" spc="5">
                <a:solidFill>
                  <a:srgbClr val="EC7C30"/>
                </a:solidFill>
                <a:latin typeface="Segoe UI"/>
                <a:cs typeface="Segoe UI"/>
              </a:rPr>
              <a:t> </a:t>
            </a:r>
            <a:r>
              <a:rPr dirty="0" sz="1300">
                <a:solidFill>
                  <a:srgbClr val="EC7C30"/>
                </a:solidFill>
                <a:latin typeface="Segoe UI"/>
                <a:cs typeface="Segoe UI"/>
              </a:rPr>
              <a:t>in</a:t>
            </a:r>
            <a:r>
              <a:rPr dirty="0" sz="1300" spc="-25">
                <a:solidFill>
                  <a:srgbClr val="EC7C30"/>
                </a:solidFill>
                <a:latin typeface="Segoe UI"/>
                <a:cs typeface="Segoe UI"/>
              </a:rPr>
              <a:t> </a:t>
            </a:r>
            <a:r>
              <a:rPr dirty="0" sz="1300">
                <a:solidFill>
                  <a:srgbClr val="EC7C30"/>
                </a:solidFill>
                <a:latin typeface="Segoe UI"/>
                <a:cs typeface="Segoe UI"/>
              </a:rPr>
              <a:t>4</a:t>
            </a:r>
            <a:r>
              <a:rPr dirty="0" sz="1300" spc="5">
                <a:solidFill>
                  <a:srgbClr val="EC7C30"/>
                </a:solidFill>
                <a:latin typeface="Segoe UI"/>
                <a:cs typeface="Segoe UI"/>
              </a:rPr>
              <a:t> </a:t>
            </a:r>
            <a:r>
              <a:rPr dirty="0" sz="1300">
                <a:solidFill>
                  <a:srgbClr val="EC7C30"/>
                </a:solidFill>
                <a:latin typeface="Segoe UI"/>
                <a:cs typeface="Segoe UI"/>
              </a:rPr>
              <a:t>EU</a:t>
            </a:r>
            <a:r>
              <a:rPr dirty="0" sz="1300" spc="-45">
                <a:solidFill>
                  <a:srgbClr val="EC7C30"/>
                </a:solidFill>
                <a:latin typeface="Segoe UI"/>
                <a:cs typeface="Segoe UI"/>
              </a:rPr>
              <a:t> </a:t>
            </a:r>
            <a:r>
              <a:rPr dirty="0" sz="1300" spc="-10">
                <a:solidFill>
                  <a:srgbClr val="EC7C30"/>
                </a:solidFill>
                <a:latin typeface="Segoe UI"/>
                <a:cs typeface="Segoe UI"/>
              </a:rPr>
              <a:t>countries </a:t>
            </a:r>
            <a:r>
              <a:rPr dirty="0" sz="1300">
                <a:solidFill>
                  <a:srgbClr val="EC7C30"/>
                </a:solidFill>
                <a:latin typeface="Segoe UI"/>
                <a:cs typeface="Segoe UI"/>
              </a:rPr>
              <a:t>report</a:t>
            </a:r>
            <a:r>
              <a:rPr dirty="0" sz="1300" spc="-45">
                <a:solidFill>
                  <a:srgbClr val="EC7C30"/>
                </a:solidFill>
                <a:latin typeface="Segoe UI"/>
                <a:cs typeface="Segoe UI"/>
              </a:rPr>
              <a:t> </a:t>
            </a:r>
            <a:r>
              <a:rPr dirty="0" sz="1300">
                <a:solidFill>
                  <a:srgbClr val="EC7C30"/>
                </a:solidFill>
                <a:latin typeface="Segoe UI"/>
                <a:cs typeface="Segoe UI"/>
              </a:rPr>
              <a:t>AI-assisted</a:t>
            </a:r>
            <a:r>
              <a:rPr dirty="0" sz="1300" spc="-75">
                <a:solidFill>
                  <a:srgbClr val="EC7C30"/>
                </a:solidFill>
                <a:latin typeface="Segoe UI"/>
                <a:cs typeface="Segoe UI"/>
              </a:rPr>
              <a:t> </a:t>
            </a:r>
            <a:r>
              <a:rPr dirty="0" sz="1300" spc="-10">
                <a:solidFill>
                  <a:srgbClr val="EC7C30"/>
                </a:solidFill>
                <a:latin typeface="Segoe UI"/>
                <a:cs typeface="Segoe UI"/>
              </a:rPr>
              <a:t>diagnostics </a:t>
            </a:r>
            <a:r>
              <a:rPr dirty="0" sz="1300">
                <a:solidFill>
                  <a:srgbClr val="EC7C30"/>
                </a:solidFill>
                <a:latin typeface="Segoe UI"/>
                <a:cs typeface="Segoe UI"/>
              </a:rPr>
              <a:t>in</a:t>
            </a:r>
            <a:r>
              <a:rPr dirty="0" sz="1300" spc="-30">
                <a:solidFill>
                  <a:srgbClr val="EC7C30"/>
                </a:solidFill>
                <a:latin typeface="Segoe UI"/>
                <a:cs typeface="Segoe UI"/>
              </a:rPr>
              <a:t> </a:t>
            </a:r>
            <a:r>
              <a:rPr dirty="0" sz="1300">
                <a:solidFill>
                  <a:srgbClr val="EC7C30"/>
                </a:solidFill>
                <a:latin typeface="Segoe UI"/>
                <a:cs typeface="Segoe UI"/>
              </a:rPr>
              <a:t>clinical</a:t>
            </a:r>
            <a:r>
              <a:rPr dirty="0" sz="1300" spc="-35">
                <a:solidFill>
                  <a:srgbClr val="EC7C30"/>
                </a:solidFill>
                <a:latin typeface="Segoe UI"/>
                <a:cs typeface="Segoe UI"/>
              </a:rPr>
              <a:t> </a:t>
            </a:r>
            <a:r>
              <a:rPr dirty="0" sz="1300" spc="-10">
                <a:solidFill>
                  <a:srgbClr val="EC7C30"/>
                </a:solidFill>
                <a:latin typeface="Segoe UI"/>
                <a:cs typeface="Segoe UI"/>
              </a:rPr>
              <a:t>settings.</a:t>
            </a:r>
            <a:endParaRPr sz="1300">
              <a:latin typeface="Segoe UI"/>
              <a:cs typeface="Segoe UI"/>
            </a:endParaRPr>
          </a:p>
        </p:txBody>
      </p:sp>
      <p:sp>
        <p:nvSpPr>
          <p:cNvPr id="9" name="object 9"/>
          <p:cNvSpPr txBox="1"/>
          <p:nvPr/>
        </p:nvSpPr>
        <p:spPr>
          <a:xfrm>
            <a:off x="1266189" y="1876192"/>
            <a:ext cx="2041525" cy="1224280"/>
          </a:xfrm>
          <a:prstGeom prst="rect">
            <a:avLst/>
          </a:prstGeom>
        </p:spPr>
        <p:txBody>
          <a:bodyPr wrap="square" lIns="0" tIns="108585" rIns="0" bIns="0" rtlCol="0" vert="horz">
            <a:spAutoFit/>
          </a:bodyPr>
          <a:lstStyle/>
          <a:p>
            <a:pPr marL="12700">
              <a:lnSpc>
                <a:spcPct val="100000"/>
              </a:lnSpc>
              <a:spcBef>
                <a:spcPts val="855"/>
              </a:spcBef>
            </a:pPr>
            <a:r>
              <a:rPr dirty="0" sz="1500" b="1">
                <a:solidFill>
                  <a:srgbClr val="EC7C30"/>
                </a:solidFill>
                <a:latin typeface="Segoe UI"/>
                <a:cs typeface="Segoe UI"/>
              </a:rPr>
              <a:t>Radiology</a:t>
            </a:r>
            <a:r>
              <a:rPr dirty="0" sz="1500" spc="-50" b="1">
                <a:solidFill>
                  <a:srgbClr val="EC7C30"/>
                </a:solidFill>
                <a:latin typeface="Segoe UI"/>
                <a:cs typeface="Segoe UI"/>
              </a:rPr>
              <a:t> </a:t>
            </a:r>
            <a:r>
              <a:rPr dirty="0" sz="1500" spc="-10" b="1">
                <a:solidFill>
                  <a:srgbClr val="EC7C30"/>
                </a:solidFill>
                <a:latin typeface="Segoe UI"/>
                <a:cs typeface="Segoe UI"/>
              </a:rPr>
              <a:t>reality</a:t>
            </a:r>
            <a:endParaRPr sz="1500">
              <a:latin typeface="Segoe UI"/>
              <a:cs typeface="Segoe UI"/>
            </a:endParaRPr>
          </a:p>
          <a:p>
            <a:pPr marL="12700" marR="5080">
              <a:lnSpc>
                <a:spcPct val="100099"/>
              </a:lnSpc>
              <a:spcBef>
                <a:spcPts val="635"/>
              </a:spcBef>
            </a:pPr>
            <a:r>
              <a:rPr dirty="0" sz="1300">
                <a:solidFill>
                  <a:srgbClr val="EC7C30"/>
                </a:solidFill>
                <a:latin typeface="Segoe UI"/>
                <a:cs typeface="Segoe UI"/>
              </a:rPr>
              <a:t>48%</a:t>
            </a:r>
            <a:r>
              <a:rPr dirty="0" sz="1300" spc="-40">
                <a:solidFill>
                  <a:srgbClr val="EC7C30"/>
                </a:solidFill>
                <a:latin typeface="Segoe UI"/>
                <a:cs typeface="Segoe UI"/>
              </a:rPr>
              <a:t> </a:t>
            </a:r>
            <a:r>
              <a:rPr dirty="0" sz="1300">
                <a:solidFill>
                  <a:srgbClr val="EC7C30"/>
                </a:solidFill>
                <a:latin typeface="Segoe UI"/>
                <a:cs typeface="Segoe UI"/>
              </a:rPr>
              <a:t>of</a:t>
            </a:r>
            <a:r>
              <a:rPr dirty="0" sz="1300" spc="-25">
                <a:solidFill>
                  <a:srgbClr val="EC7C30"/>
                </a:solidFill>
                <a:latin typeface="Segoe UI"/>
                <a:cs typeface="Segoe UI"/>
              </a:rPr>
              <a:t> </a:t>
            </a:r>
            <a:r>
              <a:rPr dirty="0" sz="1300">
                <a:solidFill>
                  <a:srgbClr val="EC7C30"/>
                </a:solidFill>
                <a:latin typeface="Segoe UI"/>
                <a:cs typeface="Segoe UI"/>
              </a:rPr>
              <a:t>572</a:t>
            </a:r>
            <a:r>
              <a:rPr dirty="0" sz="1300" spc="-30">
                <a:solidFill>
                  <a:srgbClr val="EC7C30"/>
                </a:solidFill>
                <a:latin typeface="Segoe UI"/>
                <a:cs typeface="Segoe UI"/>
              </a:rPr>
              <a:t> </a:t>
            </a:r>
            <a:r>
              <a:rPr dirty="0" sz="1300" spc="-10">
                <a:solidFill>
                  <a:srgbClr val="EC7C30"/>
                </a:solidFill>
                <a:latin typeface="Segoe UI"/>
                <a:cs typeface="Segoe UI"/>
              </a:rPr>
              <a:t>European </a:t>
            </a:r>
            <a:r>
              <a:rPr dirty="0" sz="1300">
                <a:solidFill>
                  <a:srgbClr val="EC7C30"/>
                </a:solidFill>
                <a:latin typeface="Segoe UI"/>
                <a:cs typeface="Segoe UI"/>
              </a:rPr>
              <a:t>radiology</a:t>
            </a:r>
            <a:r>
              <a:rPr dirty="0" sz="1300" spc="-5">
                <a:solidFill>
                  <a:srgbClr val="EC7C30"/>
                </a:solidFill>
                <a:latin typeface="Segoe UI"/>
                <a:cs typeface="Segoe UI"/>
              </a:rPr>
              <a:t> </a:t>
            </a:r>
            <a:r>
              <a:rPr dirty="0" sz="1300" spc="-10">
                <a:solidFill>
                  <a:srgbClr val="EC7C30"/>
                </a:solidFill>
                <a:latin typeface="Segoe UI"/>
                <a:cs typeface="Segoe UI"/>
              </a:rPr>
              <a:t>respondents</a:t>
            </a:r>
            <a:r>
              <a:rPr dirty="0" sz="1300" spc="-65">
                <a:solidFill>
                  <a:srgbClr val="EC7C30"/>
                </a:solidFill>
                <a:latin typeface="Segoe UI"/>
                <a:cs typeface="Segoe UI"/>
              </a:rPr>
              <a:t> </a:t>
            </a:r>
            <a:r>
              <a:rPr dirty="0" sz="1300" spc="-20">
                <a:solidFill>
                  <a:srgbClr val="EC7C30"/>
                </a:solidFill>
                <a:latin typeface="Segoe UI"/>
                <a:cs typeface="Segoe UI"/>
              </a:rPr>
              <a:t>used </a:t>
            </a:r>
            <a:r>
              <a:rPr dirty="0" sz="1300">
                <a:solidFill>
                  <a:srgbClr val="EC7C30"/>
                </a:solidFill>
                <a:latin typeface="Segoe UI"/>
                <a:cs typeface="Segoe UI"/>
              </a:rPr>
              <a:t>AI;</a:t>
            </a:r>
            <a:r>
              <a:rPr dirty="0" sz="1300" spc="-15">
                <a:solidFill>
                  <a:srgbClr val="EC7C30"/>
                </a:solidFill>
                <a:latin typeface="Segoe UI"/>
                <a:cs typeface="Segoe UI"/>
              </a:rPr>
              <a:t> </a:t>
            </a:r>
            <a:r>
              <a:rPr dirty="0" sz="1300">
                <a:solidFill>
                  <a:srgbClr val="EC7C30"/>
                </a:solidFill>
                <a:latin typeface="Segoe UI"/>
                <a:cs typeface="Segoe UI"/>
              </a:rPr>
              <a:t>another</a:t>
            </a:r>
            <a:r>
              <a:rPr dirty="0" sz="1300" spc="-40">
                <a:solidFill>
                  <a:srgbClr val="EC7C30"/>
                </a:solidFill>
                <a:latin typeface="Segoe UI"/>
                <a:cs typeface="Segoe UI"/>
              </a:rPr>
              <a:t> </a:t>
            </a:r>
            <a:r>
              <a:rPr dirty="0" sz="1300">
                <a:solidFill>
                  <a:srgbClr val="EC7C30"/>
                </a:solidFill>
                <a:latin typeface="Segoe UI"/>
                <a:cs typeface="Segoe UI"/>
              </a:rPr>
              <a:t>25%</a:t>
            </a:r>
            <a:r>
              <a:rPr dirty="0" sz="1300" spc="-70">
                <a:solidFill>
                  <a:srgbClr val="EC7C30"/>
                </a:solidFill>
                <a:latin typeface="Segoe UI"/>
                <a:cs typeface="Segoe UI"/>
              </a:rPr>
              <a:t> </a:t>
            </a:r>
            <a:r>
              <a:rPr dirty="0" sz="1300" spc="-10">
                <a:solidFill>
                  <a:srgbClr val="EC7C30"/>
                </a:solidFill>
                <a:latin typeface="Segoe UI"/>
                <a:cs typeface="Segoe UI"/>
              </a:rPr>
              <a:t>planned adoption.</a:t>
            </a:r>
            <a:endParaRPr sz="1300">
              <a:latin typeface="Segoe UI"/>
              <a:cs typeface="Segoe UI"/>
            </a:endParaRPr>
          </a:p>
        </p:txBody>
      </p:sp>
      <p:sp>
        <p:nvSpPr>
          <p:cNvPr id="10" name="object 10"/>
          <p:cNvSpPr txBox="1"/>
          <p:nvPr/>
        </p:nvSpPr>
        <p:spPr>
          <a:xfrm>
            <a:off x="1266189" y="5902518"/>
            <a:ext cx="7917815" cy="282575"/>
          </a:xfrm>
          <a:prstGeom prst="rect">
            <a:avLst/>
          </a:prstGeom>
        </p:spPr>
        <p:txBody>
          <a:bodyPr wrap="square" lIns="0" tIns="17145" rIns="0" bIns="0" rtlCol="0" vert="horz">
            <a:spAutoFit/>
          </a:bodyPr>
          <a:lstStyle/>
          <a:p>
            <a:pPr marL="12700">
              <a:lnSpc>
                <a:spcPct val="100000"/>
              </a:lnSpc>
              <a:spcBef>
                <a:spcPts val="135"/>
              </a:spcBef>
            </a:pPr>
            <a:r>
              <a:rPr dirty="0" sz="900" i="1">
                <a:solidFill>
                  <a:srgbClr val="4A4A4A"/>
                </a:solidFill>
                <a:latin typeface="Arial"/>
                <a:cs typeface="Arial"/>
              </a:rPr>
              <a:t>Measurement caveat: no</a:t>
            </a:r>
            <a:r>
              <a:rPr dirty="0" sz="900" spc="-45" i="1">
                <a:solidFill>
                  <a:srgbClr val="4A4A4A"/>
                </a:solidFill>
                <a:latin typeface="Arial"/>
                <a:cs typeface="Arial"/>
              </a:rPr>
              <a:t> </a:t>
            </a:r>
            <a:r>
              <a:rPr dirty="0" sz="900" i="1">
                <a:solidFill>
                  <a:srgbClr val="4A4A4A"/>
                </a:solidFill>
                <a:latin typeface="Arial"/>
                <a:cs typeface="Arial"/>
              </a:rPr>
              <a:t>harmonized</a:t>
            </a:r>
            <a:r>
              <a:rPr dirty="0" sz="900" spc="-45" i="1">
                <a:solidFill>
                  <a:srgbClr val="4A4A4A"/>
                </a:solidFill>
                <a:latin typeface="Arial"/>
                <a:cs typeface="Arial"/>
              </a:rPr>
              <a:t> </a:t>
            </a:r>
            <a:r>
              <a:rPr dirty="0" sz="900" i="1">
                <a:solidFill>
                  <a:srgbClr val="4A4A4A"/>
                </a:solidFill>
                <a:latin typeface="Arial"/>
                <a:cs typeface="Arial"/>
              </a:rPr>
              <a:t>EU</a:t>
            </a:r>
            <a:r>
              <a:rPr dirty="0" sz="900" spc="20" i="1">
                <a:solidFill>
                  <a:srgbClr val="4A4A4A"/>
                </a:solidFill>
                <a:latin typeface="Arial"/>
                <a:cs typeface="Arial"/>
              </a:rPr>
              <a:t> </a:t>
            </a:r>
            <a:r>
              <a:rPr dirty="0" sz="900" spc="-10" i="1">
                <a:solidFill>
                  <a:srgbClr val="4A4A4A"/>
                </a:solidFill>
                <a:latin typeface="Arial"/>
                <a:cs typeface="Arial"/>
              </a:rPr>
              <a:t>hospital-</a:t>
            </a:r>
            <a:r>
              <a:rPr dirty="0" sz="900" i="1">
                <a:solidFill>
                  <a:srgbClr val="4A4A4A"/>
                </a:solidFill>
                <a:latin typeface="Arial"/>
                <a:cs typeface="Arial"/>
              </a:rPr>
              <a:t>level</a:t>
            </a:r>
            <a:r>
              <a:rPr dirty="0" sz="900" spc="-5" i="1">
                <a:solidFill>
                  <a:srgbClr val="4A4A4A"/>
                </a:solidFill>
                <a:latin typeface="Arial"/>
                <a:cs typeface="Arial"/>
              </a:rPr>
              <a:t> </a:t>
            </a:r>
            <a:r>
              <a:rPr dirty="0" sz="900" i="1">
                <a:solidFill>
                  <a:srgbClr val="4A4A4A"/>
                </a:solidFill>
                <a:latin typeface="Arial"/>
                <a:cs typeface="Arial"/>
              </a:rPr>
              <a:t>adoption</a:t>
            </a:r>
            <a:r>
              <a:rPr dirty="0" sz="900" spc="-15" i="1">
                <a:solidFill>
                  <a:srgbClr val="4A4A4A"/>
                </a:solidFill>
                <a:latin typeface="Arial"/>
                <a:cs typeface="Arial"/>
              </a:rPr>
              <a:t> </a:t>
            </a:r>
            <a:r>
              <a:rPr dirty="0" sz="900" i="1">
                <a:solidFill>
                  <a:srgbClr val="4A4A4A"/>
                </a:solidFill>
                <a:latin typeface="Arial"/>
                <a:cs typeface="Arial"/>
              </a:rPr>
              <a:t>ranking</a:t>
            </a:r>
            <a:r>
              <a:rPr dirty="0" sz="900" spc="-45" i="1">
                <a:solidFill>
                  <a:srgbClr val="4A4A4A"/>
                </a:solidFill>
                <a:latin typeface="Arial"/>
                <a:cs typeface="Arial"/>
              </a:rPr>
              <a:t> </a:t>
            </a:r>
            <a:r>
              <a:rPr dirty="0" sz="900" i="1">
                <a:solidFill>
                  <a:srgbClr val="4A4A4A"/>
                </a:solidFill>
                <a:latin typeface="Arial"/>
                <a:cs typeface="Arial"/>
              </a:rPr>
              <a:t>exists; these</a:t>
            </a:r>
            <a:r>
              <a:rPr dirty="0" sz="900" spc="-45" i="1">
                <a:solidFill>
                  <a:srgbClr val="4A4A4A"/>
                </a:solidFill>
                <a:latin typeface="Arial"/>
                <a:cs typeface="Arial"/>
              </a:rPr>
              <a:t> </a:t>
            </a:r>
            <a:r>
              <a:rPr dirty="0" sz="900" i="1">
                <a:solidFill>
                  <a:srgbClr val="4A4A4A"/>
                </a:solidFill>
                <a:latin typeface="Arial"/>
                <a:cs typeface="Arial"/>
              </a:rPr>
              <a:t>indicators</a:t>
            </a:r>
            <a:r>
              <a:rPr dirty="0" sz="900" spc="-65" i="1">
                <a:solidFill>
                  <a:srgbClr val="4A4A4A"/>
                </a:solidFill>
                <a:latin typeface="Arial"/>
                <a:cs typeface="Arial"/>
              </a:rPr>
              <a:t> </a:t>
            </a:r>
            <a:r>
              <a:rPr dirty="0" sz="900" i="1">
                <a:solidFill>
                  <a:srgbClr val="4A4A4A"/>
                </a:solidFill>
                <a:latin typeface="Arial"/>
                <a:cs typeface="Arial"/>
              </a:rPr>
              <a:t>use</a:t>
            </a:r>
            <a:r>
              <a:rPr dirty="0" sz="900" spc="30" i="1">
                <a:solidFill>
                  <a:srgbClr val="4A4A4A"/>
                </a:solidFill>
                <a:latin typeface="Arial"/>
                <a:cs typeface="Arial"/>
              </a:rPr>
              <a:t> </a:t>
            </a:r>
            <a:r>
              <a:rPr dirty="0" sz="900" i="1">
                <a:solidFill>
                  <a:srgbClr val="4A4A4A"/>
                </a:solidFill>
                <a:latin typeface="Arial"/>
                <a:cs typeface="Arial"/>
              </a:rPr>
              <a:t>different</a:t>
            </a:r>
            <a:r>
              <a:rPr dirty="0" sz="900" spc="-75" i="1">
                <a:solidFill>
                  <a:srgbClr val="4A4A4A"/>
                </a:solidFill>
                <a:latin typeface="Arial"/>
                <a:cs typeface="Arial"/>
              </a:rPr>
              <a:t> </a:t>
            </a:r>
            <a:r>
              <a:rPr dirty="0" sz="900" i="1">
                <a:solidFill>
                  <a:srgbClr val="4A4A4A"/>
                </a:solidFill>
                <a:latin typeface="Arial"/>
                <a:cs typeface="Arial"/>
              </a:rPr>
              <a:t>denominators</a:t>
            </a:r>
            <a:r>
              <a:rPr dirty="0" sz="900" spc="20" i="1">
                <a:solidFill>
                  <a:srgbClr val="4A4A4A"/>
                </a:solidFill>
                <a:latin typeface="Arial"/>
                <a:cs typeface="Arial"/>
              </a:rPr>
              <a:t> </a:t>
            </a:r>
            <a:r>
              <a:rPr dirty="0" sz="900" i="1">
                <a:solidFill>
                  <a:srgbClr val="4A4A4A"/>
                </a:solidFill>
                <a:latin typeface="Arial"/>
                <a:cs typeface="Arial"/>
              </a:rPr>
              <a:t>and</a:t>
            </a:r>
            <a:r>
              <a:rPr dirty="0" sz="900" spc="-20" i="1">
                <a:solidFill>
                  <a:srgbClr val="4A4A4A"/>
                </a:solidFill>
                <a:latin typeface="Arial"/>
                <a:cs typeface="Arial"/>
              </a:rPr>
              <a:t> </a:t>
            </a:r>
            <a:r>
              <a:rPr dirty="0" sz="900" i="1">
                <a:solidFill>
                  <a:srgbClr val="4A4A4A"/>
                </a:solidFill>
                <a:latin typeface="Arial"/>
                <a:cs typeface="Arial"/>
              </a:rPr>
              <a:t>are</a:t>
            </a:r>
            <a:r>
              <a:rPr dirty="0" sz="900" spc="30" i="1">
                <a:solidFill>
                  <a:srgbClr val="4A4A4A"/>
                </a:solidFill>
                <a:latin typeface="Arial"/>
                <a:cs typeface="Arial"/>
              </a:rPr>
              <a:t> </a:t>
            </a:r>
            <a:r>
              <a:rPr dirty="0" sz="900" spc="-10" i="1">
                <a:solidFill>
                  <a:srgbClr val="4A4A4A"/>
                </a:solidFill>
                <a:latin typeface="Arial"/>
                <a:cs typeface="Arial"/>
              </a:rPr>
              <a:t>not</a:t>
            </a:r>
            <a:r>
              <a:rPr dirty="0" sz="900" i="1">
                <a:solidFill>
                  <a:srgbClr val="4A4A4A"/>
                </a:solidFill>
                <a:latin typeface="Arial"/>
                <a:cs typeface="Arial"/>
              </a:rPr>
              <a:t> directly</a:t>
            </a:r>
            <a:r>
              <a:rPr dirty="0" sz="900" spc="-65" i="1">
                <a:solidFill>
                  <a:srgbClr val="4A4A4A"/>
                </a:solidFill>
                <a:latin typeface="Arial"/>
                <a:cs typeface="Arial"/>
              </a:rPr>
              <a:t> </a:t>
            </a:r>
            <a:r>
              <a:rPr dirty="0" sz="900" spc="-10" i="1">
                <a:solidFill>
                  <a:srgbClr val="4A4A4A"/>
                </a:solidFill>
                <a:latin typeface="Arial"/>
                <a:cs typeface="Arial"/>
              </a:rPr>
              <a:t>comparable.</a:t>
            </a:r>
            <a:endParaRPr sz="900">
              <a:latin typeface="Arial"/>
              <a:cs typeface="Arial"/>
            </a:endParaRPr>
          </a:p>
          <a:p>
            <a:pPr marL="12700">
              <a:lnSpc>
                <a:spcPct val="100000"/>
              </a:lnSpc>
              <a:spcBef>
                <a:spcPts val="60"/>
              </a:spcBef>
            </a:pPr>
            <a:r>
              <a:rPr dirty="0" sz="700" spc="10">
                <a:solidFill>
                  <a:srgbClr val="5F5F5F"/>
                </a:solidFill>
                <a:latin typeface="Arial MT"/>
                <a:cs typeface="Arial MT"/>
              </a:rPr>
              <a:t>Sources:</a:t>
            </a:r>
            <a:r>
              <a:rPr dirty="0" sz="700" spc="75">
                <a:solidFill>
                  <a:srgbClr val="5F5F5F"/>
                </a:solidFill>
                <a:latin typeface="Arial MT"/>
                <a:cs typeface="Arial MT"/>
              </a:rPr>
              <a:t> </a:t>
            </a:r>
            <a:r>
              <a:rPr dirty="0" sz="700" spc="10">
                <a:solidFill>
                  <a:srgbClr val="5F5F5F"/>
                </a:solidFill>
                <a:latin typeface="Arial MT"/>
                <a:cs typeface="Arial MT"/>
              </a:rPr>
              <a:t>WHO/Europe</a:t>
            </a:r>
            <a:r>
              <a:rPr dirty="0" sz="700" spc="95">
                <a:solidFill>
                  <a:srgbClr val="5F5F5F"/>
                </a:solidFill>
                <a:latin typeface="Arial MT"/>
                <a:cs typeface="Arial MT"/>
              </a:rPr>
              <a:t> </a:t>
            </a:r>
            <a:r>
              <a:rPr dirty="0" sz="700" spc="10">
                <a:solidFill>
                  <a:srgbClr val="5F5F5F"/>
                </a:solidFill>
                <a:latin typeface="Arial MT"/>
                <a:cs typeface="Arial MT"/>
              </a:rPr>
              <a:t>EU</a:t>
            </a:r>
            <a:r>
              <a:rPr dirty="0" sz="700" spc="35">
                <a:solidFill>
                  <a:srgbClr val="5F5F5F"/>
                </a:solidFill>
                <a:latin typeface="Arial MT"/>
                <a:cs typeface="Arial MT"/>
              </a:rPr>
              <a:t> </a:t>
            </a:r>
            <a:r>
              <a:rPr dirty="0" sz="700" spc="10">
                <a:solidFill>
                  <a:srgbClr val="5F5F5F"/>
                </a:solidFill>
                <a:latin typeface="Arial MT"/>
                <a:cs typeface="Arial MT"/>
              </a:rPr>
              <a:t>readiness</a:t>
            </a:r>
            <a:r>
              <a:rPr dirty="0" sz="700" spc="50">
                <a:solidFill>
                  <a:srgbClr val="5F5F5F"/>
                </a:solidFill>
                <a:latin typeface="Arial MT"/>
                <a:cs typeface="Arial MT"/>
              </a:rPr>
              <a:t> </a:t>
            </a:r>
            <a:r>
              <a:rPr dirty="0" sz="700" spc="10">
                <a:solidFill>
                  <a:srgbClr val="5F5F5F"/>
                </a:solidFill>
                <a:latin typeface="Arial MT"/>
                <a:cs typeface="Arial MT"/>
              </a:rPr>
              <a:t>survey</a:t>
            </a:r>
            <a:r>
              <a:rPr dirty="0" sz="700" spc="105">
                <a:solidFill>
                  <a:srgbClr val="5F5F5F"/>
                </a:solidFill>
                <a:latin typeface="Arial MT"/>
                <a:cs typeface="Arial MT"/>
              </a:rPr>
              <a:t> </a:t>
            </a:r>
            <a:r>
              <a:rPr dirty="0" sz="700" spc="10">
                <a:solidFill>
                  <a:srgbClr val="5F5F5F"/>
                </a:solidFill>
                <a:latin typeface="Arial MT"/>
                <a:cs typeface="Arial MT"/>
              </a:rPr>
              <a:t>(2024–25);</a:t>
            </a:r>
            <a:r>
              <a:rPr dirty="0" sz="700" spc="105">
                <a:solidFill>
                  <a:srgbClr val="5F5F5F"/>
                </a:solidFill>
                <a:latin typeface="Arial MT"/>
                <a:cs typeface="Arial MT"/>
              </a:rPr>
              <a:t> </a:t>
            </a:r>
            <a:r>
              <a:rPr dirty="0" sz="700" spc="10">
                <a:solidFill>
                  <a:srgbClr val="5F5F5F"/>
                </a:solidFill>
                <a:latin typeface="Arial MT"/>
                <a:cs typeface="Arial MT"/>
              </a:rPr>
              <a:t>European</a:t>
            </a:r>
            <a:r>
              <a:rPr dirty="0" sz="700" spc="95">
                <a:solidFill>
                  <a:srgbClr val="5F5F5F"/>
                </a:solidFill>
                <a:latin typeface="Arial MT"/>
                <a:cs typeface="Arial MT"/>
              </a:rPr>
              <a:t> </a:t>
            </a:r>
            <a:r>
              <a:rPr dirty="0" sz="700" spc="10">
                <a:solidFill>
                  <a:srgbClr val="5F5F5F"/>
                </a:solidFill>
                <a:latin typeface="Arial MT"/>
                <a:cs typeface="Arial MT"/>
              </a:rPr>
              <a:t>Commission</a:t>
            </a:r>
            <a:r>
              <a:rPr dirty="0" sz="700" spc="95">
                <a:solidFill>
                  <a:srgbClr val="5F5F5F"/>
                </a:solidFill>
                <a:latin typeface="Arial MT"/>
                <a:cs typeface="Arial MT"/>
              </a:rPr>
              <a:t> </a:t>
            </a:r>
            <a:r>
              <a:rPr dirty="0" sz="700" spc="10">
                <a:solidFill>
                  <a:srgbClr val="5F5F5F"/>
                </a:solidFill>
                <a:latin typeface="Arial MT"/>
                <a:cs typeface="Arial MT"/>
              </a:rPr>
              <a:t>Digital</a:t>
            </a:r>
            <a:r>
              <a:rPr dirty="0" sz="700" spc="35">
                <a:solidFill>
                  <a:srgbClr val="5F5F5F"/>
                </a:solidFill>
                <a:latin typeface="Arial MT"/>
                <a:cs typeface="Arial MT"/>
              </a:rPr>
              <a:t> </a:t>
            </a:r>
            <a:r>
              <a:rPr dirty="0" sz="700" spc="10">
                <a:solidFill>
                  <a:srgbClr val="5F5F5F"/>
                </a:solidFill>
                <a:latin typeface="Arial MT"/>
                <a:cs typeface="Arial MT"/>
              </a:rPr>
              <a:t>Health</a:t>
            </a:r>
            <a:r>
              <a:rPr dirty="0" sz="700" spc="95">
                <a:solidFill>
                  <a:srgbClr val="5F5F5F"/>
                </a:solidFill>
                <a:latin typeface="Arial MT"/>
                <a:cs typeface="Arial MT"/>
              </a:rPr>
              <a:t> </a:t>
            </a:r>
            <a:r>
              <a:rPr dirty="0" sz="700" spc="10">
                <a:solidFill>
                  <a:srgbClr val="5F5F5F"/>
                </a:solidFill>
                <a:latin typeface="Arial MT"/>
                <a:cs typeface="Arial MT"/>
              </a:rPr>
              <a:t>Observ</a:t>
            </a:r>
            <a:r>
              <a:rPr dirty="0" sz="700" spc="-114">
                <a:solidFill>
                  <a:srgbClr val="5F5F5F"/>
                </a:solidFill>
                <a:latin typeface="Arial MT"/>
                <a:cs typeface="Arial MT"/>
              </a:rPr>
              <a:t> </a:t>
            </a:r>
            <a:r>
              <a:rPr dirty="0" sz="700" spc="10">
                <a:solidFill>
                  <a:srgbClr val="5F5F5F"/>
                </a:solidFill>
                <a:latin typeface="Arial MT"/>
                <a:cs typeface="Arial MT"/>
              </a:rPr>
              <a:t>atory</a:t>
            </a:r>
            <a:r>
              <a:rPr dirty="0" sz="700" spc="145">
                <a:solidFill>
                  <a:srgbClr val="5F5F5F"/>
                </a:solidFill>
                <a:latin typeface="Arial MT"/>
                <a:cs typeface="Arial MT"/>
              </a:rPr>
              <a:t> </a:t>
            </a:r>
            <a:r>
              <a:rPr dirty="0" sz="700" spc="10">
                <a:solidFill>
                  <a:srgbClr val="5F5F5F"/>
                </a:solidFill>
                <a:latin typeface="Arial MT"/>
                <a:cs typeface="Arial MT"/>
              </a:rPr>
              <a:t>(2026);</a:t>
            </a:r>
            <a:r>
              <a:rPr dirty="0" sz="700" spc="75">
                <a:solidFill>
                  <a:srgbClr val="5F5F5F"/>
                </a:solidFill>
                <a:latin typeface="Arial MT"/>
                <a:cs typeface="Arial MT"/>
              </a:rPr>
              <a:t> </a:t>
            </a:r>
            <a:r>
              <a:rPr dirty="0" sz="700" spc="10">
                <a:solidFill>
                  <a:srgbClr val="5F5F5F"/>
                </a:solidFill>
                <a:latin typeface="Arial MT"/>
                <a:cs typeface="Arial MT"/>
              </a:rPr>
              <a:t>Zanardo</a:t>
            </a:r>
            <a:r>
              <a:rPr dirty="0" sz="700" spc="95">
                <a:solidFill>
                  <a:srgbClr val="5F5F5F"/>
                </a:solidFill>
                <a:latin typeface="Arial MT"/>
                <a:cs typeface="Arial MT"/>
              </a:rPr>
              <a:t> </a:t>
            </a:r>
            <a:r>
              <a:rPr dirty="0" sz="700" spc="10">
                <a:solidFill>
                  <a:srgbClr val="5F5F5F"/>
                </a:solidFill>
                <a:latin typeface="Arial MT"/>
                <a:cs typeface="Arial MT"/>
              </a:rPr>
              <a:t>et</a:t>
            </a:r>
            <a:r>
              <a:rPr dirty="0" sz="700" spc="-15">
                <a:solidFill>
                  <a:srgbClr val="5F5F5F"/>
                </a:solidFill>
                <a:latin typeface="Arial MT"/>
                <a:cs typeface="Arial MT"/>
              </a:rPr>
              <a:t> </a:t>
            </a:r>
            <a:r>
              <a:rPr dirty="0" sz="700" spc="10">
                <a:solidFill>
                  <a:srgbClr val="5F5F5F"/>
                </a:solidFill>
                <a:latin typeface="Arial MT"/>
                <a:cs typeface="Arial MT"/>
              </a:rPr>
              <a:t>al.,</a:t>
            </a:r>
            <a:r>
              <a:rPr dirty="0" sz="700" spc="75">
                <a:solidFill>
                  <a:srgbClr val="5F5F5F"/>
                </a:solidFill>
                <a:latin typeface="Arial MT"/>
                <a:cs typeface="Arial MT"/>
              </a:rPr>
              <a:t> </a:t>
            </a:r>
            <a:r>
              <a:rPr dirty="0" sz="700" spc="10">
                <a:solidFill>
                  <a:srgbClr val="5F5F5F"/>
                </a:solidFill>
                <a:latin typeface="Arial MT"/>
                <a:cs typeface="Arial MT"/>
              </a:rPr>
              <a:t>Insights</a:t>
            </a:r>
            <a:r>
              <a:rPr dirty="0" sz="700" spc="60">
                <a:solidFill>
                  <a:srgbClr val="5F5F5F"/>
                </a:solidFill>
                <a:latin typeface="Arial MT"/>
                <a:cs typeface="Arial MT"/>
              </a:rPr>
              <a:t> </a:t>
            </a:r>
            <a:r>
              <a:rPr dirty="0" sz="700" spc="10">
                <a:solidFill>
                  <a:srgbClr val="5F5F5F"/>
                </a:solidFill>
                <a:latin typeface="Arial MT"/>
                <a:cs typeface="Arial MT"/>
              </a:rPr>
              <a:t>into</a:t>
            </a:r>
            <a:r>
              <a:rPr dirty="0" sz="700" spc="95">
                <a:solidFill>
                  <a:srgbClr val="5F5F5F"/>
                </a:solidFill>
                <a:latin typeface="Arial MT"/>
                <a:cs typeface="Arial MT"/>
              </a:rPr>
              <a:t> </a:t>
            </a:r>
            <a:r>
              <a:rPr dirty="0" sz="700" spc="10">
                <a:solidFill>
                  <a:srgbClr val="5F5F5F"/>
                </a:solidFill>
                <a:latin typeface="Arial MT"/>
                <a:cs typeface="Arial MT"/>
              </a:rPr>
              <a:t>Imaging </a:t>
            </a:r>
            <a:r>
              <a:rPr dirty="0" sz="700" spc="-10">
                <a:solidFill>
                  <a:srgbClr val="5F5F5F"/>
                </a:solidFill>
                <a:latin typeface="Arial MT"/>
                <a:cs typeface="Arial MT"/>
              </a:rPr>
              <a:t>(2024).</a:t>
            </a:r>
            <a:endParaRPr sz="70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1067" y="272923"/>
            <a:ext cx="10433685"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rPr>
              <a:t>However,</a:t>
            </a:r>
            <a:r>
              <a:rPr dirty="0" spc="-30">
                <a:solidFill>
                  <a:srgbClr val="003E34"/>
                </a:solidFill>
              </a:rPr>
              <a:t> </a:t>
            </a:r>
            <a:r>
              <a:rPr dirty="0">
                <a:solidFill>
                  <a:srgbClr val="003E34"/>
                </a:solidFill>
              </a:rPr>
              <a:t>EU</a:t>
            </a:r>
            <a:r>
              <a:rPr dirty="0" spc="20">
                <a:solidFill>
                  <a:srgbClr val="003E34"/>
                </a:solidFill>
              </a:rPr>
              <a:t> </a:t>
            </a:r>
            <a:r>
              <a:rPr dirty="0">
                <a:solidFill>
                  <a:srgbClr val="003E34"/>
                </a:solidFill>
              </a:rPr>
              <a:t>rules</a:t>
            </a:r>
            <a:r>
              <a:rPr dirty="0" spc="45">
                <a:solidFill>
                  <a:srgbClr val="003E34"/>
                </a:solidFill>
              </a:rPr>
              <a:t> </a:t>
            </a:r>
            <a:r>
              <a:rPr dirty="0">
                <a:solidFill>
                  <a:srgbClr val="003E34"/>
                </a:solidFill>
              </a:rPr>
              <a:t>turn</a:t>
            </a:r>
            <a:r>
              <a:rPr dirty="0" spc="5">
                <a:solidFill>
                  <a:srgbClr val="003E34"/>
                </a:solidFill>
              </a:rPr>
              <a:t> </a:t>
            </a:r>
            <a:r>
              <a:rPr dirty="0">
                <a:solidFill>
                  <a:srgbClr val="003E34"/>
                </a:solidFill>
              </a:rPr>
              <a:t>healthcare</a:t>
            </a:r>
            <a:r>
              <a:rPr dirty="0" spc="35">
                <a:solidFill>
                  <a:srgbClr val="003E34"/>
                </a:solidFill>
              </a:rPr>
              <a:t> </a:t>
            </a:r>
            <a:r>
              <a:rPr dirty="0">
                <a:solidFill>
                  <a:srgbClr val="003E34"/>
                </a:solidFill>
              </a:rPr>
              <a:t>ML</a:t>
            </a:r>
            <a:r>
              <a:rPr dirty="0" spc="10">
                <a:solidFill>
                  <a:srgbClr val="003E34"/>
                </a:solidFill>
              </a:rPr>
              <a:t> </a:t>
            </a:r>
            <a:r>
              <a:rPr dirty="0">
                <a:solidFill>
                  <a:srgbClr val="003E34"/>
                </a:solidFill>
              </a:rPr>
              <a:t>into</a:t>
            </a:r>
            <a:r>
              <a:rPr dirty="0" spc="85">
                <a:solidFill>
                  <a:srgbClr val="003E34"/>
                </a:solidFill>
              </a:rPr>
              <a:t> </a:t>
            </a:r>
            <a:r>
              <a:rPr dirty="0">
                <a:solidFill>
                  <a:srgbClr val="003E34"/>
                </a:solidFill>
              </a:rPr>
              <a:t>a</a:t>
            </a:r>
            <a:r>
              <a:rPr dirty="0" spc="45">
                <a:solidFill>
                  <a:srgbClr val="003E34"/>
                </a:solidFill>
              </a:rPr>
              <a:t> </a:t>
            </a:r>
            <a:r>
              <a:rPr dirty="0" spc="-10">
                <a:solidFill>
                  <a:srgbClr val="003E34"/>
                </a:solidFill>
              </a:rPr>
              <a:t>governed </a:t>
            </a:r>
            <a:r>
              <a:rPr dirty="0">
                <a:solidFill>
                  <a:srgbClr val="003E34"/>
                </a:solidFill>
              </a:rPr>
              <a:t>clinical</a:t>
            </a:r>
            <a:r>
              <a:rPr dirty="0" spc="80">
                <a:solidFill>
                  <a:srgbClr val="003E34"/>
                </a:solidFill>
              </a:rPr>
              <a:t> </a:t>
            </a:r>
            <a:r>
              <a:rPr dirty="0" spc="-10">
                <a:solidFill>
                  <a:srgbClr val="003E34"/>
                </a:solidFill>
              </a:rPr>
              <a:t>process</a:t>
            </a:r>
          </a:p>
        </p:txBody>
      </p:sp>
      <p:grpSp>
        <p:nvGrpSpPr>
          <p:cNvPr id="3" name="object 3"/>
          <p:cNvGrpSpPr/>
          <p:nvPr/>
        </p:nvGrpSpPr>
        <p:grpSpPr>
          <a:xfrm>
            <a:off x="996696" y="1399413"/>
            <a:ext cx="7004684" cy="4399915"/>
            <a:chOff x="996696" y="1399413"/>
            <a:chExt cx="7004684" cy="4399915"/>
          </a:xfrm>
        </p:grpSpPr>
        <p:sp>
          <p:nvSpPr>
            <p:cNvPr id="4" name="object 4"/>
            <p:cNvSpPr/>
            <p:nvPr/>
          </p:nvSpPr>
          <p:spPr>
            <a:xfrm>
              <a:off x="4370831" y="1637157"/>
              <a:ext cx="320040" cy="3924300"/>
            </a:xfrm>
            <a:custGeom>
              <a:avLst/>
              <a:gdLst/>
              <a:ahLst/>
              <a:cxnLst/>
              <a:rect l="l" t="t" r="r" b="b"/>
              <a:pathLst>
                <a:path w="320039" h="3924300">
                  <a:moveTo>
                    <a:pt x="320039" y="0"/>
                  </a:moveTo>
                  <a:lnTo>
                    <a:pt x="0" y="211454"/>
                  </a:lnTo>
                  <a:lnTo>
                    <a:pt x="0" y="3712336"/>
                  </a:lnTo>
                  <a:lnTo>
                    <a:pt x="320039" y="3923791"/>
                  </a:lnTo>
                  <a:lnTo>
                    <a:pt x="320039" y="0"/>
                  </a:lnTo>
                  <a:close/>
                </a:path>
              </a:pathLst>
            </a:custGeom>
            <a:solidFill>
              <a:srgbClr val="00B8F5"/>
            </a:solidFill>
          </p:spPr>
          <p:txBody>
            <a:bodyPr wrap="square" lIns="0" tIns="0" rIns="0" bIns="0" rtlCol="0"/>
            <a:lstStyle/>
            <a:p/>
          </p:txBody>
        </p:sp>
        <p:sp>
          <p:nvSpPr>
            <p:cNvPr id="5" name="object 5"/>
            <p:cNvSpPr/>
            <p:nvPr/>
          </p:nvSpPr>
          <p:spPr>
            <a:xfrm>
              <a:off x="7498080" y="1399413"/>
              <a:ext cx="502920" cy="4399915"/>
            </a:xfrm>
            <a:custGeom>
              <a:avLst/>
              <a:gdLst/>
              <a:ahLst/>
              <a:cxnLst/>
              <a:rect l="l" t="t" r="r" b="b"/>
              <a:pathLst>
                <a:path w="502920" h="4399915">
                  <a:moveTo>
                    <a:pt x="502920" y="0"/>
                  </a:moveTo>
                  <a:lnTo>
                    <a:pt x="0" y="235076"/>
                  </a:lnTo>
                  <a:lnTo>
                    <a:pt x="0" y="4164329"/>
                  </a:lnTo>
                  <a:lnTo>
                    <a:pt x="502920" y="4399330"/>
                  </a:lnTo>
                  <a:lnTo>
                    <a:pt x="502920" y="0"/>
                  </a:lnTo>
                  <a:close/>
                </a:path>
              </a:pathLst>
            </a:custGeom>
            <a:solidFill>
              <a:srgbClr val="1F49E2"/>
            </a:solidFill>
          </p:spPr>
          <p:txBody>
            <a:bodyPr wrap="square" lIns="0" tIns="0" rIns="0" bIns="0" rtlCol="0"/>
            <a:lstStyle/>
            <a:p/>
          </p:txBody>
        </p:sp>
        <p:sp>
          <p:nvSpPr>
            <p:cNvPr id="6" name="object 6"/>
            <p:cNvSpPr/>
            <p:nvPr/>
          </p:nvSpPr>
          <p:spPr>
            <a:xfrm>
              <a:off x="996696" y="1847596"/>
              <a:ext cx="3374390" cy="3512185"/>
            </a:xfrm>
            <a:custGeom>
              <a:avLst/>
              <a:gdLst/>
              <a:ahLst/>
              <a:cxnLst/>
              <a:rect l="l" t="t" r="r" b="b"/>
              <a:pathLst>
                <a:path w="3374390" h="3512185">
                  <a:moveTo>
                    <a:pt x="3374136" y="0"/>
                  </a:moveTo>
                  <a:lnTo>
                    <a:pt x="0" y="0"/>
                  </a:lnTo>
                  <a:lnTo>
                    <a:pt x="0" y="3512184"/>
                  </a:lnTo>
                  <a:lnTo>
                    <a:pt x="3374136" y="3512184"/>
                  </a:lnTo>
                  <a:lnTo>
                    <a:pt x="3374136" y="0"/>
                  </a:lnTo>
                  <a:close/>
                </a:path>
              </a:pathLst>
            </a:custGeom>
            <a:solidFill>
              <a:srgbClr val="4471C4"/>
            </a:solidFill>
          </p:spPr>
          <p:txBody>
            <a:bodyPr wrap="square" lIns="0" tIns="0" rIns="0" bIns="0" rtlCol="0"/>
            <a:lstStyle/>
            <a:p/>
          </p:txBody>
        </p:sp>
      </p:grpSp>
      <p:sp>
        <p:nvSpPr>
          <p:cNvPr id="7" name="object 7"/>
          <p:cNvSpPr txBox="1">
            <a:spLocks noGrp="1"/>
          </p:cNvSpPr>
          <p:nvPr>
            <p:ph idx="2" sz="half"/>
          </p:nvPr>
        </p:nvSpPr>
        <p:spPr>
          <a:prstGeom prst="rect"/>
        </p:spPr>
        <p:txBody>
          <a:bodyPr wrap="square" lIns="0" tIns="73660" rIns="0" bIns="0" rtlCol="0" vert="horz">
            <a:spAutoFit/>
          </a:bodyPr>
          <a:lstStyle/>
          <a:p>
            <a:pPr>
              <a:lnSpc>
                <a:spcPct val="100000"/>
              </a:lnSpc>
              <a:spcBef>
                <a:spcPts val="580"/>
              </a:spcBef>
            </a:pPr>
          </a:p>
          <a:p>
            <a:pPr marL="700405">
              <a:lnSpc>
                <a:spcPct val="100000"/>
              </a:lnSpc>
            </a:pPr>
            <a:r>
              <a:rPr dirty="0"/>
              <a:t>EU</a:t>
            </a:r>
            <a:r>
              <a:rPr dirty="0" spc="5"/>
              <a:t> </a:t>
            </a:r>
            <a:r>
              <a:rPr dirty="0"/>
              <a:t>AI</a:t>
            </a:r>
            <a:r>
              <a:rPr dirty="0" spc="-30"/>
              <a:t> </a:t>
            </a:r>
            <a:r>
              <a:rPr dirty="0" spc="-25"/>
              <a:t>Act</a:t>
            </a:r>
          </a:p>
          <a:p>
            <a:pPr marL="700405" marR="290195">
              <a:lnSpc>
                <a:spcPct val="111200"/>
              </a:lnSpc>
              <a:spcBef>
                <a:spcPts val="295"/>
              </a:spcBef>
            </a:pPr>
            <a:r>
              <a:rPr dirty="0" sz="1000" spc="-10" b="0">
                <a:latin typeface="Segoe UI"/>
                <a:cs typeface="Segoe UI"/>
              </a:rPr>
              <a:t>High-</a:t>
            </a:r>
            <a:r>
              <a:rPr dirty="0" sz="1000" b="0">
                <a:latin typeface="Segoe UI"/>
                <a:cs typeface="Segoe UI"/>
              </a:rPr>
              <a:t>risk</a:t>
            </a:r>
            <a:r>
              <a:rPr dirty="0" sz="1000" spc="-5" b="0">
                <a:latin typeface="Segoe UI"/>
                <a:cs typeface="Segoe UI"/>
              </a:rPr>
              <a:t> </a:t>
            </a:r>
            <a:r>
              <a:rPr dirty="0" sz="1000" b="0">
                <a:latin typeface="Segoe UI"/>
                <a:cs typeface="Segoe UI"/>
              </a:rPr>
              <a:t>clinical</a:t>
            </a:r>
            <a:r>
              <a:rPr dirty="0" sz="1000" spc="35" b="0">
                <a:latin typeface="Segoe UI"/>
                <a:cs typeface="Segoe UI"/>
              </a:rPr>
              <a:t> </a:t>
            </a:r>
            <a:r>
              <a:rPr dirty="0" sz="1000" b="0">
                <a:latin typeface="Segoe UI"/>
                <a:cs typeface="Segoe UI"/>
              </a:rPr>
              <a:t>decision </a:t>
            </a:r>
            <a:r>
              <a:rPr dirty="0" sz="1000" spc="-10" b="0">
                <a:latin typeface="Segoe UI"/>
                <a:cs typeface="Segoe UI"/>
              </a:rPr>
              <a:t>support</a:t>
            </a:r>
            <a:r>
              <a:rPr dirty="0" sz="1000" spc="-60" b="0">
                <a:latin typeface="Segoe UI"/>
                <a:cs typeface="Segoe UI"/>
              </a:rPr>
              <a:t> </a:t>
            </a:r>
            <a:r>
              <a:rPr dirty="0" sz="1000" spc="-10" b="0">
                <a:latin typeface="Segoe UI"/>
                <a:cs typeface="Segoe UI"/>
              </a:rPr>
              <a:t>requires </a:t>
            </a:r>
            <a:r>
              <a:rPr dirty="0" sz="1000" b="0">
                <a:latin typeface="Segoe UI"/>
                <a:cs typeface="Segoe UI"/>
              </a:rPr>
              <a:t>risk</a:t>
            </a:r>
            <a:r>
              <a:rPr dirty="0" sz="1000" spc="15" b="0">
                <a:latin typeface="Segoe UI"/>
                <a:cs typeface="Segoe UI"/>
              </a:rPr>
              <a:t> </a:t>
            </a:r>
            <a:r>
              <a:rPr dirty="0" sz="1000" b="0">
                <a:latin typeface="Segoe UI"/>
                <a:cs typeface="Segoe UI"/>
              </a:rPr>
              <a:t>management,</a:t>
            </a:r>
            <a:r>
              <a:rPr dirty="0" sz="1000" spc="10" b="0">
                <a:latin typeface="Segoe UI"/>
                <a:cs typeface="Segoe UI"/>
              </a:rPr>
              <a:t> </a:t>
            </a:r>
            <a:r>
              <a:rPr dirty="0" sz="1000" spc="-10" b="0">
                <a:latin typeface="Segoe UI"/>
                <a:cs typeface="Segoe UI"/>
              </a:rPr>
              <a:t>transparency,</a:t>
            </a:r>
            <a:r>
              <a:rPr dirty="0" sz="1000" spc="-60" b="0">
                <a:latin typeface="Segoe UI"/>
                <a:cs typeface="Segoe UI"/>
              </a:rPr>
              <a:t> </a:t>
            </a:r>
            <a:r>
              <a:rPr dirty="0" sz="1000" spc="-20" b="0">
                <a:latin typeface="Segoe UI"/>
                <a:cs typeface="Segoe UI"/>
              </a:rPr>
              <a:t>human </a:t>
            </a:r>
            <a:r>
              <a:rPr dirty="0" sz="1000" b="0">
                <a:latin typeface="Segoe UI"/>
                <a:cs typeface="Segoe UI"/>
              </a:rPr>
              <a:t>oversight</a:t>
            </a:r>
            <a:r>
              <a:rPr dirty="0" sz="1000" spc="-15" b="0">
                <a:latin typeface="Segoe UI"/>
                <a:cs typeface="Segoe UI"/>
              </a:rPr>
              <a:t> </a:t>
            </a:r>
            <a:r>
              <a:rPr dirty="0" sz="1000" b="0">
                <a:latin typeface="Segoe UI"/>
                <a:cs typeface="Segoe UI"/>
              </a:rPr>
              <a:t>and</a:t>
            </a:r>
            <a:r>
              <a:rPr dirty="0" sz="1000" spc="-80" b="0">
                <a:latin typeface="Segoe UI"/>
                <a:cs typeface="Segoe UI"/>
              </a:rPr>
              <a:t> </a:t>
            </a:r>
            <a:r>
              <a:rPr dirty="0" sz="1000" b="0">
                <a:latin typeface="Segoe UI"/>
                <a:cs typeface="Segoe UI"/>
              </a:rPr>
              <a:t>record-</a:t>
            </a:r>
            <a:r>
              <a:rPr dirty="0" sz="1000" spc="-10" b="0">
                <a:latin typeface="Segoe UI"/>
                <a:cs typeface="Segoe UI"/>
              </a:rPr>
              <a:t>keeping.</a:t>
            </a:r>
            <a:endParaRPr sz="1000">
              <a:latin typeface="Segoe UI"/>
              <a:cs typeface="Segoe UI"/>
            </a:endParaRPr>
          </a:p>
          <a:p>
            <a:pPr>
              <a:lnSpc>
                <a:spcPct val="100000"/>
              </a:lnSpc>
              <a:spcBef>
                <a:spcPts val="1225"/>
              </a:spcBef>
            </a:pPr>
            <a:endParaRPr sz="1000">
              <a:latin typeface="Segoe UI"/>
              <a:cs typeface="Segoe UI"/>
            </a:endParaRPr>
          </a:p>
          <a:p>
            <a:pPr marL="700405">
              <a:lnSpc>
                <a:spcPct val="100000"/>
              </a:lnSpc>
            </a:pPr>
            <a:r>
              <a:rPr dirty="0"/>
              <a:t>GDPR</a:t>
            </a:r>
            <a:r>
              <a:rPr dirty="0" spc="-25"/>
              <a:t> </a:t>
            </a:r>
            <a:r>
              <a:rPr dirty="0"/>
              <a:t>Article</a:t>
            </a:r>
            <a:r>
              <a:rPr dirty="0" spc="5"/>
              <a:t> </a:t>
            </a:r>
            <a:r>
              <a:rPr dirty="0" spc="-25"/>
              <a:t>22</a:t>
            </a:r>
          </a:p>
          <a:p>
            <a:pPr marL="700405" marR="241300">
              <a:lnSpc>
                <a:spcPct val="111200"/>
              </a:lnSpc>
              <a:spcBef>
                <a:spcPts val="300"/>
              </a:spcBef>
            </a:pPr>
            <a:r>
              <a:rPr dirty="0" sz="1000" b="0">
                <a:latin typeface="Segoe UI"/>
                <a:cs typeface="Segoe UI"/>
              </a:rPr>
              <a:t>People</a:t>
            </a:r>
            <a:r>
              <a:rPr dirty="0" sz="1000" spc="-30" b="0">
                <a:latin typeface="Segoe UI"/>
                <a:cs typeface="Segoe UI"/>
              </a:rPr>
              <a:t> </a:t>
            </a:r>
            <a:r>
              <a:rPr dirty="0" sz="1000" b="0">
                <a:latin typeface="Segoe UI"/>
                <a:cs typeface="Segoe UI"/>
              </a:rPr>
              <a:t>affected</a:t>
            </a:r>
            <a:r>
              <a:rPr dirty="0" sz="1000" spc="-20" b="0">
                <a:latin typeface="Segoe UI"/>
                <a:cs typeface="Segoe UI"/>
              </a:rPr>
              <a:t> </a:t>
            </a:r>
            <a:r>
              <a:rPr dirty="0" sz="1000" b="0">
                <a:latin typeface="Segoe UI"/>
                <a:cs typeface="Segoe UI"/>
              </a:rPr>
              <a:t>by</a:t>
            </a:r>
            <a:r>
              <a:rPr dirty="0" sz="1000" spc="15" b="0">
                <a:latin typeface="Segoe UI"/>
                <a:cs typeface="Segoe UI"/>
              </a:rPr>
              <a:t> </a:t>
            </a:r>
            <a:r>
              <a:rPr dirty="0" sz="1000" spc="-10" b="0">
                <a:latin typeface="Segoe UI"/>
                <a:cs typeface="Segoe UI"/>
              </a:rPr>
              <a:t>semi-automated </a:t>
            </a:r>
            <a:r>
              <a:rPr dirty="0" sz="1000" b="0">
                <a:latin typeface="Segoe UI"/>
                <a:cs typeface="Segoe UI"/>
              </a:rPr>
              <a:t>decisions need</a:t>
            </a:r>
            <a:r>
              <a:rPr dirty="0" sz="1000" spc="-20" b="0">
                <a:latin typeface="Segoe UI"/>
                <a:cs typeface="Segoe UI"/>
              </a:rPr>
              <a:t> </a:t>
            </a:r>
            <a:r>
              <a:rPr dirty="0" sz="1000" b="0">
                <a:latin typeface="Segoe UI"/>
                <a:cs typeface="Segoe UI"/>
              </a:rPr>
              <a:t>meaningful</a:t>
            </a:r>
            <a:r>
              <a:rPr dirty="0" sz="1000" spc="-30" b="0">
                <a:latin typeface="Segoe UI"/>
                <a:cs typeface="Segoe UI"/>
              </a:rPr>
              <a:t> </a:t>
            </a:r>
            <a:r>
              <a:rPr dirty="0" sz="1000" spc="-10" b="0">
                <a:latin typeface="Segoe UI"/>
                <a:cs typeface="Segoe UI"/>
              </a:rPr>
              <a:t>information</a:t>
            </a:r>
            <a:r>
              <a:rPr dirty="0" sz="1000" spc="-60" b="0">
                <a:latin typeface="Segoe UI"/>
                <a:cs typeface="Segoe UI"/>
              </a:rPr>
              <a:t> </a:t>
            </a:r>
            <a:r>
              <a:rPr dirty="0" sz="1000" spc="-25" b="0">
                <a:latin typeface="Segoe UI"/>
                <a:cs typeface="Segoe UI"/>
              </a:rPr>
              <a:t>and </a:t>
            </a:r>
            <a:r>
              <a:rPr dirty="0" sz="1000" spc="-10" b="0">
                <a:latin typeface="Segoe UI"/>
                <a:cs typeface="Segoe UI"/>
              </a:rPr>
              <a:t>safeguards.</a:t>
            </a:r>
            <a:endParaRPr sz="1000">
              <a:latin typeface="Segoe UI"/>
              <a:cs typeface="Segoe UI"/>
            </a:endParaRPr>
          </a:p>
          <a:p>
            <a:pPr>
              <a:lnSpc>
                <a:spcPct val="100000"/>
              </a:lnSpc>
              <a:spcBef>
                <a:spcPts val="1225"/>
              </a:spcBef>
            </a:pPr>
            <a:endParaRPr sz="1000">
              <a:latin typeface="Segoe UI"/>
              <a:cs typeface="Segoe UI"/>
            </a:endParaRPr>
          </a:p>
          <a:p>
            <a:pPr marL="700405">
              <a:lnSpc>
                <a:spcPct val="100000"/>
              </a:lnSpc>
            </a:pPr>
            <a:r>
              <a:rPr dirty="0"/>
              <a:t>European </a:t>
            </a:r>
            <a:r>
              <a:rPr dirty="0" spc="-10"/>
              <a:t>Health</a:t>
            </a:r>
            <a:r>
              <a:rPr dirty="0" spc="-60"/>
              <a:t> </a:t>
            </a:r>
            <a:r>
              <a:rPr dirty="0"/>
              <a:t>Data</a:t>
            </a:r>
            <a:r>
              <a:rPr dirty="0" spc="-35"/>
              <a:t> </a:t>
            </a:r>
            <a:r>
              <a:rPr dirty="0" spc="-20"/>
              <a:t>Space</a:t>
            </a:r>
          </a:p>
          <a:p>
            <a:pPr marL="700405" marR="78740">
              <a:lnSpc>
                <a:spcPct val="111200"/>
              </a:lnSpc>
              <a:spcBef>
                <a:spcPts val="295"/>
              </a:spcBef>
            </a:pPr>
            <a:r>
              <a:rPr dirty="0" sz="1000" b="0">
                <a:latin typeface="Segoe UI"/>
                <a:cs typeface="Segoe UI"/>
              </a:rPr>
              <a:t>Registry</a:t>
            </a:r>
            <a:r>
              <a:rPr dirty="0" sz="1000" spc="-65" b="0">
                <a:latin typeface="Segoe UI"/>
                <a:cs typeface="Segoe UI"/>
              </a:rPr>
              <a:t> </a:t>
            </a:r>
            <a:r>
              <a:rPr dirty="0" sz="1000" b="0">
                <a:latin typeface="Segoe UI"/>
                <a:cs typeface="Segoe UI"/>
              </a:rPr>
              <a:t>data</a:t>
            </a:r>
            <a:r>
              <a:rPr dirty="0" sz="1000" spc="-20" b="0">
                <a:latin typeface="Segoe UI"/>
                <a:cs typeface="Segoe UI"/>
              </a:rPr>
              <a:t> </a:t>
            </a:r>
            <a:r>
              <a:rPr dirty="0" sz="1000" b="0">
                <a:latin typeface="Segoe UI"/>
                <a:cs typeface="Segoe UI"/>
              </a:rPr>
              <a:t>can</a:t>
            </a:r>
            <a:r>
              <a:rPr dirty="0" sz="1000" spc="-65" b="0">
                <a:latin typeface="Segoe UI"/>
                <a:cs typeface="Segoe UI"/>
              </a:rPr>
              <a:t> </a:t>
            </a:r>
            <a:r>
              <a:rPr dirty="0" sz="1000" b="0">
                <a:latin typeface="Segoe UI"/>
                <a:cs typeface="Segoe UI"/>
              </a:rPr>
              <a:t>support secondary</a:t>
            </a:r>
            <a:r>
              <a:rPr dirty="0" sz="1000" spc="5" b="0">
                <a:latin typeface="Segoe UI"/>
                <a:cs typeface="Segoe UI"/>
              </a:rPr>
              <a:t> </a:t>
            </a:r>
            <a:r>
              <a:rPr dirty="0" sz="1000" b="0">
                <a:latin typeface="Segoe UI"/>
                <a:cs typeface="Segoe UI"/>
              </a:rPr>
              <a:t>use—</a:t>
            </a:r>
            <a:r>
              <a:rPr dirty="0" sz="1000" spc="-25" b="0">
                <a:latin typeface="Segoe UI"/>
                <a:cs typeface="Segoe UI"/>
              </a:rPr>
              <a:t>but </a:t>
            </a:r>
            <a:r>
              <a:rPr dirty="0" sz="1000" b="0">
                <a:latin typeface="Segoe UI"/>
                <a:cs typeface="Segoe UI"/>
              </a:rPr>
              <a:t>only</a:t>
            </a:r>
            <a:r>
              <a:rPr dirty="0" sz="1000" spc="-15" b="0">
                <a:latin typeface="Segoe UI"/>
                <a:cs typeface="Segoe UI"/>
              </a:rPr>
              <a:t> </a:t>
            </a:r>
            <a:r>
              <a:rPr dirty="0" sz="1000" b="0">
                <a:latin typeface="Segoe UI"/>
                <a:cs typeface="Segoe UI"/>
              </a:rPr>
              <a:t>through</a:t>
            </a:r>
            <a:r>
              <a:rPr dirty="0" sz="1000" spc="-25" b="0">
                <a:latin typeface="Segoe UI"/>
                <a:cs typeface="Segoe UI"/>
              </a:rPr>
              <a:t> </a:t>
            </a:r>
            <a:r>
              <a:rPr dirty="0" sz="1000" b="0">
                <a:latin typeface="Segoe UI"/>
                <a:cs typeface="Segoe UI"/>
              </a:rPr>
              <a:t>governed</a:t>
            </a:r>
            <a:r>
              <a:rPr dirty="0" sz="1000" spc="-45" b="0">
                <a:latin typeface="Segoe UI"/>
                <a:cs typeface="Segoe UI"/>
              </a:rPr>
              <a:t> </a:t>
            </a:r>
            <a:r>
              <a:rPr dirty="0" sz="1000" b="0">
                <a:latin typeface="Segoe UI"/>
                <a:cs typeface="Segoe UI"/>
              </a:rPr>
              <a:t>access</a:t>
            </a:r>
            <a:r>
              <a:rPr dirty="0" sz="1000" spc="-20" b="0">
                <a:latin typeface="Segoe UI"/>
                <a:cs typeface="Segoe UI"/>
              </a:rPr>
              <a:t> </a:t>
            </a:r>
            <a:r>
              <a:rPr dirty="0" sz="1000" b="0">
                <a:latin typeface="Segoe UI"/>
                <a:cs typeface="Segoe UI"/>
              </a:rPr>
              <a:t>and</a:t>
            </a:r>
            <a:r>
              <a:rPr dirty="0" sz="1000" spc="-45" b="0">
                <a:latin typeface="Segoe UI"/>
                <a:cs typeface="Segoe UI"/>
              </a:rPr>
              <a:t> </a:t>
            </a:r>
            <a:r>
              <a:rPr dirty="0" sz="1000" spc="-10" b="0">
                <a:latin typeface="Segoe UI"/>
                <a:cs typeface="Segoe UI"/>
              </a:rPr>
              <a:t>permitted purposes.</a:t>
            </a:r>
            <a:endParaRPr sz="1000">
              <a:latin typeface="Segoe UI"/>
              <a:cs typeface="Segoe UI"/>
            </a:endParaRPr>
          </a:p>
        </p:txBody>
      </p:sp>
      <p:sp>
        <p:nvSpPr>
          <p:cNvPr id="8" name="object 8"/>
          <p:cNvSpPr txBox="1"/>
          <p:nvPr/>
        </p:nvSpPr>
        <p:spPr>
          <a:xfrm>
            <a:off x="4690871" y="1637157"/>
            <a:ext cx="2807335" cy="3924300"/>
          </a:xfrm>
          <a:prstGeom prst="rect">
            <a:avLst/>
          </a:prstGeom>
          <a:solidFill>
            <a:srgbClr val="C55A11"/>
          </a:solidFill>
        </p:spPr>
        <p:txBody>
          <a:bodyPr wrap="square" lIns="0" tIns="118110" rIns="0" bIns="0" rtlCol="0" vert="horz">
            <a:spAutoFit/>
          </a:bodyPr>
          <a:lstStyle/>
          <a:p>
            <a:pPr>
              <a:lnSpc>
                <a:spcPct val="100000"/>
              </a:lnSpc>
              <a:spcBef>
                <a:spcPts val="930"/>
              </a:spcBef>
            </a:pPr>
            <a:endParaRPr sz="1800">
              <a:latin typeface="Times New Roman"/>
              <a:cs typeface="Times New Roman"/>
            </a:endParaRPr>
          </a:p>
          <a:p>
            <a:pPr marL="451484" marR="752475">
              <a:lnSpc>
                <a:spcPct val="100000"/>
              </a:lnSpc>
              <a:spcBef>
                <a:spcPts val="5"/>
              </a:spcBef>
            </a:pPr>
            <a:r>
              <a:rPr dirty="0" sz="1800" b="1">
                <a:solidFill>
                  <a:srgbClr val="FFFFFF"/>
                </a:solidFill>
                <a:latin typeface="Segoe UI"/>
                <a:cs typeface="Segoe UI"/>
              </a:rPr>
              <a:t>Impact</a:t>
            </a:r>
            <a:r>
              <a:rPr dirty="0" sz="1800" spc="-45" b="1">
                <a:solidFill>
                  <a:srgbClr val="FFFFFF"/>
                </a:solidFill>
                <a:latin typeface="Segoe UI"/>
                <a:cs typeface="Segoe UI"/>
              </a:rPr>
              <a:t> </a:t>
            </a:r>
            <a:r>
              <a:rPr dirty="0" sz="1800" b="1">
                <a:solidFill>
                  <a:srgbClr val="FFFFFF"/>
                </a:solidFill>
                <a:latin typeface="Segoe UI"/>
                <a:cs typeface="Segoe UI"/>
              </a:rPr>
              <a:t>on</a:t>
            </a:r>
            <a:r>
              <a:rPr dirty="0" sz="1800" spc="-60" b="1">
                <a:solidFill>
                  <a:srgbClr val="FFFFFF"/>
                </a:solidFill>
                <a:latin typeface="Segoe UI"/>
                <a:cs typeface="Segoe UI"/>
              </a:rPr>
              <a:t> </a:t>
            </a:r>
            <a:r>
              <a:rPr dirty="0" sz="1800" spc="-20" b="1">
                <a:solidFill>
                  <a:srgbClr val="FFFFFF"/>
                </a:solidFill>
                <a:latin typeface="Segoe UI"/>
                <a:cs typeface="Segoe UI"/>
              </a:rPr>
              <a:t>care </a:t>
            </a:r>
            <a:r>
              <a:rPr dirty="0" sz="1800" spc="-10" b="1">
                <a:solidFill>
                  <a:srgbClr val="FFFFFF"/>
                </a:solidFill>
                <a:latin typeface="Segoe UI"/>
                <a:cs typeface="Segoe UI"/>
              </a:rPr>
              <a:t>delivery</a:t>
            </a:r>
            <a:endParaRPr sz="1800">
              <a:latin typeface="Segoe UI"/>
              <a:cs typeface="Segoe UI"/>
            </a:endParaRPr>
          </a:p>
          <a:p>
            <a:pPr marL="451484" marR="182880">
              <a:lnSpc>
                <a:spcPct val="111200"/>
              </a:lnSpc>
              <a:spcBef>
                <a:spcPts val="525"/>
              </a:spcBef>
            </a:pPr>
            <a:r>
              <a:rPr dirty="0" sz="1000">
                <a:solidFill>
                  <a:srgbClr val="FFFFFF"/>
                </a:solidFill>
                <a:latin typeface="Segoe UI"/>
                <a:cs typeface="Segoe UI"/>
              </a:rPr>
              <a:t>Human</a:t>
            </a:r>
            <a:r>
              <a:rPr dirty="0" sz="1000" spc="-70">
                <a:solidFill>
                  <a:srgbClr val="FFFFFF"/>
                </a:solidFill>
                <a:latin typeface="Segoe UI"/>
                <a:cs typeface="Segoe UI"/>
              </a:rPr>
              <a:t> </a:t>
            </a:r>
            <a:r>
              <a:rPr dirty="0" sz="1000">
                <a:solidFill>
                  <a:srgbClr val="FFFFFF"/>
                </a:solidFill>
                <a:latin typeface="Segoe UI"/>
                <a:cs typeface="Segoe UI"/>
              </a:rPr>
              <a:t>oversight,</a:t>
            </a:r>
            <a:r>
              <a:rPr dirty="0" sz="1000" spc="-30">
                <a:solidFill>
                  <a:srgbClr val="FFFFFF"/>
                </a:solidFill>
                <a:latin typeface="Segoe UI"/>
                <a:cs typeface="Segoe UI"/>
              </a:rPr>
              <a:t> </a:t>
            </a:r>
            <a:r>
              <a:rPr dirty="0" sz="1000">
                <a:solidFill>
                  <a:srgbClr val="FFFFFF"/>
                </a:solidFill>
                <a:latin typeface="Segoe UI"/>
                <a:cs typeface="Segoe UI"/>
              </a:rPr>
              <a:t>transparency</a:t>
            </a:r>
            <a:r>
              <a:rPr dirty="0" sz="1000" spc="-10">
                <a:solidFill>
                  <a:srgbClr val="FFFFFF"/>
                </a:solidFill>
                <a:latin typeface="Segoe UI"/>
                <a:cs typeface="Segoe UI"/>
              </a:rPr>
              <a:t> and</a:t>
            </a:r>
            <a:r>
              <a:rPr dirty="0" sz="1000" spc="-40">
                <a:solidFill>
                  <a:srgbClr val="FFFFFF"/>
                </a:solidFill>
                <a:latin typeface="Segoe UI"/>
                <a:cs typeface="Segoe UI"/>
              </a:rPr>
              <a:t> </a:t>
            </a:r>
            <a:r>
              <a:rPr dirty="0" sz="1000" spc="-25">
                <a:solidFill>
                  <a:srgbClr val="FFFFFF"/>
                </a:solidFill>
                <a:latin typeface="Segoe UI"/>
                <a:cs typeface="Segoe UI"/>
              </a:rPr>
              <a:t>an </a:t>
            </a:r>
            <a:r>
              <a:rPr dirty="0" sz="1000">
                <a:solidFill>
                  <a:srgbClr val="FFFFFF"/>
                </a:solidFill>
                <a:latin typeface="Segoe UI"/>
                <a:cs typeface="Segoe UI"/>
              </a:rPr>
              <a:t>auditable</a:t>
            </a:r>
            <a:r>
              <a:rPr dirty="0" sz="1000" spc="-40">
                <a:solidFill>
                  <a:srgbClr val="FFFFFF"/>
                </a:solidFill>
                <a:latin typeface="Segoe UI"/>
                <a:cs typeface="Segoe UI"/>
              </a:rPr>
              <a:t> </a:t>
            </a:r>
            <a:r>
              <a:rPr dirty="0" sz="1000">
                <a:solidFill>
                  <a:srgbClr val="FFFFFF"/>
                </a:solidFill>
                <a:latin typeface="Segoe UI"/>
                <a:cs typeface="Segoe UI"/>
              </a:rPr>
              <a:t>decision</a:t>
            </a:r>
            <a:r>
              <a:rPr dirty="0" sz="1000" spc="-20">
                <a:solidFill>
                  <a:srgbClr val="FFFFFF"/>
                </a:solidFill>
                <a:latin typeface="Segoe UI"/>
                <a:cs typeface="Segoe UI"/>
              </a:rPr>
              <a:t> </a:t>
            </a:r>
            <a:r>
              <a:rPr dirty="0" sz="1000">
                <a:solidFill>
                  <a:srgbClr val="FFFFFF"/>
                </a:solidFill>
                <a:latin typeface="Segoe UI"/>
                <a:cs typeface="Segoe UI"/>
              </a:rPr>
              <a:t>become</a:t>
            </a:r>
            <a:r>
              <a:rPr dirty="0" sz="1000" spc="-40">
                <a:solidFill>
                  <a:srgbClr val="FFFFFF"/>
                </a:solidFill>
                <a:latin typeface="Segoe UI"/>
                <a:cs typeface="Segoe UI"/>
              </a:rPr>
              <a:t> </a:t>
            </a:r>
            <a:r>
              <a:rPr dirty="0" sz="1000">
                <a:solidFill>
                  <a:srgbClr val="FFFFFF"/>
                </a:solidFill>
                <a:latin typeface="Segoe UI"/>
                <a:cs typeface="Segoe UI"/>
              </a:rPr>
              <a:t>part</a:t>
            </a:r>
            <a:r>
              <a:rPr dirty="0" sz="1000" spc="-5">
                <a:solidFill>
                  <a:srgbClr val="FFFFFF"/>
                </a:solidFill>
                <a:latin typeface="Segoe UI"/>
                <a:cs typeface="Segoe UI"/>
              </a:rPr>
              <a:t> </a:t>
            </a:r>
            <a:r>
              <a:rPr dirty="0" sz="1000">
                <a:solidFill>
                  <a:srgbClr val="FFFFFF"/>
                </a:solidFill>
                <a:latin typeface="Segoe UI"/>
                <a:cs typeface="Segoe UI"/>
              </a:rPr>
              <a:t>of</a:t>
            </a:r>
            <a:r>
              <a:rPr dirty="0" sz="1000" spc="-45">
                <a:solidFill>
                  <a:srgbClr val="FFFFFF"/>
                </a:solidFill>
                <a:latin typeface="Segoe UI"/>
                <a:cs typeface="Segoe UI"/>
              </a:rPr>
              <a:t> </a:t>
            </a:r>
            <a:r>
              <a:rPr dirty="0" sz="1000" spc="-25">
                <a:solidFill>
                  <a:srgbClr val="FFFFFF"/>
                </a:solidFill>
                <a:latin typeface="Segoe UI"/>
                <a:cs typeface="Segoe UI"/>
              </a:rPr>
              <a:t>the </a:t>
            </a:r>
            <a:r>
              <a:rPr dirty="0" sz="1000">
                <a:solidFill>
                  <a:srgbClr val="FFFFFF"/>
                </a:solidFill>
                <a:latin typeface="Segoe UI"/>
                <a:cs typeface="Segoe UI"/>
              </a:rPr>
              <a:t>clinical</a:t>
            </a:r>
            <a:r>
              <a:rPr dirty="0" sz="1000" spc="-30">
                <a:solidFill>
                  <a:srgbClr val="FFFFFF"/>
                </a:solidFill>
                <a:latin typeface="Segoe UI"/>
                <a:cs typeface="Segoe UI"/>
              </a:rPr>
              <a:t> </a:t>
            </a:r>
            <a:r>
              <a:rPr dirty="0" sz="1000" spc="-10">
                <a:solidFill>
                  <a:srgbClr val="FFFFFF"/>
                </a:solidFill>
                <a:latin typeface="Segoe UI"/>
                <a:cs typeface="Segoe UI"/>
              </a:rPr>
              <a:t>workflow.</a:t>
            </a: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spcBef>
                <a:spcPts val="840"/>
              </a:spcBef>
            </a:pPr>
            <a:endParaRPr sz="1000">
              <a:latin typeface="Segoe UI"/>
              <a:cs typeface="Segoe UI"/>
            </a:endParaRPr>
          </a:p>
          <a:p>
            <a:pPr marL="426720" marR="544195">
              <a:lnSpc>
                <a:spcPct val="100000"/>
              </a:lnSpc>
            </a:pPr>
            <a:r>
              <a:rPr dirty="0" sz="1800" b="1">
                <a:solidFill>
                  <a:srgbClr val="FFFFFF"/>
                </a:solidFill>
                <a:latin typeface="Segoe UI"/>
                <a:cs typeface="Segoe UI"/>
              </a:rPr>
              <a:t>Impact</a:t>
            </a:r>
            <a:r>
              <a:rPr dirty="0" sz="1800" spc="-45" b="1">
                <a:solidFill>
                  <a:srgbClr val="FFFFFF"/>
                </a:solidFill>
                <a:latin typeface="Segoe UI"/>
                <a:cs typeface="Segoe UI"/>
              </a:rPr>
              <a:t> </a:t>
            </a:r>
            <a:r>
              <a:rPr dirty="0" sz="1800" b="1">
                <a:solidFill>
                  <a:srgbClr val="FFFFFF"/>
                </a:solidFill>
                <a:latin typeface="Segoe UI"/>
                <a:cs typeface="Segoe UI"/>
              </a:rPr>
              <a:t>on</a:t>
            </a:r>
            <a:r>
              <a:rPr dirty="0" sz="1800" spc="-65" b="1">
                <a:solidFill>
                  <a:srgbClr val="FFFFFF"/>
                </a:solidFill>
                <a:latin typeface="Segoe UI"/>
                <a:cs typeface="Segoe UI"/>
              </a:rPr>
              <a:t> </a:t>
            </a:r>
            <a:r>
              <a:rPr dirty="0" sz="1800" spc="-10" b="1">
                <a:solidFill>
                  <a:srgbClr val="FFFFFF"/>
                </a:solidFill>
                <a:latin typeface="Segoe UI"/>
                <a:cs typeface="Segoe UI"/>
              </a:rPr>
              <a:t>model delivery</a:t>
            </a:r>
            <a:endParaRPr sz="1800">
              <a:latin typeface="Segoe UI"/>
              <a:cs typeface="Segoe UI"/>
            </a:endParaRPr>
          </a:p>
          <a:p>
            <a:pPr marL="426720" marR="116839">
              <a:lnSpc>
                <a:spcPct val="111200"/>
              </a:lnSpc>
              <a:spcBef>
                <a:spcPts val="525"/>
              </a:spcBef>
            </a:pPr>
            <a:r>
              <a:rPr dirty="0" sz="1000">
                <a:solidFill>
                  <a:srgbClr val="FFFFFF"/>
                </a:solidFill>
                <a:latin typeface="Segoe UI"/>
                <a:cs typeface="Segoe UI"/>
              </a:rPr>
              <a:t>Evidence,</a:t>
            </a:r>
            <a:r>
              <a:rPr dirty="0" sz="1000" spc="5">
                <a:solidFill>
                  <a:srgbClr val="FFFFFF"/>
                </a:solidFill>
                <a:latin typeface="Segoe UI"/>
                <a:cs typeface="Segoe UI"/>
              </a:rPr>
              <a:t> </a:t>
            </a:r>
            <a:r>
              <a:rPr dirty="0" sz="1000" spc="-10">
                <a:solidFill>
                  <a:srgbClr val="FFFFFF"/>
                </a:solidFill>
                <a:latin typeface="Segoe UI"/>
                <a:cs typeface="Segoe UI"/>
              </a:rPr>
              <a:t>permissions</a:t>
            </a:r>
            <a:r>
              <a:rPr dirty="0" sz="1000" spc="10">
                <a:solidFill>
                  <a:srgbClr val="FFFFFF"/>
                </a:solidFill>
                <a:latin typeface="Segoe UI"/>
                <a:cs typeface="Segoe UI"/>
              </a:rPr>
              <a:t> </a:t>
            </a:r>
            <a:r>
              <a:rPr dirty="0" sz="1000">
                <a:solidFill>
                  <a:srgbClr val="FFFFFF"/>
                </a:solidFill>
                <a:latin typeface="Segoe UI"/>
                <a:cs typeface="Segoe UI"/>
              </a:rPr>
              <a:t>and</a:t>
            </a:r>
            <a:r>
              <a:rPr dirty="0" sz="1000" spc="-15">
                <a:solidFill>
                  <a:srgbClr val="FFFFFF"/>
                </a:solidFill>
                <a:latin typeface="Segoe UI"/>
                <a:cs typeface="Segoe UI"/>
              </a:rPr>
              <a:t> </a:t>
            </a:r>
            <a:r>
              <a:rPr dirty="0" sz="1000">
                <a:solidFill>
                  <a:srgbClr val="FFFFFF"/>
                </a:solidFill>
                <a:latin typeface="Segoe UI"/>
                <a:cs typeface="Segoe UI"/>
              </a:rPr>
              <a:t>data</a:t>
            </a:r>
            <a:r>
              <a:rPr dirty="0" sz="1000" spc="-5">
                <a:solidFill>
                  <a:srgbClr val="FFFFFF"/>
                </a:solidFill>
                <a:latin typeface="Segoe UI"/>
                <a:cs typeface="Segoe UI"/>
              </a:rPr>
              <a:t> </a:t>
            </a:r>
            <a:r>
              <a:rPr dirty="0" sz="1000" spc="-10">
                <a:solidFill>
                  <a:srgbClr val="FFFFFF"/>
                </a:solidFill>
                <a:latin typeface="Segoe UI"/>
                <a:cs typeface="Segoe UI"/>
              </a:rPr>
              <a:t>lineage </a:t>
            </a:r>
            <a:r>
              <a:rPr dirty="0" sz="1000">
                <a:solidFill>
                  <a:srgbClr val="FFFFFF"/>
                </a:solidFill>
                <a:latin typeface="Segoe UI"/>
                <a:cs typeface="Segoe UI"/>
              </a:rPr>
              <a:t>must</a:t>
            </a:r>
            <a:r>
              <a:rPr dirty="0" sz="1000" spc="-45">
                <a:solidFill>
                  <a:srgbClr val="FFFFFF"/>
                </a:solidFill>
                <a:latin typeface="Segoe UI"/>
                <a:cs typeface="Segoe UI"/>
              </a:rPr>
              <a:t> </a:t>
            </a:r>
            <a:r>
              <a:rPr dirty="0" sz="1000">
                <a:solidFill>
                  <a:srgbClr val="FFFFFF"/>
                </a:solidFill>
                <a:latin typeface="Segoe UI"/>
                <a:cs typeface="Segoe UI"/>
              </a:rPr>
              <a:t>remain</a:t>
            </a:r>
            <a:r>
              <a:rPr dirty="0" sz="1000" spc="-55">
                <a:solidFill>
                  <a:srgbClr val="FFFFFF"/>
                </a:solidFill>
                <a:latin typeface="Segoe UI"/>
                <a:cs typeface="Segoe UI"/>
              </a:rPr>
              <a:t> </a:t>
            </a:r>
            <a:r>
              <a:rPr dirty="0" sz="1000">
                <a:solidFill>
                  <a:srgbClr val="FFFFFF"/>
                </a:solidFill>
                <a:latin typeface="Segoe UI"/>
                <a:cs typeface="Segoe UI"/>
              </a:rPr>
              <a:t>clear</a:t>
            </a:r>
            <a:r>
              <a:rPr dirty="0" sz="1000" spc="20">
                <a:solidFill>
                  <a:srgbClr val="FFFFFF"/>
                </a:solidFill>
                <a:latin typeface="Segoe UI"/>
                <a:cs typeface="Segoe UI"/>
              </a:rPr>
              <a:t> </a:t>
            </a:r>
            <a:r>
              <a:rPr dirty="0" sz="1000">
                <a:solidFill>
                  <a:srgbClr val="FFFFFF"/>
                </a:solidFill>
                <a:latin typeface="Segoe UI"/>
                <a:cs typeface="Segoe UI"/>
              </a:rPr>
              <a:t>from</a:t>
            </a:r>
            <a:r>
              <a:rPr dirty="0" sz="1000" spc="-70">
                <a:solidFill>
                  <a:srgbClr val="FFFFFF"/>
                </a:solidFill>
                <a:latin typeface="Segoe UI"/>
                <a:cs typeface="Segoe UI"/>
              </a:rPr>
              <a:t> </a:t>
            </a:r>
            <a:r>
              <a:rPr dirty="0" sz="1000">
                <a:solidFill>
                  <a:srgbClr val="FFFFFF"/>
                </a:solidFill>
                <a:latin typeface="Segoe UI"/>
                <a:cs typeface="Segoe UI"/>
              </a:rPr>
              <a:t>training</a:t>
            </a:r>
            <a:r>
              <a:rPr dirty="0" sz="1000" spc="-10">
                <a:solidFill>
                  <a:srgbClr val="FFFFFF"/>
                </a:solidFill>
                <a:latin typeface="Segoe UI"/>
                <a:cs typeface="Segoe UI"/>
              </a:rPr>
              <a:t> through </a:t>
            </a:r>
            <a:r>
              <a:rPr dirty="0" sz="1000">
                <a:solidFill>
                  <a:srgbClr val="FFFFFF"/>
                </a:solidFill>
                <a:latin typeface="Segoe UI"/>
                <a:cs typeface="Segoe UI"/>
              </a:rPr>
              <a:t>clinical</a:t>
            </a:r>
            <a:r>
              <a:rPr dirty="0" sz="1000" spc="-20">
                <a:solidFill>
                  <a:srgbClr val="FFFFFF"/>
                </a:solidFill>
                <a:latin typeface="Segoe UI"/>
                <a:cs typeface="Segoe UI"/>
              </a:rPr>
              <a:t> use.</a:t>
            </a:r>
            <a:endParaRPr sz="1000">
              <a:latin typeface="Segoe UI"/>
              <a:cs typeface="Segoe UI"/>
            </a:endParaRPr>
          </a:p>
        </p:txBody>
      </p:sp>
      <p:sp>
        <p:nvSpPr>
          <p:cNvPr id="9" name="object 9"/>
          <p:cNvSpPr/>
          <p:nvPr/>
        </p:nvSpPr>
        <p:spPr>
          <a:xfrm>
            <a:off x="1179576" y="2185923"/>
            <a:ext cx="356870" cy="2479040"/>
          </a:xfrm>
          <a:custGeom>
            <a:avLst/>
            <a:gdLst/>
            <a:ahLst/>
            <a:cxnLst/>
            <a:rect l="l" t="t" r="r" b="b"/>
            <a:pathLst>
              <a:path w="356869" h="2479040">
                <a:moveTo>
                  <a:pt x="274320" y="1115822"/>
                </a:moveTo>
                <a:lnTo>
                  <a:pt x="230505" y="1115822"/>
                </a:lnTo>
                <a:lnTo>
                  <a:pt x="230505" y="1318006"/>
                </a:lnTo>
                <a:lnTo>
                  <a:pt x="230505" y="1358265"/>
                </a:lnTo>
                <a:lnTo>
                  <a:pt x="87858" y="1358265"/>
                </a:lnTo>
                <a:lnTo>
                  <a:pt x="87858" y="1318006"/>
                </a:lnTo>
                <a:lnTo>
                  <a:pt x="120357" y="1295755"/>
                </a:lnTo>
                <a:lnTo>
                  <a:pt x="159131" y="1288288"/>
                </a:lnTo>
                <a:lnTo>
                  <a:pt x="166484" y="1288834"/>
                </a:lnTo>
                <a:lnTo>
                  <a:pt x="206717" y="1299552"/>
                </a:lnTo>
                <a:lnTo>
                  <a:pt x="230505" y="1318006"/>
                </a:lnTo>
                <a:lnTo>
                  <a:pt x="230505" y="1115822"/>
                </a:lnTo>
                <a:lnTo>
                  <a:pt x="194564" y="1115822"/>
                </a:lnTo>
                <a:lnTo>
                  <a:pt x="194564" y="1244346"/>
                </a:lnTo>
                <a:lnTo>
                  <a:pt x="191820" y="1257935"/>
                </a:lnTo>
                <a:lnTo>
                  <a:pt x="191795" y="1258100"/>
                </a:lnTo>
                <a:lnTo>
                  <a:pt x="184315" y="1268984"/>
                </a:lnTo>
                <a:lnTo>
                  <a:pt x="184226" y="1269136"/>
                </a:lnTo>
                <a:lnTo>
                  <a:pt x="172961" y="1276477"/>
                </a:lnTo>
                <a:lnTo>
                  <a:pt x="159131" y="1279144"/>
                </a:lnTo>
                <a:lnTo>
                  <a:pt x="145605" y="1276477"/>
                </a:lnTo>
                <a:lnTo>
                  <a:pt x="145415" y="1276477"/>
                </a:lnTo>
                <a:lnTo>
                  <a:pt x="134073" y="1268984"/>
                </a:lnTo>
                <a:lnTo>
                  <a:pt x="126593" y="1258100"/>
                </a:lnTo>
                <a:lnTo>
                  <a:pt x="126479" y="1257935"/>
                </a:lnTo>
                <a:lnTo>
                  <a:pt x="123698" y="1244346"/>
                </a:lnTo>
                <a:lnTo>
                  <a:pt x="126479" y="1230845"/>
                </a:lnTo>
                <a:lnTo>
                  <a:pt x="134073" y="1219822"/>
                </a:lnTo>
                <a:lnTo>
                  <a:pt x="145338" y="1212405"/>
                </a:lnTo>
                <a:lnTo>
                  <a:pt x="159131" y="1209675"/>
                </a:lnTo>
                <a:lnTo>
                  <a:pt x="172961" y="1212405"/>
                </a:lnTo>
                <a:lnTo>
                  <a:pt x="184226" y="1219822"/>
                </a:lnTo>
                <a:lnTo>
                  <a:pt x="191795" y="1230845"/>
                </a:lnTo>
                <a:lnTo>
                  <a:pt x="194564" y="1244346"/>
                </a:lnTo>
                <a:lnTo>
                  <a:pt x="194564" y="1115822"/>
                </a:lnTo>
                <a:lnTo>
                  <a:pt x="55219" y="1115822"/>
                </a:lnTo>
                <a:lnTo>
                  <a:pt x="47980" y="1117282"/>
                </a:lnTo>
                <a:lnTo>
                  <a:pt x="42049" y="1121219"/>
                </a:lnTo>
                <a:lnTo>
                  <a:pt x="38036" y="1127074"/>
                </a:lnTo>
                <a:lnTo>
                  <a:pt x="36576" y="1134237"/>
                </a:lnTo>
                <a:lnTo>
                  <a:pt x="36576" y="1435989"/>
                </a:lnTo>
                <a:lnTo>
                  <a:pt x="38036" y="1443088"/>
                </a:lnTo>
                <a:lnTo>
                  <a:pt x="42049" y="1448904"/>
                </a:lnTo>
                <a:lnTo>
                  <a:pt x="47980" y="1452841"/>
                </a:lnTo>
                <a:lnTo>
                  <a:pt x="55219" y="1454277"/>
                </a:lnTo>
                <a:lnTo>
                  <a:pt x="274320" y="1454277"/>
                </a:lnTo>
                <a:lnTo>
                  <a:pt x="274320" y="1358265"/>
                </a:lnTo>
                <a:lnTo>
                  <a:pt x="274320" y="1288288"/>
                </a:lnTo>
                <a:lnTo>
                  <a:pt x="274320" y="1279144"/>
                </a:lnTo>
                <a:lnTo>
                  <a:pt x="274320" y="1209675"/>
                </a:lnTo>
                <a:lnTo>
                  <a:pt x="274320" y="1115822"/>
                </a:lnTo>
                <a:close/>
              </a:path>
              <a:path w="356869" h="2479040">
                <a:moveTo>
                  <a:pt x="320040" y="1115860"/>
                </a:moveTo>
                <a:lnTo>
                  <a:pt x="292608" y="1115860"/>
                </a:lnTo>
                <a:lnTo>
                  <a:pt x="292608" y="1454277"/>
                </a:lnTo>
                <a:lnTo>
                  <a:pt x="320040" y="1454277"/>
                </a:lnTo>
                <a:lnTo>
                  <a:pt x="320040" y="1115860"/>
                </a:lnTo>
                <a:close/>
              </a:path>
              <a:path w="356869" h="2479040">
                <a:moveTo>
                  <a:pt x="347472" y="2350643"/>
                </a:moveTo>
                <a:lnTo>
                  <a:pt x="203708" y="2350643"/>
                </a:lnTo>
                <a:lnTo>
                  <a:pt x="203708" y="2358644"/>
                </a:lnTo>
                <a:lnTo>
                  <a:pt x="203708" y="2367407"/>
                </a:lnTo>
                <a:lnTo>
                  <a:pt x="196088" y="2374646"/>
                </a:lnTo>
                <a:lnTo>
                  <a:pt x="160528" y="2374646"/>
                </a:lnTo>
                <a:lnTo>
                  <a:pt x="152908" y="2367407"/>
                </a:lnTo>
                <a:lnTo>
                  <a:pt x="152908" y="2350643"/>
                </a:lnTo>
                <a:lnTo>
                  <a:pt x="9144" y="2350643"/>
                </a:lnTo>
                <a:lnTo>
                  <a:pt x="9144" y="2471420"/>
                </a:lnTo>
                <a:lnTo>
                  <a:pt x="16751" y="2478659"/>
                </a:lnTo>
                <a:lnTo>
                  <a:pt x="339852" y="2478659"/>
                </a:lnTo>
                <a:lnTo>
                  <a:pt x="347472" y="2471420"/>
                </a:lnTo>
                <a:lnTo>
                  <a:pt x="347472" y="2350643"/>
                </a:lnTo>
                <a:close/>
              </a:path>
              <a:path w="356869" h="2479040">
                <a:moveTo>
                  <a:pt x="347472" y="2252853"/>
                </a:moveTo>
                <a:lnTo>
                  <a:pt x="339852" y="2244979"/>
                </a:lnTo>
                <a:lnTo>
                  <a:pt x="245999" y="2244979"/>
                </a:lnTo>
                <a:lnTo>
                  <a:pt x="245999" y="2216531"/>
                </a:lnTo>
                <a:lnTo>
                  <a:pt x="245160" y="2212213"/>
                </a:lnTo>
                <a:lnTo>
                  <a:pt x="243687" y="2204593"/>
                </a:lnTo>
                <a:lnTo>
                  <a:pt x="237388" y="2194915"/>
                </a:lnTo>
                <a:lnTo>
                  <a:pt x="227990" y="2188426"/>
                </a:lnTo>
                <a:lnTo>
                  <a:pt x="220599" y="2186914"/>
                </a:lnTo>
                <a:lnTo>
                  <a:pt x="220599" y="2213991"/>
                </a:lnTo>
                <a:lnTo>
                  <a:pt x="220599" y="2244979"/>
                </a:lnTo>
                <a:lnTo>
                  <a:pt x="136017" y="2244979"/>
                </a:lnTo>
                <a:lnTo>
                  <a:pt x="136017" y="2213991"/>
                </a:lnTo>
                <a:lnTo>
                  <a:pt x="137668" y="2212213"/>
                </a:lnTo>
                <a:lnTo>
                  <a:pt x="218948" y="2212213"/>
                </a:lnTo>
                <a:lnTo>
                  <a:pt x="220599" y="2213991"/>
                </a:lnTo>
                <a:lnTo>
                  <a:pt x="220599" y="2186914"/>
                </a:lnTo>
                <a:lnTo>
                  <a:pt x="216408" y="2186051"/>
                </a:lnTo>
                <a:lnTo>
                  <a:pt x="140208" y="2186051"/>
                </a:lnTo>
                <a:lnTo>
                  <a:pt x="128612" y="2188426"/>
                </a:lnTo>
                <a:lnTo>
                  <a:pt x="119214" y="2194915"/>
                </a:lnTo>
                <a:lnTo>
                  <a:pt x="112915" y="2204593"/>
                </a:lnTo>
                <a:lnTo>
                  <a:pt x="110617" y="2216531"/>
                </a:lnTo>
                <a:lnTo>
                  <a:pt x="110617" y="2244979"/>
                </a:lnTo>
                <a:lnTo>
                  <a:pt x="16751" y="2244979"/>
                </a:lnTo>
                <a:lnTo>
                  <a:pt x="9144" y="2252853"/>
                </a:lnTo>
                <a:lnTo>
                  <a:pt x="9144" y="2332355"/>
                </a:lnTo>
                <a:lnTo>
                  <a:pt x="152908" y="2332355"/>
                </a:lnTo>
                <a:lnTo>
                  <a:pt x="152908" y="2323592"/>
                </a:lnTo>
                <a:lnTo>
                  <a:pt x="203708" y="2323592"/>
                </a:lnTo>
                <a:lnTo>
                  <a:pt x="203708" y="2332355"/>
                </a:lnTo>
                <a:lnTo>
                  <a:pt x="347472" y="2332355"/>
                </a:lnTo>
                <a:lnTo>
                  <a:pt x="347472" y="2323592"/>
                </a:lnTo>
                <a:lnTo>
                  <a:pt x="347472" y="2252853"/>
                </a:lnTo>
                <a:close/>
              </a:path>
              <a:path w="356869" h="2479040">
                <a:moveTo>
                  <a:pt x="356616" y="319659"/>
                </a:moveTo>
                <a:lnTo>
                  <a:pt x="323723" y="296164"/>
                </a:lnTo>
                <a:lnTo>
                  <a:pt x="323723" y="286766"/>
                </a:lnTo>
                <a:lnTo>
                  <a:pt x="305054" y="286766"/>
                </a:lnTo>
                <a:lnTo>
                  <a:pt x="305054" y="127000"/>
                </a:lnTo>
                <a:lnTo>
                  <a:pt x="323723" y="127000"/>
                </a:lnTo>
                <a:lnTo>
                  <a:pt x="323723" y="117602"/>
                </a:lnTo>
                <a:lnTo>
                  <a:pt x="337820" y="117602"/>
                </a:lnTo>
                <a:lnTo>
                  <a:pt x="337820" y="89281"/>
                </a:lnTo>
                <a:lnTo>
                  <a:pt x="323723" y="89281"/>
                </a:lnTo>
                <a:lnTo>
                  <a:pt x="308406" y="79883"/>
                </a:lnTo>
                <a:lnTo>
                  <a:pt x="276860" y="60515"/>
                </a:lnTo>
                <a:lnTo>
                  <a:pt x="276860" y="127000"/>
                </a:lnTo>
                <a:lnTo>
                  <a:pt x="276860" y="286766"/>
                </a:lnTo>
                <a:lnTo>
                  <a:pt x="248666" y="286766"/>
                </a:lnTo>
                <a:lnTo>
                  <a:pt x="248666" y="127000"/>
                </a:lnTo>
                <a:lnTo>
                  <a:pt x="276860" y="127000"/>
                </a:lnTo>
                <a:lnTo>
                  <a:pt x="276860" y="60515"/>
                </a:lnTo>
                <a:lnTo>
                  <a:pt x="247180" y="42291"/>
                </a:lnTo>
                <a:lnTo>
                  <a:pt x="220599" y="25971"/>
                </a:lnTo>
                <a:lnTo>
                  <a:pt x="220599" y="127000"/>
                </a:lnTo>
                <a:lnTo>
                  <a:pt x="220599" y="286766"/>
                </a:lnTo>
                <a:lnTo>
                  <a:pt x="192405" y="286766"/>
                </a:lnTo>
                <a:lnTo>
                  <a:pt x="192405" y="127000"/>
                </a:lnTo>
                <a:lnTo>
                  <a:pt x="220599" y="127000"/>
                </a:lnTo>
                <a:lnTo>
                  <a:pt x="220599" y="25971"/>
                </a:lnTo>
                <a:lnTo>
                  <a:pt x="192405" y="8661"/>
                </a:lnTo>
                <a:lnTo>
                  <a:pt x="192405" y="61087"/>
                </a:lnTo>
                <a:lnTo>
                  <a:pt x="190906" y="68427"/>
                </a:lnTo>
                <a:lnTo>
                  <a:pt x="186855" y="74396"/>
                </a:lnTo>
                <a:lnTo>
                  <a:pt x="180873" y="78422"/>
                </a:lnTo>
                <a:lnTo>
                  <a:pt x="173609" y="79883"/>
                </a:lnTo>
                <a:lnTo>
                  <a:pt x="166331" y="78422"/>
                </a:lnTo>
                <a:lnTo>
                  <a:pt x="164211" y="77000"/>
                </a:lnTo>
                <a:lnTo>
                  <a:pt x="164211" y="127000"/>
                </a:lnTo>
                <a:lnTo>
                  <a:pt x="164211" y="286766"/>
                </a:lnTo>
                <a:lnTo>
                  <a:pt x="136017" y="286766"/>
                </a:lnTo>
                <a:lnTo>
                  <a:pt x="136017" y="127000"/>
                </a:lnTo>
                <a:lnTo>
                  <a:pt x="164211" y="127000"/>
                </a:lnTo>
                <a:lnTo>
                  <a:pt x="164211" y="77000"/>
                </a:lnTo>
                <a:lnTo>
                  <a:pt x="160350" y="74396"/>
                </a:lnTo>
                <a:lnTo>
                  <a:pt x="156298" y="68427"/>
                </a:lnTo>
                <a:lnTo>
                  <a:pt x="154813" y="61087"/>
                </a:lnTo>
                <a:lnTo>
                  <a:pt x="156298" y="53822"/>
                </a:lnTo>
                <a:lnTo>
                  <a:pt x="160350" y="47840"/>
                </a:lnTo>
                <a:lnTo>
                  <a:pt x="166331" y="43789"/>
                </a:lnTo>
                <a:lnTo>
                  <a:pt x="173609" y="42291"/>
                </a:lnTo>
                <a:lnTo>
                  <a:pt x="180873" y="43789"/>
                </a:lnTo>
                <a:lnTo>
                  <a:pt x="186855" y="47840"/>
                </a:lnTo>
                <a:lnTo>
                  <a:pt x="190906" y="53822"/>
                </a:lnTo>
                <a:lnTo>
                  <a:pt x="192405" y="61087"/>
                </a:lnTo>
                <a:lnTo>
                  <a:pt x="192405" y="8661"/>
                </a:lnTo>
                <a:lnTo>
                  <a:pt x="178308" y="0"/>
                </a:lnTo>
                <a:lnTo>
                  <a:pt x="107950" y="43192"/>
                </a:lnTo>
                <a:lnTo>
                  <a:pt x="107950" y="127000"/>
                </a:lnTo>
                <a:lnTo>
                  <a:pt x="107950" y="286766"/>
                </a:lnTo>
                <a:lnTo>
                  <a:pt x="79768" y="286766"/>
                </a:lnTo>
                <a:lnTo>
                  <a:pt x="79768" y="127000"/>
                </a:lnTo>
                <a:lnTo>
                  <a:pt x="107950" y="127000"/>
                </a:lnTo>
                <a:lnTo>
                  <a:pt x="107950" y="43192"/>
                </a:lnTo>
                <a:lnTo>
                  <a:pt x="32842" y="89281"/>
                </a:lnTo>
                <a:lnTo>
                  <a:pt x="18770" y="89281"/>
                </a:lnTo>
                <a:lnTo>
                  <a:pt x="18770" y="117602"/>
                </a:lnTo>
                <a:lnTo>
                  <a:pt x="32842" y="117602"/>
                </a:lnTo>
                <a:lnTo>
                  <a:pt x="32842" y="127000"/>
                </a:lnTo>
                <a:lnTo>
                  <a:pt x="51612" y="127000"/>
                </a:lnTo>
                <a:lnTo>
                  <a:pt x="51612" y="286766"/>
                </a:lnTo>
                <a:lnTo>
                  <a:pt x="32842" y="286766"/>
                </a:lnTo>
                <a:lnTo>
                  <a:pt x="32842" y="296164"/>
                </a:lnTo>
                <a:lnTo>
                  <a:pt x="0" y="319659"/>
                </a:lnTo>
                <a:lnTo>
                  <a:pt x="0" y="338455"/>
                </a:lnTo>
                <a:lnTo>
                  <a:pt x="356616" y="338455"/>
                </a:lnTo>
                <a:lnTo>
                  <a:pt x="356616" y="319659"/>
                </a:lnTo>
                <a:close/>
              </a:path>
            </a:pathLst>
          </a:custGeom>
          <a:solidFill>
            <a:srgbClr val="FFFFFF"/>
          </a:solidFill>
        </p:spPr>
        <p:txBody>
          <a:bodyPr wrap="square" lIns="0" tIns="0" rIns="0" bIns="0" rtlCol="0"/>
          <a:lstStyle/>
          <a:p/>
        </p:txBody>
      </p:sp>
      <p:sp>
        <p:nvSpPr>
          <p:cNvPr id="10" name="object 10"/>
          <p:cNvSpPr txBox="1"/>
          <p:nvPr/>
        </p:nvSpPr>
        <p:spPr>
          <a:xfrm>
            <a:off x="8001000" y="1399336"/>
            <a:ext cx="3200400" cy="4399915"/>
          </a:xfrm>
          <a:prstGeom prst="rect">
            <a:avLst/>
          </a:prstGeom>
          <a:solidFill>
            <a:srgbClr val="1F3863"/>
          </a:solidFill>
        </p:spPr>
        <p:txBody>
          <a:bodyPr wrap="square" lIns="0" tIns="0" rIns="0" bIns="0" rtlCol="0" vert="horz">
            <a:spAutoFit/>
          </a:bodyPr>
          <a:lstStyle/>
          <a:p>
            <a:pPr>
              <a:lnSpc>
                <a:spcPct val="100000"/>
              </a:lnSpc>
            </a:pPr>
            <a:endParaRPr sz="1200">
              <a:latin typeface="Times New Roman"/>
              <a:cs typeface="Times New Roman"/>
            </a:endParaRPr>
          </a:p>
          <a:p>
            <a:pPr>
              <a:lnSpc>
                <a:spcPct val="100000"/>
              </a:lnSpc>
              <a:spcBef>
                <a:spcPts val="55"/>
              </a:spcBef>
            </a:pPr>
            <a:endParaRPr sz="1200">
              <a:latin typeface="Times New Roman"/>
              <a:cs typeface="Times New Roman"/>
            </a:endParaRPr>
          </a:p>
          <a:p>
            <a:pPr marL="345440">
              <a:lnSpc>
                <a:spcPct val="100000"/>
              </a:lnSpc>
              <a:spcBef>
                <a:spcPts val="5"/>
              </a:spcBef>
            </a:pPr>
            <a:r>
              <a:rPr dirty="0" sz="1200" spc="-10" b="1">
                <a:solidFill>
                  <a:srgbClr val="B7EBF9"/>
                </a:solidFill>
                <a:latin typeface="Segoe UI"/>
                <a:cs typeface="Segoe UI"/>
              </a:rPr>
              <a:t>REQUIRED</a:t>
            </a:r>
            <a:r>
              <a:rPr dirty="0" sz="1200" spc="-65" b="1">
                <a:solidFill>
                  <a:srgbClr val="B7EBF9"/>
                </a:solidFill>
                <a:latin typeface="Segoe UI"/>
                <a:cs typeface="Segoe UI"/>
              </a:rPr>
              <a:t> </a:t>
            </a:r>
            <a:r>
              <a:rPr dirty="0" sz="1200" b="1">
                <a:solidFill>
                  <a:srgbClr val="B7EBF9"/>
                </a:solidFill>
                <a:latin typeface="Segoe UI"/>
                <a:cs typeface="Segoe UI"/>
              </a:rPr>
              <a:t>DEVELOPMENT</a:t>
            </a:r>
            <a:r>
              <a:rPr dirty="0" sz="1200" spc="-25" b="1">
                <a:solidFill>
                  <a:srgbClr val="B7EBF9"/>
                </a:solidFill>
                <a:latin typeface="Segoe UI"/>
                <a:cs typeface="Segoe UI"/>
              </a:rPr>
              <a:t> </a:t>
            </a:r>
            <a:r>
              <a:rPr dirty="0" sz="1200" spc="-10" b="1">
                <a:solidFill>
                  <a:srgbClr val="B7EBF9"/>
                </a:solidFill>
                <a:latin typeface="Segoe UI"/>
                <a:cs typeface="Segoe UI"/>
              </a:rPr>
              <a:t>ACTIONS</a:t>
            </a:r>
            <a:endParaRPr sz="1200">
              <a:latin typeface="Segoe UI"/>
              <a:cs typeface="Segoe UI"/>
            </a:endParaRPr>
          </a:p>
          <a:p>
            <a:pPr>
              <a:lnSpc>
                <a:spcPct val="100000"/>
              </a:lnSpc>
              <a:spcBef>
                <a:spcPts val="1195"/>
              </a:spcBef>
            </a:pPr>
            <a:endParaRPr sz="1200">
              <a:latin typeface="Segoe UI"/>
              <a:cs typeface="Segoe UI"/>
            </a:endParaRPr>
          </a:p>
          <a:p>
            <a:pPr marL="366395">
              <a:lnSpc>
                <a:spcPct val="100000"/>
              </a:lnSpc>
            </a:pPr>
            <a:r>
              <a:rPr dirty="0" sz="1350" b="1">
                <a:solidFill>
                  <a:srgbClr val="FFFFFF"/>
                </a:solidFill>
                <a:latin typeface="Segoe UI"/>
                <a:cs typeface="Segoe UI"/>
              </a:rPr>
              <a:t>Make</a:t>
            </a:r>
            <a:r>
              <a:rPr dirty="0" sz="1350" spc="-65" b="1">
                <a:solidFill>
                  <a:srgbClr val="FFFFFF"/>
                </a:solidFill>
                <a:latin typeface="Segoe UI"/>
                <a:cs typeface="Segoe UI"/>
              </a:rPr>
              <a:t> </a:t>
            </a:r>
            <a:r>
              <a:rPr dirty="0" sz="1350" b="1">
                <a:solidFill>
                  <a:srgbClr val="FFFFFF"/>
                </a:solidFill>
                <a:latin typeface="Segoe UI"/>
                <a:cs typeface="Segoe UI"/>
              </a:rPr>
              <a:t>decisions</a:t>
            </a:r>
            <a:r>
              <a:rPr dirty="0" sz="1350" spc="-65" b="1">
                <a:solidFill>
                  <a:srgbClr val="FFFFFF"/>
                </a:solidFill>
                <a:latin typeface="Segoe UI"/>
                <a:cs typeface="Segoe UI"/>
              </a:rPr>
              <a:t> </a:t>
            </a:r>
            <a:r>
              <a:rPr dirty="0" sz="1350" spc="-10" b="1">
                <a:solidFill>
                  <a:srgbClr val="FFFFFF"/>
                </a:solidFill>
                <a:latin typeface="Segoe UI"/>
                <a:cs typeface="Segoe UI"/>
              </a:rPr>
              <a:t>explainable</a:t>
            </a:r>
            <a:endParaRPr sz="1350">
              <a:latin typeface="Segoe UI"/>
              <a:cs typeface="Segoe UI"/>
            </a:endParaRPr>
          </a:p>
          <a:p>
            <a:pPr marL="366395" marR="271780">
              <a:lnSpc>
                <a:spcPct val="106900"/>
              </a:lnSpc>
              <a:spcBef>
                <a:spcPts val="489"/>
              </a:spcBef>
            </a:pPr>
            <a:r>
              <a:rPr dirty="0" sz="900">
                <a:solidFill>
                  <a:srgbClr val="FFFFFF"/>
                </a:solidFill>
                <a:latin typeface="Segoe UI"/>
                <a:cs typeface="Segoe UI"/>
              </a:rPr>
              <a:t>Use</a:t>
            </a:r>
            <a:r>
              <a:rPr dirty="0" sz="900" spc="105">
                <a:solidFill>
                  <a:srgbClr val="FFFFFF"/>
                </a:solidFill>
                <a:latin typeface="Segoe UI"/>
                <a:cs typeface="Segoe UI"/>
              </a:rPr>
              <a:t> </a:t>
            </a:r>
            <a:r>
              <a:rPr dirty="0" sz="900">
                <a:solidFill>
                  <a:srgbClr val="FFFFFF"/>
                </a:solidFill>
                <a:latin typeface="Segoe UI"/>
                <a:cs typeface="Segoe UI"/>
              </a:rPr>
              <a:t>an</a:t>
            </a:r>
            <a:r>
              <a:rPr dirty="0" sz="900" spc="155">
                <a:solidFill>
                  <a:srgbClr val="FFFFFF"/>
                </a:solidFill>
                <a:latin typeface="Segoe UI"/>
                <a:cs typeface="Segoe UI"/>
              </a:rPr>
              <a:t> </a:t>
            </a:r>
            <a:r>
              <a:rPr dirty="0" sz="900">
                <a:solidFill>
                  <a:srgbClr val="FFFFFF"/>
                </a:solidFill>
                <a:latin typeface="Segoe UI"/>
                <a:cs typeface="Segoe UI"/>
              </a:rPr>
              <a:t>interpretable</a:t>
            </a:r>
            <a:r>
              <a:rPr dirty="0" sz="900" spc="220">
                <a:solidFill>
                  <a:srgbClr val="FFFFFF"/>
                </a:solidFill>
                <a:latin typeface="Segoe UI"/>
                <a:cs typeface="Segoe UI"/>
              </a:rPr>
              <a:t> </a:t>
            </a:r>
            <a:r>
              <a:rPr dirty="0" sz="900">
                <a:solidFill>
                  <a:srgbClr val="FFFFFF"/>
                </a:solidFill>
                <a:latin typeface="Segoe UI"/>
                <a:cs typeface="Segoe UI"/>
              </a:rPr>
              <a:t>model,</a:t>
            </a:r>
            <a:r>
              <a:rPr dirty="0" sz="900" spc="105">
                <a:solidFill>
                  <a:srgbClr val="FFFFFF"/>
                </a:solidFill>
                <a:latin typeface="Segoe UI"/>
                <a:cs typeface="Segoe UI"/>
              </a:rPr>
              <a:t> </a:t>
            </a:r>
            <a:r>
              <a:rPr dirty="0" sz="900">
                <a:solidFill>
                  <a:srgbClr val="FFFFFF"/>
                </a:solidFill>
                <a:latin typeface="Segoe UI"/>
                <a:cs typeface="Segoe UI"/>
              </a:rPr>
              <a:t>document</a:t>
            </a:r>
            <a:r>
              <a:rPr dirty="0" sz="900" spc="155">
                <a:solidFill>
                  <a:srgbClr val="FFFFFF"/>
                </a:solidFill>
                <a:latin typeface="Segoe UI"/>
                <a:cs typeface="Segoe UI"/>
              </a:rPr>
              <a:t> </a:t>
            </a:r>
            <a:r>
              <a:rPr dirty="0" sz="900" spc="-10">
                <a:solidFill>
                  <a:srgbClr val="FFFFFF"/>
                </a:solidFill>
                <a:latin typeface="Segoe UI"/>
                <a:cs typeface="Segoe UI"/>
              </a:rPr>
              <a:t>intended </a:t>
            </a:r>
            <a:r>
              <a:rPr dirty="0" sz="900">
                <a:solidFill>
                  <a:srgbClr val="FFFFFF"/>
                </a:solidFill>
                <a:latin typeface="Segoe UI"/>
                <a:cs typeface="Segoe UI"/>
              </a:rPr>
              <a:t>use</a:t>
            </a:r>
            <a:r>
              <a:rPr dirty="0" sz="900" spc="175">
                <a:solidFill>
                  <a:srgbClr val="FFFFFF"/>
                </a:solidFill>
                <a:latin typeface="Segoe UI"/>
                <a:cs typeface="Segoe UI"/>
              </a:rPr>
              <a:t> </a:t>
            </a:r>
            <a:r>
              <a:rPr dirty="0" sz="900">
                <a:solidFill>
                  <a:srgbClr val="FFFFFF"/>
                </a:solidFill>
                <a:latin typeface="Segoe UI"/>
                <a:cs typeface="Segoe UI"/>
              </a:rPr>
              <a:t>and</a:t>
            </a:r>
            <a:r>
              <a:rPr dirty="0" sz="900" spc="90">
                <a:solidFill>
                  <a:srgbClr val="FFFFFF"/>
                </a:solidFill>
                <a:latin typeface="Segoe UI"/>
                <a:cs typeface="Segoe UI"/>
              </a:rPr>
              <a:t> </a:t>
            </a:r>
            <a:r>
              <a:rPr dirty="0" sz="900">
                <a:solidFill>
                  <a:srgbClr val="FFFFFF"/>
                </a:solidFill>
                <a:latin typeface="Segoe UI"/>
                <a:cs typeface="Segoe UI"/>
              </a:rPr>
              <a:t>limits,</a:t>
            </a:r>
            <a:r>
              <a:rPr dirty="0" sz="900" spc="80">
                <a:solidFill>
                  <a:srgbClr val="FFFFFF"/>
                </a:solidFill>
                <a:latin typeface="Segoe UI"/>
                <a:cs typeface="Segoe UI"/>
              </a:rPr>
              <a:t> </a:t>
            </a:r>
            <a:r>
              <a:rPr dirty="0" sz="900">
                <a:solidFill>
                  <a:srgbClr val="FFFFFF"/>
                </a:solidFill>
                <a:latin typeface="Segoe UI"/>
                <a:cs typeface="Segoe UI"/>
              </a:rPr>
              <a:t>and</a:t>
            </a:r>
            <a:r>
              <a:rPr dirty="0" sz="900" spc="90">
                <a:solidFill>
                  <a:srgbClr val="FFFFFF"/>
                </a:solidFill>
                <a:latin typeface="Segoe UI"/>
                <a:cs typeface="Segoe UI"/>
              </a:rPr>
              <a:t> </a:t>
            </a:r>
            <a:r>
              <a:rPr dirty="0" sz="900">
                <a:solidFill>
                  <a:srgbClr val="FFFFFF"/>
                </a:solidFill>
                <a:latin typeface="Segoe UI"/>
                <a:cs typeface="Segoe UI"/>
              </a:rPr>
              <a:t>provide</a:t>
            </a:r>
            <a:r>
              <a:rPr dirty="0" sz="900" spc="180">
                <a:solidFill>
                  <a:srgbClr val="FFFFFF"/>
                </a:solidFill>
                <a:latin typeface="Segoe UI"/>
                <a:cs typeface="Segoe UI"/>
              </a:rPr>
              <a:t> </a:t>
            </a:r>
            <a:r>
              <a:rPr dirty="0" sz="900">
                <a:solidFill>
                  <a:srgbClr val="FFFFFF"/>
                </a:solidFill>
                <a:latin typeface="Segoe UI"/>
                <a:cs typeface="Segoe UI"/>
              </a:rPr>
              <a:t>a</a:t>
            </a:r>
            <a:r>
              <a:rPr dirty="0" sz="900" spc="90">
                <a:solidFill>
                  <a:srgbClr val="FFFFFF"/>
                </a:solidFill>
                <a:latin typeface="Segoe UI"/>
                <a:cs typeface="Segoe UI"/>
              </a:rPr>
              <a:t> </a:t>
            </a:r>
            <a:r>
              <a:rPr dirty="0" sz="900">
                <a:solidFill>
                  <a:srgbClr val="FFFFFF"/>
                </a:solidFill>
                <a:latin typeface="Segoe UI"/>
                <a:cs typeface="Segoe UI"/>
              </a:rPr>
              <a:t>patient-</a:t>
            </a:r>
            <a:r>
              <a:rPr dirty="0" sz="900" spc="-20">
                <a:solidFill>
                  <a:srgbClr val="FFFFFF"/>
                </a:solidFill>
                <a:latin typeface="Segoe UI"/>
                <a:cs typeface="Segoe UI"/>
              </a:rPr>
              <a:t>level </a:t>
            </a:r>
            <a:r>
              <a:rPr dirty="0" sz="900" spc="-10">
                <a:solidFill>
                  <a:srgbClr val="FFFFFF"/>
                </a:solidFill>
                <a:latin typeface="Segoe UI"/>
                <a:cs typeface="Segoe UI"/>
              </a:rPr>
              <a:t>explanation.</a:t>
            </a:r>
            <a:endParaRPr sz="900">
              <a:latin typeface="Segoe UI"/>
              <a:cs typeface="Segoe UI"/>
            </a:endParaRPr>
          </a:p>
          <a:p>
            <a:pPr>
              <a:lnSpc>
                <a:spcPct val="100000"/>
              </a:lnSpc>
            </a:pPr>
            <a:endParaRPr sz="900">
              <a:latin typeface="Segoe UI"/>
              <a:cs typeface="Segoe UI"/>
            </a:endParaRPr>
          </a:p>
          <a:p>
            <a:pPr>
              <a:lnSpc>
                <a:spcPct val="100000"/>
              </a:lnSpc>
              <a:spcBef>
                <a:spcPts val="1030"/>
              </a:spcBef>
            </a:pPr>
            <a:endParaRPr sz="900">
              <a:latin typeface="Segoe UI"/>
              <a:cs typeface="Segoe UI"/>
            </a:endParaRPr>
          </a:p>
          <a:p>
            <a:pPr marL="366395">
              <a:lnSpc>
                <a:spcPct val="100000"/>
              </a:lnSpc>
            </a:pPr>
            <a:r>
              <a:rPr dirty="0" sz="1350" spc="-10" b="1">
                <a:solidFill>
                  <a:srgbClr val="FFFFFF"/>
                </a:solidFill>
                <a:latin typeface="Segoe UI"/>
                <a:cs typeface="Segoe UI"/>
              </a:rPr>
              <a:t>Validate</a:t>
            </a:r>
            <a:r>
              <a:rPr dirty="0" sz="1350" spc="-70" b="1">
                <a:solidFill>
                  <a:srgbClr val="FFFFFF"/>
                </a:solidFill>
                <a:latin typeface="Segoe UI"/>
                <a:cs typeface="Segoe UI"/>
              </a:rPr>
              <a:t> </a:t>
            </a:r>
            <a:r>
              <a:rPr dirty="0" sz="1350" b="1">
                <a:solidFill>
                  <a:srgbClr val="FFFFFF"/>
                </a:solidFill>
                <a:latin typeface="Segoe UI"/>
                <a:cs typeface="Segoe UI"/>
              </a:rPr>
              <a:t>and</a:t>
            </a:r>
            <a:r>
              <a:rPr dirty="0" sz="1350" spc="-35" b="1">
                <a:solidFill>
                  <a:srgbClr val="FFFFFF"/>
                </a:solidFill>
                <a:latin typeface="Segoe UI"/>
                <a:cs typeface="Segoe UI"/>
              </a:rPr>
              <a:t> </a:t>
            </a:r>
            <a:r>
              <a:rPr dirty="0" sz="1350" b="1">
                <a:solidFill>
                  <a:srgbClr val="FFFFFF"/>
                </a:solidFill>
                <a:latin typeface="Segoe UI"/>
                <a:cs typeface="Segoe UI"/>
              </a:rPr>
              <a:t>retain</a:t>
            </a:r>
            <a:r>
              <a:rPr dirty="0" sz="1350" spc="-15" b="1">
                <a:solidFill>
                  <a:srgbClr val="FFFFFF"/>
                </a:solidFill>
                <a:latin typeface="Segoe UI"/>
                <a:cs typeface="Segoe UI"/>
              </a:rPr>
              <a:t> </a:t>
            </a:r>
            <a:r>
              <a:rPr dirty="0" sz="1350" spc="-10" b="1">
                <a:solidFill>
                  <a:srgbClr val="FFFFFF"/>
                </a:solidFill>
                <a:latin typeface="Segoe UI"/>
                <a:cs typeface="Segoe UI"/>
              </a:rPr>
              <a:t>oversight</a:t>
            </a:r>
            <a:endParaRPr sz="1350">
              <a:latin typeface="Segoe UI"/>
              <a:cs typeface="Segoe UI"/>
            </a:endParaRPr>
          </a:p>
          <a:p>
            <a:pPr marL="366395">
              <a:lnSpc>
                <a:spcPct val="100000"/>
              </a:lnSpc>
              <a:spcBef>
                <a:spcPts val="560"/>
              </a:spcBef>
            </a:pPr>
            <a:r>
              <a:rPr dirty="0" sz="900">
                <a:solidFill>
                  <a:srgbClr val="FFFFFF"/>
                </a:solidFill>
                <a:latin typeface="Segoe UI"/>
                <a:cs typeface="Segoe UI"/>
              </a:rPr>
              <a:t>Test</a:t>
            </a:r>
            <a:r>
              <a:rPr dirty="0" sz="900" spc="204">
                <a:solidFill>
                  <a:srgbClr val="FFFFFF"/>
                </a:solidFill>
                <a:latin typeface="Segoe UI"/>
                <a:cs typeface="Segoe UI"/>
              </a:rPr>
              <a:t> </a:t>
            </a:r>
            <a:r>
              <a:rPr dirty="0" sz="900">
                <a:solidFill>
                  <a:srgbClr val="FFFFFF"/>
                </a:solidFill>
                <a:latin typeface="Segoe UI"/>
                <a:cs typeface="Segoe UI"/>
              </a:rPr>
              <a:t>calibration</a:t>
            </a:r>
            <a:r>
              <a:rPr dirty="0" sz="900" spc="110">
                <a:solidFill>
                  <a:srgbClr val="FFFFFF"/>
                </a:solidFill>
                <a:latin typeface="Segoe UI"/>
                <a:cs typeface="Segoe UI"/>
              </a:rPr>
              <a:t> </a:t>
            </a:r>
            <a:r>
              <a:rPr dirty="0" sz="900">
                <a:solidFill>
                  <a:srgbClr val="FFFFFF"/>
                </a:solidFill>
                <a:latin typeface="Segoe UI"/>
                <a:cs typeface="Segoe UI"/>
              </a:rPr>
              <a:t>and</a:t>
            </a:r>
            <a:r>
              <a:rPr dirty="0" sz="900" spc="80">
                <a:solidFill>
                  <a:srgbClr val="FFFFFF"/>
                </a:solidFill>
                <a:latin typeface="Segoe UI"/>
                <a:cs typeface="Segoe UI"/>
              </a:rPr>
              <a:t> </a:t>
            </a:r>
            <a:r>
              <a:rPr dirty="0" sz="900">
                <a:solidFill>
                  <a:srgbClr val="FFFFFF"/>
                </a:solidFill>
                <a:latin typeface="Segoe UI"/>
                <a:cs typeface="Segoe UI"/>
              </a:rPr>
              <a:t>performance;</a:t>
            </a:r>
            <a:r>
              <a:rPr dirty="0" sz="900" spc="165">
                <a:solidFill>
                  <a:srgbClr val="FFFFFF"/>
                </a:solidFill>
                <a:latin typeface="Segoe UI"/>
                <a:cs typeface="Segoe UI"/>
              </a:rPr>
              <a:t> </a:t>
            </a:r>
            <a:r>
              <a:rPr dirty="0" sz="900">
                <a:solidFill>
                  <a:srgbClr val="FFFFFF"/>
                </a:solidFill>
                <a:latin typeface="Segoe UI"/>
                <a:cs typeface="Segoe UI"/>
              </a:rPr>
              <a:t>define</a:t>
            </a:r>
            <a:r>
              <a:rPr dirty="0" sz="900" spc="165">
                <a:solidFill>
                  <a:srgbClr val="FFFFFF"/>
                </a:solidFill>
                <a:latin typeface="Segoe UI"/>
                <a:cs typeface="Segoe UI"/>
              </a:rPr>
              <a:t> </a:t>
            </a:r>
            <a:r>
              <a:rPr dirty="0" sz="900" spc="-20">
                <a:solidFill>
                  <a:srgbClr val="FFFFFF"/>
                </a:solidFill>
                <a:latin typeface="Segoe UI"/>
                <a:cs typeface="Segoe UI"/>
              </a:rPr>
              <a:t>human</a:t>
            </a:r>
            <a:endParaRPr sz="900">
              <a:latin typeface="Segoe UI"/>
              <a:cs typeface="Segoe UI"/>
            </a:endParaRPr>
          </a:p>
          <a:p>
            <a:pPr marL="366395">
              <a:lnSpc>
                <a:spcPct val="100000"/>
              </a:lnSpc>
              <a:spcBef>
                <a:spcPts val="70"/>
              </a:spcBef>
            </a:pPr>
            <a:r>
              <a:rPr dirty="0" sz="900">
                <a:solidFill>
                  <a:srgbClr val="FFFFFF"/>
                </a:solidFill>
                <a:latin typeface="Segoe UI"/>
                <a:cs typeface="Segoe UI"/>
              </a:rPr>
              <a:t>review</a:t>
            </a:r>
            <a:r>
              <a:rPr dirty="0" sz="900" spc="90">
                <a:solidFill>
                  <a:srgbClr val="FFFFFF"/>
                </a:solidFill>
                <a:latin typeface="Segoe UI"/>
                <a:cs typeface="Segoe UI"/>
              </a:rPr>
              <a:t> </a:t>
            </a:r>
            <a:r>
              <a:rPr dirty="0" sz="900">
                <a:solidFill>
                  <a:srgbClr val="FFFFFF"/>
                </a:solidFill>
                <a:latin typeface="Segoe UI"/>
                <a:cs typeface="Segoe UI"/>
              </a:rPr>
              <a:t>and</a:t>
            </a:r>
            <a:r>
              <a:rPr dirty="0" sz="900" spc="160">
                <a:solidFill>
                  <a:srgbClr val="FFFFFF"/>
                </a:solidFill>
                <a:latin typeface="Segoe UI"/>
                <a:cs typeface="Segoe UI"/>
              </a:rPr>
              <a:t> </a:t>
            </a:r>
            <a:r>
              <a:rPr dirty="0" sz="900">
                <a:solidFill>
                  <a:srgbClr val="FFFFFF"/>
                </a:solidFill>
                <a:latin typeface="Segoe UI"/>
                <a:cs typeface="Segoe UI"/>
              </a:rPr>
              <a:t>record</a:t>
            </a:r>
            <a:r>
              <a:rPr dirty="0" sz="900" spc="65">
                <a:solidFill>
                  <a:srgbClr val="FFFFFF"/>
                </a:solidFill>
                <a:latin typeface="Segoe UI"/>
                <a:cs typeface="Segoe UI"/>
              </a:rPr>
              <a:t> </a:t>
            </a:r>
            <a:r>
              <a:rPr dirty="0" sz="900">
                <a:solidFill>
                  <a:srgbClr val="FFFFFF"/>
                </a:solidFill>
                <a:latin typeface="Segoe UI"/>
                <a:cs typeface="Segoe UI"/>
              </a:rPr>
              <a:t>the</a:t>
            </a:r>
            <a:r>
              <a:rPr dirty="0" sz="900" spc="145">
                <a:solidFill>
                  <a:srgbClr val="FFFFFF"/>
                </a:solidFill>
                <a:latin typeface="Segoe UI"/>
                <a:cs typeface="Segoe UI"/>
              </a:rPr>
              <a:t> </a:t>
            </a:r>
            <a:r>
              <a:rPr dirty="0" sz="900">
                <a:solidFill>
                  <a:srgbClr val="FFFFFF"/>
                </a:solidFill>
                <a:latin typeface="Segoe UI"/>
                <a:cs typeface="Segoe UI"/>
              </a:rPr>
              <a:t>final</a:t>
            </a:r>
            <a:r>
              <a:rPr dirty="0" sz="900" spc="114">
                <a:solidFill>
                  <a:srgbClr val="FFFFFF"/>
                </a:solidFill>
                <a:latin typeface="Segoe UI"/>
                <a:cs typeface="Segoe UI"/>
              </a:rPr>
              <a:t> </a:t>
            </a:r>
            <a:r>
              <a:rPr dirty="0" sz="900">
                <a:solidFill>
                  <a:srgbClr val="FFFFFF"/>
                </a:solidFill>
                <a:latin typeface="Segoe UI"/>
                <a:cs typeface="Segoe UI"/>
              </a:rPr>
              <a:t>clinical</a:t>
            </a:r>
            <a:r>
              <a:rPr dirty="0" sz="900" spc="20">
                <a:solidFill>
                  <a:srgbClr val="FFFFFF"/>
                </a:solidFill>
                <a:latin typeface="Segoe UI"/>
                <a:cs typeface="Segoe UI"/>
              </a:rPr>
              <a:t> </a:t>
            </a:r>
            <a:r>
              <a:rPr dirty="0" sz="900" spc="-10">
                <a:solidFill>
                  <a:srgbClr val="FFFFFF"/>
                </a:solidFill>
                <a:latin typeface="Segoe UI"/>
                <a:cs typeface="Segoe UI"/>
              </a:rPr>
              <a:t>decision.</a:t>
            </a:r>
            <a:endParaRPr sz="900">
              <a:latin typeface="Segoe UI"/>
              <a:cs typeface="Segoe UI"/>
            </a:endParaRPr>
          </a:p>
          <a:p>
            <a:pPr>
              <a:lnSpc>
                <a:spcPct val="100000"/>
              </a:lnSpc>
            </a:pPr>
            <a:endParaRPr sz="900">
              <a:latin typeface="Segoe UI"/>
              <a:cs typeface="Segoe UI"/>
            </a:endParaRPr>
          </a:p>
          <a:p>
            <a:pPr>
              <a:lnSpc>
                <a:spcPct val="100000"/>
              </a:lnSpc>
              <a:spcBef>
                <a:spcPts val="1195"/>
              </a:spcBef>
            </a:pPr>
            <a:endParaRPr sz="900">
              <a:latin typeface="Segoe UI"/>
              <a:cs typeface="Segoe UI"/>
            </a:endParaRPr>
          </a:p>
          <a:p>
            <a:pPr marL="366395">
              <a:lnSpc>
                <a:spcPct val="100000"/>
              </a:lnSpc>
            </a:pPr>
            <a:r>
              <a:rPr dirty="0" sz="1350" b="1">
                <a:solidFill>
                  <a:srgbClr val="FFFFFF"/>
                </a:solidFill>
                <a:latin typeface="Segoe UI"/>
                <a:cs typeface="Segoe UI"/>
              </a:rPr>
              <a:t>Govern</a:t>
            </a:r>
            <a:r>
              <a:rPr dirty="0" sz="1350" spc="5" b="1">
                <a:solidFill>
                  <a:srgbClr val="FFFFFF"/>
                </a:solidFill>
                <a:latin typeface="Segoe UI"/>
                <a:cs typeface="Segoe UI"/>
              </a:rPr>
              <a:t> </a:t>
            </a:r>
            <a:r>
              <a:rPr dirty="0" sz="1350" b="1">
                <a:solidFill>
                  <a:srgbClr val="FFFFFF"/>
                </a:solidFill>
                <a:latin typeface="Segoe UI"/>
                <a:cs typeface="Segoe UI"/>
              </a:rPr>
              <a:t>data</a:t>
            </a:r>
            <a:r>
              <a:rPr dirty="0" sz="1350" spc="-40" b="1">
                <a:solidFill>
                  <a:srgbClr val="FFFFFF"/>
                </a:solidFill>
                <a:latin typeface="Segoe UI"/>
                <a:cs typeface="Segoe UI"/>
              </a:rPr>
              <a:t> </a:t>
            </a:r>
            <a:r>
              <a:rPr dirty="0" sz="1350" b="1">
                <a:solidFill>
                  <a:srgbClr val="FFFFFF"/>
                </a:solidFill>
                <a:latin typeface="Segoe UI"/>
                <a:cs typeface="Segoe UI"/>
              </a:rPr>
              <a:t>and</a:t>
            </a:r>
            <a:r>
              <a:rPr dirty="0" sz="1350" spc="-80" b="1">
                <a:solidFill>
                  <a:srgbClr val="FFFFFF"/>
                </a:solidFill>
                <a:latin typeface="Segoe UI"/>
                <a:cs typeface="Segoe UI"/>
              </a:rPr>
              <a:t> </a:t>
            </a:r>
            <a:r>
              <a:rPr dirty="0" sz="1350" spc="-10" b="1">
                <a:solidFill>
                  <a:srgbClr val="FFFFFF"/>
                </a:solidFill>
                <a:latin typeface="Segoe UI"/>
                <a:cs typeface="Segoe UI"/>
              </a:rPr>
              <a:t>traceability</a:t>
            </a:r>
            <a:endParaRPr sz="1350">
              <a:latin typeface="Segoe UI"/>
              <a:cs typeface="Segoe UI"/>
            </a:endParaRPr>
          </a:p>
          <a:p>
            <a:pPr marL="366395" marR="379730">
              <a:lnSpc>
                <a:spcPct val="106900"/>
              </a:lnSpc>
              <a:spcBef>
                <a:spcPts val="484"/>
              </a:spcBef>
            </a:pPr>
            <a:r>
              <a:rPr dirty="0" sz="900">
                <a:solidFill>
                  <a:srgbClr val="FFFFFF"/>
                </a:solidFill>
                <a:latin typeface="Segoe UI"/>
                <a:cs typeface="Segoe UI"/>
              </a:rPr>
              <a:t>Enforce</a:t>
            </a:r>
            <a:r>
              <a:rPr dirty="0" sz="900" spc="90">
                <a:solidFill>
                  <a:srgbClr val="FFFFFF"/>
                </a:solidFill>
                <a:latin typeface="Segoe UI"/>
                <a:cs typeface="Segoe UI"/>
              </a:rPr>
              <a:t> </a:t>
            </a:r>
            <a:r>
              <a:rPr dirty="0" sz="900">
                <a:solidFill>
                  <a:srgbClr val="FFFFFF"/>
                </a:solidFill>
                <a:latin typeface="Segoe UI"/>
                <a:cs typeface="Segoe UI"/>
              </a:rPr>
              <a:t>permissions;</a:t>
            </a:r>
            <a:r>
              <a:rPr dirty="0" sz="900" spc="100">
                <a:solidFill>
                  <a:srgbClr val="FFFFFF"/>
                </a:solidFill>
                <a:latin typeface="Segoe UI"/>
                <a:cs typeface="Segoe UI"/>
              </a:rPr>
              <a:t> </a:t>
            </a:r>
            <a:r>
              <a:rPr dirty="0" sz="900">
                <a:solidFill>
                  <a:srgbClr val="FFFFFF"/>
                </a:solidFill>
                <a:latin typeface="Segoe UI"/>
                <a:cs typeface="Segoe UI"/>
              </a:rPr>
              <a:t>version</a:t>
            </a:r>
            <a:r>
              <a:rPr dirty="0" sz="900" spc="145">
                <a:solidFill>
                  <a:srgbClr val="FFFFFF"/>
                </a:solidFill>
                <a:latin typeface="Segoe UI"/>
                <a:cs typeface="Segoe UI"/>
              </a:rPr>
              <a:t> </a:t>
            </a:r>
            <a:r>
              <a:rPr dirty="0" sz="900">
                <a:solidFill>
                  <a:srgbClr val="FFFFFF"/>
                </a:solidFill>
                <a:latin typeface="Segoe UI"/>
                <a:cs typeface="Segoe UI"/>
              </a:rPr>
              <a:t>data</a:t>
            </a:r>
            <a:r>
              <a:rPr dirty="0" sz="900" spc="114">
                <a:solidFill>
                  <a:srgbClr val="FFFFFF"/>
                </a:solidFill>
                <a:latin typeface="Segoe UI"/>
                <a:cs typeface="Segoe UI"/>
              </a:rPr>
              <a:t> </a:t>
            </a:r>
            <a:r>
              <a:rPr dirty="0" sz="900">
                <a:solidFill>
                  <a:srgbClr val="FFFFFF"/>
                </a:solidFill>
                <a:latin typeface="Segoe UI"/>
                <a:cs typeface="Segoe UI"/>
              </a:rPr>
              <a:t>and</a:t>
            </a:r>
            <a:r>
              <a:rPr dirty="0" sz="900" spc="220">
                <a:solidFill>
                  <a:srgbClr val="FFFFFF"/>
                </a:solidFill>
                <a:latin typeface="Segoe UI"/>
                <a:cs typeface="Segoe UI"/>
              </a:rPr>
              <a:t> </a:t>
            </a:r>
            <a:r>
              <a:rPr dirty="0" sz="900" spc="-10">
                <a:solidFill>
                  <a:srgbClr val="FFFFFF"/>
                </a:solidFill>
                <a:latin typeface="Segoe UI"/>
                <a:cs typeface="Segoe UI"/>
              </a:rPr>
              <a:t>models; </a:t>
            </a:r>
            <a:r>
              <a:rPr dirty="0" sz="900">
                <a:solidFill>
                  <a:srgbClr val="FFFFFF"/>
                </a:solidFill>
                <a:latin typeface="Segoe UI"/>
                <a:cs typeface="Segoe UI"/>
              </a:rPr>
              <a:t>retain</a:t>
            </a:r>
            <a:r>
              <a:rPr dirty="0" sz="900" spc="160">
                <a:solidFill>
                  <a:srgbClr val="FFFFFF"/>
                </a:solidFill>
                <a:latin typeface="Segoe UI"/>
                <a:cs typeface="Segoe UI"/>
              </a:rPr>
              <a:t> </a:t>
            </a:r>
            <a:r>
              <a:rPr dirty="0" sz="900">
                <a:solidFill>
                  <a:srgbClr val="FFFFFF"/>
                </a:solidFill>
                <a:latin typeface="Segoe UI"/>
                <a:cs typeface="Segoe UI"/>
              </a:rPr>
              <a:t>reconstructable</a:t>
            </a:r>
            <a:r>
              <a:rPr dirty="0" sz="900" spc="204">
                <a:solidFill>
                  <a:srgbClr val="FFFFFF"/>
                </a:solidFill>
                <a:latin typeface="Segoe UI"/>
                <a:cs typeface="Segoe UI"/>
              </a:rPr>
              <a:t> </a:t>
            </a:r>
            <a:r>
              <a:rPr dirty="0" sz="900">
                <a:solidFill>
                  <a:srgbClr val="FFFFFF"/>
                </a:solidFill>
                <a:latin typeface="Segoe UI"/>
                <a:cs typeface="Segoe UI"/>
              </a:rPr>
              <a:t>inputs,</a:t>
            </a:r>
            <a:r>
              <a:rPr dirty="0" sz="900" spc="110">
                <a:solidFill>
                  <a:srgbClr val="FFFFFF"/>
                </a:solidFill>
                <a:latin typeface="Segoe UI"/>
                <a:cs typeface="Segoe UI"/>
              </a:rPr>
              <a:t> </a:t>
            </a:r>
            <a:r>
              <a:rPr dirty="0" sz="900">
                <a:solidFill>
                  <a:srgbClr val="FFFFFF"/>
                </a:solidFill>
                <a:latin typeface="Segoe UI"/>
                <a:cs typeface="Segoe UI"/>
              </a:rPr>
              <a:t>logs</a:t>
            </a:r>
            <a:r>
              <a:rPr dirty="0" sz="900" spc="135">
                <a:solidFill>
                  <a:srgbClr val="FFFFFF"/>
                </a:solidFill>
                <a:latin typeface="Segoe UI"/>
                <a:cs typeface="Segoe UI"/>
              </a:rPr>
              <a:t> </a:t>
            </a:r>
            <a:r>
              <a:rPr dirty="0" sz="900" spc="-25">
                <a:solidFill>
                  <a:srgbClr val="FFFFFF"/>
                </a:solidFill>
                <a:latin typeface="Segoe UI"/>
                <a:cs typeface="Segoe UI"/>
              </a:rPr>
              <a:t>and </a:t>
            </a:r>
            <a:r>
              <a:rPr dirty="0" sz="900" spc="-10">
                <a:solidFill>
                  <a:srgbClr val="FFFFFF"/>
                </a:solidFill>
                <a:latin typeface="Segoe UI"/>
                <a:cs typeface="Segoe UI"/>
              </a:rPr>
              <a:t>monitoring.</a:t>
            </a:r>
            <a:endParaRPr sz="900">
              <a:latin typeface="Segoe UI"/>
              <a:cs typeface="Segoe U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70027" rIns="0" bIns="0" rtlCol="0" vert="horz">
            <a:spAutoFit/>
          </a:bodyPr>
          <a:lstStyle/>
          <a:p>
            <a:pPr marL="165735">
              <a:lnSpc>
                <a:spcPct val="100000"/>
              </a:lnSpc>
              <a:spcBef>
                <a:spcPts val="120"/>
              </a:spcBef>
            </a:pPr>
            <a:r>
              <a:rPr dirty="0">
                <a:solidFill>
                  <a:srgbClr val="003E34"/>
                </a:solidFill>
                <a:latin typeface="Segoe UI"/>
                <a:cs typeface="Segoe UI"/>
              </a:rPr>
              <a:t>Yet</a:t>
            </a:r>
            <a:r>
              <a:rPr dirty="0" spc="30">
                <a:solidFill>
                  <a:srgbClr val="003E34"/>
                </a:solidFill>
                <a:latin typeface="Segoe UI"/>
                <a:cs typeface="Segoe UI"/>
              </a:rPr>
              <a:t> </a:t>
            </a:r>
            <a:r>
              <a:rPr dirty="0">
                <a:solidFill>
                  <a:srgbClr val="003E34"/>
                </a:solidFill>
                <a:latin typeface="Segoe UI"/>
                <a:cs typeface="Segoe UI"/>
              </a:rPr>
              <a:t>not</a:t>
            </a:r>
            <a:r>
              <a:rPr dirty="0" spc="50">
                <a:solidFill>
                  <a:srgbClr val="003E34"/>
                </a:solidFill>
                <a:latin typeface="Segoe UI"/>
                <a:cs typeface="Segoe UI"/>
              </a:rPr>
              <a:t> </a:t>
            </a:r>
            <a:r>
              <a:rPr dirty="0">
                <a:solidFill>
                  <a:srgbClr val="003E34"/>
                </a:solidFill>
                <a:latin typeface="Segoe UI"/>
                <a:cs typeface="Segoe UI"/>
              </a:rPr>
              <a:t>all</a:t>
            </a:r>
            <a:r>
              <a:rPr dirty="0" spc="15">
                <a:solidFill>
                  <a:srgbClr val="003E34"/>
                </a:solidFill>
                <a:latin typeface="Segoe UI"/>
                <a:cs typeface="Segoe UI"/>
              </a:rPr>
              <a:t> </a:t>
            </a:r>
            <a:r>
              <a:rPr dirty="0">
                <a:solidFill>
                  <a:srgbClr val="003E34"/>
                </a:solidFill>
                <a:latin typeface="Segoe UI"/>
                <a:cs typeface="Segoe UI"/>
              </a:rPr>
              <a:t>institutions</a:t>
            </a:r>
            <a:r>
              <a:rPr dirty="0" spc="25">
                <a:solidFill>
                  <a:srgbClr val="003E34"/>
                </a:solidFill>
                <a:latin typeface="Segoe UI"/>
                <a:cs typeface="Segoe UI"/>
              </a:rPr>
              <a:t> </a:t>
            </a:r>
            <a:r>
              <a:rPr dirty="0">
                <a:solidFill>
                  <a:srgbClr val="003E34"/>
                </a:solidFill>
                <a:latin typeface="Segoe UI"/>
                <a:cs typeface="Segoe UI"/>
              </a:rPr>
              <a:t>are</a:t>
            </a:r>
            <a:r>
              <a:rPr dirty="0" spc="60">
                <a:solidFill>
                  <a:srgbClr val="003E34"/>
                </a:solidFill>
                <a:latin typeface="Segoe UI"/>
                <a:cs typeface="Segoe UI"/>
              </a:rPr>
              <a:t> </a:t>
            </a:r>
            <a:r>
              <a:rPr dirty="0" spc="-10">
                <a:solidFill>
                  <a:srgbClr val="003E34"/>
                </a:solidFill>
                <a:latin typeface="Segoe UI"/>
                <a:cs typeface="Segoe UI"/>
              </a:rPr>
              <a:t>prepared…</a:t>
            </a:r>
          </a:p>
        </p:txBody>
      </p:sp>
      <p:pic>
        <p:nvPicPr>
          <p:cNvPr id="4" name="object 4"/>
          <p:cNvPicPr/>
          <p:nvPr/>
        </p:nvPicPr>
        <p:blipFill>
          <a:blip r:embed="rId3" cstate="print"/>
          <a:stretch>
            <a:fillRect/>
          </a:stretch>
        </p:blipFill>
        <p:spPr>
          <a:xfrm>
            <a:off x="1298447" y="1280541"/>
            <a:ext cx="10204704" cy="42986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5799" y="478282"/>
            <a:ext cx="4017010" cy="949325"/>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latin typeface="Segoe UI"/>
                <a:cs typeface="Segoe UI"/>
              </a:rPr>
              <a:t>Three</a:t>
            </a:r>
            <a:r>
              <a:rPr dirty="0" spc="125">
                <a:solidFill>
                  <a:srgbClr val="003E34"/>
                </a:solidFill>
                <a:latin typeface="Segoe UI"/>
                <a:cs typeface="Segoe UI"/>
              </a:rPr>
              <a:t> </a:t>
            </a:r>
            <a:r>
              <a:rPr dirty="0">
                <a:solidFill>
                  <a:srgbClr val="003E34"/>
                </a:solidFill>
                <a:latin typeface="Segoe UI"/>
                <a:cs typeface="Segoe UI"/>
              </a:rPr>
              <a:t>audiences</a:t>
            </a:r>
            <a:r>
              <a:rPr dirty="0" spc="170">
                <a:solidFill>
                  <a:srgbClr val="003E34"/>
                </a:solidFill>
                <a:latin typeface="Segoe UI"/>
                <a:cs typeface="Segoe UI"/>
              </a:rPr>
              <a:t> </a:t>
            </a:r>
            <a:r>
              <a:rPr dirty="0" spc="-20">
                <a:solidFill>
                  <a:srgbClr val="003E34"/>
                </a:solidFill>
                <a:latin typeface="Segoe UI"/>
                <a:cs typeface="Segoe UI"/>
              </a:rPr>
              <a:t>face </a:t>
            </a:r>
            <a:r>
              <a:rPr dirty="0">
                <a:solidFill>
                  <a:srgbClr val="003E34"/>
                </a:solidFill>
                <a:latin typeface="Segoe UI"/>
                <a:cs typeface="Segoe UI"/>
              </a:rPr>
              <a:t>different</a:t>
            </a:r>
            <a:r>
              <a:rPr dirty="0" spc="145">
                <a:solidFill>
                  <a:srgbClr val="003E34"/>
                </a:solidFill>
                <a:latin typeface="Segoe UI"/>
                <a:cs typeface="Segoe UI"/>
              </a:rPr>
              <a:t> </a:t>
            </a:r>
            <a:r>
              <a:rPr dirty="0" spc="-10">
                <a:solidFill>
                  <a:srgbClr val="003E34"/>
                </a:solidFill>
                <a:latin typeface="Segoe UI"/>
                <a:cs typeface="Segoe UI"/>
              </a:rPr>
              <a:t>obligations</a:t>
            </a:r>
          </a:p>
        </p:txBody>
      </p:sp>
      <p:grpSp>
        <p:nvGrpSpPr>
          <p:cNvPr id="3" name="object 3"/>
          <p:cNvGrpSpPr/>
          <p:nvPr/>
        </p:nvGrpSpPr>
        <p:grpSpPr>
          <a:xfrm>
            <a:off x="994917" y="1745107"/>
            <a:ext cx="10226675" cy="3605529"/>
            <a:chOff x="994917" y="1745107"/>
            <a:chExt cx="10226675" cy="3605529"/>
          </a:xfrm>
        </p:grpSpPr>
        <p:sp>
          <p:nvSpPr>
            <p:cNvPr id="4" name="object 4"/>
            <p:cNvSpPr/>
            <p:nvPr/>
          </p:nvSpPr>
          <p:spPr>
            <a:xfrm>
              <a:off x="4864608" y="1820164"/>
              <a:ext cx="2432685" cy="2268220"/>
            </a:xfrm>
            <a:custGeom>
              <a:avLst/>
              <a:gdLst/>
              <a:ahLst/>
              <a:cxnLst/>
              <a:rect l="l" t="t" r="r" b="b"/>
              <a:pathLst>
                <a:path w="2432684" h="2268220">
                  <a:moveTo>
                    <a:pt x="1216278" y="0"/>
                  </a:moveTo>
                  <a:lnTo>
                    <a:pt x="1168522" y="916"/>
                  </a:lnTo>
                  <a:lnTo>
                    <a:pt x="1121231" y="3643"/>
                  </a:lnTo>
                  <a:lnTo>
                    <a:pt x="1074440" y="8147"/>
                  </a:lnTo>
                  <a:lnTo>
                    <a:pt x="1028183" y="14393"/>
                  </a:lnTo>
                  <a:lnTo>
                    <a:pt x="982494" y="22350"/>
                  </a:lnTo>
                  <a:lnTo>
                    <a:pt x="937406" y="31982"/>
                  </a:lnTo>
                  <a:lnTo>
                    <a:pt x="892954" y="43257"/>
                  </a:lnTo>
                  <a:lnTo>
                    <a:pt x="849170" y="56140"/>
                  </a:lnTo>
                  <a:lnTo>
                    <a:pt x="806089" y="70598"/>
                  </a:lnTo>
                  <a:lnTo>
                    <a:pt x="763745" y="86597"/>
                  </a:lnTo>
                  <a:lnTo>
                    <a:pt x="722172" y="104104"/>
                  </a:lnTo>
                  <a:lnTo>
                    <a:pt x="681403" y="123085"/>
                  </a:lnTo>
                  <a:lnTo>
                    <a:pt x="641471" y="143507"/>
                  </a:lnTo>
                  <a:lnTo>
                    <a:pt x="602412" y="165335"/>
                  </a:lnTo>
                  <a:lnTo>
                    <a:pt x="564259" y="188536"/>
                  </a:lnTo>
                  <a:lnTo>
                    <a:pt x="527045" y="213077"/>
                  </a:lnTo>
                  <a:lnTo>
                    <a:pt x="490804" y="238923"/>
                  </a:lnTo>
                  <a:lnTo>
                    <a:pt x="455570" y="266042"/>
                  </a:lnTo>
                  <a:lnTo>
                    <a:pt x="421378" y="294399"/>
                  </a:lnTo>
                  <a:lnTo>
                    <a:pt x="388260" y="323961"/>
                  </a:lnTo>
                  <a:lnTo>
                    <a:pt x="356250" y="354695"/>
                  </a:lnTo>
                  <a:lnTo>
                    <a:pt x="325383" y="386566"/>
                  </a:lnTo>
                  <a:lnTo>
                    <a:pt x="295692" y="419541"/>
                  </a:lnTo>
                  <a:lnTo>
                    <a:pt x="267212" y="453586"/>
                  </a:lnTo>
                  <a:lnTo>
                    <a:pt x="239974" y="488668"/>
                  </a:lnTo>
                  <a:lnTo>
                    <a:pt x="214015" y="524753"/>
                  </a:lnTo>
                  <a:lnTo>
                    <a:pt x="189367" y="561807"/>
                  </a:lnTo>
                  <a:lnTo>
                    <a:pt x="166064" y="599797"/>
                  </a:lnTo>
                  <a:lnTo>
                    <a:pt x="144140" y="638689"/>
                  </a:lnTo>
                  <a:lnTo>
                    <a:pt x="123629" y="678450"/>
                  </a:lnTo>
                  <a:lnTo>
                    <a:pt x="104564" y="719045"/>
                  </a:lnTo>
                  <a:lnTo>
                    <a:pt x="86980" y="760442"/>
                  </a:lnTo>
                  <a:lnTo>
                    <a:pt x="70910" y="802606"/>
                  </a:lnTo>
                  <a:lnTo>
                    <a:pt x="56388" y="845504"/>
                  </a:lnTo>
                  <a:lnTo>
                    <a:pt x="43448" y="889102"/>
                  </a:lnTo>
                  <a:lnTo>
                    <a:pt x="32124" y="933367"/>
                  </a:lnTo>
                  <a:lnTo>
                    <a:pt x="22449" y="978265"/>
                  </a:lnTo>
                  <a:lnTo>
                    <a:pt x="14457" y="1023762"/>
                  </a:lnTo>
                  <a:lnTo>
                    <a:pt x="8183" y="1069825"/>
                  </a:lnTo>
                  <a:lnTo>
                    <a:pt x="3659" y="1116420"/>
                  </a:lnTo>
                  <a:lnTo>
                    <a:pt x="920" y="1163513"/>
                  </a:lnTo>
                  <a:lnTo>
                    <a:pt x="0" y="1211072"/>
                  </a:lnTo>
                  <a:lnTo>
                    <a:pt x="396" y="1242726"/>
                  </a:lnTo>
                  <a:lnTo>
                    <a:pt x="5335" y="1325215"/>
                  </a:lnTo>
                  <a:lnTo>
                    <a:pt x="11117" y="1375635"/>
                  </a:lnTo>
                  <a:lnTo>
                    <a:pt x="18952" y="1425405"/>
                  </a:lnTo>
                  <a:lnTo>
                    <a:pt x="28797" y="1474483"/>
                  </a:lnTo>
                  <a:lnTo>
                    <a:pt x="40609" y="1522825"/>
                  </a:lnTo>
                  <a:lnTo>
                    <a:pt x="54343" y="1570388"/>
                  </a:lnTo>
                  <a:lnTo>
                    <a:pt x="69957" y="1617128"/>
                  </a:lnTo>
                  <a:lnTo>
                    <a:pt x="87405" y="1663002"/>
                  </a:lnTo>
                  <a:lnTo>
                    <a:pt x="106646" y="1707966"/>
                  </a:lnTo>
                  <a:lnTo>
                    <a:pt x="127634" y="1751977"/>
                  </a:lnTo>
                  <a:lnTo>
                    <a:pt x="150328" y="1794991"/>
                  </a:lnTo>
                  <a:lnTo>
                    <a:pt x="174681" y="1836966"/>
                  </a:lnTo>
                  <a:lnTo>
                    <a:pt x="200652" y="1877856"/>
                  </a:lnTo>
                  <a:lnTo>
                    <a:pt x="228197" y="1917620"/>
                  </a:lnTo>
                  <a:lnTo>
                    <a:pt x="257271" y="1956214"/>
                  </a:lnTo>
                  <a:lnTo>
                    <a:pt x="287832" y="1993594"/>
                  </a:lnTo>
                  <a:lnTo>
                    <a:pt x="319835" y="2029716"/>
                  </a:lnTo>
                  <a:lnTo>
                    <a:pt x="353237" y="2064538"/>
                  </a:lnTo>
                  <a:lnTo>
                    <a:pt x="387994" y="2098016"/>
                  </a:lnTo>
                  <a:lnTo>
                    <a:pt x="424063" y="2130105"/>
                  </a:lnTo>
                  <a:lnTo>
                    <a:pt x="461399" y="2160764"/>
                  </a:lnTo>
                  <a:lnTo>
                    <a:pt x="499961" y="2189949"/>
                  </a:lnTo>
                  <a:lnTo>
                    <a:pt x="539702" y="2217615"/>
                  </a:lnTo>
                  <a:lnTo>
                    <a:pt x="580581" y="2243720"/>
                  </a:lnTo>
                  <a:lnTo>
                    <a:pt x="622553" y="2268220"/>
                  </a:lnTo>
                  <a:lnTo>
                    <a:pt x="625600" y="2217126"/>
                  </a:lnTo>
                  <a:lnTo>
                    <a:pt x="630750" y="2166621"/>
                  </a:lnTo>
                  <a:lnTo>
                    <a:pt x="637958" y="2116750"/>
                  </a:lnTo>
                  <a:lnTo>
                    <a:pt x="647182" y="2067554"/>
                  </a:lnTo>
                  <a:lnTo>
                    <a:pt x="658379" y="2019078"/>
                  </a:lnTo>
                  <a:lnTo>
                    <a:pt x="671504" y="1971364"/>
                  </a:lnTo>
                  <a:lnTo>
                    <a:pt x="686515" y="1924456"/>
                  </a:lnTo>
                  <a:lnTo>
                    <a:pt x="703369" y="1878397"/>
                  </a:lnTo>
                  <a:lnTo>
                    <a:pt x="722021" y="1833230"/>
                  </a:lnTo>
                  <a:lnTo>
                    <a:pt x="742429" y="1788999"/>
                  </a:lnTo>
                  <a:lnTo>
                    <a:pt x="764550" y="1745746"/>
                  </a:lnTo>
                  <a:lnTo>
                    <a:pt x="788339" y="1703516"/>
                  </a:lnTo>
                  <a:lnTo>
                    <a:pt x="813753" y="1662350"/>
                  </a:lnTo>
                  <a:lnTo>
                    <a:pt x="840750" y="1622294"/>
                  </a:lnTo>
                  <a:lnTo>
                    <a:pt x="869286" y="1583389"/>
                  </a:lnTo>
                  <a:lnTo>
                    <a:pt x="899317" y="1545679"/>
                  </a:lnTo>
                  <a:lnTo>
                    <a:pt x="930801" y="1509207"/>
                  </a:lnTo>
                  <a:lnTo>
                    <a:pt x="963693" y="1474017"/>
                  </a:lnTo>
                  <a:lnTo>
                    <a:pt x="997950" y="1440152"/>
                  </a:lnTo>
                  <a:lnTo>
                    <a:pt x="1033530" y="1407655"/>
                  </a:lnTo>
                  <a:lnTo>
                    <a:pt x="1070388" y="1376570"/>
                  </a:lnTo>
                  <a:lnTo>
                    <a:pt x="1108481" y="1346939"/>
                  </a:lnTo>
                  <a:lnTo>
                    <a:pt x="1147767" y="1318805"/>
                  </a:lnTo>
                  <a:lnTo>
                    <a:pt x="1188201" y="1292213"/>
                  </a:lnTo>
                  <a:lnTo>
                    <a:pt x="1229740" y="1267206"/>
                  </a:lnTo>
                  <a:lnTo>
                    <a:pt x="1271536" y="1244197"/>
                  </a:lnTo>
                  <a:lnTo>
                    <a:pt x="1314306" y="1222794"/>
                  </a:lnTo>
                  <a:lnTo>
                    <a:pt x="1358011" y="1203037"/>
                  </a:lnTo>
                  <a:lnTo>
                    <a:pt x="1402613" y="1184967"/>
                  </a:lnTo>
                  <a:lnTo>
                    <a:pt x="1448071" y="1168626"/>
                  </a:lnTo>
                  <a:lnTo>
                    <a:pt x="1494345" y="1154054"/>
                  </a:lnTo>
                  <a:lnTo>
                    <a:pt x="1541397" y="1141292"/>
                  </a:lnTo>
                  <a:lnTo>
                    <a:pt x="1589187" y="1130382"/>
                  </a:lnTo>
                  <a:lnTo>
                    <a:pt x="1637674" y="1121363"/>
                  </a:lnTo>
                  <a:lnTo>
                    <a:pt x="1686821" y="1114277"/>
                  </a:lnTo>
                  <a:lnTo>
                    <a:pt x="1736586" y="1109165"/>
                  </a:lnTo>
                  <a:lnTo>
                    <a:pt x="1786931" y="1106068"/>
                  </a:lnTo>
                  <a:lnTo>
                    <a:pt x="1837816" y="1105027"/>
                  </a:lnTo>
                  <a:lnTo>
                    <a:pt x="1891418" y="1106180"/>
                  </a:lnTo>
                  <a:lnTo>
                    <a:pt x="1944431" y="1109611"/>
                  </a:lnTo>
                  <a:lnTo>
                    <a:pt x="1996807" y="1115272"/>
                  </a:lnTo>
                  <a:lnTo>
                    <a:pt x="2048495" y="1123117"/>
                  </a:lnTo>
                  <a:lnTo>
                    <a:pt x="2099449" y="1133100"/>
                  </a:lnTo>
                  <a:lnTo>
                    <a:pt x="2149617" y="1145174"/>
                  </a:lnTo>
                  <a:lnTo>
                    <a:pt x="2198953" y="1159294"/>
                  </a:lnTo>
                  <a:lnTo>
                    <a:pt x="2247406" y="1175413"/>
                  </a:lnTo>
                  <a:lnTo>
                    <a:pt x="2294927" y="1193484"/>
                  </a:lnTo>
                  <a:lnTo>
                    <a:pt x="2341469" y="1213462"/>
                  </a:lnTo>
                  <a:lnTo>
                    <a:pt x="2386981" y="1235299"/>
                  </a:lnTo>
                  <a:lnTo>
                    <a:pt x="2431415" y="1258951"/>
                  </a:lnTo>
                  <a:lnTo>
                    <a:pt x="2431768" y="1246967"/>
                  </a:lnTo>
                  <a:lnTo>
                    <a:pt x="2431383" y="1163395"/>
                  </a:lnTo>
                  <a:lnTo>
                    <a:pt x="2428646" y="1116309"/>
                  </a:lnTo>
                  <a:lnTo>
                    <a:pt x="2424124" y="1069720"/>
                  </a:lnTo>
                  <a:lnTo>
                    <a:pt x="2417852" y="1023662"/>
                  </a:lnTo>
                  <a:lnTo>
                    <a:pt x="2409864" y="978169"/>
                  </a:lnTo>
                  <a:lnTo>
                    <a:pt x="2400193" y="933274"/>
                  </a:lnTo>
                  <a:lnTo>
                    <a:pt x="2388874" y="889011"/>
                  </a:lnTo>
                  <a:lnTo>
                    <a:pt x="2375939" y="845414"/>
                  </a:lnTo>
                  <a:lnTo>
                    <a:pt x="2361423" y="802517"/>
                  </a:lnTo>
                  <a:lnTo>
                    <a:pt x="2345359" y="760353"/>
                  </a:lnTo>
                  <a:lnTo>
                    <a:pt x="2327782" y="718956"/>
                  </a:lnTo>
                  <a:lnTo>
                    <a:pt x="2308725" y="678359"/>
                  </a:lnTo>
                  <a:lnTo>
                    <a:pt x="2288221" y="638597"/>
                  </a:lnTo>
                  <a:lnTo>
                    <a:pt x="2266305" y="599703"/>
                  </a:lnTo>
                  <a:lnTo>
                    <a:pt x="2243010" y="561711"/>
                  </a:lnTo>
                  <a:lnTo>
                    <a:pt x="2218371" y="524654"/>
                  </a:lnTo>
                  <a:lnTo>
                    <a:pt x="2192420" y="488567"/>
                  </a:lnTo>
                  <a:lnTo>
                    <a:pt x="2165191" y="453482"/>
                  </a:lnTo>
                  <a:lnTo>
                    <a:pt x="2136719" y="419434"/>
                  </a:lnTo>
                  <a:lnTo>
                    <a:pt x="2107038" y="386457"/>
                  </a:lnTo>
                  <a:lnTo>
                    <a:pt x="2076180" y="354583"/>
                  </a:lnTo>
                  <a:lnTo>
                    <a:pt x="2044179" y="323848"/>
                  </a:lnTo>
                  <a:lnTo>
                    <a:pt x="2011070" y="294284"/>
                  </a:lnTo>
                  <a:lnTo>
                    <a:pt x="1976887" y="265925"/>
                  </a:lnTo>
                  <a:lnTo>
                    <a:pt x="1941662" y="238806"/>
                  </a:lnTo>
                  <a:lnTo>
                    <a:pt x="1905430" y="212958"/>
                  </a:lnTo>
                  <a:lnTo>
                    <a:pt x="1868224" y="188418"/>
                  </a:lnTo>
                  <a:lnTo>
                    <a:pt x="1830079" y="165217"/>
                  </a:lnTo>
                  <a:lnTo>
                    <a:pt x="1791028" y="143390"/>
                  </a:lnTo>
                  <a:lnTo>
                    <a:pt x="1751104" y="122971"/>
                  </a:lnTo>
                  <a:lnTo>
                    <a:pt x="1710342" y="103993"/>
                  </a:lnTo>
                  <a:lnTo>
                    <a:pt x="1668775" y="86490"/>
                  </a:lnTo>
                  <a:lnTo>
                    <a:pt x="1626438" y="70496"/>
                  </a:lnTo>
                  <a:lnTo>
                    <a:pt x="1583363" y="56044"/>
                  </a:lnTo>
                  <a:lnTo>
                    <a:pt x="1539585" y="43168"/>
                  </a:lnTo>
                  <a:lnTo>
                    <a:pt x="1495137" y="31902"/>
                  </a:lnTo>
                  <a:lnTo>
                    <a:pt x="1450053" y="22279"/>
                  </a:lnTo>
                  <a:lnTo>
                    <a:pt x="1404367" y="14334"/>
                  </a:lnTo>
                  <a:lnTo>
                    <a:pt x="1358113" y="8100"/>
                  </a:lnTo>
                  <a:lnTo>
                    <a:pt x="1311325" y="3610"/>
                  </a:lnTo>
                  <a:lnTo>
                    <a:pt x="1264035" y="899"/>
                  </a:lnTo>
                  <a:lnTo>
                    <a:pt x="1216278" y="0"/>
                  </a:lnTo>
                  <a:close/>
                </a:path>
              </a:pathLst>
            </a:custGeom>
            <a:solidFill>
              <a:srgbClr val="4471C4"/>
            </a:solidFill>
          </p:spPr>
          <p:txBody>
            <a:bodyPr wrap="square" lIns="0" tIns="0" rIns="0" bIns="0" rtlCol="0"/>
            <a:lstStyle/>
            <a:p/>
          </p:txBody>
        </p:sp>
        <p:sp>
          <p:nvSpPr>
            <p:cNvPr id="5" name="object 5"/>
            <p:cNvSpPr/>
            <p:nvPr/>
          </p:nvSpPr>
          <p:spPr>
            <a:xfrm>
              <a:off x="5486400" y="3091434"/>
              <a:ext cx="1216660" cy="1152525"/>
            </a:xfrm>
            <a:custGeom>
              <a:avLst/>
              <a:gdLst/>
              <a:ahLst/>
              <a:cxnLst/>
              <a:rect l="l" t="t" r="r" b="b"/>
              <a:pathLst>
                <a:path w="1216659" h="1152525">
                  <a:moveTo>
                    <a:pt x="608457" y="0"/>
                  </a:moveTo>
                  <a:lnTo>
                    <a:pt x="566827" y="24959"/>
                  </a:lnTo>
                  <a:lnTo>
                    <a:pt x="526307" y="51498"/>
                  </a:lnTo>
                  <a:lnTo>
                    <a:pt x="486939" y="79574"/>
                  </a:lnTo>
                  <a:lnTo>
                    <a:pt x="448767" y="109144"/>
                  </a:lnTo>
                  <a:lnTo>
                    <a:pt x="411833" y="140164"/>
                  </a:lnTo>
                  <a:lnTo>
                    <a:pt x="376181" y="172591"/>
                  </a:lnTo>
                  <a:lnTo>
                    <a:pt x="341855" y="206383"/>
                  </a:lnTo>
                  <a:lnTo>
                    <a:pt x="308898" y="241496"/>
                  </a:lnTo>
                  <a:lnTo>
                    <a:pt x="277352" y="277888"/>
                  </a:lnTo>
                  <a:lnTo>
                    <a:pt x="247262" y="315514"/>
                  </a:lnTo>
                  <a:lnTo>
                    <a:pt x="218671" y="354333"/>
                  </a:lnTo>
                  <a:lnTo>
                    <a:pt x="191621" y="394301"/>
                  </a:lnTo>
                  <a:lnTo>
                    <a:pt x="166157" y="435375"/>
                  </a:lnTo>
                  <a:lnTo>
                    <a:pt x="142322" y="477511"/>
                  </a:lnTo>
                  <a:lnTo>
                    <a:pt x="120158" y="520668"/>
                  </a:lnTo>
                  <a:lnTo>
                    <a:pt x="99709" y="564801"/>
                  </a:lnTo>
                  <a:lnTo>
                    <a:pt x="81019" y="609869"/>
                  </a:lnTo>
                  <a:lnTo>
                    <a:pt x="64131" y="655827"/>
                  </a:lnTo>
                  <a:lnTo>
                    <a:pt x="49087" y="702632"/>
                  </a:lnTo>
                  <a:lnTo>
                    <a:pt x="35932" y="750242"/>
                  </a:lnTo>
                  <a:lnTo>
                    <a:pt x="24709" y="798614"/>
                  </a:lnTo>
                  <a:lnTo>
                    <a:pt x="15461" y="847704"/>
                  </a:lnTo>
                  <a:lnTo>
                    <a:pt x="8231" y="897470"/>
                  </a:lnTo>
                  <a:lnTo>
                    <a:pt x="3063" y="947867"/>
                  </a:lnTo>
                  <a:lnTo>
                    <a:pt x="0" y="998854"/>
                  </a:lnTo>
                  <a:lnTo>
                    <a:pt x="44529" y="1022418"/>
                  </a:lnTo>
                  <a:lnTo>
                    <a:pt x="90137" y="1044183"/>
                  </a:lnTo>
                  <a:lnTo>
                    <a:pt x="136775" y="1064101"/>
                  </a:lnTo>
                  <a:lnTo>
                    <a:pt x="184394" y="1082124"/>
                  </a:lnTo>
                  <a:lnTo>
                    <a:pt x="232947" y="1098206"/>
                  </a:lnTo>
                  <a:lnTo>
                    <a:pt x="282384" y="1112297"/>
                  </a:lnTo>
                  <a:lnTo>
                    <a:pt x="332657" y="1124352"/>
                  </a:lnTo>
                  <a:lnTo>
                    <a:pt x="383718" y="1134321"/>
                  </a:lnTo>
                  <a:lnTo>
                    <a:pt x="435518" y="1142158"/>
                  </a:lnTo>
                  <a:lnTo>
                    <a:pt x="488009" y="1147815"/>
                  </a:lnTo>
                  <a:lnTo>
                    <a:pt x="541141" y="1151244"/>
                  </a:lnTo>
                  <a:lnTo>
                    <a:pt x="594867" y="1152397"/>
                  </a:lnTo>
                  <a:lnTo>
                    <a:pt x="646949" y="1151313"/>
                  </a:lnTo>
                  <a:lnTo>
                    <a:pt x="698477" y="1148090"/>
                  </a:lnTo>
                  <a:lnTo>
                    <a:pt x="749407" y="1142769"/>
                  </a:lnTo>
                  <a:lnTo>
                    <a:pt x="799696" y="1135394"/>
                  </a:lnTo>
                  <a:lnTo>
                    <a:pt x="849299" y="1126008"/>
                  </a:lnTo>
                  <a:lnTo>
                    <a:pt x="898172" y="1114652"/>
                  </a:lnTo>
                  <a:lnTo>
                    <a:pt x="946271" y="1101370"/>
                  </a:lnTo>
                  <a:lnTo>
                    <a:pt x="993553" y="1086204"/>
                  </a:lnTo>
                  <a:lnTo>
                    <a:pt x="1039973" y="1069198"/>
                  </a:lnTo>
                  <a:lnTo>
                    <a:pt x="1085486" y="1050393"/>
                  </a:lnTo>
                  <a:lnTo>
                    <a:pt x="1130050" y="1029832"/>
                  </a:lnTo>
                  <a:lnTo>
                    <a:pt x="1173620" y="1007559"/>
                  </a:lnTo>
                  <a:lnTo>
                    <a:pt x="1216152" y="983614"/>
                  </a:lnTo>
                  <a:lnTo>
                    <a:pt x="1212481" y="933418"/>
                  </a:lnTo>
                  <a:lnTo>
                    <a:pt x="1206772" y="883805"/>
                  </a:lnTo>
                  <a:lnTo>
                    <a:pt x="1199064" y="834819"/>
                  </a:lnTo>
                  <a:lnTo>
                    <a:pt x="1189401" y="786501"/>
                  </a:lnTo>
                  <a:lnTo>
                    <a:pt x="1177823" y="738892"/>
                  </a:lnTo>
                  <a:lnTo>
                    <a:pt x="1164372" y="692034"/>
                  </a:lnTo>
                  <a:lnTo>
                    <a:pt x="1149091" y="645969"/>
                  </a:lnTo>
                  <a:lnTo>
                    <a:pt x="1132020" y="600739"/>
                  </a:lnTo>
                  <a:lnTo>
                    <a:pt x="1113201" y="556386"/>
                  </a:lnTo>
                  <a:lnTo>
                    <a:pt x="1092677" y="512950"/>
                  </a:lnTo>
                  <a:lnTo>
                    <a:pt x="1070488" y="470475"/>
                  </a:lnTo>
                  <a:lnTo>
                    <a:pt x="1046677" y="429002"/>
                  </a:lnTo>
                  <a:lnTo>
                    <a:pt x="1021285" y="388572"/>
                  </a:lnTo>
                  <a:lnTo>
                    <a:pt x="994354" y="349227"/>
                  </a:lnTo>
                  <a:lnTo>
                    <a:pt x="965926" y="311009"/>
                  </a:lnTo>
                  <a:lnTo>
                    <a:pt x="936042" y="273960"/>
                  </a:lnTo>
                  <a:lnTo>
                    <a:pt x="904744" y="238122"/>
                  </a:lnTo>
                  <a:lnTo>
                    <a:pt x="872073" y="203535"/>
                  </a:lnTo>
                  <a:lnTo>
                    <a:pt x="838072" y="170243"/>
                  </a:lnTo>
                  <a:lnTo>
                    <a:pt x="802782" y="138286"/>
                  </a:lnTo>
                  <a:lnTo>
                    <a:pt x="766244" y="107707"/>
                  </a:lnTo>
                  <a:lnTo>
                    <a:pt x="728501" y="78547"/>
                  </a:lnTo>
                  <a:lnTo>
                    <a:pt x="689595" y="50848"/>
                  </a:lnTo>
                  <a:lnTo>
                    <a:pt x="649566" y="24651"/>
                  </a:lnTo>
                  <a:lnTo>
                    <a:pt x="608457" y="0"/>
                  </a:lnTo>
                  <a:close/>
                </a:path>
              </a:pathLst>
            </a:custGeom>
            <a:solidFill>
              <a:srgbClr val="EC7C30"/>
            </a:solidFill>
          </p:spPr>
          <p:txBody>
            <a:bodyPr wrap="square" lIns="0" tIns="0" rIns="0" bIns="0" rtlCol="0"/>
            <a:lstStyle/>
            <a:p/>
          </p:txBody>
        </p:sp>
        <p:sp>
          <p:nvSpPr>
            <p:cNvPr id="6" name="object 6"/>
            <p:cNvSpPr/>
            <p:nvPr/>
          </p:nvSpPr>
          <p:spPr>
            <a:xfrm>
              <a:off x="6099047" y="2926842"/>
              <a:ext cx="1811020" cy="2423795"/>
            </a:xfrm>
            <a:custGeom>
              <a:avLst/>
              <a:gdLst/>
              <a:ahLst/>
              <a:cxnLst/>
              <a:rect l="l" t="t" r="r" b="b"/>
              <a:pathLst>
                <a:path w="1811020" h="2423795">
                  <a:moveTo>
                    <a:pt x="603503" y="0"/>
                  </a:moveTo>
                  <a:lnTo>
                    <a:pt x="552995" y="1039"/>
                  </a:lnTo>
                  <a:lnTo>
                    <a:pt x="503019" y="4131"/>
                  </a:lnTo>
                  <a:lnTo>
                    <a:pt x="453615" y="9236"/>
                  </a:lnTo>
                  <a:lnTo>
                    <a:pt x="404824" y="16315"/>
                  </a:lnTo>
                  <a:lnTo>
                    <a:pt x="356688" y="25327"/>
                  </a:lnTo>
                  <a:lnTo>
                    <a:pt x="309245" y="36234"/>
                  </a:lnTo>
                  <a:lnTo>
                    <a:pt x="262538" y="48996"/>
                  </a:lnTo>
                  <a:lnTo>
                    <a:pt x="216606" y="63573"/>
                  </a:lnTo>
                  <a:lnTo>
                    <a:pt x="171490" y="79926"/>
                  </a:lnTo>
                  <a:lnTo>
                    <a:pt x="127231" y="98016"/>
                  </a:lnTo>
                  <a:lnTo>
                    <a:pt x="83869" y="117802"/>
                  </a:lnTo>
                  <a:lnTo>
                    <a:pt x="41445" y="139245"/>
                  </a:lnTo>
                  <a:lnTo>
                    <a:pt x="0" y="162306"/>
                  </a:lnTo>
                  <a:lnTo>
                    <a:pt x="40746" y="187020"/>
                  </a:lnTo>
                  <a:lnTo>
                    <a:pt x="80419" y="213283"/>
                  </a:lnTo>
                  <a:lnTo>
                    <a:pt x="118977" y="241053"/>
                  </a:lnTo>
                  <a:lnTo>
                    <a:pt x="156379" y="270287"/>
                  </a:lnTo>
                  <a:lnTo>
                    <a:pt x="192583" y="300944"/>
                  </a:lnTo>
                  <a:lnTo>
                    <a:pt x="227549" y="332982"/>
                  </a:lnTo>
                  <a:lnTo>
                    <a:pt x="261236" y="366360"/>
                  </a:lnTo>
                  <a:lnTo>
                    <a:pt x="293601" y="401037"/>
                  </a:lnTo>
                  <a:lnTo>
                    <a:pt x="324605" y="436969"/>
                  </a:lnTo>
                  <a:lnTo>
                    <a:pt x="354206" y="474116"/>
                  </a:lnTo>
                  <a:lnTo>
                    <a:pt x="382362" y="512436"/>
                  </a:lnTo>
                  <a:lnTo>
                    <a:pt x="409033" y="551887"/>
                  </a:lnTo>
                  <a:lnTo>
                    <a:pt x="434177" y="592427"/>
                  </a:lnTo>
                  <a:lnTo>
                    <a:pt x="457754" y="634015"/>
                  </a:lnTo>
                  <a:lnTo>
                    <a:pt x="479721" y="676610"/>
                  </a:lnTo>
                  <a:lnTo>
                    <a:pt x="500039" y="720169"/>
                  </a:lnTo>
                  <a:lnTo>
                    <a:pt x="518665" y="764650"/>
                  </a:lnTo>
                  <a:lnTo>
                    <a:pt x="535559" y="810012"/>
                  </a:lnTo>
                  <a:lnTo>
                    <a:pt x="550679" y="856214"/>
                  </a:lnTo>
                  <a:lnTo>
                    <a:pt x="563985" y="903213"/>
                  </a:lnTo>
                  <a:lnTo>
                    <a:pt x="575435" y="950969"/>
                  </a:lnTo>
                  <a:lnTo>
                    <a:pt x="584988" y="999438"/>
                  </a:lnTo>
                  <a:lnTo>
                    <a:pt x="592602" y="1048580"/>
                  </a:lnTo>
                  <a:lnTo>
                    <a:pt x="598238" y="1098353"/>
                  </a:lnTo>
                  <a:lnTo>
                    <a:pt x="601852" y="1148715"/>
                  </a:lnTo>
                  <a:lnTo>
                    <a:pt x="603503" y="1211834"/>
                  </a:lnTo>
                  <a:lnTo>
                    <a:pt x="602433" y="1263331"/>
                  </a:lnTo>
                  <a:lnTo>
                    <a:pt x="599250" y="1314281"/>
                  </a:lnTo>
                  <a:lnTo>
                    <a:pt x="593997" y="1364641"/>
                  </a:lnTo>
                  <a:lnTo>
                    <a:pt x="586717" y="1414367"/>
                  </a:lnTo>
                  <a:lnTo>
                    <a:pt x="577452" y="1463417"/>
                  </a:lnTo>
                  <a:lnTo>
                    <a:pt x="566245" y="1511747"/>
                  </a:lnTo>
                  <a:lnTo>
                    <a:pt x="553139" y="1559317"/>
                  </a:lnTo>
                  <a:lnTo>
                    <a:pt x="538176" y="1606081"/>
                  </a:lnTo>
                  <a:lnTo>
                    <a:pt x="521399" y="1651999"/>
                  </a:lnTo>
                  <a:lnTo>
                    <a:pt x="502852" y="1697026"/>
                  </a:lnTo>
                  <a:lnTo>
                    <a:pt x="482575" y="1741120"/>
                  </a:lnTo>
                  <a:lnTo>
                    <a:pt x="460612" y="1784239"/>
                  </a:lnTo>
                  <a:lnTo>
                    <a:pt x="437006" y="1826339"/>
                  </a:lnTo>
                  <a:lnTo>
                    <a:pt x="411800" y="1867378"/>
                  </a:lnTo>
                  <a:lnTo>
                    <a:pt x="385035" y="1907313"/>
                  </a:lnTo>
                  <a:lnTo>
                    <a:pt x="356756" y="1946100"/>
                  </a:lnTo>
                  <a:lnTo>
                    <a:pt x="327003" y="1983699"/>
                  </a:lnTo>
                  <a:lnTo>
                    <a:pt x="295821" y="2020065"/>
                  </a:lnTo>
                  <a:lnTo>
                    <a:pt x="263251" y="2055155"/>
                  </a:lnTo>
                  <a:lnTo>
                    <a:pt x="229336" y="2088928"/>
                  </a:lnTo>
                  <a:lnTo>
                    <a:pt x="194120" y="2121340"/>
                  </a:lnTo>
                  <a:lnTo>
                    <a:pt x="157644" y="2152348"/>
                  </a:lnTo>
                  <a:lnTo>
                    <a:pt x="119951" y="2181909"/>
                  </a:lnTo>
                  <a:lnTo>
                    <a:pt x="81084" y="2209982"/>
                  </a:lnTo>
                  <a:lnTo>
                    <a:pt x="41086" y="2236523"/>
                  </a:lnTo>
                  <a:lnTo>
                    <a:pt x="0" y="2261489"/>
                  </a:lnTo>
                  <a:lnTo>
                    <a:pt x="41470" y="2284524"/>
                  </a:lnTo>
                  <a:lnTo>
                    <a:pt x="83911" y="2305951"/>
                  </a:lnTo>
                  <a:lnTo>
                    <a:pt x="127283" y="2325726"/>
                  </a:lnTo>
                  <a:lnTo>
                    <a:pt x="171546" y="2343812"/>
                  </a:lnTo>
                  <a:lnTo>
                    <a:pt x="216661" y="2360165"/>
                  </a:lnTo>
                  <a:lnTo>
                    <a:pt x="262589" y="2374747"/>
                  </a:lnTo>
                  <a:lnTo>
                    <a:pt x="309289" y="2387516"/>
                  </a:lnTo>
                  <a:lnTo>
                    <a:pt x="356722" y="2398432"/>
                  </a:lnTo>
                  <a:lnTo>
                    <a:pt x="404849" y="2407454"/>
                  </a:lnTo>
                  <a:lnTo>
                    <a:pt x="453631" y="2414542"/>
                  </a:lnTo>
                  <a:lnTo>
                    <a:pt x="503026" y="2419655"/>
                  </a:lnTo>
                  <a:lnTo>
                    <a:pt x="552997" y="2422753"/>
                  </a:lnTo>
                  <a:lnTo>
                    <a:pt x="603503" y="2423795"/>
                  </a:lnTo>
                  <a:lnTo>
                    <a:pt x="652049" y="2422832"/>
                  </a:lnTo>
                  <a:lnTo>
                    <a:pt x="700109" y="2419969"/>
                  </a:lnTo>
                  <a:lnTo>
                    <a:pt x="747646" y="2415241"/>
                  </a:lnTo>
                  <a:lnTo>
                    <a:pt x="794623" y="2408685"/>
                  </a:lnTo>
                  <a:lnTo>
                    <a:pt x="841007" y="2400337"/>
                  </a:lnTo>
                  <a:lnTo>
                    <a:pt x="886759" y="2390233"/>
                  </a:lnTo>
                  <a:lnTo>
                    <a:pt x="931844" y="2378410"/>
                  </a:lnTo>
                  <a:lnTo>
                    <a:pt x="976227" y="2364903"/>
                  </a:lnTo>
                  <a:lnTo>
                    <a:pt x="1019870" y="2349748"/>
                  </a:lnTo>
                  <a:lnTo>
                    <a:pt x="1062738" y="2332983"/>
                  </a:lnTo>
                  <a:lnTo>
                    <a:pt x="1104796" y="2314643"/>
                  </a:lnTo>
                  <a:lnTo>
                    <a:pt x="1146006" y="2294765"/>
                  </a:lnTo>
                  <a:lnTo>
                    <a:pt x="1186332" y="2273384"/>
                  </a:lnTo>
                  <a:lnTo>
                    <a:pt x="1225740" y="2250537"/>
                  </a:lnTo>
                  <a:lnTo>
                    <a:pt x="1264192" y="2226260"/>
                  </a:lnTo>
                  <a:lnTo>
                    <a:pt x="1301653" y="2200590"/>
                  </a:lnTo>
                  <a:lnTo>
                    <a:pt x="1338086" y="2173562"/>
                  </a:lnTo>
                  <a:lnTo>
                    <a:pt x="1373456" y="2145213"/>
                  </a:lnTo>
                  <a:lnTo>
                    <a:pt x="1407726" y="2115579"/>
                  </a:lnTo>
                  <a:lnTo>
                    <a:pt x="1440861" y="2084696"/>
                  </a:lnTo>
                  <a:lnTo>
                    <a:pt x="1472824" y="2052601"/>
                  </a:lnTo>
                  <a:lnTo>
                    <a:pt x="1503579" y="2019329"/>
                  </a:lnTo>
                  <a:lnTo>
                    <a:pt x="1533091" y="1984917"/>
                  </a:lnTo>
                  <a:lnTo>
                    <a:pt x="1561322" y="1949401"/>
                  </a:lnTo>
                  <a:lnTo>
                    <a:pt x="1588238" y="1912818"/>
                  </a:lnTo>
                  <a:lnTo>
                    <a:pt x="1613802" y="1875203"/>
                  </a:lnTo>
                  <a:lnTo>
                    <a:pt x="1637978" y="1836593"/>
                  </a:lnTo>
                  <a:lnTo>
                    <a:pt x="1660730" y="1797024"/>
                  </a:lnTo>
                  <a:lnTo>
                    <a:pt x="1682022" y="1756532"/>
                  </a:lnTo>
                  <a:lnTo>
                    <a:pt x="1701817" y="1715153"/>
                  </a:lnTo>
                  <a:lnTo>
                    <a:pt x="1720081" y="1672924"/>
                  </a:lnTo>
                  <a:lnTo>
                    <a:pt x="1736776" y="1629881"/>
                  </a:lnTo>
                  <a:lnTo>
                    <a:pt x="1751867" y="1586060"/>
                  </a:lnTo>
                  <a:lnTo>
                    <a:pt x="1765317" y="1541497"/>
                  </a:lnTo>
                  <a:lnTo>
                    <a:pt x="1777091" y="1496229"/>
                  </a:lnTo>
                  <a:lnTo>
                    <a:pt x="1787153" y="1450292"/>
                  </a:lnTo>
                  <a:lnTo>
                    <a:pt x="1795466" y="1403721"/>
                  </a:lnTo>
                  <a:lnTo>
                    <a:pt x="1801994" y="1356554"/>
                  </a:lnTo>
                  <a:lnTo>
                    <a:pt x="1806702" y="1308826"/>
                  </a:lnTo>
                  <a:lnTo>
                    <a:pt x="1809553" y="1260574"/>
                  </a:lnTo>
                  <a:lnTo>
                    <a:pt x="1810511" y="1211834"/>
                  </a:lnTo>
                  <a:lnTo>
                    <a:pt x="1809413" y="1159654"/>
                  </a:lnTo>
                  <a:lnTo>
                    <a:pt x="1806147" y="1108038"/>
                  </a:lnTo>
                  <a:lnTo>
                    <a:pt x="1800758" y="1057029"/>
                  </a:lnTo>
                  <a:lnTo>
                    <a:pt x="1793290" y="1006672"/>
                  </a:lnTo>
                  <a:lnTo>
                    <a:pt x="1783788" y="957012"/>
                  </a:lnTo>
                  <a:lnTo>
                    <a:pt x="1772295" y="908093"/>
                  </a:lnTo>
                  <a:lnTo>
                    <a:pt x="1758855" y="859960"/>
                  </a:lnTo>
                  <a:lnTo>
                    <a:pt x="1743514" y="812657"/>
                  </a:lnTo>
                  <a:lnTo>
                    <a:pt x="1726314" y="766228"/>
                  </a:lnTo>
                  <a:lnTo>
                    <a:pt x="1707302" y="720719"/>
                  </a:lnTo>
                  <a:lnTo>
                    <a:pt x="1686519" y="676174"/>
                  </a:lnTo>
                  <a:lnTo>
                    <a:pt x="1664012" y="632637"/>
                  </a:lnTo>
                  <a:lnTo>
                    <a:pt x="1639824" y="590153"/>
                  </a:lnTo>
                  <a:lnTo>
                    <a:pt x="1613998" y="548766"/>
                  </a:lnTo>
                  <a:lnTo>
                    <a:pt x="1586581" y="508521"/>
                  </a:lnTo>
                  <a:lnTo>
                    <a:pt x="1557615" y="469462"/>
                  </a:lnTo>
                  <a:lnTo>
                    <a:pt x="1527145" y="431634"/>
                  </a:lnTo>
                  <a:lnTo>
                    <a:pt x="1495215" y="395082"/>
                  </a:lnTo>
                  <a:lnTo>
                    <a:pt x="1461870" y="359850"/>
                  </a:lnTo>
                  <a:lnTo>
                    <a:pt x="1427153" y="325982"/>
                  </a:lnTo>
                  <a:lnTo>
                    <a:pt x="1391109" y="293523"/>
                  </a:lnTo>
                  <a:lnTo>
                    <a:pt x="1353782" y="262518"/>
                  </a:lnTo>
                  <a:lnTo>
                    <a:pt x="1315217" y="233011"/>
                  </a:lnTo>
                  <a:lnTo>
                    <a:pt x="1275456" y="205047"/>
                  </a:lnTo>
                  <a:lnTo>
                    <a:pt x="1234546" y="178669"/>
                  </a:lnTo>
                  <a:lnTo>
                    <a:pt x="1192529" y="153924"/>
                  </a:lnTo>
                  <a:lnTo>
                    <a:pt x="1148421" y="130272"/>
                  </a:lnTo>
                  <a:lnTo>
                    <a:pt x="1103249" y="108435"/>
                  </a:lnTo>
                  <a:lnTo>
                    <a:pt x="1057060" y="88457"/>
                  </a:lnTo>
                  <a:lnTo>
                    <a:pt x="1009903" y="70386"/>
                  </a:lnTo>
                  <a:lnTo>
                    <a:pt x="961826" y="54267"/>
                  </a:lnTo>
                  <a:lnTo>
                    <a:pt x="912876" y="40147"/>
                  </a:lnTo>
                  <a:lnTo>
                    <a:pt x="863099" y="28073"/>
                  </a:lnTo>
                  <a:lnTo>
                    <a:pt x="812546" y="18090"/>
                  </a:lnTo>
                  <a:lnTo>
                    <a:pt x="761261" y="10245"/>
                  </a:lnTo>
                  <a:lnTo>
                    <a:pt x="709295" y="4584"/>
                  </a:lnTo>
                  <a:lnTo>
                    <a:pt x="656693" y="1153"/>
                  </a:lnTo>
                  <a:lnTo>
                    <a:pt x="603503" y="0"/>
                  </a:lnTo>
                  <a:close/>
                </a:path>
              </a:pathLst>
            </a:custGeom>
            <a:solidFill>
              <a:srgbClr val="00B8F5"/>
            </a:solidFill>
          </p:spPr>
          <p:txBody>
            <a:bodyPr wrap="square" lIns="0" tIns="0" rIns="0" bIns="0" rtlCol="0"/>
            <a:lstStyle/>
            <a:p/>
          </p:txBody>
        </p:sp>
        <p:sp>
          <p:nvSpPr>
            <p:cNvPr id="7" name="object 7"/>
            <p:cNvSpPr/>
            <p:nvPr/>
          </p:nvSpPr>
          <p:spPr>
            <a:xfrm>
              <a:off x="4279391" y="3100578"/>
              <a:ext cx="2423160" cy="2250440"/>
            </a:xfrm>
            <a:custGeom>
              <a:avLst/>
              <a:gdLst/>
              <a:ahLst/>
              <a:cxnLst/>
              <a:rect l="l" t="t" r="r" b="b"/>
              <a:pathLst>
                <a:path w="2423159" h="2250440">
                  <a:moveTo>
                    <a:pt x="593979" y="0"/>
                  </a:moveTo>
                  <a:lnTo>
                    <a:pt x="553448" y="25073"/>
                  </a:lnTo>
                  <a:lnTo>
                    <a:pt x="514003" y="51672"/>
                  </a:lnTo>
                  <a:lnTo>
                    <a:pt x="475685" y="79757"/>
                  </a:lnTo>
                  <a:lnTo>
                    <a:pt x="438536" y="109286"/>
                  </a:lnTo>
                  <a:lnTo>
                    <a:pt x="402596" y="140218"/>
                  </a:lnTo>
                  <a:lnTo>
                    <a:pt x="367906" y="172510"/>
                  </a:lnTo>
                  <a:lnTo>
                    <a:pt x="334508" y="206123"/>
                  </a:lnTo>
                  <a:lnTo>
                    <a:pt x="302443" y="241013"/>
                  </a:lnTo>
                  <a:lnTo>
                    <a:pt x="271751" y="277141"/>
                  </a:lnTo>
                  <a:lnTo>
                    <a:pt x="242474" y="314465"/>
                  </a:lnTo>
                  <a:lnTo>
                    <a:pt x="214653" y="352943"/>
                  </a:lnTo>
                  <a:lnTo>
                    <a:pt x="188330" y="392534"/>
                  </a:lnTo>
                  <a:lnTo>
                    <a:pt x="163544" y="433197"/>
                  </a:lnTo>
                  <a:lnTo>
                    <a:pt x="140337" y="474889"/>
                  </a:lnTo>
                  <a:lnTo>
                    <a:pt x="118751" y="517571"/>
                  </a:lnTo>
                  <a:lnTo>
                    <a:pt x="98826" y="561201"/>
                  </a:lnTo>
                  <a:lnTo>
                    <a:pt x="80604" y="605736"/>
                  </a:lnTo>
                  <a:lnTo>
                    <a:pt x="64125" y="651136"/>
                  </a:lnTo>
                  <a:lnTo>
                    <a:pt x="49432" y="697360"/>
                  </a:lnTo>
                  <a:lnTo>
                    <a:pt x="36564" y="744366"/>
                  </a:lnTo>
                  <a:lnTo>
                    <a:pt x="25562" y="792113"/>
                  </a:lnTo>
                  <a:lnTo>
                    <a:pt x="16469" y="840559"/>
                  </a:lnTo>
                  <a:lnTo>
                    <a:pt x="9325" y="889663"/>
                  </a:lnTo>
                  <a:lnTo>
                    <a:pt x="4172" y="939384"/>
                  </a:lnTo>
                  <a:lnTo>
                    <a:pt x="1049" y="989680"/>
                  </a:lnTo>
                  <a:lnTo>
                    <a:pt x="0" y="1040511"/>
                  </a:lnTo>
                  <a:lnTo>
                    <a:pt x="961" y="1089158"/>
                  </a:lnTo>
                  <a:lnTo>
                    <a:pt x="3823" y="1137318"/>
                  </a:lnTo>
                  <a:lnTo>
                    <a:pt x="8549" y="1184955"/>
                  </a:lnTo>
                  <a:lnTo>
                    <a:pt x="15102" y="1232031"/>
                  </a:lnTo>
                  <a:lnTo>
                    <a:pt x="23446" y="1278512"/>
                  </a:lnTo>
                  <a:lnTo>
                    <a:pt x="33546" y="1324360"/>
                  </a:lnTo>
                  <a:lnTo>
                    <a:pt x="45364" y="1369540"/>
                  </a:lnTo>
                  <a:lnTo>
                    <a:pt x="58865" y="1414016"/>
                  </a:lnTo>
                  <a:lnTo>
                    <a:pt x="74013" y="1457751"/>
                  </a:lnTo>
                  <a:lnTo>
                    <a:pt x="90771" y="1500709"/>
                  </a:lnTo>
                  <a:lnTo>
                    <a:pt x="109103" y="1542855"/>
                  </a:lnTo>
                  <a:lnTo>
                    <a:pt x="128973" y="1584152"/>
                  </a:lnTo>
                  <a:lnTo>
                    <a:pt x="150345" y="1624563"/>
                  </a:lnTo>
                  <a:lnTo>
                    <a:pt x="173183" y="1664054"/>
                  </a:lnTo>
                  <a:lnTo>
                    <a:pt x="197450" y="1702587"/>
                  </a:lnTo>
                  <a:lnTo>
                    <a:pt x="223111" y="1740126"/>
                  </a:lnTo>
                  <a:lnTo>
                    <a:pt x="250128" y="1776636"/>
                  </a:lnTo>
                  <a:lnTo>
                    <a:pt x="278466" y="1812081"/>
                  </a:lnTo>
                  <a:lnTo>
                    <a:pt x="308089" y="1846423"/>
                  </a:lnTo>
                  <a:lnTo>
                    <a:pt x="338961" y="1879628"/>
                  </a:lnTo>
                  <a:lnTo>
                    <a:pt x="371045" y="1911658"/>
                  </a:lnTo>
                  <a:lnTo>
                    <a:pt x="404304" y="1942478"/>
                  </a:lnTo>
                  <a:lnTo>
                    <a:pt x="438704" y="1972052"/>
                  </a:lnTo>
                  <a:lnTo>
                    <a:pt x="474208" y="2000343"/>
                  </a:lnTo>
                  <a:lnTo>
                    <a:pt x="510779" y="2027316"/>
                  </a:lnTo>
                  <a:lnTo>
                    <a:pt x="548382" y="2052934"/>
                  </a:lnTo>
                  <a:lnTo>
                    <a:pt x="586980" y="2077161"/>
                  </a:lnTo>
                  <a:lnTo>
                    <a:pt x="626536" y="2099960"/>
                  </a:lnTo>
                  <a:lnTo>
                    <a:pt x="667016" y="2121297"/>
                  </a:lnTo>
                  <a:lnTo>
                    <a:pt x="708382" y="2141135"/>
                  </a:lnTo>
                  <a:lnTo>
                    <a:pt x="750599" y="2159437"/>
                  </a:lnTo>
                  <a:lnTo>
                    <a:pt x="793630" y="2176167"/>
                  </a:lnTo>
                  <a:lnTo>
                    <a:pt x="837439" y="2191290"/>
                  </a:lnTo>
                  <a:lnTo>
                    <a:pt x="881990" y="2204769"/>
                  </a:lnTo>
                  <a:lnTo>
                    <a:pt x="927246" y="2216567"/>
                  </a:lnTo>
                  <a:lnTo>
                    <a:pt x="973173" y="2226650"/>
                  </a:lnTo>
                  <a:lnTo>
                    <a:pt x="1019732" y="2234981"/>
                  </a:lnTo>
                  <a:lnTo>
                    <a:pt x="1066889" y="2241523"/>
                  </a:lnTo>
                  <a:lnTo>
                    <a:pt x="1114606" y="2246241"/>
                  </a:lnTo>
                  <a:lnTo>
                    <a:pt x="1162849" y="2249098"/>
                  </a:lnTo>
                  <a:lnTo>
                    <a:pt x="1211580" y="2250059"/>
                  </a:lnTo>
                  <a:lnTo>
                    <a:pt x="1262264" y="2249019"/>
                  </a:lnTo>
                  <a:lnTo>
                    <a:pt x="1312416" y="2245928"/>
                  </a:lnTo>
                  <a:lnTo>
                    <a:pt x="1361997" y="2240825"/>
                  </a:lnTo>
                  <a:lnTo>
                    <a:pt x="1410966" y="2233751"/>
                  </a:lnTo>
                  <a:lnTo>
                    <a:pt x="1459282" y="2224745"/>
                  </a:lnTo>
                  <a:lnTo>
                    <a:pt x="1506905" y="2213849"/>
                  </a:lnTo>
                  <a:lnTo>
                    <a:pt x="1553796" y="2201102"/>
                  </a:lnTo>
                  <a:lnTo>
                    <a:pt x="1599913" y="2186544"/>
                  </a:lnTo>
                  <a:lnTo>
                    <a:pt x="1645218" y="2170216"/>
                  </a:lnTo>
                  <a:lnTo>
                    <a:pt x="1689668" y="2152158"/>
                  </a:lnTo>
                  <a:lnTo>
                    <a:pt x="1733225" y="2132410"/>
                  </a:lnTo>
                  <a:lnTo>
                    <a:pt x="1775848" y="2111013"/>
                  </a:lnTo>
                  <a:lnTo>
                    <a:pt x="1817497" y="2088007"/>
                  </a:lnTo>
                  <a:lnTo>
                    <a:pt x="1858755" y="2063087"/>
                  </a:lnTo>
                  <a:lnTo>
                    <a:pt x="1898917" y="2036597"/>
                  </a:lnTo>
                  <a:lnTo>
                    <a:pt x="1937940" y="2008579"/>
                  </a:lnTo>
                  <a:lnTo>
                    <a:pt x="1975782" y="1979076"/>
                  </a:lnTo>
                  <a:lnTo>
                    <a:pt x="2012399" y="1948130"/>
                  </a:lnTo>
                  <a:lnTo>
                    <a:pt x="2047749" y="1915784"/>
                  </a:lnTo>
                  <a:lnTo>
                    <a:pt x="2081790" y="1882081"/>
                  </a:lnTo>
                  <a:lnTo>
                    <a:pt x="2114479" y="1847064"/>
                  </a:lnTo>
                  <a:lnTo>
                    <a:pt x="2145774" y="1810774"/>
                  </a:lnTo>
                  <a:lnTo>
                    <a:pt x="2175631" y="1773255"/>
                  </a:lnTo>
                  <a:lnTo>
                    <a:pt x="2204009" y="1734548"/>
                  </a:lnTo>
                  <a:lnTo>
                    <a:pt x="2230864" y="1694698"/>
                  </a:lnTo>
                  <a:lnTo>
                    <a:pt x="2256154" y="1653746"/>
                  </a:lnTo>
                  <a:lnTo>
                    <a:pt x="2279838" y="1611735"/>
                  </a:lnTo>
                  <a:lnTo>
                    <a:pt x="2301871" y="1568707"/>
                  </a:lnTo>
                  <a:lnTo>
                    <a:pt x="2322211" y="1524706"/>
                  </a:lnTo>
                  <a:lnTo>
                    <a:pt x="2340817" y="1479773"/>
                  </a:lnTo>
                  <a:lnTo>
                    <a:pt x="2357644" y="1433952"/>
                  </a:lnTo>
                  <a:lnTo>
                    <a:pt x="2372652" y="1387285"/>
                  </a:lnTo>
                  <a:lnTo>
                    <a:pt x="2385796" y="1339815"/>
                  </a:lnTo>
                  <a:lnTo>
                    <a:pt x="2397035" y="1291584"/>
                  </a:lnTo>
                  <a:lnTo>
                    <a:pt x="2406327" y="1242635"/>
                  </a:lnTo>
                  <a:lnTo>
                    <a:pt x="2413627" y="1193011"/>
                  </a:lnTo>
                  <a:lnTo>
                    <a:pt x="2418895" y="1142753"/>
                  </a:lnTo>
                  <a:lnTo>
                    <a:pt x="2422086" y="1091906"/>
                  </a:lnTo>
                  <a:lnTo>
                    <a:pt x="2423160" y="1040511"/>
                  </a:lnTo>
                  <a:lnTo>
                    <a:pt x="2423060" y="1024647"/>
                  </a:lnTo>
                  <a:lnTo>
                    <a:pt x="2422195" y="993112"/>
                  </a:lnTo>
                  <a:lnTo>
                    <a:pt x="2421382" y="977392"/>
                  </a:lnTo>
                  <a:lnTo>
                    <a:pt x="2379091" y="1001338"/>
                  </a:lnTo>
                  <a:lnTo>
                    <a:pt x="2335774" y="1023617"/>
                  </a:lnTo>
                  <a:lnTo>
                    <a:pt x="2291474" y="1044187"/>
                  </a:lnTo>
                  <a:lnTo>
                    <a:pt x="2246234" y="1063003"/>
                  </a:lnTo>
                  <a:lnTo>
                    <a:pt x="2200095" y="1080023"/>
                  </a:lnTo>
                  <a:lnTo>
                    <a:pt x="2153102" y="1095203"/>
                  </a:lnTo>
                  <a:lnTo>
                    <a:pt x="2105295" y="1108500"/>
                  </a:lnTo>
                  <a:lnTo>
                    <a:pt x="2056719" y="1119870"/>
                  </a:lnTo>
                  <a:lnTo>
                    <a:pt x="2007415" y="1129270"/>
                  </a:lnTo>
                  <a:lnTo>
                    <a:pt x="1957427" y="1136656"/>
                  </a:lnTo>
                  <a:lnTo>
                    <a:pt x="1906797" y="1141986"/>
                  </a:lnTo>
                  <a:lnTo>
                    <a:pt x="1855567" y="1145215"/>
                  </a:lnTo>
                  <a:lnTo>
                    <a:pt x="1803781" y="1146302"/>
                  </a:lnTo>
                  <a:lnTo>
                    <a:pt x="1750372" y="1145148"/>
                  </a:lnTo>
                  <a:lnTo>
                    <a:pt x="1697556" y="1141718"/>
                  </a:lnTo>
                  <a:lnTo>
                    <a:pt x="1645380" y="1136060"/>
                  </a:lnTo>
                  <a:lnTo>
                    <a:pt x="1593892" y="1128220"/>
                  </a:lnTo>
                  <a:lnTo>
                    <a:pt x="1543139" y="1118246"/>
                  </a:lnTo>
                  <a:lnTo>
                    <a:pt x="1493170" y="1106185"/>
                  </a:lnTo>
                  <a:lnTo>
                    <a:pt x="1444032" y="1092084"/>
                  </a:lnTo>
                  <a:lnTo>
                    <a:pt x="1395772" y="1075991"/>
                  </a:lnTo>
                  <a:lnTo>
                    <a:pt x="1348438" y="1057951"/>
                  </a:lnTo>
                  <a:lnTo>
                    <a:pt x="1302078" y="1038013"/>
                  </a:lnTo>
                  <a:lnTo>
                    <a:pt x="1256739" y="1016224"/>
                  </a:lnTo>
                  <a:lnTo>
                    <a:pt x="1212469" y="992632"/>
                  </a:lnTo>
                  <a:lnTo>
                    <a:pt x="1170662" y="968163"/>
                  </a:lnTo>
                  <a:lnTo>
                    <a:pt x="1129945" y="942090"/>
                  </a:lnTo>
                  <a:lnTo>
                    <a:pt x="1090361" y="914458"/>
                  </a:lnTo>
                  <a:lnTo>
                    <a:pt x="1051953" y="885309"/>
                  </a:lnTo>
                  <a:lnTo>
                    <a:pt x="1014765" y="854687"/>
                  </a:lnTo>
                  <a:lnTo>
                    <a:pt x="978840" y="822636"/>
                  </a:lnTo>
                  <a:lnTo>
                    <a:pt x="944221" y="789199"/>
                  </a:lnTo>
                  <a:lnTo>
                    <a:pt x="910953" y="754419"/>
                  </a:lnTo>
                  <a:lnTo>
                    <a:pt x="879078" y="718341"/>
                  </a:lnTo>
                  <a:lnTo>
                    <a:pt x="848639" y="681008"/>
                  </a:lnTo>
                  <a:lnTo>
                    <a:pt x="819680" y="642463"/>
                  </a:lnTo>
                  <a:lnTo>
                    <a:pt x="792245" y="602750"/>
                  </a:lnTo>
                  <a:lnTo>
                    <a:pt x="766377" y="561912"/>
                  </a:lnTo>
                  <a:lnTo>
                    <a:pt x="742120" y="519994"/>
                  </a:lnTo>
                  <a:lnTo>
                    <a:pt x="719515" y="477038"/>
                  </a:lnTo>
                  <a:lnTo>
                    <a:pt x="698609" y="433088"/>
                  </a:lnTo>
                  <a:lnTo>
                    <a:pt x="679442" y="388188"/>
                  </a:lnTo>
                  <a:lnTo>
                    <a:pt x="662060" y="342381"/>
                  </a:lnTo>
                  <a:lnTo>
                    <a:pt x="646505" y="295710"/>
                  </a:lnTo>
                  <a:lnTo>
                    <a:pt x="632820" y="248220"/>
                  </a:lnTo>
                  <a:lnTo>
                    <a:pt x="621050" y="199954"/>
                  </a:lnTo>
                  <a:lnTo>
                    <a:pt x="611237" y="150956"/>
                  </a:lnTo>
                  <a:lnTo>
                    <a:pt x="603426" y="101268"/>
                  </a:lnTo>
                  <a:lnTo>
                    <a:pt x="597658" y="50935"/>
                  </a:lnTo>
                  <a:lnTo>
                    <a:pt x="593979" y="0"/>
                  </a:lnTo>
                  <a:close/>
                </a:path>
              </a:pathLst>
            </a:custGeom>
            <a:solidFill>
              <a:srgbClr val="ACEAFF"/>
            </a:solidFill>
          </p:spPr>
          <p:txBody>
            <a:bodyPr wrap="square" lIns="0" tIns="0" rIns="0" bIns="0" rtlCol="0"/>
            <a:lstStyle/>
            <a:p/>
          </p:txBody>
        </p:sp>
        <p:sp>
          <p:nvSpPr>
            <p:cNvPr id="8" name="object 8"/>
            <p:cNvSpPr/>
            <p:nvPr/>
          </p:nvSpPr>
          <p:spPr>
            <a:xfrm>
              <a:off x="1001267" y="1751457"/>
              <a:ext cx="10213975" cy="2762250"/>
            </a:xfrm>
            <a:custGeom>
              <a:avLst/>
              <a:gdLst/>
              <a:ahLst/>
              <a:cxnLst/>
              <a:rect l="l" t="t" r="r" b="b"/>
              <a:pathLst>
                <a:path w="10213975" h="2762250">
                  <a:moveTo>
                    <a:pt x="7013448" y="1600707"/>
                  </a:moveTo>
                  <a:lnTo>
                    <a:pt x="7579740" y="1033526"/>
                  </a:lnTo>
                  <a:lnTo>
                    <a:pt x="10213848" y="1033526"/>
                  </a:lnTo>
                </a:path>
                <a:path w="10213975" h="2762250">
                  <a:moveTo>
                    <a:pt x="3639311" y="567181"/>
                  </a:moveTo>
                  <a:lnTo>
                    <a:pt x="3073019" y="0"/>
                  </a:lnTo>
                  <a:lnTo>
                    <a:pt x="438912" y="0"/>
                  </a:lnTo>
                </a:path>
                <a:path w="10213975" h="2762250">
                  <a:moveTo>
                    <a:pt x="3200399" y="2762249"/>
                  </a:moveTo>
                  <a:lnTo>
                    <a:pt x="2634107" y="2195194"/>
                  </a:lnTo>
                  <a:lnTo>
                    <a:pt x="0" y="2195194"/>
                  </a:lnTo>
                </a:path>
              </a:pathLst>
            </a:custGeom>
            <a:ln w="12700">
              <a:solidFill>
                <a:srgbClr val="B1B1B1"/>
              </a:solidFill>
            </a:ln>
          </p:spPr>
          <p:txBody>
            <a:bodyPr wrap="square" lIns="0" tIns="0" rIns="0" bIns="0" rtlCol="0"/>
            <a:lstStyle/>
            <a:p/>
          </p:txBody>
        </p:sp>
      </p:grpSp>
      <p:sp>
        <p:nvSpPr>
          <p:cNvPr id="9" name="object 9"/>
          <p:cNvSpPr txBox="1"/>
          <p:nvPr/>
        </p:nvSpPr>
        <p:spPr>
          <a:xfrm>
            <a:off x="1420749" y="1832434"/>
            <a:ext cx="2303780" cy="882015"/>
          </a:xfrm>
          <a:prstGeom prst="rect">
            <a:avLst/>
          </a:prstGeom>
        </p:spPr>
        <p:txBody>
          <a:bodyPr wrap="square" lIns="0" tIns="93980" rIns="0" bIns="0" rtlCol="0" vert="horz">
            <a:spAutoFit/>
          </a:bodyPr>
          <a:lstStyle/>
          <a:p>
            <a:pPr marL="12700">
              <a:lnSpc>
                <a:spcPct val="100000"/>
              </a:lnSpc>
              <a:spcBef>
                <a:spcPts val="740"/>
              </a:spcBef>
            </a:pPr>
            <a:r>
              <a:rPr dirty="0" sz="1500" spc="-10" b="1">
                <a:solidFill>
                  <a:srgbClr val="44536A"/>
                </a:solidFill>
                <a:latin typeface="Segoe UI"/>
                <a:cs typeface="Segoe UI"/>
              </a:rPr>
              <a:t>Regulators</a:t>
            </a:r>
            <a:r>
              <a:rPr dirty="0" sz="1500" spc="-20" b="1">
                <a:solidFill>
                  <a:srgbClr val="44536A"/>
                </a:solidFill>
                <a:latin typeface="Segoe UI"/>
                <a:cs typeface="Segoe UI"/>
              </a:rPr>
              <a:t> </a:t>
            </a:r>
            <a:r>
              <a:rPr dirty="0" sz="1500" b="1">
                <a:solidFill>
                  <a:srgbClr val="44536A"/>
                </a:solidFill>
                <a:latin typeface="Segoe UI"/>
                <a:cs typeface="Segoe UI"/>
              </a:rPr>
              <a:t>&amp;</a:t>
            </a:r>
            <a:r>
              <a:rPr dirty="0" sz="1500" spc="10" b="1">
                <a:solidFill>
                  <a:srgbClr val="44536A"/>
                </a:solidFill>
                <a:latin typeface="Segoe UI"/>
                <a:cs typeface="Segoe UI"/>
              </a:rPr>
              <a:t> </a:t>
            </a:r>
            <a:r>
              <a:rPr dirty="0" sz="1500" spc="-10" b="1">
                <a:solidFill>
                  <a:srgbClr val="44536A"/>
                </a:solidFill>
                <a:latin typeface="Segoe UI"/>
                <a:cs typeface="Segoe UI"/>
              </a:rPr>
              <a:t>governance</a:t>
            </a:r>
            <a:endParaRPr sz="1500">
              <a:latin typeface="Segoe UI"/>
              <a:cs typeface="Segoe UI"/>
            </a:endParaRPr>
          </a:p>
          <a:p>
            <a:pPr algn="just" marL="12700" marR="318135">
              <a:lnSpc>
                <a:spcPct val="111200"/>
              </a:lnSpc>
              <a:spcBef>
                <a:spcPts val="295"/>
              </a:spcBef>
            </a:pPr>
            <a:r>
              <a:rPr dirty="0" sz="1000">
                <a:solidFill>
                  <a:srgbClr val="44536A"/>
                </a:solidFill>
                <a:latin typeface="Segoe UI"/>
                <a:cs typeface="Segoe UI"/>
              </a:rPr>
              <a:t>Need</a:t>
            </a:r>
            <a:r>
              <a:rPr dirty="0" sz="1000" spc="-30">
                <a:solidFill>
                  <a:srgbClr val="44536A"/>
                </a:solidFill>
                <a:latin typeface="Segoe UI"/>
                <a:cs typeface="Segoe UI"/>
              </a:rPr>
              <a:t> </a:t>
            </a:r>
            <a:r>
              <a:rPr dirty="0" sz="1000">
                <a:solidFill>
                  <a:srgbClr val="44536A"/>
                </a:solidFill>
                <a:latin typeface="Segoe UI"/>
                <a:cs typeface="Segoe UI"/>
              </a:rPr>
              <a:t>auditable</a:t>
            </a:r>
            <a:r>
              <a:rPr dirty="0" sz="1000" spc="-30">
                <a:solidFill>
                  <a:srgbClr val="44536A"/>
                </a:solidFill>
                <a:latin typeface="Segoe UI"/>
                <a:cs typeface="Segoe UI"/>
              </a:rPr>
              <a:t> </a:t>
            </a:r>
            <a:r>
              <a:rPr dirty="0" sz="1000">
                <a:solidFill>
                  <a:srgbClr val="44536A"/>
                </a:solidFill>
                <a:latin typeface="Segoe UI"/>
                <a:cs typeface="Segoe UI"/>
              </a:rPr>
              <a:t>lineage,</a:t>
            </a:r>
            <a:r>
              <a:rPr dirty="0" sz="1000" spc="-10">
                <a:solidFill>
                  <a:srgbClr val="44536A"/>
                </a:solidFill>
                <a:latin typeface="Segoe UI"/>
                <a:cs typeface="Segoe UI"/>
              </a:rPr>
              <a:t> versioning, </a:t>
            </a:r>
            <a:r>
              <a:rPr dirty="0" sz="1000">
                <a:solidFill>
                  <a:srgbClr val="44536A"/>
                </a:solidFill>
                <a:latin typeface="Segoe UI"/>
                <a:cs typeface="Segoe UI"/>
              </a:rPr>
              <a:t>monitoring</a:t>
            </a:r>
            <a:r>
              <a:rPr dirty="0" sz="1000" spc="-35">
                <a:solidFill>
                  <a:srgbClr val="44536A"/>
                </a:solidFill>
                <a:latin typeface="Segoe UI"/>
                <a:cs typeface="Segoe UI"/>
              </a:rPr>
              <a:t> </a:t>
            </a:r>
            <a:r>
              <a:rPr dirty="0" sz="1000">
                <a:solidFill>
                  <a:srgbClr val="44536A"/>
                </a:solidFill>
                <a:latin typeface="Segoe UI"/>
                <a:cs typeface="Segoe UI"/>
              </a:rPr>
              <a:t>and</a:t>
            </a:r>
            <a:r>
              <a:rPr dirty="0" sz="1000" spc="-30">
                <a:solidFill>
                  <a:srgbClr val="44536A"/>
                </a:solidFill>
                <a:latin typeface="Segoe UI"/>
                <a:cs typeface="Segoe UI"/>
              </a:rPr>
              <a:t> </a:t>
            </a:r>
            <a:r>
              <a:rPr dirty="0" sz="1000">
                <a:solidFill>
                  <a:srgbClr val="44536A"/>
                </a:solidFill>
                <a:latin typeface="Segoe UI"/>
                <a:cs typeface="Segoe UI"/>
              </a:rPr>
              <a:t>a</a:t>
            </a:r>
            <a:r>
              <a:rPr dirty="0" sz="1000" spc="-25">
                <a:solidFill>
                  <a:srgbClr val="44536A"/>
                </a:solidFill>
                <a:latin typeface="Segoe UI"/>
                <a:cs typeface="Segoe UI"/>
              </a:rPr>
              <a:t> </a:t>
            </a:r>
            <a:r>
              <a:rPr dirty="0" sz="1000">
                <a:solidFill>
                  <a:srgbClr val="44536A"/>
                </a:solidFill>
                <a:latin typeface="Segoe UI"/>
                <a:cs typeface="Segoe UI"/>
              </a:rPr>
              <a:t>recorded</a:t>
            </a:r>
            <a:r>
              <a:rPr dirty="0" sz="1000" spc="-30">
                <a:solidFill>
                  <a:srgbClr val="44536A"/>
                </a:solidFill>
                <a:latin typeface="Segoe UI"/>
                <a:cs typeface="Segoe UI"/>
              </a:rPr>
              <a:t> </a:t>
            </a:r>
            <a:r>
              <a:rPr dirty="0" sz="1000" spc="-20">
                <a:solidFill>
                  <a:srgbClr val="44536A"/>
                </a:solidFill>
                <a:latin typeface="Segoe UI"/>
                <a:cs typeface="Segoe UI"/>
              </a:rPr>
              <a:t>human </a:t>
            </a:r>
            <a:r>
              <a:rPr dirty="0" sz="1000">
                <a:solidFill>
                  <a:srgbClr val="44536A"/>
                </a:solidFill>
                <a:latin typeface="Segoe UI"/>
                <a:cs typeface="Segoe UI"/>
              </a:rPr>
              <a:t>decision</a:t>
            </a:r>
            <a:r>
              <a:rPr dirty="0" sz="1000" spc="-55">
                <a:solidFill>
                  <a:srgbClr val="44536A"/>
                </a:solidFill>
                <a:latin typeface="Segoe UI"/>
                <a:cs typeface="Segoe UI"/>
              </a:rPr>
              <a:t> </a:t>
            </a:r>
            <a:r>
              <a:rPr dirty="0" sz="1000">
                <a:solidFill>
                  <a:srgbClr val="44536A"/>
                </a:solidFill>
                <a:latin typeface="Segoe UI"/>
                <a:cs typeface="Segoe UI"/>
              </a:rPr>
              <a:t>for</a:t>
            </a:r>
            <a:r>
              <a:rPr dirty="0" sz="1000" spc="-55">
                <a:solidFill>
                  <a:srgbClr val="44536A"/>
                </a:solidFill>
                <a:latin typeface="Segoe UI"/>
                <a:cs typeface="Segoe UI"/>
              </a:rPr>
              <a:t> </a:t>
            </a:r>
            <a:r>
              <a:rPr dirty="0" sz="1000">
                <a:solidFill>
                  <a:srgbClr val="44536A"/>
                </a:solidFill>
                <a:latin typeface="Segoe UI"/>
                <a:cs typeface="Segoe UI"/>
              </a:rPr>
              <a:t>every</a:t>
            </a:r>
            <a:r>
              <a:rPr dirty="0" sz="1000" spc="25">
                <a:solidFill>
                  <a:srgbClr val="44536A"/>
                </a:solidFill>
                <a:latin typeface="Segoe UI"/>
                <a:cs typeface="Segoe UI"/>
              </a:rPr>
              <a:t> </a:t>
            </a:r>
            <a:r>
              <a:rPr dirty="0" sz="1000" spc="-20">
                <a:solidFill>
                  <a:srgbClr val="44536A"/>
                </a:solidFill>
                <a:latin typeface="Segoe UI"/>
                <a:cs typeface="Segoe UI"/>
              </a:rPr>
              <a:t>use.</a:t>
            </a:r>
            <a:endParaRPr sz="1000">
              <a:latin typeface="Segoe UI"/>
              <a:cs typeface="Segoe UI"/>
            </a:endParaRPr>
          </a:p>
        </p:txBody>
      </p:sp>
      <p:sp>
        <p:nvSpPr>
          <p:cNvPr id="10" name="object 10"/>
          <p:cNvSpPr txBox="1"/>
          <p:nvPr/>
        </p:nvSpPr>
        <p:spPr>
          <a:xfrm>
            <a:off x="983056" y="4005110"/>
            <a:ext cx="2345055" cy="883285"/>
          </a:xfrm>
          <a:prstGeom prst="rect">
            <a:avLst/>
          </a:prstGeom>
        </p:spPr>
        <p:txBody>
          <a:bodyPr wrap="square" lIns="0" tIns="94615" rIns="0" bIns="0" rtlCol="0" vert="horz">
            <a:spAutoFit/>
          </a:bodyPr>
          <a:lstStyle/>
          <a:p>
            <a:pPr marL="12700">
              <a:lnSpc>
                <a:spcPct val="100000"/>
              </a:lnSpc>
              <a:spcBef>
                <a:spcPts val="745"/>
              </a:spcBef>
            </a:pPr>
            <a:r>
              <a:rPr dirty="0" sz="1500" spc="-10" b="1">
                <a:solidFill>
                  <a:srgbClr val="44536A"/>
                </a:solidFill>
                <a:latin typeface="Segoe UI"/>
                <a:cs typeface="Segoe UI"/>
              </a:rPr>
              <a:t>Clinicians</a:t>
            </a:r>
            <a:endParaRPr sz="1500">
              <a:latin typeface="Segoe UI"/>
              <a:cs typeface="Segoe UI"/>
            </a:endParaRPr>
          </a:p>
          <a:p>
            <a:pPr marL="12700" marR="5080">
              <a:lnSpc>
                <a:spcPct val="111100"/>
              </a:lnSpc>
              <a:spcBef>
                <a:spcPts val="300"/>
              </a:spcBef>
            </a:pPr>
            <a:r>
              <a:rPr dirty="0" sz="1000">
                <a:solidFill>
                  <a:srgbClr val="44536A"/>
                </a:solidFill>
                <a:latin typeface="Segoe UI"/>
                <a:cs typeface="Segoe UI"/>
              </a:rPr>
              <a:t>Need</a:t>
            </a:r>
            <a:r>
              <a:rPr dirty="0" sz="1000" spc="15">
                <a:solidFill>
                  <a:srgbClr val="44536A"/>
                </a:solidFill>
                <a:latin typeface="Segoe UI"/>
                <a:cs typeface="Segoe UI"/>
              </a:rPr>
              <a:t> </a:t>
            </a:r>
            <a:r>
              <a:rPr dirty="0" sz="1000">
                <a:solidFill>
                  <a:srgbClr val="44536A"/>
                </a:solidFill>
                <a:latin typeface="Segoe UI"/>
                <a:cs typeface="Segoe UI"/>
              </a:rPr>
              <a:t>an</a:t>
            </a:r>
            <a:r>
              <a:rPr dirty="0" sz="1000" spc="50">
                <a:solidFill>
                  <a:srgbClr val="44536A"/>
                </a:solidFill>
                <a:latin typeface="Segoe UI"/>
                <a:cs typeface="Segoe UI"/>
              </a:rPr>
              <a:t> </a:t>
            </a:r>
            <a:r>
              <a:rPr dirty="0" sz="1000" spc="-10">
                <a:solidFill>
                  <a:srgbClr val="44536A"/>
                </a:solidFill>
                <a:latin typeface="Segoe UI"/>
                <a:cs typeface="Segoe UI"/>
              </a:rPr>
              <a:t>interpretable,</a:t>
            </a:r>
            <a:r>
              <a:rPr dirty="0" sz="1000" spc="-50">
                <a:solidFill>
                  <a:srgbClr val="44536A"/>
                </a:solidFill>
                <a:latin typeface="Segoe UI"/>
                <a:cs typeface="Segoe UI"/>
              </a:rPr>
              <a:t> </a:t>
            </a:r>
            <a:r>
              <a:rPr dirty="0" sz="1000">
                <a:solidFill>
                  <a:srgbClr val="44536A"/>
                </a:solidFill>
                <a:latin typeface="Segoe UI"/>
                <a:cs typeface="Segoe UI"/>
              </a:rPr>
              <a:t>calibrated</a:t>
            </a:r>
            <a:r>
              <a:rPr dirty="0" sz="1000" spc="20">
                <a:solidFill>
                  <a:srgbClr val="44536A"/>
                </a:solidFill>
                <a:latin typeface="Segoe UI"/>
                <a:cs typeface="Segoe UI"/>
              </a:rPr>
              <a:t> </a:t>
            </a:r>
            <a:r>
              <a:rPr dirty="0" sz="1000">
                <a:solidFill>
                  <a:srgbClr val="44536A"/>
                </a:solidFill>
                <a:latin typeface="Segoe UI"/>
                <a:cs typeface="Segoe UI"/>
              </a:rPr>
              <a:t>score</a:t>
            </a:r>
            <a:r>
              <a:rPr dirty="0" sz="1000" spc="15">
                <a:solidFill>
                  <a:srgbClr val="44536A"/>
                </a:solidFill>
                <a:latin typeface="Segoe UI"/>
                <a:cs typeface="Segoe UI"/>
              </a:rPr>
              <a:t> </a:t>
            </a:r>
            <a:r>
              <a:rPr dirty="0" sz="1000" spc="-25">
                <a:solidFill>
                  <a:srgbClr val="44536A"/>
                </a:solidFill>
                <a:latin typeface="Segoe UI"/>
                <a:cs typeface="Segoe UI"/>
              </a:rPr>
              <a:t>in </a:t>
            </a:r>
            <a:r>
              <a:rPr dirty="0" sz="1000">
                <a:solidFill>
                  <a:srgbClr val="44536A"/>
                </a:solidFill>
                <a:latin typeface="Segoe UI"/>
                <a:cs typeface="Segoe UI"/>
              </a:rPr>
              <a:t>an</a:t>
            </a:r>
            <a:r>
              <a:rPr dirty="0" sz="1000" spc="-5">
                <a:solidFill>
                  <a:srgbClr val="44536A"/>
                </a:solidFill>
                <a:latin typeface="Segoe UI"/>
                <a:cs typeface="Segoe UI"/>
              </a:rPr>
              <a:t> </a:t>
            </a:r>
            <a:r>
              <a:rPr dirty="0" sz="1000">
                <a:solidFill>
                  <a:srgbClr val="44536A"/>
                </a:solidFill>
                <a:latin typeface="Segoe UI"/>
                <a:cs typeface="Segoe UI"/>
              </a:rPr>
              <a:t>approved</a:t>
            </a:r>
            <a:r>
              <a:rPr dirty="0" sz="1000" spc="-20">
                <a:solidFill>
                  <a:srgbClr val="44536A"/>
                </a:solidFill>
                <a:latin typeface="Segoe UI"/>
                <a:cs typeface="Segoe UI"/>
              </a:rPr>
              <a:t> </a:t>
            </a:r>
            <a:r>
              <a:rPr dirty="0" sz="1000" spc="-10">
                <a:solidFill>
                  <a:srgbClr val="44536A"/>
                </a:solidFill>
                <a:latin typeface="Segoe UI"/>
                <a:cs typeface="Segoe UI"/>
              </a:rPr>
              <a:t>workflow—</a:t>
            </a:r>
            <a:r>
              <a:rPr dirty="0" sz="1000">
                <a:solidFill>
                  <a:srgbClr val="44536A"/>
                </a:solidFill>
                <a:latin typeface="Segoe UI"/>
                <a:cs typeface="Segoe UI"/>
              </a:rPr>
              <a:t>while</a:t>
            </a:r>
            <a:r>
              <a:rPr dirty="0" sz="1000" spc="35">
                <a:solidFill>
                  <a:srgbClr val="44536A"/>
                </a:solidFill>
                <a:latin typeface="Segoe UI"/>
                <a:cs typeface="Segoe UI"/>
              </a:rPr>
              <a:t> </a:t>
            </a:r>
            <a:r>
              <a:rPr dirty="0" sz="1000" spc="-10">
                <a:solidFill>
                  <a:srgbClr val="44536A"/>
                </a:solidFill>
                <a:latin typeface="Segoe UI"/>
                <a:cs typeface="Segoe UI"/>
              </a:rPr>
              <a:t>retaining </a:t>
            </a:r>
            <a:r>
              <a:rPr dirty="0" sz="1000">
                <a:solidFill>
                  <a:srgbClr val="44536A"/>
                </a:solidFill>
                <a:latin typeface="Segoe UI"/>
                <a:cs typeface="Segoe UI"/>
              </a:rPr>
              <a:t>final </a:t>
            </a:r>
            <a:r>
              <a:rPr dirty="0" sz="1000" spc="-10">
                <a:solidFill>
                  <a:srgbClr val="44536A"/>
                </a:solidFill>
                <a:latin typeface="Segoe UI"/>
                <a:cs typeface="Segoe UI"/>
              </a:rPr>
              <a:t>accountability.</a:t>
            </a:r>
            <a:endParaRPr sz="1000">
              <a:latin typeface="Segoe UI"/>
              <a:cs typeface="Segoe UI"/>
            </a:endParaRPr>
          </a:p>
        </p:txBody>
      </p:sp>
      <p:sp>
        <p:nvSpPr>
          <p:cNvPr id="11" name="object 11"/>
          <p:cNvSpPr txBox="1"/>
          <p:nvPr/>
        </p:nvSpPr>
        <p:spPr>
          <a:xfrm>
            <a:off x="8822308" y="2806968"/>
            <a:ext cx="2370455" cy="881380"/>
          </a:xfrm>
          <a:prstGeom prst="rect">
            <a:avLst/>
          </a:prstGeom>
        </p:spPr>
        <p:txBody>
          <a:bodyPr wrap="square" lIns="0" tIns="93345" rIns="0" bIns="0" rtlCol="0" vert="horz">
            <a:spAutoFit/>
          </a:bodyPr>
          <a:lstStyle/>
          <a:p>
            <a:pPr marL="12700">
              <a:lnSpc>
                <a:spcPct val="100000"/>
              </a:lnSpc>
              <a:spcBef>
                <a:spcPts val="735"/>
              </a:spcBef>
            </a:pPr>
            <a:r>
              <a:rPr dirty="0" sz="1500" spc="-10" b="1">
                <a:solidFill>
                  <a:srgbClr val="44536A"/>
                </a:solidFill>
                <a:latin typeface="Segoe UI"/>
                <a:cs typeface="Segoe UI"/>
              </a:rPr>
              <a:t>Patients</a:t>
            </a:r>
            <a:endParaRPr sz="1500">
              <a:latin typeface="Segoe UI"/>
              <a:cs typeface="Segoe UI"/>
            </a:endParaRPr>
          </a:p>
          <a:p>
            <a:pPr marL="12700" marR="5080">
              <a:lnSpc>
                <a:spcPct val="111200"/>
              </a:lnSpc>
              <a:spcBef>
                <a:spcPts val="300"/>
              </a:spcBef>
            </a:pPr>
            <a:r>
              <a:rPr dirty="0" sz="1000">
                <a:solidFill>
                  <a:srgbClr val="44536A"/>
                </a:solidFill>
                <a:latin typeface="Segoe UI"/>
                <a:cs typeface="Segoe UI"/>
              </a:rPr>
              <a:t>Need</a:t>
            </a:r>
            <a:r>
              <a:rPr dirty="0" sz="1000" spc="-35">
                <a:solidFill>
                  <a:srgbClr val="44536A"/>
                </a:solidFill>
                <a:latin typeface="Segoe UI"/>
                <a:cs typeface="Segoe UI"/>
              </a:rPr>
              <a:t> </a:t>
            </a:r>
            <a:r>
              <a:rPr dirty="0" sz="1000">
                <a:solidFill>
                  <a:srgbClr val="44536A"/>
                </a:solidFill>
                <a:latin typeface="Segoe UI"/>
                <a:cs typeface="Segoe UI"/>
              </a:rPr>
              <a:t>a</a:t>
            </a:r>
            <a:r>
              <a:rPr dirty="0" sz="1000" spc="-20">
                <a:solidFill>
                  <a:srgbClr val="44536A"/>
                </a:solidFill>
                <a:latin typeface="Segoe UI"/>
                <a:cs typeface="Segoe UI"/>
              </a:rPr>
              <a:t> </a:t>
            </a:r>
            <a:r>
              <a:rPr dirty="0" sz="1000">
                <a:solidFill>
                  <a:srgbClr val="44536A"/>
                </a:solidFill>
                <a:latin typeface="Segoe UI"/>
                <a:cs typeface="Segoe UI"/>
              </a:rPr>
              <a:t>clear</a:t>
            </a:r>
            <a:r>
              <a:rPr dirty="0" sz="1000" spc="-5">
                <a:solidFill>
                  <a:srgbClr val="44536A"/>
                </a:solidFill>
                <a:latin typeface="Segoe UI"/>
                <a:cs typeface="Segoe UI"/>
              </a:rPr>
              <a:t> </a:t>
            </a:r>
            <a:r>
              <a:rPr dirty="0" sz="1000">
                <a:solidFill>
                  <a:srgbClr val="44536A"/>
                </a:solidFill>
                <a:latin typeface="Segoe UI"/>
                <a:cs typeface="Segoe UI"/>
              </a:rPr>
              <a:t>explanation</a:t>
            </a:r>
            <a:r>
              <a:rPr dirty="0" sz="1000" spc="-10">
                <a:solidFill>
                  <a:srgbClr val="44536A"/>
                </a:solidFill>
                <a:latin typeface="Segoe UI"/>
                <a:cs typeface="Segoe UI"/>
              </a:rPr>
              <a:t> </a:t>
            </a:r>
            <a:r>
              <a:rPr dirty="0" sz="1000">
                <a:solidFill>
                  <a:srgbClr val="44536A"/>
                </a:solidFill>
                <a:latin typeface="Segoe UI"/>
                <a:cs typeface="Segoe UI"/>
              </a:rPr>
              <a:t>of</a:t>
            </a:r>
            <a:r>
              <a:rPr dirty="0" sz="1000" spc="-40">
                <a:solidFill>
                  <a:srgbClr val="44536A"/>
                </a:solidFill>
                <a:latin typeface="Segoe UI"/>
                <a:cs typeface="Segoe UI"/>
              </a:rPr>
              <a:t> </a:t>
            </a:r>
            <a:r>
              <a:rPr dirty="0" sz="1000">
                <a:solidFill>
                  <a:srgbClr val="44536A"/>
                </a:solidFill>
                <a:latin typeface="Segoe UI"/>
                <a:cs typeface="Segoe UI"/>
              </a:rPr>
              <a:t>the</a:t>
            </a:r>
            <a:r>
              <a:rPr dirty="0" sz="1000" spc="-40">
                <a:solidFill>
                  <a:srgbClr val="44536A"/>
                </a:solidFill>
                <a:latin typeface="Segoe UI"/>
                <a:cs typeface="Segoe UI"/>
              </a:rPr>
              <a:t> </a:t>
            </a:r>
            <a:r>
              <a:rPr dirty="0" sz="1000">
                <a:solidFill>
                  <a:srgbClr val="44536A"/>
                </a:solidFill>
                <a:latin typeface="Segoe UI"/>
                <a:cs typeface="Segoe UI"/>
              </a:rPr>
              <a:t>score,</a:t>
            </a:r>
            <a:r>
              <a:rPr dirty="0" sz="1000" spc="-10">
                <a:solidFill>
                  <a:srgbClr val="44536A"/>
                </a:solidFill>
                <a:latin typeface="Segoe UI"/>
                <a:cs typeface="Segoe UI"/>
              </a:rPr>
              <a:t> </a:t>
            </a:r>
            <a:r>
              <a:rPr dirty="0" sz="1000" spc="-25">
                <a:solidFill>
                  <a:srgbClr val="44536A"/>
                </a:solidFill>
                <a:latin typeface="Segoe UI"/>
                <a:cs typeface="Segoe UI"/>
              </a:rPr>
              <a:t>its </a:t>
            </a:r>
            <a:r>
              <a:rPr dirty="0" sz="1000" spc="-10">
                <a:solidFill>
                  <a:srgbClr val="44536A"/>
                </a:solidFill>
                <a:latin typeface="Segoe UI"/>
                <a:cs typeface="Segoe UI"/>
              </a:rPr>
              <a:t>uncertainty</a:t>
            </a:r>
            <a:r>
              <a:rPr dirty="0" sz="1000" spc="-30">
                <a:solidFill>
                  <a:srgbClr val="44536A"/>
                </a:solidFill>
                <a:latin typeface="Segoe UI"/>
                <a:cs typeface="Segoe UI"/>
              </a:rPr>
              <a:t> </a:t>
            </a:r>
            <a:r>
              <a:rPr dirty="0" sz="1000">
                <a:solidFill>
                  <a:srgbClr val="44536A"/>
                </a:solidFill>
                <a:latin typeface="Segoe UI"/>
                <a:cs typeface="Segoe UI"/>
              </a:rPr>
              <a:t>and</a:t>
            </a:r>
            <a:r>
              <a:rPr dirty="0" sz="1000" spc="10">
                <a:solidFill>
                  <a:srgbClr val="44536A"/>
                </a:solidFill>
                <a:latin typeface="Segoe UI"/>
                <a:cs typeface="Segoe UI"/>
              </a:rPr>
              <a:t> </a:t>
            </a:r>
            <a:r>
              <a:rPr dirty="0" sz="1000">
                <a:solidFill>
                  <a:srgbClr val="44536A"/>
                </a:solidFill>
                <a:latin typeface="Segoe UI"/>
                <a:cs typeface="Segoe UI"/>
              </a:rPr>
              <a:t>how</a:t>
            </a:r>
            <a:r>
              <a:rPr dirty="0" sz="1000" spc="20">
                <a:solidFill>
                  <a:srgbClr val="44536A"/>
                </a:solidFill>
                <a:latin typeface="Segoe UI"/>
                <a:cs typeface="Segoe UI"/>
              </a:rPr>
              <a:t> </a:t>
            </a:r>
            <a:r>
              <a:rPr dirty="0" sz="1000">
                <a:solidFill>
                  <a:srgbClr val="44536A"/>
                </a:solidFill>
                <a:latin typeface="Segoe UI"/>
                <a:cs typeface="Segoe UI"/>
              </a:rPr>
              <a:t>it</a:t>
            </a:r>
            <a:r>
              <a:rPr dirty="0" sz="1000" spc="50">
                <a:solidFill>
                  <a:srgbClr val="44536A"/>
                </a:solidFill>
                <a:latin typeface="Segoe UI"/>
                <a:cs typeface="Segoe UI"/>
              </a:rPr>
              <a:t> </a:t>
            </a:r>
            <a:r>
              <a:rPr dirty="0" sz="1000" spc="-10">
                <a:solidFill>
                  <a:srgbClr val="44536A"/>
                </a:solidFill>
                <a:latin typeface="Segoe UI"/>
                <a:cs typeface="Segoe UI"/>
              </a:rPr>
              <a:t>influenced—</a:t>
            </a:r>
            <a:r>
              <a:rPr dirty="0" sz="1000">
                <a:solidFill>
                  <a:srgbClr val="44536A"/>
                </a:solidFill>
                <a:latin typeface="Segoe UI"/>
                <a:cs typeface="Segoe UI"/>
              </a:rPr>
              <a:t>or</a:t>
            </a:r>
            <a:r>
              <a:rPr dirty="0" sz="1000" spc="40">
                <a:solidFill>
                  <a:srgbClr val="44536A"/>
                </a:solidFill>
                <a:latin typeface="Segoe UI"/>
                <a:cs typeface="Segoe UI"/>
              </a:rPr>
              <a:t> </a:t>
            </a:r>
            <a:r>
              <a:rPr dirty="0" sz="1000" spc="-25">
                <a:solidFill>
                  <a:srgbClr val="44536A"/>
                </a:solidFill>
                <a:latin typeface="Segoe UI"/>
                <a:cs typeface="Segoe UI"/>
              </a:rPr>
              <a:t>can </a:t>
            </a:r>
            <a:r>
              <a:rPr dirty="0" sz="1000">
                <a:solidFill>
                  <a:srgbClr val="44536A"/>
                </a:solidFill>
                <a:latin typeface="Segoe UI"/>
                <a:cs typeface="Segoe UI"/>
              </a:rPr>
              <a:t>be</a:t>
            </a:r>
            <a:r>
              <a:rPr dirty="0" sz="1000" spc="-15">
                <a:solidFill>
                  <a:srgbClr val="44536A"/>
                </a:solidFill>
                <a:latin typeface="Segoe UI"/>
                <a:cs typeface="Segoe UI"/>
              </a:rPr>
              <a:t> </a:t>
            </a:r>
            <a:r>
              <a:rPr dirty="0" sz="1000">
                <a:solidFill>
                  <a:srgbClr val="44536A"/>
                </a:solidFill>
                <a:latin typeface="Segoe UI"/>
                <a:cs typeface="Segoe UI"/>
              </a:rPr>
              <a:t>challenged</a:t>
            </a:r>
            <a:r>
              <a:rPr dirty="0" sz="1000" spc="-10">
                <a:solidFill>
                  <a:srgbClr val="44536A"/>
                </a:solidFill>
                <a:latin typeface="Segoe UI"/>
                <a:cs typeface="Segoe UI"/>
              </a:rPr>
              <a:t> in—</a:t>
            </a:r>
            <a:r>
              <a:rPr dirty="0" sz="1000" spc="-20">
                <a:solidFill>
                  <a:srgbClr val="44536A"/>
                </a:solidFill>
                <a:latin typeface="Segoe UI"/>
                <a:cs typeface="Segoe UI"/>
              </a:rPr>
              <a:t>care.</a:t>
            </a:r>
            <a:endParaRPr sz="1000">
              <a:latin typeface="Segoe UI"/>
              <a:cs typeface="Segoe UI"/>
            </a:endParaRPr>
          </a:p>
        </p:txBody>
      </p:sp>
      <p:sp>
        <p:nvSpPr>
          <p:cNvPr id="12" name="object 12"/>
          <p:cNvSpPr txBox="1"/>
          <p:nvPr/>
        </p:nvSpPr>
        <p:spPr>
          <a:xfrm>
            <a:off x="5063490" y="4460303"/>
            <a:ext cx="697230" cy="212725"/>
          </a:xfrm>
          <a:prstGeom prst="rect">
            <a:avLst/>
          </a:prstGeom>
        </p:spPr>
        <p:txBody>
          <a:bodyPr wrap="square" lIns="0" tIns="15875" rIns="0" bIns="0" rtlCol="0" vert="horz">
            <a:spAutoFit/>
          </a:bodyPr>
          <a:lstStyle/>
          <a:p>
            <a:pPr marL="12700">
              <a:lnSpc>
                <a:spcPct val="100000"/>
              </a:lnSpc>
              <a:spcBef>
                <a:spcPts val="125"/>
              </a:spcBef>
            </a:pPr>
            <a:r>
              <a:rPr dirty="0" sz="1200" spc="-10" b="1">
                <a:solidFill>
                  <a:srgbClr val="44536A"/>
                </a:solidFill>
                <a:latin typeface="Segoe UI"/>
                <a:cs typeface="Segoe UI"/>
              </a:rPr>
              <a:t>Clinicians</a:t>
            </a:r>
            <a:endParaRPr sz="1200">
              <a:latin typeface="Segoe UI"/>
              <a:cs typeface="Segoe UI"/>
            </a:endParaRPr>
          </a:p>
        </p:txBody>
      </p:sp>
      <p:sp>
        <p:nvSpPr>
          <p:cNvPr id="13" name="object 13"/>
          <p:cNvSpPr txBox="1"/>
          <p:nvPr/>
        </p:nvSpPr>
        <p:spPr>
          <a:xfrm>
            <a:off x="6902704" y="3586607"/>
            <a:ext cx="598805" cy="212090"/>
          </a:xfrm>
          <a:prstGeom prst="rect">
            <a:avLst/>
          </a:prstGeom>
        </p:spPr>
        <p:txBody>
          <a:bodyPr wrap="square" lIns="0" tIns="15875" rIns="0" bIns="0" rtlCol="0" vert="horz">
            <a:spAutoFit/>
          </a:bodyPr>
          <a:lstStyle/>
          <a:p>
            <a:pPr marL="12700">
              <a:lnSpc>
                <a:spcPct val="100000"/>
              </a:lnSpc>
              <a:spcBef>
                <a:spcPts val="125"/>
              </a:spcBef>
            </a:pPr>
            <a:r>
              <a:rPr dirty="0" sz="1200" spc="-10" b="1">
                <a:solidFill>
                  <a:srgbClr val="FFFFFF"/>
                </a:solidFill>
                <a:latin typeface="Segoe UI"/>
                <a:cs typeface="Segoe UI"/>
              </a:rPr>
              <a:t>Patients</a:t>
            </a:r>
            <a:endParaRPr sz="1200">
              <a:latin typeface="Segoe UI"/>
              <a:cs typeface="Segoe UI"/>
            </a:endParaRPr>
          </a:p>
        </p:txBody>
      </p:sp>
      <p:sp>
        <p:nvSpPr>
          <p:cNvPr id="14" name="object 14"/>
          <p:cNvSpPr txBox="1"/>
          <p:nvPr/>
        </p:nvSpPr>
        <p:spPr>
          <a:xfrm>
            <a:off x="5055615" y="2603690"/>
            <a:ext cx="767715" cy="190500"/>
          </a:xfrm>
          <a:prstGeom prst="rect">
            <a:avLst/>
          </a:prstGeom>
        </p:spPr>
        <p:txBody>
          <a:bodyPr wrap="square" lIns="0" tIns="16510" rIns="0" bIns="0" rtlCol="0" vert="horz">
            <a:spAutoFit/>
          </a:bodyPr>
          <a:lstStyle/>
          <a:p>
            <a:pPr marL="12700">
              <a:lnSpc>
                <a:spcPct val="100000"/>
              </a:lnSpc>
              <a:spcBef>
                <a:spcPts val="130"/>
              </a:spcBef>
            </a:pPr>
            <a:r>
              <a:rPr dirty="0" sz="1050" spc="-10" b="1">
                <a:solidFill>
                  <a:srgbClr val="FFFFFF"/>
                </a:solidFill>
                <a:latin typeface="Segoe UI"/>
                <a:cs typeface="Segoe UI"/>
              </a:rPr>
              <a:t>Governance</a:t>
            </a:r>
            <a:endParaRPr sz="1050">
              <a:latin typeface="Segoe UI"/>
              <a:cs typeface="Segoe UI"/>
            </a:endParaRPr>
          </a:p>
        </p:txBody>
      </p:sp>
      <p:sp>
        <p:nvSpPr>
          <p:cNvPr id="15" name="object 15"/>
          <p:cNvSpPr txBox="1"/>
          <p:nvPr/>
        </p:nvSpPr>
        <p:spPr>
          <a:xfrm>
            <a:off x="5820536" y="3465972"/>
            <a:ext cx="560705" cy="501650"/>
          </a:xfrm>
          <a:prstGeom prst="rect">
            <a:avLst/>
          </a:prstGeom>
        </p:spPr>
        <p:txBody>
          <a:bodyPr wrap="square" lIns="0" tIns="66675" rIns="0" bIns="0" rtlCol="0" vert="horz">
            <a:spAutoFit/>
          </a:bodyPr>
          <a:lstStyle/>
          <a:p>
            <a:pPr algn="ctr">
              <a:lnSpc>
                <a:spcPct val="100000"/>
              </a:lnSpc>
              <a:spcBef>
                <a:spcPts val="525"/>
              </a:spcBef>
            </a:pPr>
            <a:r>
              <a:rPr dirty="0" sz="1200" spc="-10" b="1">
                <a:solidFill>
                  <a:srgbClr val="FFFFFF"/>
                </a:solidFill>
                <a:latin typeface="Segoe UI"/>
                <a:cs typeface="Segoe UI"/>
              </a:rPr>
              <a:t>Trusted</a:t>
            </a:r>
            <a:endParaRPr sz="1200">
              <a:latin typeface="Segoe UI"/>
              <a:cs typeface="Segoe UI"/>
            </a:endParaRPr>
          </a:p>
          <a:p>
            <a:pPr algn="ctr">
              <a:lnSpc>
                <a:spcPct val="100000"/>
              </a:lnSpc>
              <a:spcBef>
                <a:spcPts val="434"/>
              </a:spcBef>
            </a:pPr>
            <a:r>
              <a:rPr dirty="0" sz="1200" spc="-25" b="1">
                <a:solidFill>
                  <a:srgbClr val="FFFFFF"/>
                </a:solidFill>
                <a:latin typeface="Segoe UI"/>
                <a:cs typeface="Segoe UI"/>
              </a:rPr>
              <a:t>use</a:t>
            </a:r>
            <a:endParaRPr sz="1200">
              <a:latin typeface="Segoe UI"/>
              <a:cs typeface="Segoe UI"/>
            </a:endParaRPr>
          </a:p>
        </p:txBody>
      </p:sp>
      <p:grpSp>
        <p:nvGrpSpPr>
          <p:cNvPr id="16" name="object 16"/>
          <p:cNvGrpSpPr/>
          <p:nvPr/>
        </p:nvGrpSpPr>
        <p:grpSpPr>
          <a:xfrm>
            <a:off x="5347334" y="1552828"/>
            <a:ext cx="2245995" cy="1465580"/>
            <a:chOff x="5347334" y="1552828"/>
            <a:chExt cx="2245995" cy="1465580"/>
          </a:xfrm>
        </p:grpSpPr>
        <p:sp>
          <p:nvSpPr>
            <p:cNvPr id="17" name="object 17"/>
            <p:cNvSpPr/>
            <p:nvPr/>
          </p:nvSpPr>
          <p:spPr>
            <a:xfrm>
              <a:off x="5347334" y="1552828"/>
              <a:ext cx="2245995" cy="1465580"/>
            </a:xfrm>
            <a:custGeom>
              <a:avLst/>
              <a:gdLst/>
              <a:ahLst/>
              <a:cxnLst/>
              <a:rect l="l" t="t" r="r" b="b"/>
              <a:pathLst>
                <a:path w="2245995" h="1465580">
                  <a:moveTo>
                    <a:pt x="2201463" y="1389500"/>
                  </a:moveTo>
                  <a:lnTo>
                    <a:pt x="2169921" y="1390396"/>
                  </a:lnTo>
                  <a:lnTo>
                    <a:pt x="2210181" y="1465453"/>
                  </a:lnTo>
                  <a:lnTo>
                    <a:pt x="2239515" y="1402207"/>
                  </a:lnTo>
                  <a:lnTo>
                    <a:pt x="2202053" y="1402207"/>
                  </a:lnTo>
                  <a:lnTo>
                    <a:pt x="2201505" y="1390396"/>
                  </a:lnTo>
                  <a:lnTo>
                    <a:pt x="2201463" y="1389500"/>
                  </a:lnTo>
                  <a:close/>
                </a:path>
                <a:path w="2245995" h="1465580">
                  <a:moveTo>
                    <a:pt x="2214099" y="1389142"/>
                  </a:moveTo>
                  <a:lnTo>
                    <a:pt x="2201463" y="1389500"/>
                  </a:lnTo>
                  <a:lnTo>
                    <a:pt x="2202029" y="1401699"/>
                  </a:lnTo>
                  <a:lnTo>
                    <a:pt x="2202053" y="1402207"/>
                  </a:lnTo>
                  <a:lnTo>
                    <a:pt x="2214625" y="1401699"/>
                  </a:lnTo>
                  <a:lnTo>
                    <a:pt x="2214151" y="1390396"/>
                  </a:lnTo>
                  <a:lnTo>
                    <a:pt x="2214099" y="1389142"/>
                  </a:lnTo>
                  <a:close/>
                </a:path>
                <a:path w="2245995" h="1465580">
                  <a:moveTo>
                    <a:pt x="2245994" y="1388237"/>
                  </a:moveTo>
                  <a:lnTo>
                    <a:pt x="2214099" y="1389142"/>
                  </a:lnTo>
                  <a:lnTo>
                    <a:pt x="2214625" y="1401699"/>
                  </a:lnTo>
                  <a:lnTo>
                    <a:pt x="2202053" y="1402207"/>
                  </a:lnTo>
                  <a:lnTo>
                    <a:pt x="2239515" y="1402207"/>
                  </a:lnTo>
                  <a:lnTo>
                    <a:pt x="2245994" y="1388237"/>
                  </a:lnTo>
                  <a:close/>
                </a:path>
                <a:path w="2245995" h="1465580">
                  <a:moveTo>
                    <a:pt x="1864539" y="530688"/>
                  </a:moveTo>
                  <a:lnTo>
                    <a:pt x="1910886" y="589136"/>
                  </a:lnTo>
                  <a:lnTo>
                    <a:pt x="1949353" y="643001"/>
                  </a:lnTo>
                  <a:lnTo>
                    <a:pt x="1954180" y="649927"/>
                  </a:lnTo>
                  <a:lnTo>
                    <a:pt x="1954468" y="650187"/>
                  </a:lnTo>
                  <a:lnTo>
                    <a:pt x="1994535" y="712978"/>
                  </a:lnTo>
                  <a:lnTo>
                    <a:pt x="2018833" y="754790"/>
                  </a:lnTo>
                  <a:lnTo>
                    <a:pt x="2039721" y="793750"/>
                  </a:lnTo>
                  <a:lnTo>
                    <a:pt x="2042689" y="799521"/>
                  </a:lnTo>
                  <a:lnTo>
                    <a:pt x="2042887" y="799669"/>
                  </a:lnTo>
                  <a:lnTo>
                    <a:pt x="2064639" y="843915"/>
                  </a:lnTo>
                  <a:lnTo>
                    <a:pt x="2084959" y="889000"/>
                  </a:lnTo>
                  <a:lnTo>
                    <a:pt x="2103755" y="934593"/>
                  </a:lnTo>
                  <a:lnTo>
                    <a:pt x="2120632" y="979888"/>
                  </a:lnTo>
                  <a:lnTo>
                    <a:pt x="2135281" y="1023747"/>
                  </a:lnTo>
                  <a:lnTo>
                    <a:pt x="2136445" y="1027456"/>
                  </a:lnTo>
                  <a:lnTo>
                    <a:pt x="2136583" y="1027663"/>
                  </a:lnTo>
                  <a:lnTo>
                    <a:pt x="2150134" y="1073298"/>
                  </a:lnTo>
                  <a:lnTo>
                    <a:pt x="2162166" y="1119505"/>
                  </a:lnTo>
                  <a:lnTo>
                    <a:pt x="2162885" y="1122462"/>
                  </a:lnTo>
                  <a:lnTo>
                    <a:pt x="2162983" y="1122668"/>
                  </a:lnTo>
                  <a:lnTo>
                    <a:pt x="2173605" y="1170559"/>
                  </a:lnTo>
                  <a:lnTo>
                    <a:pt x="2182477" y="1216914"/>
                  </a:lnTo>
                  <a:lnTo>
                    <a:pt x="2182843" y="1218995"/>
                  </a:lnTo>
                  <a:lnTo>
                    <a:pt x="2182907" y="1219194"/>
                  </a:lnTo>
                  <a:lnTo>
                    <a:pt x="2190368" y="1267841"/>
                  </a:lnTo>
                  <a:lnTo>
                    <a:pt x="2196196" y="1316864"/>
                  </a:lnTo>
                  <a:lnTo>
                    <a:pt x="2200316" y="1365377"/>
                  </a:lnTo>
                  <a:lnTo>
                    <a:pt x="2201463" y="1389500"/>
                  </a:lnTo>
                  <a:lnTo>
                    <a:pt x="2214099" y="1389142"/>
                  </a:lnTo>
                  <a:lnTo>
                    <a:pt x="2213157" y="1366692"/>
                  </a:lnTo>
                  <a:lnTo>
                    <a:pt x="2213101" y="1365377"/>
                  </a:lnTo>
                  <a:lnTo>
                    <a:pt x="2209055" y="1317306"/>
                  </a:lnTo>
                  <a:lnTo>
                    <a:pt x="2202941" y="1266190"/>
                  </a:lnTo>
                  <a:lnTo>
                    <a:pt x="2195448" y="1216914"/>
                  </a:lnTo>
                  <a:lnTo>
                    <a:pt x="2186050" y="1168019"/>
                  </a:lnTo>
                  <a:lnTo>
                    <a:pt x="2175256" y="1119505"/>
                  </a:lnTo>
                  <a:lnTo>
                    <a:pt x="2162810" y="1071372"/>
                  </a:lnTo>
                  <a:lnTo>
                    <a:pt x="2148586" y="1023747"/>
                  </a:lnTo>
                  <a:lnTo>
                    <a:pt x="2132965" y="976630"/>
                  </a:lnTo>
                  <a:lnTo>
                    <a:pt x="2115566" y="930021"/>
                  </a:lnTo>
                  <a:lnTo>
                    <a:pt x="2096642" y="884047"/>
                  </a:lnTo>
                  <a:lnTo>
                    <a:pt x="2076195" y="838581"/>
                  </a:lnTo>
                  <a:lnTo>
                    <a:pt x="2054097" y="793750"/>
                  </a:lnTo>
                  <a:lnTo>
                    <a:pt x="2030603" y="749808"/>
                  </a:lnTo>
                  <a:lnTo>
                    <a:pt x="2005330" y="706374"/>
                  </a:lnTo>
                  <a:lnTo>
                    <a:pt x="1964816" y="643001"/>
                  </a:lnTo>
                  <a:lnTo>
                    <a:pt x="1921637" y="582295"/>
                  </a:lnTo>
                  <a:lnTo>
                    <a:pt x="1882199" y="532369"/>
                  </a:lnTo>
                  <a:lnTo>
                    <a:pt x="1866013" y="532369"/>
                  </a:lnTo>
                  <a:lnTo>
                    <a:pt x="1864539" y="530688"/>
                  </a:lnTo>
                  <a:close/>
                </a:path>
                <a:path w="2245995" h="1465580">
                  <a:moveTo>
                    <a:pt x="1233013" y="94029"/>
                  </a:moveTo>
                  <a:lnTo>
                    <a:pt x="1300257" y="119360"/>
                  </a:lnTo>
                  <a:lnTo>
                    <a:pt x="1362910" y="146600"/>
                  </a:lnTo>
                  <a:lnTo>
                    <a:pt x="1363501" y="146906"/>
                  </a:lnTo>
                  <a:lnTo>
                    <a:pt x="1363853" y="147063"/>
                  </a:lnTo>
                  <a:lnTo>
                    <a:pt x="1426439" y="177800"/>
                  </a:lnTo>
                  <a:lnTo>
                    <a:pt x="1487534" y="211571"/>
                  </a:lnTo>
                  <a:lnTo>
                    <a:pt x="1546669" y="248232"/>
                  </a:lnTo>
                  <a:lnTo>
                    <a:pt x="1606209" y="289223"/>
                  </a:lnTo>
                  <a:lnTo>
                    <a:pt x="1661475" y="331438"/>
                  </a:lnTo>
                  <a:lnTo>
                    <a:pt x="1661674" y="331574"/>
                  </a:lnTo>
                  <a:lnTo>
                    <a:pt x="1714623" y="376366"/>
                  </a:lnTo>
                  <a:lnTo>
                    <a:pt x="1768213" y="426338"/>
                  </a:lnTo>
                  <a:lnTo>
                    <a:pt x="1818139" y="477774"/>
                  </a:lnTo>
                  <a:lnTo>
                    <a:pt x="1866013" y="532369"/>
                  </a:lnTo>
                  <a:lnTo>
                    <a:pt x="1882199" y="532369"/>
                  </a:lnTo>
                  <a:lnTo>
                    <a:pt x="1827530" y="469265"/>
                  </a:lnTo>
                  <a:lnTo>
                    <a:pt x="1776984" y="417195"/>
                  </a:lnTo>
                  <a:lnTo>
                    <a:pt x="1724279" y="367919"/>
                  </a:lnTo>
                  <a:lnTo>
                    <a:pt x="1669541" y="321563"/>
                  </a:lnTo>
                  <a:lnTo>
                    <a:pt x="1612772" y="278257"/>
                  </a:lnTo>
                  <a:lnTo>
                    <a:pt x="1554225" y="237998"/>
                  </a:lnTo>
                  <a:lnTo>
                    <a:pt x="1494028" y="200660"/>
                  </a:lnTo>
                  <a:lnTo>
                    <a:pt x="1432306" y="166497"/>
                  </a:lnTo>
                  <a:lnTo>
                    <a:pt x="1369187" y="135382"/>
                  </a:lnTo>
                  <a:lnTo>
                    <a:pt x="1304670" y="107442"/>
                  </a:lnTo>
                  <a:lnTo>
                    <a:pt x="1270819" y="94698"/>
                  </a:lnTo>
                  <a:lnTo>
                    <a:pt x="1235079" y="94698"/>
                  </a:lnTo>
                  <a:lnTo>
                    <a:pt x="1233013" y="94029"/>
                  </a:lnTo>
                  <a:close/>
                </a:path>
                <a:path w="2245995" h="1465580">
                  <a:moveTo>
                    <a:pt x="757047" y="0"/>
                  </a:moveTo>
                  <a:lnTo>
                    <a:pt x="686562" y="1650"/>
                  </a:lnTo>
                  <a:lnTo>
                    <a:pt x="615950" y="6731"/>
                  </a:lnTo>
                  <a:lnTo>
                    <a:pt x="545591" y="15240"/>
                  </a:lnTo>
                  <a:lnTo>
                    <a:pt x="474493" y="27432"/>
                  </a:lnTo>
                  <a:lnTo>
                    <a:pt x="474665" y="27432"/>
                  </a:lnTo>
                  <a:lnTo>
                    <a:pt x="405256" y="42925"/>
                  </a:lnTo>
                  <a:lnTo>
                    <a:pt x="335788" y="62103"/>
                  </a:lnTo>
                  <a:lnTo>
                    <a:pt x="266953" y="84709"/>
                  </a:lnTo>
                  <a:lnTo>
                    <a:pt x="198754" y="111125"/>
                  </a:lnTo>
                  <a:lnTo>
                    <a:pt x="131444" y="141097"/>
                  </a:lnTo>
                  <a:lnTo>
                    <a:pt x="65024" y="174879"/>
                  </a:lnTo>
                  <a:lnTo>
                    <a:pt x="0" y="212217"/>
                  </a:lnTo>
                  <a:lnTo>
                    <a:pt x="6350" y="223138"/>
                  </a:lnTo>
                  <a:lnTo>
                    <a:pt x="71025" y="186055"/>
                  </a:lnTo>
                  <a:lnTo>
                    <a:pt x="136782" y="152654"/>
                  </a:lnTo>
                  <a:lnTo>
                    <a:pt x="203221" y="123026"/>
                  </a:lnTo>
                  <a:lnTo>
                    <a:pt x="271070" y="96774"/>
                  </a:lnTo>
                  <a:lnTo>
                    <a:pt x="338529" y="74520"/>
                  </a:lnTo>
                  <a:lnTo>
                    <a:pt x="339259" y="74337"/>
                  </a:lnTo>
                  <a:lnTo>
                    <a:pt x="407896" y="55342"/>
                  </a:lnTo>
                  <a:lnTo>
                    <a:pt x="407751" y="55342"/>
                  </a:lnTo>
                  <a:lnTo>
                    <a:pt x="476962" y="39931"/>
                  </a:lnTo>
                  <a:lnTo>
                    <a:pt x="477209" y="39931"/>
                  </a:lnTo>
                  <a:lnTo>
                    <a:pt x="547074" y="27855"/>
                  </a:lnTo>
                  <a:lnTo>
                    <a:pt x="546888" y="27855"/>
                  </a:lnTo>
                  <a:lnTo>
                    <a:pt x="616742" y="19475"/>
                  </a:lnTo>
                  <a:lnTo>
                    <a:pt x="616342" y="19475"/>
                  </a:lnTo>
                  <a:lnTo>
                    <a:pt x="686944" y="14378"/>
                  </a:lnTo>
                  <a:lnTo>
                    <a:pt x="685778" y="14378"/>
                  </a:lnTo>
                  <a:lnTo>
                    <a:pt x="757037" y="12703"/>
                  </a:lnTo>
                  <a:lnTo>
                    <a:pt x="943590" y="12703"/>
                  </a:lnTo>
                  <a:lnTo>
                    <a:pt x="897509" y="6985"/>
                  </a:lnTo>
                  <a:lnTo>
                    <a:pt x="827404" y="1905"/>
                  </a:lnTo>
                  <a:lnTo>
                    <a:pt x="757047" y="0"/>
                  </a:lnTo>
                  <a:close/>
                </a:path>
                <a:path w="2245995" h="1465580">
                  <a:moveTo>
                    <a:pt x="943590" y="12703"/>
                  </a:moveTo>
                  <a:lnTo>
                    <a:pt x="757037" y="12703"/>
                  </a:lnTo>
                  <a:lnTo>
                    <a:pt x="827573" y="14623"/>
                  </a:lnTo>
                  <a:lnTo>
                    <a:pt x="826896" y="14623"/>
                  </a:lnTo>
                  <a:lnTo>
                    <a:pt x="896787" y="19715"/>
                  </a:lnTo>
                  <a:lnTo>
                    <a:pt x="896364" y="19715"/>
                  </a:lnTo>
                  <a:lnTo>
                    <a:pt x="965796" y="28235"/>
                  </a:lnTo>
                  <a:lnTo>
                    <a:pt x="965449" y="28235"/>
                  </a:lnTo>
                  <a:lnTo>
                    <a:pt x="1034222" y="39931"/>
                  </a:lnTo>
                  <a:lnTo>
                    <a:pt x="1033898" y="39931"/>
                  </a:lnTo>
                  <a:lnTo>
                    <a:pt x="1103307" y="55342"/>
                  </a:lnTo>
                  <a:lnTo>
                    <a:pt x="1102767" y="55342"/>
                  </a:lnTo>
                  <a:lnTo>
                    <a:pt x="1168766" y="73238"/>
                  </a:lnTo>
                  <a:lnTo>
                    <a:pt x="1235079" y="94698"/>
                  </a:lnTo>
                  <a:lnTo>
                    <a:pt x="1270819" y="94698"/>
                  </a:lnTo>
                  <a:lnTo>
                    <a:pt x="1172210" y="60960"/>
                  </a:lnTo>
                  <a:lnTo>
                    <a:pt x="1104645" y="42672"/>
                  </a:lnTo>
                  <a:lnTo>
                    <a:pt x="1036192" y="27432"/>
                  </a:lnTo>
                  <a:lnTo>
                    <a:pt x="967104" y="15621"/>
                  </a:lnTo>
                  <a:lnTo>
                    <a:pt x="943590" y="12703"/>
                  </a:lnTo>
                  <a:close/>
                </a:path>
                <a:path w="2245995" h="1465580">
                  <a:moveTo>
                    <a:pt x="1168794" y="73238"/>
                  </a:moveTo>
                  <a:lnTo>
                    <a:pt x="1168631" y="73238"/>
                  </a:lnTo>
                  <a:lnTo>
                    <a:pt x="1169640" y="73512"/>
                  </a:lnTo>
                  <a:lnTo>
                    <a:pt x="1168794" y="73238"/>
                  </a:lnTo>
                  <a:close/>
                </a:path>
                <a:path w="2245995" h="1465580">
                  <a:moveTo>
                    <a:pt x="477285" y="39931"/>
                  </a:moveTo>
                  <a:lnTo>
                    <a:pt x="476962" y="39931"/>
                  </a:lnTo>
                  <a:lnTo>
                    <a:pt x="476104" y="40122"/>
                  </a:lnTo>
                  <a:lnTo>
                    <a:pt x="477285" y="39931"/>
                  </a:lnTo>
                  <a:close/>
                </a:path>
              </a:pathLst>
            </a:custGeom>
            <a:solidFill>
              <a:srgbClr val="003193"/>
            </a:solidFill>
          </p:spPr>
          <p:txBody>
            <a:bodyPr wrap="square" lIns="0" tIns="0" rIns="0" bIns="0" rtlCol="0"/>
            <a:lstStyle/>
            <a:p/>
          </p:txBody>
        </p:sp>
        <p:sp>
          <p:nvSpPr>
            <p:cNvPr id="18" name="object 18"/>
            <p:cNvSpPr/>
            <p:nvPr/>
          </p:nvSpPr>
          <p:spPr>
            <a:xfrm>
              <a:off x="6071615" y="2350642"/>
              <a:ext cx="356870" cy="338455"/>
            </a:xfrm>
            <a:custGeom>
              <a:avLst/>
              <a:gdLst/>
              <a:ahLst/>
              <a:cxnLst/>
              <a:rect l="l" t="t" r="r" b="b"/>
              <a:pathLst>
                <a:path w="356870" h="338455">
                  <a:moveTo>
                    <a:pt x="323723" y="286639"/>
                  </a:moveTo>
                  <a:lnTo>
                    <a:pt x="32893" y="286639"/>
                  </a:lnTo>
                  <a:lnTo>
                    <a:pt x="32893" y="296037"/>
                  </a:lnTo>
                  <a:lnTo>
                    <a:pt x="0" y="319532"/>
                  </a:lnTo>
                  <a:lnTo>
                    <a:pt x="0" y="338328"/>
                  </a:lnTo>
                  <a:lnTo>
                    <a:pt x="356616" y="338328"/>
                  </a:lnTo>
                  <a:lnTo>
                    <a:pt x="356616" y="319532"/>
                  </a:lnTo>
                  <a:lnTo>
                    <a:pt x="323723" y="296037"/>
                  </a:lnTo>
                  <a:lnTo>
                    <a:pt x="323723" y="286639"/>
                  </a:lnTo>
                  <a:close/>
                </a:path>
                <a:path w="356870" h="338455">
                  <a:moveTo>
                    <a:pt x="79756" y="126873"/>
                  </a:moveTo>
                  <a:lnTo>
                    <a:pt x="51562" y="126873"/>
                  </a:lnTo>
                  <a:lnTo>
                    <a:pt x="51562" y="286639"/>
                  </a:lnTo>
                  <a:lnTo>
                    <a:pt x="79756" y="286639"/>
                  </a:lnTo>
                  <a:lnTo>
                    <a:pt x="79756" y="126873"/>
                  </a:lnTo>
                  <a:close/>
                </a:path>
                <a:path w="356870" h="338455">
                  <a:moveTo>
                    <a:pt x="136017" y="126873"/>
                  </a:moveTo>
                  <a:lnTo>
                    <a:pt x="107950" y="126873"/>
                  </a:lnTo>
                  <a:lnTo>
                    <a:pt x="107950" y="286639"/>
                  </a:lnTo>
                  <a:lnTo>
                    <a:pt x="136017" y="286639"/>
                  </a:lnTo>
                  <a:lnTo>
                    <a:pt x="136017" y="126873"/>
                  </a:lnTo>
                  <a:close/>
                </a:path>
                <a:path w="356870" h="338455">
                  <a:moveTo>
                    <a:pt x="192405" y="126873"/>
                  </a:moveTo>
                  <a:lnTo>
                    <a:pt x="164211" y="126873"/>
                  </a:lnTo>
                  <a:lnTo>
                    <a:pt x="164211" y="286639"/>
                  </a:lnTo>
                  <a:lnTo>
                    <a:pt x="192405" y="286639"/>
                  </a:lnTo>
                  <a:lnTo>
                    <a:pt x="192405" y="126873"/>
                  </a:lnTo>
                  <a:close/>
                </a:path>
                <a:path w="356870" h="338455">
                  <a:moveTo>
                    <a:pt x="248666" y="126873"/>
                  </a:moveTo>
                  <a:lnTo>
                    <a:pt x="220599" y="126873"/>
                  </a:lnTo>
                  <a:lnTo>
                    <a:pt x="220599" y="286639"/>
                  </a:lnTo>
                  <a:lnTo>
                    <a:pt x="248666" y="286639"/>
                  </a:lnTo>
                  <a:lnTo>
                    <a:pt x="248666" y="126873"/>
                  </a:lnTo>
                  <a:close/>
                </a:path>
                <a:path w="356870" h="338455">
                  <a:moveTo>
                    <a:pt x="305054" y="126873"/>
                  </a:moveTo>
                  <a:lnTo>
                    <a:pt x="276860" y="126873"/>
                  </a:lnTo>
                  <a:lnTo>
                    <a:pt x="276860" y="286639"/>
                  </a:lnTo>
                  <a:lnTo>
                    <a:pt x="305054" y="286639"/>
                  </a:lnTo>
                  <a:lnTo>
                    <a:pt x="305054" y="126873"/>
                  </a:lnTo>
                  <a:close/>
                </a:path>
                <a:path w="356870" h="338455">
                  <a:moveTo>
                    <a:pt x="323723" y="117475"/>
                  </a:moveTo>
                  <a:lnTo>
                    <a:pt x="32893" y="117475"/>
                  </a:lnTo>
                  <a:lnTo>
                    <a:pt x="32893" y="126873"/>
                  </a:lnTo>
                  <a:lnTo>
                    <a:pt x="323723" y="126873"/>
                  </a:lnTo>
                  <a:lnTo>
                    <a:pt x="323723" y="117475"/>
                  </a:lnTo>
                  <a:close/>
                </a:path>
                <a:path w="356870" h="338455">
                  <a:moveTo>
                    <a:pt x="337820" y="89281"/>
                  </a:moveTo>
                  <a:lnTo>
                    <a:pt x="18796" y="89281"/>
                  </a:lnTo>
                  <a:lnTo>
                    <a:pt x="18796" y="117475"/>
                  </a:lnTo>
                  <a:lnTo>
                    <a:pt x="337820" y="117475"/>
                  </a:lnTo>
                  <a:lnTo>
                    <a:pt x="337820" y="89281"/>
                  </a:lnTo>
                  <a:close/>
                </a:path>
                <a:path w="356870" h="338455">
                  <a:moveTo>
                    <a:pt x="178308" y="0"/>
                  </a:moveTo>
                  <a:lnTo>
                    <a:pt x="32893" y="89281"/>
                  </a:lnTo>
                  <a:lnTo>
                    <a:pt x="323723" y="89281"/>
                  </a:lnTo>
                  <a:lnTo>
                    <a:pt x="308416" y="79883"/>
                  </a:lnTo>
                  <a:lnTo>
                    <a:pt x="173609" y="79883"/>
                  </a:lnTo>
                  <a:lnTo>
                    <a:pt x="166332" y="78392"/>
                  </a:lnTo>
                  <a:lnTo>
                    <a:pt x="160353" y="74342"/>
                  </a:lnTo>
                  <a:lnTo>
                    <a:pt x="156303" y="68363"/>
                  </a:lnTo>
                  <a:lnTo>
                    <a:pt x="154812" y="61087"/>
                  </a:lnTo>
                  <a:lnTo>
                    <a:pt x="156303" y="53756"/>
                  </a:lnTo>
                  <a:lnTo>
                    <a:pt x="160353" y="47783"/>
                  </a:lnTo>
                  <a:lnTo>
                    <a:pt x="166332" y="43763"/>
                  </a:lnTo>
                  <a:lnTo>
                    <a:pt x="173609" y="42291"/>
                  </a:lnTo>
                  <a:lnTo>
                    <a:pt x="247188" y="42291"/>
                  </a:lnTo>
                  <a:lnTo>
                    <a:pt x="178308" y="0"/>
                  </a:lnTo>
                  <a:close/>
                </a:path>
                <a:path w="356870" h="338455">
                  <a:moveTo>
                    <a:pt x="247188" y="42291"/>
                  </a:moveTo>
                  <a:lnTo>
                    <a:pt x="173609" y="42291"/>
                  </a:lnTo>
                  <a:lnTo>
                    <a:pt x="180885" y="43763"/>
                  </a:lnTo>
                  <a:lnTo>
                    <a:pt x="186864" y="47783"/>
                  </a:lnTo>
                  <a:lnTo>
                    <a:pt x="190914" y="53756"/>
                  </a:lnTo>
                  <a:lnTo>
                    <a:pt x="192405" y="61087"/>
                  </a:lnTo>
                  <a:lnTo>
                    <a:pt x="190914" y="68363"/>
                  </a:lnTo>
                  <a:lnTo>
                    <a:pt x="186864" y="74342"/>
                  </a:lnTo>
                  <a:lnTo>
                    <a:pt x="180885" y="78392"/>
                  </a:lnTo>
                  <a:lnTo>
                    <a:pt x="173609" y="79883"/>
                  </a:lnTo>
                  <a:lnTo>
                    <a:pt x="308416" y="79883"/>
                  </a:lnTo>
                  <a:lnTo>
                    <a:pt x="247188" y="42291"/>
                  </a:lnTo>
                  <a:close/>
                </a:path>
              </a:pathLst>
            </a:custGeom>
            <a:solidFill>
              <a:srgbClr val="FFFFFF"/>
            </a:solidFill>
          </p:spPr>
          <p:txBody>
            <a:bodyPr wrap="square" lIns="0" tIns="0" rIns="0" bIns="0" rtlCol="0"/>
            <a:lstStyle/>
            <a:p/>
          </p:txBody>
        </p:sp>
      </p:grpSp>
      <p:grpSp>
        <p:nvGrpSpPr>
          <p:cNvPr id="19" name="object 19"/>
          <p:cNvGrpSpPr/>
          <p:nvPr/>
        </p:nvGrpSpPr>
        <p:grpSpPr>
          <a:xfrm>
            <a:off x="6160386" y="3880865"/>
            <a:ext cx="2025650" cy="1737360"/>
            <a:chOff x="6160386" y="3880865"/>
            <a:chExt cx="2025650" cy="1737360"/>
          </a:xfrm>
        </p:grpSpPr>
        <p:sp>
          <p:nvSpPr>
            <p:cNvPr id="20" name="object 20"/>
            <p:cNvSpPr/>
            <p:nvPr/>
          </p:nvSpPr>
          <p:spPr>
            <a:xfrm>
              <a:off x="6160386" y="3880865"/>
              <a:ext cx="2025650" cy="1737360"/>
            </a:xfrm>
            <a:custGeom>
              <a:avLst/>
              <a:gdLst/>
              <a:ahLst/>
              <a:cxnLst/>
              <a:rect l="l" t="t" r="r" b="b"/>
              <a:pathLst>
                <a:path w="2025650" h="1737360">
                  <a:moveTo>
                    <a:pt x="74599" y="1637672"/>
                  </a:moveTo>
                  <a:lnTo>
                    <a:pt x="73087" y="1641474"/>
                  </a:lnTo>
                  <a:lnTo>
                    <a:pt x="69978" y="1649499"/>
                  </a:lnTo>
                  <a:lnTo>
                    <a:pt x="98935" y="1660143"/>
                  </a:lnTo>
                  <a:lnTo>
                    <a:pt x="149862" y="1676272"/>
                  </a:lnTo>
                  <a:lnTo>
                    <a:pt x="201297" y="1690623"/>
                  </a:lnTo>
                  <a:lnTo>
                    <a:pt x="253113" y="1702942"/>
                  </a:lnTo>
                  <a:lnTo>
                    <a:pt x="305437" y="1713420"/>
                  </a:lnTo>
                  <a:lnTo>
                    <a:pt x="357888" y="1721929"/>
                  </a:lnTo>
                  <a:lnTo>
                    <a:pt x="410720" y="1728533"/>
                  </a:lnTo>
                  <a:lnTo>
                    <a:pt x="463679" y="1733219"/>
                  </a:lnTo>
                  <a:lnTo>
                    <a:pt x="516765" y="1735988"/>
                  </a:lnTo>
                  <a:lnTo>
                    <a:pt x="570105" y="1736750"/>
                  </a:lnTo>
                  <a:lnTo>
                    <a:pt x="623445" y="1735607"/>
                  </a:lnTo>
                  <a:lnTo>
                    <a:pt x="676658" y="1732457"/>
                  </a:lnTo>
                  <a:lnTo>
                    <a:pt x="729871" y="1727377"/>
                  </a:lnTo>
                  <a:lnTo>
                    <a:pt x="754841" y="1724050"/>
                  </a:lnTo>
                  <a:lnTo>
                    <a:pt x="570105" y="1724050"/>
                  </a:lnTo>
                  <a:lnTo>
                    <a:pt x="518029" y="1723301"/>
                  </a:lnTo>
                  <a:lnTo>
                    <a:pt x="517400" y="1723301"/>
                  </a:lnTo>
                  <a:lnTo>
                    <a:pt x="464709" y="1720559"/>
                  </a:lnTo>
                  <a:lnTo>
                    <a:pt x="412117" y="1715909"/>
                  </a:lnTo>
                  <a:lnTo>
                    <a:pt x="359965" y="1709396"/>
                  </a:lnTo>
                  <a:lnTo>
                    <a:pt x="307716" y="1700951"/>
                  </a:lnTo>
                  <a:lnTo>
                    <a:pt x="307924" y="1700951"/>
                  </a:lnTo>
                  <a:lnTo>
                    <a:pt x="256087" y="1690623"/>
                  </a:lnTo>
                  <a:lnTo>
                    <a:pt x="204555" y="1678409"/>
                  </a:lnTo>
                  <a:lnTo>
                    <a:pt x="153626" y="1664184"/>
                  </a:lnTo>
                  <a:lnTo>
                    <a:pt x="103051" y="1648168"/>
                  </a:lnTo>
                  <a:lnTo>
                    <a:pt x="74599" y="1637672"/>
                  </a:lnTo>
                  <a:close/>
                </a:path>
                <a:path w="2025650" h="1737360">
                  <a:moveTo>
                    <a:pt x="835187" y="1698486"/>
                  </a:moveTo>
                  <a:lnTo>
                    <a:pt x="780698" y="1707795"/>
                  </a:lnTo>
                  <a:lnTo>
                    <a:pt x="728334" y="1714779"/>
                  </a:lnTo>
                  <a:lnTo>
                    <a:pt x="675769" y="1719783"/>
                  </a:lnTo>
                  <a:lnTo>
                    <a:pt x="622937" y="1722920"/>
                  </a:lnTo>
                  <a:lnTo>
                    <a:pt x="570105" y="1724050"/>
                  </a:lnTo>
                  <a:lnTo>
                    <a:pt x="754841" y="1724050"/>
                  </a:lnTo>
                  <a:lnTo>
                    <a:pt x="782957" y="1720303"/>
                  </a:lnTo>
                  <a:lnTo>
                    <a:pt x="835916" y="1711299"/>
                  </a:lnTo>
                  <a:lnTo>
                    <a:pt x="893711" y="1698820"/>
                  </a:lnTo>
                  <a:lnTo>
                    <a:pt x="833645" y="1698820"/>
                  </a:lnTo>
                  <a:lnTo>
                    <a:pt x="835187" y="1698486"/>
                  </a:lnTo>
                  <a:close/>
                </a:path>
                <a:path w="2025650" h="1737360">
                  <a:moveTo>
                    <a:pt x="307969" y="1700951"/>
                  </a:moveTo>
                  <a:lnTo>
                    <a:pt x="307716" y="1700951"/>
                  </a:lnTo>
                  <a:lnTo>
                    <a:pt x="308816" y="1701128"/>
                  </a:lnTo>
                  <a:lnTo>
                    <a:pt x="307969" y="1700951"/>
                  </a:lnTo>
                  <a:close/>
                </a:path>
                <a:path w="2025650" h="1737360">
                  <a:moveTo>
                    <a:pt x="1999998" y="0"/>
                  </a:moveTo>
                  <a:lnTo>
                    <a:pt x="1987552" y="2031"/>
                  </a:lnTo>
                  <a:lnTo>
                    <a:pt x="1999224" y="74294"/>
                  </a:lnTo>
                  <a:lnTo>
                    <a:pt x="1999623" y="77029"/>
                  </a:lnTo>
                  <a:lnTo>
                    <a:pt x="2007501" y="148462"/>
                  </a:lnTo>
                  <a:lnTo>
                    <a:pt x="2012024" y="222249"/>
                  </a:lnTo>
                  <a:lnTo>
                    <a:pt x="2012822" y="295223"/>
                  </a:lnTo>
                  <a:lnTo>
                    <a:pt x="2009797" y="367062"/>
                  </a:lnTo>
                  <a:lnTo>
                    <a:pt x="2003334" y="438690"/>
                  </a:lnTo>
                  <a:lnTo>
                    <a:pt x="2003390" y="438924"/>
                  </a:lnTo>
                  <a:lnTo>
                    <a:pt x="2003185" y="440181"/>
                  </a:lnTo>
                  <a:lnTo>
                    <a:pt x="2003132" y="440765"/>
                  </a:lnTo>
                  <a:lnTo>
                    <a:pt x="1993592" y="509013"/>
                  </a:lnTo>
                  <a:lnTo>
                    <a:pt x="1993521" y="509150"/>
                  </a:lnTo>
                  <a:lnTo>
                    <a:pt x="1980294" y="578728"/>
                  </a:lnTo>
                  <a:lnTo>
                    <a:pt x="1980184" y="579127"/>
                  </a:lnTo>
                  <a:lnTo>
                    <a:pt x="1963296" y="648741"/>
                  </a:lnTo>
                  <a:lnTo>
                    <a:pt x="1943525" y="715985"/>
                  </a:lnTo>
                  <a:lnTo>
                    <a:pt x="1920593" y="781882"/>
                  </a:lnTo>
                  <a:lnTo>
                    <a:pt x="1894933" y="845597"/>
                  </a:lnTo>
                  <a:lnTo>
                    <a:pt x="1865621" y="909573"/>
                  </a:lnTo>
                  <a:lnTo>
                    <a:pt x="1833506" y="971549"/>
                  </a:lnTo>
                  <a:lnTo>
                    <a:pt x="1798663" y="1031415"/>
                  </a:lnTo>
                  <a:lnTo>
                    <a:pt x="1760839" y="1090182"/>
                  </a:lnTo>
                  <a:lnTo>
                    <a:pt x="1760718" y="1090311"/>
                  </a:lnTo>
                  <a:lnTo>
                    <a:pt x="1720236" y="1146885"/>
                  </a:lnTo>
                  <a:lnTo>
                    <a:pt x="1719567" y="1147794"/>
                  </a:lnTo>
                  <a:lnTo>
                    <a:pt x="1677044" y="1201560"/>
                  </a:lnTo>
                  <a:lnTo>
                    <a:pt x="1676977" y="1201744"/>
                  </a:lnTo>
                  <a:lnTo>
                    <a:pt x="1632381" y="1252886"/>
                  </a:lnTo>
                  <a:lnTo>
                    <a:pt x="1582940" y="1304527"/>
                  </a:lnTo>
                  <a:lnTo>
                    <a:pt x="1532275" y="1352571"/>
                  </a:lnTo>
                  <a:lnTo>
                    <a:pt x="1532075" y="1352729"/>
                  </a:lnTo>
                  <a:lnTo>
                    <a:pt x="1531108" y="1353645"/>
                  </a:lnTo>
                  <a:lnTo>
                    <a:pt x="1479193" y="1398167"/>
                  </a:lnTo>
                  <a:lnTo>
                    <a:pt x="1478992" y="1398314"/>
                  </a:lnTo>
                  <a:lnTo>
                    <a:pt x="1478130" y="1399053"/>
                  </a:lnTo>
                  <a:lnTo>
                    <a:pt x="1423819" y="1441354"/>
                  </a:lnTo>
                  <a:lnTo>
                    <a:pt x="1423681" y="1441484"/>
                  </a:lnTo>
                  <a:lnTo>
                    <a:pt x="1366303" y="1481759"/>
                  </a:lnTo>
                  <a:lnTo>
                    <a:pt x="1365971" y="1481896"/>
                  </a:lnTo>
                  <a:lnTo>
                    <a:pt x="1305956" y="1519834"/>
                  </a:lnTo>
                  <a:lnTo>
                    <a:pt x="1244437" y="1554511"/>
                  </a:lnTo>
                  <a:lnTo>
                    <a:pt x="1180305" y="1586737"/>
                  </a:lnTo>
                  <a:lnTo>
                    <a:pt x="1114560" y="1615651"/>
                  </a:lnTo>
                  <a:lnTo>
                    <a:pt x="1046851" y="1641474"/>
                  </a:lnTo>
                  <a:lnTo>
                    <a:pt x="977304" y="1663953"/>
                  </a:lnTo>
                  <a:lnTo>
                    <a:pt x="906152" y="1683129"/>
                  </a:lnTo>
                  <a:lnTo>
                    <a:pt x="905952" y="1683129"/>
                  </a:lnTo>
                  <a:lnTo>
                    <a:pt x="833645" y="1698820"/>
                  </a:lnTo>
                  <a:lnTo>
                    <a:pt x="893711" y="1698820"/>
                  </a:lnTo>
                  <a:lnTo>
                    <a:pt x="909322" y="1695449"/>
                  </a:lnTo>
                  <a:lnTo>
                    <a:pt x="980731" y="1676272"/>
                  </a:lnTo>
                  <a:lnTo>
                    <a:pt x="1051308" y="1653285"/>
                  </a:lnTo>
                  <a:lnTo>
                    <a:pt x="1119507" y="1627377"/>
                  </a:lnTo>
                  <a:lnTo>
                    <a:pt x="1185928" y="1598167"/>
                  </a:lnTo>
                  <a:lnTo>
                    <a:pt x="1250317" y="1565782"/>
                  </a:lnTo>
                  <a:lnTo>
                    <a:pt x="1312801" y="1530476"/>
                  </a:lnTo>
                  <a:lnTo>
                    <a:pt x="1373126" y="1492376"/>
                  </a:lnTo>
                  <a:lnTo>
                    <a:pt x="1431292" y="1451609"/>
                  </a:lnTo>
                  <a:lnTo>
                    <a:pt x="1487172" y="1408048"/>
                  </a:lnTo>
                  <a:lnTo>
                    <a:pt x="1540766" y="1362074"/>
                  </a:lnTo>
                  <a:lnTo>
                    <a:pt x="1591947" y="1313560"/>
                  </a:lnTo>
                  <a:lnTo>
                    <a:pt x="1640588" y="1262760"/>
                  </a:lnTo>
                  <a:lnTo>
                    <a:pt x="1686816" y="1209674"/>
                  </a:lnTo>
                  <a:lnTo>
                    <a:pt x="1730377" y="1154683"/>
                  </a:lnTo>
                  <a:lnTo>
                    <a:pt x="1771144" y="1097533"/>
                  </a:lnTo>
                  <a:lnTo>
                    <a:pt x="1809244" y="1038478"/>
                  </a:lnTo>
                  <a:lnTo>
                    <a:pt x="1844550" y="977772"/>
                  </a:lnTo>
                  <a:lnTo>
                    <a:pt x="1876935" y="915288"/>
                  </a:lnTo>
                  <a:lnTo>
                    <a:pt x="1906399" y="851280"/>
                  </a:lnTo>
                  <a:lnTo>
                    <a:pt x="1932688" y="785748"/>
                  </a:lnTo>
                  <a:lnTo>
                    <a:pt x="1955929" y="718946"/>
                  </a:lnTo>
                  <a:lnTo>
                    <a:pt x="1975868" y="650874"/>
                  </a:lnTo>
                  <a:lnTo>
                    <a:pt x="1992632" y="581659"/>
                  </a:lnTo>
                  <a:lnTo>
                    <a:pt x="2006094" y="511428"/>
                  </a:lnTo>
                  <a:lnTo>
                    <a:pt x="2015919" y="440765"/>
                  </a:lnTo>
                  <a:lnTo>
                    <a:pt x="2016000" y="440181"/>
                  </a:lnTo>
                  <a:lnTo>
                    <a:pt x="2022477" y="368299"/>
                  </a:lnTo>
                  <a:lnTo>
                    <a:pt x="2025398" y="295528"/>
                  </a:lnTo>
                  <a:lnTo>
                    <a:pt x="2024643" y="222938"/>
                  </a:lnTo>
                  <a:lnTo>
                    <a:pt x="2024636" y="222249"/>
                  </a:lnTo>
                  <a:lnTo>
                    <a:pt x="2020419" y="150198"/>
                  </a:lnTo>
                  <a:lnTo>
                    <a:pt x="2020318" y="148462"/>
                  </a:lnTo>
                  <a:lnTo>
                    <a:pt x="2012063" y="74294"/>
                  </a:lnTo>
                  <a:lnTo>
                    <a:pt x="1999998" y="0"/>
                  </a:lnTo>
                  <a:close/>
                </a:path>
                <a:path w="2025650" h="1737360">
                  <a:moveTo>
                    <a:pt x="254023" y="1690144"/>
                  </a:moveTo>
                  <a:lnTo>
                    <a:pt x="256074" y="1690623"/>
                  </a:lnTo>
                  <a:lnTo>
                    <a:pt x="256413" y="1690623"/>
                  </a:lnTo>
                  <a:lnTo>
                    <a:pt x="254023" y="1690144"/>
                  </a:lnTo>
                  <a:close/>
                </a:path>
                <a:path w="2025650" h="1737360">
                  <a:moveTo>
                    <a:pt x="85981" y="1608200"/>
                  </a:moveTo>
                  <a:lnTo>
                    <a:pt x="0" y="1616310"/>
                  </a:lnTo>
                  <a:lnTo>
                    <a:pt x="1243" y="1616310"/>
                  </a:lnTo>
                  <a:lnTo>
                    <a:pt x="58422" y="1679320"/>
                  </a:lnTo>
                  <a:lnTo>
                    <a:pt x="69978" y="1649499"/>
                  </a:lnTo>
                  <a:lnTo>
                    <a:pt x="58168" y="1645157"/>
                  </a:lnTo>
                  <a:lnTo>
                    <a:pt x="62486" y="1633219"/>
                  </a:lnTo>
                  <a:lnTo>
                    <a:pt x="76286" y="1633219"/>
                  </a:lnTo>
                  <a:lnTo>
                    <a:pt x="85981" y="1608200"/>
                  </a:lnTo>
                  <a:close/>
                </a:path>
                <a:path w="2025650" h="1737360">
                  <a:moveTo>
                    <a:pt x="203019" y="1677988"/>
                  </a:moveTo>
                  <a:lnTo>
                    <a:pt x="204555" y="1678409"/>
                  </a:lnTo>
                  <a:lnTo>
                    <a:pt x="204785" y="1678409"/>
                  </a:lnTo>
                  <a:lnTo>
                    <a:pt x="203019" y="1677988"/>
                  </a:lnTo>
                  <a:close/>
                </a:path>
                <a:path w="2025650" h="1737360">
                  <a:moveTo>
                    <a:pt x="152965" y="1663953"/>
                  </a:moveTo>
                  <a:lnTo>
                    <a:pt x="153626" y="1664184"/>
                  </a:lnTo>
                  <a:lnTo>
                    <a:pt x="153789" y="1664184"/>
                  </a:lnTo>
                  <a:lnTo>
                    <a:pt x="152965" y="1663953"/>
                  </a:lnTo>
                  <a:close/>
                </a:path>
                <a:path w="2025650" h="1737360">
                  <a:moveTo>
                    <a:pt x="62486" y="1633219"/>
                  </a:moveTo>
                  <a:lnTo>
                    <a:pt x="58168" y="1645157"/>
                  </a:lnTo>
                  <a:lnTo>
                    <a:pt x="69978" y="1649499"/>
                  </a:lnTo>
                  <a:lnTo>
                    <a:pt x="74561" y="1637672"/>
                  </a:lnTo>
                  <a:lnTo>
                    <a:pt x="62486" y="1633219"/>
                  </a:lnTo>
                  <a:close/>
                </a:path>
                <a:path w="2025650" h="1737360">
                  <a:moveTo>
                    <a:pt x="76286" y="1633219"/>
                  </a:moveTo>
                  <a:lnTo>
                    <a:pt x="62486" y="1633219"/>
                  </a:lnTo>
                  <a:lnTo>
                    <a:pt x="74599" y="1637672"/>
                  </a:lnTo>
                  <a:lnTo>
                    <a:pt x="76286" y="1633219"/>
                  </a:lnTo>
                  <a:close/>
                </a:path>
                <a:path w="2025650" h="1737360">
                  <a:moveTo>
                    <a:pt x="1114586" y="1615651"/>
                  </a:moveTo>
                  <a:lnTo>
                    <a:pt x="1114361" y="1615651"/>
                  </a:lnTo>
                  <a:lnTo>
                    <a:pt x="1112859" y="1616310"/>
                  </a:lnTo>
                  <a:lnTo>
                    <a:pt x="1114586" y="1615651"/>
                  </a:lnTo>
                  <a:close/>
                </a:path>
                <a:path w="2025650" h="1737360">
                  <a:moveTo>
                    <a:pt x="1367356" y="1481021"/>
                  </a:moveTo>
                  <a:lnTo>
                    <a:pt x="1365972" y="1481896"/>
                  </a:lnTo>
                  <a:lnTo>
                    <a:pt x="1366303" y="1481759"/>
                  </a:lnTo>
                  <a:lnTo>
                    <a:pt x="1367356" y="1481021"/>
                  </a:lnTo>
                  <a:close/>
                </a:path>
                <a:path w="2025650" h="1737360">
                  <a:moveTo>
                    <a:pt x="1677137" y="1201560"/>
                  </a:moveTo>
                  <a:lnTo>
                    <a:pt x="1677000" y="1201560"/>
                  </a:lnTo>
                  <a:lnTo>
                    <a:pt x="1675504" y="1203450"/>
                  </a:lnTo>
                  <a:lnTo>
                    <a:pt x="1677137" y="1201560"/>
                  </a:lnTo>
                  <a:close/>
                </a:path>
              </a:pathLst>
            </a:custGeom>
            <a:solidFill>
              <a:srgbClr val="003193"/>
            </a:solidFill>
          </p:spPr>
          <p:txBody>
            <a:bodyPr wrap="square" lIns="0" tIns="0" rIns="0" bIns="0" rtlCol="0"/>
            <a:lstStyle/>
            <a:p/>
          </p:txBody>
        </p:sp>
        <p:sp>
          <p:nvSpPr>
            <p:cNvPr id="21" name="object 21"/>
            <p:cNvSpPr/>
            <p:nvPr/>
          </p:nvSpPr>
          <p:spPr>
            <a:xfrm>
              <a:off x="6903720" y="4381042"/>
              <a:ext cx="283845" cy="338455"/>
            </a:xfrm>
            <a:custGeom>
              <a:avLst/>
              <a:gdLst/>
              <a:ahLst/>
              <a:cxnLst/>
              <a:rect l="l" t="t" r="r" b="b"/>
              <a:pathLst>
                <a:path w="283845" h="338454">
                  <a:moveTo>
                    <a:pt x="237744" y="76"/>
                  </a:moveTo>
                  <a:lnTo>
                    <a:pt x="193929" y="76"/>
                  </a:lnTo>
                  <a:lnTo>
                    <a:pt x="193929" y="202133"/>
                  </a:lnTo>
                  <a:lnTo>
                    <a:pt x="193929" y="242392"/>
                  </a:lnTo>
                  <a:lnTo>
                    <a:pt x="51308" y="242392"/>
                  </a:lnTo>
                  <a:lnTo>
                    <a:pt x="51308" y="202133"/>
                  </a:lnTo>
                  <a:lnTo>
                    <a:pt x="83820" y="179882"/>
                  </a:lnTo>
                  <a:lnTo>
                    <a:pt x="122555" y="172415"/>
                  </a:lnTo>
                  <a:lnTo>
                    <a:pt x="129908" y="172974"/>
                  </a:lnTo>
                  <a:lnTo>
                    <a:pt x="170141" y="183680"/>
                  </a:lnTo>
                  <a:lnTo>
                    <a:pt x="193929" y="202133"/>
                  </a:lnTo>
                  <a:lnTo>
                    <a:pt x="193929" y="76"/>
                  </a:lnTo>
                  <a:lnTo>
                    <a:pt x="157988" y="76"/>
                  </a:lnTo>
                  <a:lnTo>
                    <a:pt x="157988" y="128473"/>
                  </a:lnTo>
                  <a:lnTo>
                    <a:pt x="155244" y="142062"/>
                  </a:lnTo>
                  <a:lnTo>
                    <a:pt x="155219" y="142227"/>
                  </a:lnTo>
                  <a:lnTo>
                    <a:pt x="147739" y="153111"/>
                  </a:lnTo>
                  <a:lnTo>
                    <a:pt x="147650" y="153263"/>
                  </a:lnTo>
                  <a:lnTo>
                    <a:pt x="136385" y="160604"/>
                  </a:lnTo>
                  <a:lnTo>
                    <a:pt x="122555" y="163271"/>
                  </a:lnTo>
                  <a:lnTo>
                    <a:pt x="109029" y="160604"/>
                  </a:lnTo>
                  <a:lnTo>
                    <a:pt x="108839" y="160604"/>
                  </a:lnTo>
                  <a:lnTo>
                    <a:pt x="97497" y="153111"/>
                  </a:lnTo>
                  <a:lnTo>
                    <a:pt x="90017" y="142227"/>
                  </a:lnTo>
                  <a:lnTo>
                    <a:pt x="89903" y="142062"/>
                  </a:lnTo>
                  <a:lnTo>
                    <a:pt x="87122" y="128473"/>
                  </a:lnTo>
                  <a:lnTo>
                    <a:pt x="89903" y="114973"/>
                  </a:lnTo>
                  <a:lnTo>
                    <a:pt x="97497" y="103949"/>
                  </a:lnTo>
                  <a:lnTo>
                    <a:pt x="108762" y="96532"/>
                  </a:lnTo>
                  <a:lnTo>
                    <a:pt x="122555" y="93802"/>
                  </a:lnTo>
                  <a:lnTo>
                    <a:pt x="136385" y="96532"/>
                  </a:lnTo>
                  <a:lnTo>
                    <a:pt x="147650" y="103949"/>
                  </a:lnTo>
                  <a:lnTo>
                    <a:pt x="155219" y="114973"/>
                  </a:lnTo>
                  <a:lnTo>
                    <a:pt x="157988" y="128473"/>
                  </a:lnTo>
                  <a:lnTo>
                    <a:pt x="157988" y="76"/>
                  </a:lnTo>
                  <a:lnTo>
                    <a:pt x="18669" y="76"/>
                  </a:lnTo>
                  <a:lnTo>
                    <a:pt x="11404" y="1511"/>
                  </a:lnTo>
                  <a:lnTo>
                    <a:pt x="5473" y="5422"/>
                  </a:lnTo>
                  <a:lnTo>
                    <a:pt x="1460" y="11226"/>
                  </a:lnTo>
                  <a:lnTo>
                    <a:pt x="0" y="18364"/>
                  </a:lnTo>
                  <a:lnTo>
                    <a:pt x="0" y="320116"/>
                  </a:lnTo>
                  <a:lnTo>
                    <a:pt x="1460" y="327215"/>
                  </a:lnTo>
                  <a:lnTo>
                    <a:pt x="5473" y="333032"/>
                  </a:lnTo>
                  <a:lnTo>
                    <a:pt x="11404" y="336969"/>
                  </a:lnTo>
                  <a:lnTo>
                    <a:pt x="18669" y="338404"/>
                  </a:lnTo>
                  <a:lnTo>
                    <a:pt x="237744" y="338404"/>
                  </a:lnTo>
                  <a:lnTo>
                    <a:pt x="237744" y="242392"/>
                  </a:lnTo>
                  <a:lnTo>
                    <a:pt x="237744" y="172415"/>
                  </a:lnTo>
                  <a:lnTo>
                    <a:pt x="237744" y="163271"/>
                  </a:lnTo>
                  <a:lnTo>
                    <a:pt x="237744" y="93802"/>
                  </a:lnTo>
                  <a:lnTo>
                    <a:pt x="237744" y="76"/>
                  </a:lnTo>
                  <a:close/>
                </a:path>
                <a:path w="283845" h="338454">
                  <a:moveTo>
                    <a:pt x="283464" y="0"/>
                  </a:moveTo>
                  <a:lnTo>
                    <a:pt x="256032" y="0"/>
                  </a:lnTo>
                  <a:lnTo>
                    <a:pt x="256032" y="338404"/>
                  </a:lnTo>
                  <a:lnTo>
                    <a:pt x="283464" y="338404"/>
                  </a:lnTo>
                  <a:lnTo>
                    <a:pt x="283464" y="0"/>
                  </a:lnTo>
                  <a:close/>
                </a:path>
              </a:pathLst>
            </a:custGeom>
            <a:solidFill>
              <a:srgbClr val="FFFFFF"/>
            </a:solidFill>
          </p:spPr>
          <p:txBody>
            <a:bodyPr wrap="square" lIns="0" tIns="0" rIns="0" bIns="0" rtlCol="0"/>
            <a:lstStyle/>
            <a:p/>
          </p:txBody>
        </p:sp>
      </p:grpSp>
      <p:grpSp>
        <p:nvGrpSpPr>
          <p:cNvPr id="22" name="object 22"/>
          <p:cNvGrpSpPr/>
          <p:nvPr/>
        </p:nvGrpSpPr>
        <p:grpSpPr>
          <a:xfrm>
            <a:off x="3984757" y="2901695"/>
            <a:ext cx="1035685" cy="2573020"/>
            <a:chOff x="3984757" y="2901695"/>
            <a:chExt cx="1035685" cy="2573020"/>
          </a:xfrm>
        </p:grpSpPr>
        <p:sp>
          <p:nvSpPr>
            <p:cNvPr id="23" name="object 23"/>
            <p:cNvSpPr/>
            <p:nvPr/>
          </p:nvSpPr>
          <p:spPr>
            <a:xfrm>
              <a:off x="3984757" y="2901695"/>
              <a:ext cx="839469" cy="2573020"/>
            </a:xfrm>
            <a:custGeom>
              <a:avLst/>
              <a:gdLst/>
              <a:ahLst/>
              <a:cxnLst/>
              <a:rect l="l" t="t" r="r" b="b"/>
              <a:pathLst>
                <a:path w="839470" h="2573020">
                  <a:moveTo>
                    <a:pt x="646974" y="36003"/>
                  </a:moveTo>
                  <a:lnTo>
                    <a:pt x="577844" y="84962"/>
                  </a:lnTo>
                  <a:lnTo>
                    <a:pt x="535934" y="118109"/>
                  </a:lnTo>
                  <a:lnTo>
                    <a:pt x="495167" y="152780"/>
                  </a:lnTo>
                  <a:lnTo>
                    <a:pt x="455924" y="188849"/>
                  </a:lnTo>
                  <a:lnTo>
                    <a:pt x="417951" y="226313"/>
                  </a:lnTo>
                  <a:lnTo>
                    <a:pt x="381248" y="265049"/>
                  </a:lnTo>
                  <a:lnTo>
                    <a:pt x="346196" y="305180"/>
                  </a:lnTo>
                  <a:lnTo>
                    <a:pt x="312541" y="346582"/>
                  </a:lnTo>
                  <a:lnTo>
                    <a:pt x="280410" y="389127"/>
                  </a:lnTo>
                  <a:lnTo>
                    <a:pt x="249676" y="432942"/>
                  </a:lnTo>
                  <a:lnTo>
                    <a:pt x="220720" y="477900"/>
                  </a:lnTo>
                  <a:lnTo>
                    <a:pt x="193161" y="524001"/>
                  </a:lnTo>
                  <a:lnTo>
                    <a:pt x="167507" y="571118"/>
                  </a:lnTo>
                  <a:lnTo>
                    <a:pt x="143377" y="619251"/>
                  </a:lnTo>
                  <a:lnTo>
                    <a:pt x="112516" y="688086"/>
                  </a:lnTo>
                  <a:lnTo>
                    <a:pt x="85719" y="757681"/>
                  </a:lnTo>
                  <a:lnTo>
                    <a:pt x="62478" y="827912"/>
                  </a:lnTo>
                  <a:lnTo>
                    <a:pt x="43047" y="898524"/>
                  </a:lnTo>
                  <a:lnTo>
                    <a:pt x="27172" y="969517"/>
                  </a:lnTo>
                  <a:lnTo>
                    <a:pt x="15107" y="1040891"/>
                  </a:lnTo>
                  <a:lnTo>
                    <a:pt x="6570" y="1111449"/>
                  </a:lnTo>
                  <a:lnTo>
                    <a:pt x="6471" y="1112265"/>
                  </a:lnTo>
                  <a:lnTo>
                    <a:pt x="1518" y="1183512"/>
                  </a:lnTo>
                  <a:lnTo>
                    <a:pt x="0" y="1254505"/>
                  </a:lnTo>
                  <a:lnTo>
                    <a:pt x="2000" y="1324724"/>
                  </a:lnTo>
                  <a:lnTo>
                    <a:pt x="2026" y="1325626"/>
                  </a:lnTo>
                  <a:lnTo>
                    <a:pt x="7225" y="1394451"/>
                  </a:lnTo>
                  <a:lnTo>
                    <a:pt x="7255" y="1394842"/>
                  </a:lnTo>
                  <a:lnTo>
                    <a:pt x="16123" y="1466341"/>
                  </a:lnTo>
                  <a:lnTo>
                    <a:pt x="28188" y="1535810"/>
                  </a:lnTo>
                  <a:lnTo>
                    <a:pt x="43555" y="1604517"/>
                  </a:lnTo>
                  <a:lnTo>
                    <a:pt x="62224" y="1672335"/>
                  </a:lnTo>
                  <a:lnTo>
                    <a:pt x="84068" y="1739137"/>
                  </a:lnTo>
                  <a:lnTo>
                    <a:pt x="108960" y="1804796"/>
                  </a:lnTo>
                  <a:lnTo>
                    <a:pt x="137154" y="1869312"/>
                  </a:lnTo>
                  <a:lnTo>
                    <a:pt x="168269" y="1932431"/>
                  </a:lnTo>
                  <a:lnTo>
                    <a:pt x="202559" y="1994027"/>
                  </a:lnTo>
                  <a:lnTo>
                    <a:pt x="239770" y="2053970"/>
                  </a:lnTo>
                  <a:lnTo>
                    <a:pt x="280029" y="2112264"/>
                  </a:lnTo>
                  <a:lnTo>
                    <a:pt x="322955" y="2168779"/>
                  </a:lnTo>
                  <a:lnTo>
                    <a:pt x="368802" y="2223135"/>
                  </a:lnTo>
                  <a:lnTo>
                    <a:pt x="417570" y="2275585"/>
                  </a:lnTo>
                  <a:lnTo>
                    <a:pt x="469132" y="2325751"/>
                  </a:lnTo>
                  <a:lnTo>
                    <a:pt x="523361" y="2373503"/>
                  </a:lnTo>
                  <a:lnTo>
                    <a:pt x="580130" y="2418841"/>
                  </a:lnTo>
                  <a:lnTo>
                    <a:pt x="639820" y="2461514"/>
                  </a:lnTo>
                  <a:lnTo>
                    <a:pt x="701796" y="2501518"/>
                  </a:lnTo>
                  <a:lnTo>
                    <a:pt x="766566" y="2538603"/>
                  </a:lnTo>
                  <a:lnTo>
                    <a:pt x="833622" y="2572892"/>
                  </a:lnTo>
                  <a:lnTo>
                    <a:pt x="839337" y="2561463"/>
                  </a:lnTo>
                  <a:lnTo>
                    <a:pt x="772827" y="2527575"/>
                  </a:lnTo>
                  <a:lnTo>
                    <a:pt x="708615" y="2490792"/>
                  </a:lnTo>
                  <a:lnTo>
                    <a:pt x="708327" y="2490513"/>
                  </a:lnTo>
                  <a:lnTo>
                    <a:pt x="647000" y="2451040"/>
                  </a:lnTo>
                  <a:lnTo>
                    <a:pt x="587741" y="2408586"/>
                  </a:lnTo>
                  <a:lnTo>
                    <a:pt x="531605" y="2363819"/>
                  </a:lnTo>
                  <a:lnTo>
                    <a:pt x="477634" y="2316226"/>
                  </a:lnTo>
                  <a:lnTo>
                    <a:pt x="426604" y="2266568"/>
                  </a:lnTo>
                  <a:lnTo>
                    <a:pt x="378616" y="2215072"/>
                  </a:lnTo>
                  <a:lnTo>
                    <a:pt x="332970" y="2160862"/>
                  </a:lnTo>
                  <a:lnTo>
                    <a:pt x="290166" y="2104666"/>
                  </a:lnTo>
                  <a:lnTo>
                    <a:pt x="250297" y="2046999"/>
                  </a:lnTo>
                  <a:lnTo>
                    <a:pt x="213334" y="1987185"/>
                  </a:lnTo>
                  <a:lnTo>
                    <a:pt x="180033" y="1927391"/>
                  </a:lnTo>
                  <a:lnTo>
                    <a:pt x="179810" y="1926940"/>
                  </a:lnTo>
                  <a:lnTo>
                    <a:pt x="179667" y="1926734"/>
                  </a:lnTo>
                  <a:lnTo>
                    <a:pt x="148584" y="1863852"/>
                  </a:lnTo>
                  <a:lnTo>
                    <a:pt x="120771" y="1800068"/>
                  </a:lnTo>
                  <a:lnTo>
                    <a:pt x="96333" y="1735555"/>
                  </a:lnTo>
                  <a:lnTo>
                    <a:pt x="96189" y="1735058"/>
                  </a:lnTo>
                  <a:lnTo>
                    <a:pt x="96046" y="1734680"/>
                  </a:lnTo>
                  <a:lnTo>
                    <a:pt x="74421" y="1668755"/>
                  </a:lnTo>
                  <a:lnTo>
                    <a:pt x="56104" y="1602055"/>
                  </a:lnTo>
                  <a:lnTo>
                    <a:pt x="40650" y="1533506"/>
                  </a:lnTo>
                  <a:lnTo>
                    <a:pt x="28712" y="1464679"/>
                  </a:lnTo>
                  <a:lnTo>
                    <a:pt x="19945" y="1395091"/>
                  </a:lnTo>
                  <a:lnTo>
                    <a:pt x="14657" y="1325626"/>
                  </a:lnTo>
                  <a:lnTo>
                    <a:pt x="12704" y="1254886"/>
                  </a:lnTo>
                  <a:lnTo>
                    <a:pt x="14210" y="1184260"/>
                  </a:lnTo>
                  <a:lnTo>
                    <a:pt x="19058" y="1113543"/>
                  </a:lnTo>
                  <a:lnTo>
                    <a:pt x="27570" y="1043444"/>
                  </a:lnTo>
                  <a:lnTo>
                    <a:pt x="27680" y="1042893"/>
                  </a:lnTo>
                  <a:lnTo>
                    <a:pt x="27722" y="1042550"/>
                  </a:lnTo>
                  <a:lnTo>
                    <a:pt x="39637" y="972195"/>
                  </a:lnTo>
                  <a:lnTo>
                    <a:pt x="55250" y="901714"/>
                  </a:lnTo>
                  <a:lnTo>
                    <a:pt x="74554" y="831737"/>
                  </a:lnTo>
                  <a:lnTo>
                    <a:pt x="97531" y="762126"/>
                  </a:lnTo>
                  <a:lnTo>
                    <a:pt x="124225" y="693175"/>
                  </a:lnTo>
                  <a:lnTo>
                    <a:pt x="154820" y="624839"/>
                  </a:lnTo>
                  <a:lnTo>
                    <a:pt x="178683" y="577088"/>
                  </a:lnTo>
                  <a:lnTo>
                    <a:pt x="204070" y="530587"/>
                  </a:lnTo>
                  <a:lnTo>
                    <a:pt x="231059" y="485270"/>
                  </a:lnTo>
                  <a:lnTo>
                    <a:pt x="259648" y="440813"/>
                  </a:lnTo>
                  <a:lnTo>
                    <a:pt x="289857" y="397693"/>
                  </a:lnTo>
                  <a:lnTo>
                    <a:pt x="321533" y="355709"/>
                  </a:lnTo>
                  <a:lnTo>
                    <a:pt x="356179" y="313058"/>
                  </a:lnTo>
                  <a:lnTo>
                    <a:pt x="390646" y="273684"/>
                  </a:lnTo>
                  <a:lnTo>
                    <a:pt x="426968" y="235203"/>
                  </a:lnTo>
                  <a:lnTo>
                    <a:pt x="464535" y="198143"/>
                  </a:lnTo>
                  <a:lnTo>
                    <a:pt x="503375" y="162455"/>
                  </a:lnTo>
                  <a:lnTo>
                    <a:pt x="503522" y="162455"/>
                  </a:lnTo>
                  <a:lnTo>
                    <a:pt x="544039" y="127843"/>
                  </a:lnTo>
                  <a:lnTo>
                    <a:pt x="585002" y="95461"/>
                  </a:lnTo>
                  <a:lnTo>
                    <a:pt x="628231" y="63792"/>
                  </a:lnTo>
                  <a:lnTo>
                    <a:pt x="629221" y="63111"/>
                  </a:lnTo>
                  <a:lnTo>
                    <a:pt x="653806" y="46652"/>
                  </a:lnTo>
                  <a:lnTo>
                    <a:pt x="646974" y="36003"/>
                  </a:lnTo>
                  <a:close/>
                </a:path>
                <a:path w="839470" h="2573020">
                  <a:moveTo>
                    <a:pt x="708327" y="2490513"/>
                  </a:moveTo>
                  <a:lnTo>
                    <a:pt x="708615" y="2490792"/>
                  </a:lnTo>
                  <a:lnTo>
                    <a:pt x="709943" y="2491553"/>
                  </a:lnTo>
                  <a:lnTo>
                    <a:pt x="708804" y="2490792"/>
                  </a:lnTo>
                  <a:lnTo>
                    <a:pt x="708327" y="2490513"/>
                  </a:lnTo>
                  <a:close/>
                </a:path>
                <a:path w="839470" h="2573020">
                  <a:moveTo>
                    <a:pt x="503538" y="162455"/>
                  </a:moveTo>
                  <a:lnTo>
                    <a:pt x="503375" y="162455"/>
                  </a:lnTo>
                  <a:lnTo>
                    <a:pt x="501413" y="164258"/>
                  </a:lnTo>
                  <a:lnTo>
                    <a:pt x="503538" y="162455"/>
                  </a:lnTo>
                  <a:close/>
                </a:path>
                <a:path w="839470" h="2573020">
                  <a:moveTo>
                    <a:pt x="697126" y="28955"/>
                  </a:moveTo>
                  <a:lnTo>
                    <a:pt x="657473" y="28955"/>
                  </a:lnTo>
                  <a:lnTo>
                    <a:pt x="664458" y="39496"/>
                  </a:lnTo>
                  <a:lnTo>
                    <a:pt x="653806" y="46652"/>
                  </a:lnTo>
                  <a:lnTo>
                    <a:pt x="670808" y="73151"/>
                  </a:lnTo>
                  <a:lnTo>
                    <a:pt x="697126" y="28955"/>
                  </a:lnTo>
                  <a:close/>
                </a:path>
                <a:path w="839470" h="2573020">
                  <a:moveTo>
                    <a:pt x="657473" y="28955"/>
                  </a:moveTo>
                  <a:lnTo>
                    <a:pt x="646974" y="36003"/>
                  </a:lnTo>
                  <a:lnTo>
                    <a:pt x="653806" y="46652"/>
                  </a:lnTo>
                  <a:lnTo>
                    <a:pt x="664458" y="39496"/>
                  </a:lnTo>
                  <a:lnTo>
                    <a:pt x="657473" y="28955"/>
                  </a:lnTo>
                  <a:close/>
                </a:path>
                <a:path w="839470" h="2573020">
                  <a:moveTo>
                    <a:pt x="714369" y="0"/>
                  </a:moveTo>
                  <a:lnTo>
                    <a:pt x="629660" y="9016"/>
                  </a:lnTo>
                  <a:lnTo>
                    <a:pt x="646974" y="36003"/>
                  </a:lnTo>
                  <a:lnTo>
                    <a:pt x="657473" y="28955"/>
                  </a:lnTo>
                  <a:lnTo>
                    <a:pt x="697126" y="28955"/>
                  </a:lnTo>
                  <a:lnTo>
                    <a:pt x="714369" y="0"/>
                  </a:lnTo>
                  <a:close/>
                </a:path>
              </a:pathLst>
            </a:custGeom>
            <a:solidFill>
              <a:srgbClr val="003193"/>
            </a:solidFill>
          </p:spPr>
          <p:txBody>
            <a:bodyPr wrap="square" lIns="0" tIns="0" rIns="0" bIns="0" rtlCol="0"/>
            <a:lstStyle/>
            <a:p/>
          </p:txBody>
        </p:sp>
        <p:sp>
          <p:nvSpPr>
            <p:cNvPr id="24" name="object 24"/>
            <p:cNvSpPr/>
            <p:nvPr/>
          </p:nvSpPr>
          <p:spPr>
            <a:xfrm>
              <a:off x="4681728" y="4024375"/>
              <a:ext cx="338455" cy="292735"/>
            </a:xfrm>
            <a:custGeom>
              <a:avLst/>
              <a:gdLst/>
              <a:ahLst/>
              <a:cxnLst/>
              <a:rect l="l" t="t" r="r" b="b"/>
              <a:pathLst>
                <a:path w="338454" h="292735">
                  <a:moveTo>
                    <a:pt x="338328" y="155448"/>
                  </a:moveTo>
                  <a:lnTo>
                    <a:pt x="194564" y="155448"/>
                  </a:lnTo>
                  <a:lnTo>
                    <a:pt x="194564" y="164084"/>
                  </a:lnTo>
                  <a:lnTo>
                    <a:pt x="194564" y="173482"/>
                  </a:lnTo>
                  <a:lnTo>
                    <a:pt x="186944" y="181229"/>
                  </a:lnTo>
                  <a:lnTo>
                    <a:pt x="151384" y="181229"/>
                  </a:lnTo>
                  <a:lnTo>
                    <a:pt x="143764" y="173482"/>
                  </a:lnTo>
                  <a:lnTo>
                    <a:pt x="143764" y="155448"/>
                  </a:lnTo>
                  <a:lnTo>
                    <a:pt x="0" y="155448"/>
                  </a:lnTo>
                  <a:lnTo>
                    <a:pt x="0" y="284988"/>
                  </a:lnTo>
                  <a:lnTo>
                    <a:pt x="7620" y="292608"/>
                  </a:lnTo>
                  <a:lnTo>
                    <a:pt x="330708" y="292608"/>
                  </a:lnTo>
                  <a:lnTo>
                    <a:pt x="338328" y="284988"/>
                  </a:lnTo>
                  <a:lnTo>
                    <a:pt x="338328" y="155448"/>
                  </a:lnTo>
                  <a:close/>
                </a:path>
                <a:path w="338454" h="292735">
                  <a:moveTo>
                    <a:pt x="338328" y="62611"/>
                  </a:moveTo>
                  <a:lnTo>
                    <a:pt x="330708" y="55245"/>
                  </a:lnTo>
                  <a:lnTo>
                    <a:pt x="236855" y="55245"/>
                  </a:lnTo>
                  <a:lnTo>
                    <a:pt x="236855" y="28702"/>
                  </a:lnTo>
                  <a:lnTo>
                    <a:pt x="235991" y="24511"/>
                  </a:lnTo>
                  <a:lnTo>
                    <a:pt x="234543" y="17475"/>
                  </a:lnTo>
                  <a:lnTo>
                    <a:pt x="228244" y="8356"/>
                  </a:lnTo>
                  <a:lnTo>
                    <a:pt x="218846" y="2235"/>
                  </a:lnTo>
                  <a:lnTo>
                    <a:pt x="211455" y="812"/>
                  </a:lnTo>
                  <a:lnTo>
                    <a:pt x="211455" y="26162"/>
                  </a:lnTo>
                  <a:lnTo>
                    <a:pt x="211455" y="55245"/>
                  </a:lnTo>
                  <a:lnTo>
                    <a:pt x="126873" y="55245"/>
                  </a:lnTo>
                  <a:lnTo>
                    <a:pt x="126873" y="26162"/>
                  </a:lnTo>
                  <a:lnTo>
                    <a:pt x="128524" y="24511"/>
                  </a:lnTo>
                  <a:lnTo>
                    <a:pt x="209804" y="24511"/>
                  </a:lnTo>
                  <a:lnTo>
                    <a:pt x="211455" y="26162"/>
                  </a:lnTo>
                  <a:lnTo>
                    <a:pt x="211455" y="812"/>
                  </a:lnTo>
                  <a:lnTo>
                    <a:pt x="207264" y="0"/>
                  </a:lnTo>
                  <a:lnTo>
                    <a:pt x="131064" y="0"/>
                  </a:lnTo>
                  <a:lnTo>
                    <a:pt x="119468" y="2235"/>
                  </a:lnTo>
                  <a:lnTo>
                    <a:pt x="110070" y="8356"/>
                  </a:lnTo>
                  <a:lnTo>
                    <a:pt x="103771" y="17475"/>
                  </a:lnTo>
                  <a:lnTo>
                    <a:pt x="101473" y="28702"/>
                  </a:lnTo>
                  <a:lnTo>
                    <a:pt x="101473" y="55245"/>
                  </a:lnTo>
                  <a:lnTo>
                    <a:pt x="7620" y="55245"/>
                  </a:lnTo>
                  <a:lnTo>
                    <a:pt x="0" y="62611"/>
                  </a:lnTo>
                  <a:lnTo>
                    <a:pt x="0" y="137160"/>
                  </a:lnTo>
                  <a:lnTo>
                    <a:pt x="143764" y="137160"/>
                  </a:lnTo>
                  <a:lnTo>
                    <a:pt x="143764" y="129032"/>
                  </a:lnTo>
                  <a:lnTo>
                    <a:pt x="194564" y="129032"/>
                  </a:lnTo>
                  <a:lnTo>
                    <a:pt x="194564" y="137160"/>
                  </a:lnTo>
                  <a:lnTo>
                    <a:pt x="338328" y="137160"/>
                  </a:lnTo>
                  <a:lnTo>
                    <a:pt x="338328" y="129032"/>
                  </a:lnTo>
                  <a:lnTo>
                    <a:pt x="338328" y="62611"/>
                  </a:lnTo>
                  <a:close/>
                </a:path>
              </a:pathLst>
            </a:custGeom>
            <a:solidFill>
              <a:srgbClr val="EC7C30"/>
            </a:solidFill>
          </p:spPr>
          <p:txBody>
            <a:bodyPr wrap="square" lIns="0" tIns="0" rIns="0" bIns="0" rtlCol="0"/>
            <a:lstStyle/>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xfrm>
            <a:off x="969492" y="380492"/>
            <a:ext cx="4415790"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rPr>
              <a:t>Fabric</a:t>
            </a:r>
            <a:r>
              <a:rPr dirty="0" spc="75">
                <a:solidFill>
                  <a:srgbClr val="003E34"/>
                </a:solidFill>
              </a:rPr>
              <a:t> </a:t>
            </a:r>
            <a:r>
              <a:rPr dirty="0">
                <a:solidFill>
                  <a:srgbClr val="003E34"/>
                </a:solidFill>
              </a:rPr>
              <a:t>Healthcare</a:t>
            </a:r>
            <a:r>
              <a:rPr dirty="0" spc="80">
                <a:solidFill>
                  <a:srgbClr val="003E34"/>
                </a:solidFill>
              </a:rPr>
              <a:t> </a:t>
            </a:r>
            <a:r>
              <a:rPr dirty="0" spc="-20">
                <a:solidFill>
                  <a:srgbClr val="003E34"/>
                </a:solidFill>
              </a:rPr>
              <a:t>Data </a:t>
            </a:r>
            <a:r>
              <a:rPr dirty="0" spc="-10">
                <a:solidFill>
                  <a:srgbClr val="003E34"/>
                </a:solidFill>
              </a:rPr>
              <a:t>Solutions</a:t>
            </a:r>
          </a:p>
        </p:txBody>
      </p:sp>
      <p:pic>
        <p:nvPicPr>
          <p:cNvPr id="4" name="object 4"/>
          <p:cNvPicPr/>
          <p:nvPr/>
        </p:nvPicPr>
        <p:blipFill>
          <a:blip r:embed="rId3" cstate="print"/>
          <a:stretch>
            <a:fillRect/>
          </a:stretch>
        </p:blipFill>
        <p:spPr>
          <a:xfrm>
            <a:off x="1014983" y="1609763"/>
            <a:ext cx="9966960" cy="466458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17194" y="1572971"/>
            <a:ext cx="10543540" cy="1421130"/>
          </a:xfrm>
          <a:prstGeom prst="rect"/>
        </p:spPr>
        <p:txBody>
          <a:bodyPr wrap="square" lIns="0" tIns="99060" rIns="0" bIns="0" rtlCol="0" vert="horz">
            <a:spAutoFit/>
          </a:bodyPr>
          <a:lstStyle/>
          <a:p>
            <a:pPr marL="12700" marR="5080">
              <a:lnSpc>
                <a:spcPts val="5190"/>
              </a:lnSpc>
              <a:spcBef>
                <a:spcPts val="780"/>
              </a:spcBef>
            </a:pPr>
            <a:r>
              <a:rPr dirty="0" sz="4800"/>
              <a:t>The</a:t>
            </a:r>
            <a:r>
              <a:rPr dirty="0" sz="4800" spc="-114"/>
              <a:t> </a:t>
            </a:r>
            <a:r>
              <a:rPr dirty="0" sz="4800"/>
              <a:t>case:</a:t>
            </a:r>
            <a:r>
              <a:rPr dirty="0" sz="4800" spc="-55"/>
              <a:t> </a:t>
            </a:r>
            <a:r>
              <a:rPr dirty="0" sz="4800"/>
              <a:t>knee</a:t>
            </a:r>
            <a:r>
              <a:rPr dirty="0" sz="4800" spc="-105"/>
              <a:t> </a:t>
            </a:r>
            <a:r>
              <a:rPr dirty="0" sz="4800"/>
              <a:t>replacement</a:t>
            </a:r>
            <a:r>
              <a:rPr dirty="0" sz="4800" spc="-55"/>
              <a:t> </a:t>
            </a:r>
            <a:r>
              <a:rPr dirty="0" sz="4800"/>
              <a:t>on</a:t>
            </a:r>
            <a:r>
              <a:rPr dirty="0" sz="4800" spc="-80"/>
              <a:t> </a:t>
            </a:r>
            <a:r>
              <a:rPr dirty="0" sz="4800" spc="-25"/>
              <a:t>NHS </a:t>
            </a:r>
            <a:r>
              <a:rPr dirty="0" sz="4800" spc="-10"/>
              <a:t>PROMs</a:t>
            </a:r>
            <a:endParaRPr sz="4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17194" y="1572971"/>
            <a:ext cx="9975850" cy="762000"/>
          </a:xfrm>
          <a:prstGeom prst="rect"/>
        </p:spPr>
        <p:txBody>
          <a:bodyPr wrap="square" lIns="0" tIns="16510" rIns="0" bIns="0" rtlCol="0" vert="horz">
            <a:spAutoFit/>
          </a:bodyPr>
          <a:lstStyle/>
          <a:p>
            <a:pPr marL="12700">
              <a:lnSpc>
                <a:spcPct val="100000"/>
              </a:lnSpc>
              <a:spcBef>
                <a:spcPts val="130"/>
              </a:spcBef>
            </a:pPr>
            <a:r>
              <a:rPr dirty="0" sz="4800"/>
              <a:t>A</a:t>
            </a:r>
            <a:r>
              <a:rPr dirty="0" sz="4800" spc="-270"/>
              <a:t> </a:t>
            </a:r>
            <a:r>
              <a:rPr dirty="0" sz="4800"/>
              <a:t>model</a:t>
            </a:r>
            <a:r>
              <a:rPr dirty="0" sz="4800" spc="-70"/>
              <a:t> </a:t>
            </a:r>
            <a:r>
              <a:rPr dirty="0" sz="4800"/>
              <a:t>a</a:t>
            </a:r>
            <a:r>
              <a:rPr dirty="0" sz="4800" spc="-50"/>
              <a:t> </a:t>
            </a:r>
            <a:r>
              <a:rPr dirty="0" sz="4800"/>
              <a:t>clinician</a:t>
            </a:r>
            <a:r>
              <a:rPr dirty="0" sz="4800" spc="-20"/>
              <a:t> </a:t>
            </a:r>
            <a:r>
              <a:rPr dirty="0" sz="4800"/>
              <a:t>can</a:t>
            </a:r>
            <a:r>
              <a:rPr dirty="0" sz="4800" spc="-85"/>
              <a:t> </a:t>
            </a:r>
            <a:r>
              <a:rPr dirty="0" sz="4800"/>
              <a:t>argue</a:t>
            </a:r>
            <a:r>
              <a:rPr dirty="0" sz="4800" spc="-40"/>
              <a:t> </a:t>
            </a:r>
            <a:r>
              <a:rPr dirty="0" sz="4800" spc="-20"/>
              <a:t>with</a:t>
            </a:r>
            <a:endParaRPr sz="4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17194" y="1572971"/>
            <a:ext cx="9560560" cy="1421130"/>
          </a:xfrm>
          <a:prstGeom prst="rect"/>
        </p:spPr>
        <p:txBody>
          <a:bodyPr wrap="square" lIns="0" tIns="99060" rIns="0" bIns="0" rtlCol="0" vert="horz">
            <a:spAutoFit/>
          </a:bodyPr>
          <a:lstStyle/>
          <a:p>
            <a:pPr marL="12700" marR="5080">
              <a:lnSpc>
                <a:spcPts val="5190"/>
              </a:lnSpc>
              <a:spcBef>
                <a:spcPts val="780"/>
              </a:spcBef>
            </a:pPr>
            <a:r>
              <a:rPr dirty="0" sz="4800"/>
              <a:t>Delivery:</a:t>
            </a:r>
            <a:r>
              <a:rPr dirty="0" sz="4800" spc="-160"/>
              <a:t> </a:t>
            </a:r>
            <a:r>
              <a:rPr dirty="0" sz="4800"/>
              <a:t>endpoint,</a:t>
            </a:r>
            <a:r>
              <a:rPr dirty="0" sz="4800" spc="-105"/>
              <a:t> </a:t>
            </a:r>
            <a:r>
              <a:rPr dirty="0" sz="4800"/>
              <a:t>clinician</a:t>
            </a:r>
            <a:r>
              <a:rPr dirty="0" sz="4800" spc="-114"/>
              <a:t> </a:t>
            </a:r>
            <a:r>
              <a:rPr dirty="0" sz="4800" spc="-20"/>
              <a:t>app, </a:t>
            </a:r>
            <a:r>
              <a:rPr dirty="0" sz="4800" spc="-10"/>
              <a:t>agent</a:t>
            </a:r>
            <a:endParaRPr sz="4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335886"/>
            <a:ext cx="12188952" cy="457310"/>
          </a:xfrm>
          <a:prstGeom prst="rect">
            <a:avLst/>
          </a:prstGeom>
        </p:spPr>
      </p:pic>
      <p:grpSp>
        <p:nvGrpSpPr>
          <p:cNvPr id="3" name="object 3"/>
          <p:cNvGrpSpPr/>
          <p:nvPr/>
        </p:nvGrpSpPr>
        <p:grpSpPr>
          <a:xfrm>
            <a:off x="0" y="864795"/>
            <a:ext cx="12189460" cy="4581525"/>
            <a:chOff x="0" y="864795"/>
            <a:chExt cx="12189460" cy="4581525"/>
          </a:xfrm>
        </p:grpSpPr>
        <p:pic>
          <p:nvPicPr>
            <p:cNvPr id="4" name="object 4"/>
            <p:cNvPicPr/>
            <p:nvPr/>
          </p:nvPicPr>
          <p:blipFill>
            <a:blip r:embed="rId3" cstate="print"/>
            <a:stretch>
              <a:fillRect/>
            </a:stretch>
          </p:blipFill>
          <p:spPr>
            <a:xfrm>
              <a:off x="0" y="864795"/>
              <a:ext cx="12188952" cy="4581415"/>
            </a:xfrm>
            <a:prstGeom prst="rect">
              <a:avLst/>
            </a:prstGeom>
          </p:spPr>
        </p:pic>
        <p:sp>
          <p:nvSpPr>
            <p:cNvPr id="5" name="object 5"/>
            <p:cNvSpPr/>
            <p:nvPr/>
          </p:nvSpPr>
          <p:spPr>
            <a:xfrm>
              <a:off x="1201025" y="2344816"/>
              <a:ext cx="3375025" cy="478155"/>
            </a:xfrm>
            <a:custGeom>
              <a:avLst/>
              <a:gdLst/>
              <a:ahLst/>
              <a:cxnLst/>
              <a:rect l="l" t="t" r="r" b="b"/>
              <a:pathLst>
                <a:path w="3375025" h="478155">
                  <a:moveTo>
                    <a:pt x="3374507" y="478097"/>
                  </a:moveTo>
                  <a:lnTo>
                    <a:pt x="0" y="478097"/>
                  </a:lnTo>
                  <a:lnTo>
                    <a:pt x="0" y="0"/>
                  </a:lnTo>
                  <a:lnTo>
                    <a:pt x="3374507" y="0"/>
                  </a:lnTo>
                  <a:lnTo>
                    <a:pt x="3374507" y="478097"/>
                  </a:lnTo>
                  <a:close/>
                </a:path>
              </a:pathLst>
            </a:custGeom>
            <a:solidFill>
              <a:srgbClr val="002A21"/>
            </a:solidFill>
          </p:spPr>
          <p:txBody>
            <a:bodyPr wrap="square" lIns="0" tIns="0" rIns="0" bIns="0" rtlCol="0"/>
            <a:lstStyle/>
            <a:p/>
          </p:txBody>
        </p:sp>
      </p:grpSp>
      <p:sp>
        <p:nvSpPr>
          <p:cNvPr id="6" name="object 6" descr="$PPTXTitle"/>
          <p:cNvSpPr txBox="1">
            <a:spLocks noGrp="1"/>
          </p:cNvSpPr>
          <p:nvPr>
            <p:ph type="title"/>
          </p:nvPr>
        </p:nvSpPr>
        <p:spPr>
          <a:xfrm>
            <a:off x="1144096" y="2136258"/>
            <a:ext cx="3424554" cy="829310"/>
          </a:xfrm>
          <a:prstGeom prst="rect"/>
        </p:spPr>
        <p:txBody>
          <a:bodyPr wrap="square" lIns="0" tIns="15240" rIns="0" bIns="0" rtlCol="0" vert="horz">
            <a:spAutoFit/>
          </a:bodyPr>
          <a:lstStyle/>
          <a:p>
            <a:pPr marL="12700">
              <a:lnSpc>
                <a:spcPct val="100000"/>
              </a:lnSpc>
              <a:spcBef>
                <a:spcPts val="120"/>
              </a:spcBef>
            </a:pPr>
            <a:r>
              <a:rPr dirty="0" sz="5250" spc="-615" b="0">
                <a:solidFill>
                  <a:srgbClr val="FFFFFF"/>
                </a:solidFill>
                <a:latin typeface="Arial Black"/>
                <a:cs typeface="Arial Black"/>
              </a:rPr>
              <a:t>Please</a:t>
            </a:r>
            <a:r>
              <a:rPr dirty="0" sz="5250" spc="135" b="0">
                <a:solidFill>
                  <a:srgbClr val="FFFFFF"/>
                </a:solidFill>
                <a:latin typeface="Arial Black"/>
                <a:cs typeface="Arial Black"/>
              </a:rPr>
              <a:t> </a:t>
            </a:r>
            <a:r>
              <a:rPr dirty="0" sz="5250" spc="-640" b="0">
                <a:solidFill>
                  <a:srgbClr val="FFFFFF"/>
                </a:solidFill>
                <a:latin typeface="Arial Black"/>
                <a:cs typeface="Arial Black"/>
              </a:rPr>
              <a:t>rate</a:t>
            </a:r>
            <a:endParaRPr sz="5250">
              <a:latin typeface="Arial Black"/>
              <a:cs typeface="Arial Black"/>
            </a:endParaRPr>
          </a:p>
        </p:txBody>
      </p:sp>
      <p:sp>
        <p:nvSpPr>
          <p:cNvPr id="7" name="object 7"/>
          <p:cNvSpPr/>
          <p:nvPr/>
        </p:nvSpPr>
        <p:spPr>
          <a:xfrm>
            <a:off x="1155311" y="2989207"/>
            <a:ext cx="3628390" cy="490855"/>
          </a:xfrm>
          <a:custGeom>
            <a:avLst/>
            <a:gdLst/>
            <a:ahLst/>
            <a:cxnLst/>
            <a:rect l="l" t="t" r="r" b="b"/>
            <a:pathLst>
              <a:path w="3628390" h="490854">
                <a:moveTo>
                  <a:pt x="3628010" y="490569"/>
                </a:moveTo>
                <a:lnTo>
                  <a:pt x="0" y="490569"/>
                </a:lnTo>
                <a:lnTo>
                  <a:pt x="0" y="0"/>
                </a:lnTo>
                <a:lnTo>
                  <a:pt x="3628010" y="0"/>
                </a:lnTo>
                <a:lnTo>
                  <a:pt x="3628010" y="490569"/>
                </a:lnTo>
                <a:close/>
              </a:path>
            </a:pathLst>
          </a:custGeom>
          <a:solidFill>
            <a:srgbClr val="01342D"/>
          </a:solidFill>
        </p:spPr>
        <p:txBody>
          <a:bodyPr wrap="square" lIns="0" tIns="0" rIns="0" bIns="0" rtlCol="0"/>
          <a:lstStyle/>
          <a:p/>
        </p:txBody>
      </p:sp>
      <p:sp>
        <p:nvSpPr>
          <p:cNvPr id="8" name="object 8"/>
          <p:cNvSpPr txBox="1"/>
          <p:nvPr/>
        </p:nvSpPr>
        <p:spPr>
          <a:xfrm>
            <a:off x="1132457" y="2787347"/>
            <a:ext cx="3644265" cy="836294"/>
          </a:xfrm>
          <a:prstGeom prst="rect">
            <a:avLst/>
          </a:prstGeom>
        </p:spPr>
        <p:txBody>
          <a:bodyPr wrap="square" lIns="0" tIns="15240" rIns="0" bIns="0" rtlCol="0" vert="horz">
            <a:spAutoFit/>
          </a:bodyPr>
          <a:lstStyle/>
          <a:p>
            <a:pPr marL="12700">
              <a:lnSpc>
                <a:spcPct val="100000"/>
              </a:lnSpc>
              <a:spcBef>
                <a:spcPts val="120"/>
              </a:spcBef>
            </a:pPr>
            <a:r>
              <a:rPr dirty="0" sz="5300" spc="-550">
                <a:solidFill>
                  <a:srgbClr val="FFFFFF"/>
                </a:solidFill>
                <a:latin typeface="Arial Black"/>
                <a:cs typeface="Arial Black"/>
              </a:rPr>
              <a:t>this</a:t>
            </a:r>
            <a:r>
              <a:rPr dirty="0" sz="5300" spc="-140">
                <a:solidFill>
                  <a:srgbClr val="FFFFFF"/>
                </a:solidFill>
                <a:latin typeface="Arial Black"/>
                <a:cs typeface="Arial Black"/>
              </a:rPr>
              <a:t> </a:t>
            </a:r>
            <a:r>
              <a:rPr dirty="0" sz="5300" spc="-585">
                <a:solidFill>
                  <a:srgbClr val="FFFFFF"/>
                </a:solidFill>
                <a:latin typeface="Arial Black"/>
                <a:cs typeface="Arial Black"/>
              </a:rPr>
              <a:t>session</a:t>
            </a:r>
            <a:endParaRPr sz="5300">
              <a:latin typeface="Arial Black"/>
              <a:cs typeface="Arial Black"/>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NHS PROMs: what is actually in it</a:t>
            </a:r>
          </a:p>
        </p:txBody>
      </p:sp>
      <p:sp>
        <p:nvSpPr>
          <p:cNvPr id="3" name="TextBox 2"/>
          <p:cNvSpPr txBox="1"/>
          <p:nvPr/>
        </p:nvSpPr>
        <p:spPr>
          <a:xfrm>
            <a:off x="817473" y="1124712"/>
            <a:ext cx="10557662" cy="310896"/>
          </a:xfrm>
          <a:prstGeom prst="rect">
            <a:avLst/>
          </a:prstGeom>
          <a:noFill/>
        </p:spPr>
        <p:txBody>
          <a:bodyPr wrap="square" lIns="0" rIns="0" tIns="0" bIns="0" anchor="t">
            <a:spAutoFit/>
          </a:bodyPr>
          <a:lstStyle/>
          <a:p>
            <a:pPr>
              <a:lnSpc>
                <a:spcPct val="115000"/>
              </a:lnSpc>
              <a:spcAft>
                <a:spcPts val="600"/>
              </a:spcAft>
            </a:pPr>
            <a:r>
              <a:rPr sz="1300" b="0" i="0">
                <a:solidFill>
                  <a:srgbClr val="6B7370"/>
                </a:solidFill>
                <a:latin typeface="Arial"/>
              </a:rPr>
              <a:t>National, anonymised at source, already public-sector governed — every interesting problem is downstream of that.</a:t>
            </a:r>
          </a:p>
        </p:txBody>
      </p:sp>
      <p:sp>
        <p:nvSpPr>
          <p:cNvPr id="4" name="TextBox 3"/>
          <p:cNvSpPr txBox="1"/>
          <p:nvPr/>
        </p:nvSpPr>
        <p:spPr>
          <a:xfrm>
            <a:off x="817473" y="1792224"/>
            <a:ext cx="4937760" cy="301752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THE DATA</a:t>
            </a:r>
          </a:p>
          <a:p>
            <a:pPr>
              <a:lnSpc>
                <a:spcPct val="128000"/>
              </a:lnSpc>
              <a:spcAft>
                <a:spcPts val="1000"/>
              </a:spcAft>
            </a:pPr>
            <a:r>
              <a:rPr sz="1400" b="0" i="0">
                <a:solidFill>
                  <a:srgbClr val="16211E"/>
                </a:solidFill>
                <a:latin typeface="Arial"/>
              </a:rPr>
              <a:t>One row per patient episode, knee replacement cohort, three collection years.</a:t>
            </a:r>
          </a:p>
          <a:p>
            <a:pPr>
              <a:lnSpc>
                <a:spcPct val="125000"/>
              </a:lnSpc>
              <a:spcAft>
                <a:spcPts val="900"/>
              </a:spcAft>
            </a:pPr>
            <a:r>
              <a:rPr sz="1400" b="0" i="0">
                <a:solidFill>
                  <a:srgbClr val="16211E"/>
                </a:solidFill>
                <a:latin typeface="Arial"/>
              </a:rPr>
              <a:t>Pre-operative questionnaire — Oxford Knee Score 0–48 with pain, function and ADL subscales; EQ-5D-3L; symptom period; previous surgery; living arrangements; mobility.</a:t>
            </a:r>
          </a:p>
          <a:p>
            <a:pPr>
              <a:lnSpc>
                <a:spcPct val="125000"/>
              </a:lnSpc>
              <a:spcAft>
                <a:spcPts val="900"/>
              </a:spcAft>
            </a:pPr>
            <a:r>
              <a:rPr sz="1400" b="0" i="0">
                <a:solidFill>
                  <a:srgbClr val="16211E"/>
                </a:solidFill>
                <a:latin typeface="Arial"/>
              </a:rPr>
              <a:t>Twelve comorbidity flags, and a provider dimension joined in: ODS code, university / independent status.</a:t>
            </a:r>
          </a:p>
          <a:p>
            <a:pPr>
              <a:lnSpc>
                <a:spcPct val="125000"/>
              </a:lnSpc>
              <a:spcAft>
                <a:spcPts val="900"/>
              </a:spcAft>
            </a:pPr>
            <a:r>
              <a:rPr sz="1400" b="0" i="0">
                <a:solidFill>
                  <a:srgbClr val="16211E"/>
                </a:solidFill>
                <a:latin typeface="Arial"/>
              </a:rPr>
              <a:t>Post-operative OKS at six months — when the patient returns the questionnaire.</a:t>
            </a:r>
          </a:p>
        </p:txBody>
      </p:sp>
      <p:sp>
        <p:nvSpPr>
          <p:cNvPr id="5" name="Rectangle 4"/>
          <p:cNvSpPr/>
          <p:nvPr/>
        </p:nvSpPr>
        <p:spPr>
          <a:xfrm>
            <a:off x="5742432" y="1792224"/>
            <a:ext cx="10972" cy="2834640"/>
          </a:xfrm>
          <a:prstGeom prst="rect">
            <a:avLst/>
          </a:prstGeom>
          <a:solidFill>
            <a:srgbClr val="D6D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0" y="1792224"/>
            <a:ext cx="5340096" cy="301752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THE PREDICTION</a:t>
            </a:r>
          </a:p>
          <a:p>
            <a:pPr>
              <a:lnSpc>
                <a:spcPct val="125000"/>
              </a:lnSpc>
              <a:spcAft>
                <a:spcPts val="900"/>
              </a:spcAft>
            </a:pPr>
            <a:r>
              <a:rPr sz="1400" b="0" i="0">
                <a:solidFill>
                  <a:srgbClr val="16211E"/>
                </a:solidFill>
                <a:latin typeface="Arial"/>
              </a:rPr>
              <a:t>Inputs are pre-operative only — everything knowable before the decision to operate.</a:t>
            </a:r>
          </a:p>
          <a:p>
            <a:pPr>
              <a:lnSpc>
                <a:spcPct val="130000"/>
              </a:lnSpc>
              <a:spcAft>
                <a:spcPts val="800"/>
              </a:spcAft>
            </a:pPr>
            <a:r>
              <a:rPr sz="1300" b="0" i="0">
                <a:solidFill>
                  <a:srgbClr val="003E34"/>
                </a:solidFill>
                <a:latin typeface="Consolas"/>
              </a:rPr>
              <a:t>oks_delta = oks_t1 − oks_t0</a:t>
            </a:r>
          </a:p>
          <a:p>
            <a:pPr>
              <a:lnSpc>
                <a:spcPct val="125000"/>
              </a:lnSpc>
              <a:spcAft>
                <a:spcPts val="900"/>
              </a:spcAft>
            </a:pPr>
            <a:r>
              <a:rPr sz="1400" b="0" i="0">
                <a:solidFill>
                  <a:srgbClr val="16211E"/>
                </a:solidFill>
                <a:latin typeface="Arial"/>
              </a:rPr>
              <a:t>The positive class is the BAD outcome: the patient who does not meaningfully improve. That is the class worth detecting, and it is the minority one.</a:t>
            </a:r>
          </a:p>
          <a:p>
            <a:pPr>
              <a:lnSpc>
                <a:spcPct val="125000"/>
              </a:lnSpc>
              <a:spcAft>
                <a:spcPts val="900"/>
              </a:spcAft>
            </a:pPr>
            <a:r>
              <a:rPr sz="1400" b="0" i="0">
                <a:solidFill>
                  <a:srgbClr val="16211E"/>
                </a:solidFill>
                <a:latin typeface="Arial"/>
              </a:rPr>
              <a:t>~45 features after encoding.</a:t>
            </a:r>
          </a:p>
        </p:txBody>
      </p:sp>
      <p:sp>
        <p:nvSpPr>
          <p:cNvPr id="7" name="TextBox 6"/>
          <p:cNvSpPr txBox="1"/>
          <p:nvPr/>
        </p:nvSpPr>
        <p:spPr>
          <a:xfrm>
            <a:off x="817473" y="5001768"/>
            <a:ext cx="2488539" cy="960120"/>
          </a:xfrm>
          <a:prstGeom prst="rect">
            <a:avLst/>
          </a:prstGeom>
          <a:noFill/>
        </p:spPr>
        <p:txBody>
          <a:bodyPr wrap="square" lIns="0" rIns="0" tIns="0" bIns="0">
            <a:spAutoFit/>
          </a:bodyPr>
          <a:lstStyle/>
          <a:p>
            <a:pPr>
              <a:spcAft>
                <a:spcPts val="300"/>
              </a:spcAft>
            </a:pPr>
            <a:r>
              <a:rPr sz="3000" b="1">
                <a:solidFill>
                  <a:srgbClr val="003E34"/>
                </a:solidFill>
                <a:latin typeface="Arial"/>
              </a:rPr>
              <a:t>139,236</a:t>
            </a:r>
          </a:p>
          <a:p>
            <a:pPr>
              <a:lnSpc>
                <a:spcPct val="120000"/>
              </a:lnSpc>
            </a:pPr>
            <a:r>
              <a:rPr sz="1150">
                <a:solidFill>
                  <a:srgbClr val="6B7370"/>
                </a:solidFill>
                <a:latin typeface="Arial"/>
              </a:rPr>
              <a:t>knee episodes, 2016/17 – 2018/19</a:t>
            </a:r>
          </a:p>
        </p:txBody>
      </p:sp>
      <p:sp>
        <p:nvSpPr>
          <p:cNvPr id="8" name="Rectangle 7"/>
          <p:cNvSpPr/>
          <p:nvPr/>
        </p:nvSpPr>
        <p:spPr>
          <a:xfrm>
            <a:off x="3397453" y="5074920"/>
            <a:ext cx="10972" cy="813816"/>
          </a:xfrm>
          <a:prstGeom prst="rect">
            <a:avLst/>
          </a:prstGeom>
          <a:solidFill>
            <a:srgbClr val="D6D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7181" y="5001768"/>
            <a:ext cx="2488539" cy="960120"/>
          </a:xfrm>
          <a:prstGeom prst="rect">
            <a:avLst/>
          </a:prstGeom>
          <a:noFill/>
        </p:spPr>
        <p:txBody>
          <a:bodyPr wrap="square" lIns="0" rIns="0" tIns="0" bIns="0">
            <a:spAutoFit/>
          </a:bodyPr>
          <a:lstStyle/>
          <a:p>
            <a:pPr>
              <a:spcAft>
                <a:spcPts val="300"/>
              </a:spcAft>
            </a:pPr>
            <a:r>
              <a:rPr sz="3000" b="1">
                <a:solidFill>
                  <a:srgbClr val="003E34"/>
                </a:solidFill>
                <a:latin typeface="Arial"/>
              </a:rPr>
              <a:t>46,412</a:t>
            </a:r>
          </a:p>
          <a:p>
            <a:pPr>
              <a:lnSpc>
                <a:spcPct val="120000"/>
              </a:lnSpc>
            </a:pPr>
            <a:r>
              <a:rPr sz="1150">
                <a:solidFill>
                  <a:srgbClr val="6B7370"/>
                </a:solidFill>
                <a:latin typeface="Arial"/>
              </a:rPr>
              <a:t>procedures a year</a:t>
            </a:r>
          </a:p>
        </p:txBody>
      </p:sp>
      <p:sp>
        <p:nvSpPr>
          <p:cNvPr id="10" name="Rectangle 9"/>
          <p:cNvSpPr/>
          <p:nvPr/>
        </p:nvSpPr>
        <p:spPr>
          <a:xfrm>
            <a:off x="6087160" y="5074920"/>
            <a:ext cx="10972" cy="813816"/>
          </a:xfrm>
          <a:prstGeom prst="rect">
            <a:avLst/>
          </a:prstGeom>
          <a:solidFill>
            <a:srgbClr val="D6D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6888" y="5001768"/>
            <a:ext cx="2488539" cy="960120"/>
          </a:xfrm>
          <a:prstGeom prst="rect">
            <a:avLst/>
          </a:prstGeom>
          <a:noFill/>
        </p:spPr>
        <p:txBody>
          <a:bodyPr wrap="square" lIns="0" rIns="0" tIns="0" bIns="0">
            <a:spAutoFit/>
          </a:bodyPr>
          <a:lstStyle/>
          <a:p>
            <a:pPr>
              <a:spcAft>
                <a:spcPts val="300"/>
              </a:spcAft>
            </a:pPr>
            <a:r>
              <a:rPr sz="3000" b="1">
                <a:solidFill>
                  <a:srgbClr val="003E34"/>
                </a:solidFill>
                <a:latin typeface="Arial"/>
              </a:rPr>
              <a:t>~45</a:t>
            </a:r>
          </a:p>
          <a:p>
            <a:pPr>
              <a:lnSpc>
                <a:spcPct val="120000"/>
              </a:lnSpc>
            </a:pPr>
            <a:r>
              <a:rPr sz="1150">
                <a:solidFill>
                  <a:srgbClr val="6B7370"/>
                </a:solidFill>
                <a:latin typeface="Arial"/>
              </a:rPr>
              <a:t>features after encoding</a:t>
            </a:r>
          </a:p>
        </p:txBody>
      </p:sp>
      <p:sp>
        <p:nvSpPr>
          <p:cNvPr id="12" name="Rectangle 11"/>
          <p:cNvSpPr/>
          <p:nvPr/>
        </p:nvSpPr>
        <p:spPr>
          <a:xfrm>
            <a:off x="8776868" y="5074920"/>
            <a:ext cx="10972" cy="813816"/>
          </a:xfrm>
          <a:prstGeom prst="rect">
            <a:avLst/>
          </a:prstGeom>
          <a:solidFill>
            <a:srgbClr val="D6D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6596" y="5001768"/>
            <a:ext cx="2488539" cy="960120"/>
          </a:xfrm>
          <a:prstGeom prst="rect">
            <a:avLst/>
          </a:prstGeom>
          <a:noFill/>
        </p:spPr>
        <p:txBody>
          <a:bodyPr wrap="square" lIns="0" rIns="0" tIns="0" bIns="0">
            <a:spAutoFit/>
          </a:bodyPr>
          <a:lstStyle/>
          <a:p>
            <a:pPr>
              <a:spcAft>
                <a:spcPts val="300"/>
              </a:spcAft>
            </a:pPr>
            <a:r>
              <a:rPr sz="3000" b="1">
                <a:solidFill>
                  <a:srgbClr val="003E34"/>
                </a:solidFill>
                <a:latin typeface="Arial"/>
              </a:rPr>
              <a:t>17.1%</a:t>
            </a:r>
          </a:p>
          <a:p>
            <a:pPr>
              <a:lnSpc>
                <a:spcPct val="120000"/>
              </a:lnSpc>
            </a:pPr>
            <a:r>
              <a:rPr sz="1150">
                <a:solidFill>
                  <a:srgbClr val="6B7370"/>
                </a:solidFill>
                <a:latin typeface="Arial"/>
              </a:rPr>
              <a:t>do not meaningfully improve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Why 7 points?</a:t>
            </a:r>
          </a:p>
        </p:txBody>
      </p:sp>
      <p:sp>
        <p:nvSpPr>
          <p:cNvPr id="3" name="TextBox 2"/>
          <p:cNvSpPr txBox="1"/>
          <p:nvPr/>
        </p:nvSpPr>
        <p:spPr>
          <a:xfrm>
            <a:off x="817473" y="1124712"/>
            <a:ext cx="10557662" cy="310896"/>
          </a:xfrm>
          <a:prstGeom prst="rect">
            <a:avLst/>
          </a:prstGeom>
          <a:noFill/>
        </p:spPr>
        <p:txBody>
          <a:bodyPr wrap="square" lIns="0" rIns="0" tIns="0" bIns="0" anchor="t">
            <a:spAutoFit/>
          </a:bodyPr>
          <a:lstStyle/>
          <a:p>
            <a:pPr>
              <a:lnSpc>
                <a:spcPct val="115000"/>
              </a:lnSpc>
              <a:spcAft>
                <a:spcPts val="600"/>
              </a:spcAft>
            </a:pPr>
            <a:r>
              <a:rPr sz="1300" b="0" i="0">
                <a:solidFill>
                  <a:srgbClr val="6B7370"/>
                </a:solidFill>
                <a:latin typeface="Arial"/>
              </a:rPr>
              <a:t>The target is a clinical decision, not a modelling one — so it is defended before any model appears.</a:t>
            </a:r>
          </a:p>
        </p:txBody>
      </p:sp>
      <p:pic>
        <p:nvPicPr>
          <p:cNvPr id="4" name="Picture 3" descr="v7_mcid.png"/>
          <p:cNvPicPr>
            <a:picLocks noChangeAspect="1"/>
          </p:cNvPicPr>
          <p:nvPr/>
        </p:nvPicPr>
        <p:blipFill>
          <a:blip r:embed="rId2"/>
          <a:stretch>
            <a:fillRect/>
          </a:stretch>
        </p:blipFill>
        <p:spPr>
          <a:xfrm>
            <a:off x="925786" y="1499616"/>
            <a:ext cx="10341037" cy="3520440"/>
          </a:xfrm>
          <a:prstGeom prst="rect">
            <a:avLst/>
          </a:prstGeom>
        </p:spPr>
      </p:pic>
      <p:sp>
        <p:nvSpPr>
          <p:cNvPr id="5" name="TextBox 4"/>
          <p:cNvSpPr txBox="1"/>
          <p:nvPr/>
        </p:nvSpPr>
        <p:spPr>
          <a:xfrm>
            <a:off x="817473" y="5093208"/>
            <a:ext cx="5029200" cy="914400"/>
          </a:xfrm>
          <a:prstGeom prst="rect">
            <a:avLst/>
          </a:prstGeom>
          <a:noFill/>
        </p:spPr>
        <p:txBody>
          <a:bodyPr wrap="square" lIns="0" rIns="0" tIns="0" bIns="0" anchor="t">
            <a:spAutoFit/>
          </a:bodyPr>
          <a:lstStyle/>
          <a:p>
            <a:pPr>
              <a:lnSpc>
                <a:spcPct val="128000"/>
              </a:lnSpc>
              <a:spcAft>
                <a:spcPts val="1000"/>
              </a:spcAft>
            </a:pPr>
            <a:r>
              <a:rPr sz="1400" b="0" i="0">
                <a:solidFill>
                  <a:srgbClr val="16211E"/>
                </a:solidFill>
                <a:latin typeface="Arial"/>
              </a:rPr>
              <a:t>The Oxford Knee Score runs 0–48. A 2-point rise is real arithmetic and no change the patient can feel. The minimal clinically important difference — the smallest change a patient notices — is around 7 points.</a:t>
            </a:r>
          </a:p>
        </p:txBody>
      </p:sp>
      <p:sp>
        <p:nvSpPr>
          <p:cNvPr id="6" name="TextBox 5"/>
          <p:cNvSpPr txBox="1"/>
          <p:nvPr/>
        </p:nvSpPr>
        <p:spPr>
          <a:xfrm>
            <a:off x="6309360" y="5093208"/>
            <a:ext cx="5065776" cy="914400"/>
          </a:xfrm>
          <a:prstGeom prst="rect">
            <a:avLst/>
          </a:prstGeom>
          <a:noFill/>
        </p:spPr>
        <p:txBody>
          <a:bodyPr wrap="square" lIns="0" rIns="0" tIns="0" bIns="0" anchor="t">
            <a:spAutoFit/>
          </a:bodyPr>
          <a:lstStyle/>
          <a:p>
            <a:pPr>
              <a:lnSpc>
                <a:spcPct val="128000"/>
              </a:lnSpc>
              <a:spcAft>
                <a:spcPts val="1000"/>
              </a:spcAft>
            </a:pPr>
            <a:r>
              <a:rPr sz="1400" b="0" i="0">
                <a:solidFill>
                  <a:srgbClr val="16211E"/>
                </a:solidFill>
                <a:latin typeface="Arial"/>
              </a:rPr>
              <a:t>Mean gain falls as the pre-operative score rises. The clinical rule of thumb — the worse they are, the more they need surgery — is roughly the opposite of what predicts a poor outcome.</a:t>
            </a:r>
          </a:p>
        </p:txBody>
      </p:sp>
      <p:sp>
        <p:nvSpPr>
          <p:cNvPr id="7" name="TextBox 6"/>
          <p:cNvSpPr txBox="1"/>
          <p:nvPr/>
        </p:nvSpPr>
        <p:spPr>
          <a:xfrm>
            <a:off x="817473" y="5852160"/>
            <a:ext cx="10557662" cy="274320"/>
          </a:xfrm>
          <a:prstGeom prst="rect">
            <a:avLst/>
          </a:prstGeom>
          <a:noFill/>
        </p:spPr>
        <p:txBody>
          <a:bodyPr wrap="square" lIns="0" rIns="0" tIns="0" bIns="0" anchor="t">
            <a:spAutoFit/>
          </a:bodyPr>
          <a:lstStyle/>
          <a:p>
            <a:pPr>
              <a:lnSpc>
                <a:spcPct val="125000"/>
              </a:lnSpc>
              <a:spcAft>
                <a:spcPts val="800"/>
              </a:spcAft>
            </a:pPr>
            <a:r>
              <a:rPr sz="1200" b="0" i="0">
                <a:solidFill>
                  <a:srgbClr val="6B7370"/>
                </a:solidFill>
                <a:latin typeface="Arial"/>
              </a:rPr>
              <a:t>31_data_exploration §2 · n = 135,051 labelled episodes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Knee, not hip — the cohort was chosen, not assumed</a:t>
            </a:r>
          </a:p>
        </p:txBody>
      </p:sp>
      <p:pic>
        <p:nvPicPr>
          <p:cNvPr id="3" name="Picture 2" descr="v13_hipknee.png"/>
          <p:cNvPicPr>
            <a:picLocks noChangeAspect="1"/>
          </p:cNvPicPr>
          <p:nvPr/>
        </p:nvPicPr>
        <p:blipFill>
          <a:blip r:embed="rId2"/>
          <a:stretch>
            <a:fillRect/>
          </a:stretch>
        </p:blipFill>
        <p:spPr>
          <a:xfrm>
            <a:off x="817473" y="1931042"/>
            <a:ext cx="6766560" cy="3215370"/>
          </a:xfrm>
          <a:prstGeom prst="rect">
            <a:avLst/>
          </a:prstGeom>
        </p:spPr>
      </p:pic>
      <p:sp>
        <p:nvSpPr>
          <p:cNvPr id="4" name="TextBox 3"/>
          <p:cNvSpPr txBox="1"/>
          <p:nvPr/>
        </p:nvSpPr>
        <p:spPr>
          <a:xfrm>
            <a:off x="7818120" y="1938528"/>
            <a:ext cx="3557016" cy="329184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WHY IT MATTERS</a:t>
            </a:r>
          </a:p>
          <a:p>
            <a:pPr>
              <a:lnSpc>
                <a:spcPct val="128000"/>
              </a:lnSpc>
              <a:spcAft>
                <a:spcPts val="1000"/>
              </a:spcAft>
            </a:pPr>
            <a:r>
              <a:rPr sz="1400" b="0" i="0">
                <a:solidFill>
                  <a:srgbClr val="16211E"/>
                </a:solidFill>
                <a:latin typeface="Arial"/>
              </a:rPr>
              <a:t>Hip replacement delivers larger and more reliable gains. Only 8.8% of hip patients fall at or below the MCID, against 17.1% for knee.</a:t>
            </a:r>
          </a:p>
          <a:p>
            <a:pPr>
              <a:lnSpc>
                <a:spcPct val="128000"/>
              </a:lnSpc>
              <a:spcAft>
                <a:spcPts val="1000"/>
              </a:spcAft>
            </a:pPr>
            <a:r>
              <a:rPr sz="1400" b="0" i="0">
                <a:solidFill>
                  <a:srgbClr val="16211E"/>
                </a:solidFill>
                <a:latin typeface="Arial"/>
              </a:rPr>
              <a:t>That is precisely why knee is the more interesting prediction problem: there is a real population of patients for whom a technically successful operation does not deliver anything they can feel.</a:t>
            </a:r>
          </a:p>
          <a:p>
            <a:pPr>
              <a:lnSpc>
                <a:spcPct val="125000"/>
              </a:lnSpc>
              <a:spcAft>
                <a:spcPts val="800"/>
              </a:spcAft>
            </a:pPr>
            <a:r>
              <a:rPr sz="1200" b="0" i="0">
                <a:solidFill>
                  <a:srgbClr val="6B7370"/>
                </a:solidFill>
                <a:latin typeface="Arial"/>
              </a:rPr>
              <a:t>The original exploration compared both before committing. Worth showing — it demonstrates the cohort was a decision.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Imbalance: why accuracy is the wrong metric</a:t>
            </a:r>
          </a:p>
        </p:txBody>
      </p:sp>
      <p:pic>
        <p:nvPicPr>
          <p:cNvPr id="3" name="Picture 2" descr="v8_balance.png"/>
          <p:cNvPicPr>
            <a:picLocks noChangeAspect="1"/>
          </p:cNvPicPr>
          <p:nvPr/>
        </p:nvPicPr>
        <p:blipFill>
          <a:blip r:embed="rId2"/>
          <a:stretch>
            <a:fillRect/>
          </a:stretch>
        </p:blipFill>
        <p:spPr>
          <a:xfrm>
            <a:off x="2246472" y="1527048"/>
            <a:ext cx="7699663" cy="1783080"/>
          </a:xfrm>
          <a:prstGeom prst="rect">
            <a:avLst/>
          </a:prstGeom>
        </p:spPr>
      </p:pic>
      <p:sp>
        <p:nvSpPr>
          <p:cNvPr id="4" name="Rounded Rectangle 3"/>
          <p:cNvSpPr/>
          <p:nvPr/>
        </p:nvSpPr>
        <p:spPr>
          <a:xfrm>
            <a:off x="817473" y="3630168"/>
            <a:ext cx="3346704" cy="2057400"/>
          </a:xfrm>
          <a:prstGeom prst="roundRect">
            <a:avLst>
              <a:gd name="adj" fmla="val 6000"/>
            </a:avLst>
          </a:prstGeom>
          <a:solidFill>
            <a:srgbClr val="FFFFFF"/>
          </a:solidFill>
          <a:ln w="12700">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36929" y="3849624"/>
            <a:ext cx="2907792" cy="1618488"/>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THE TRAP</a:t>
            </a:r>
          </a:p>
          <a:p>
            <a:pPr>
              <a:lnSpc>
                <a:spcPct val="128000"/>
              </a:lnSpc>
              <a:spcAft>
                <a:spcPts val="1000"/>
              </a:spcAft>
            </a:pPr>
            <a:r>
              <a:rPr sz="1400" b="0" i="0">
                <a:solidFill>
                  <a:srgbClr val="16211E"/>
                </a:solidFill>
                <a:latin typeface="Arial"/>
              </a:rPr>
              <a:t>A model that says “good outcome” to everybody scores 82.9% accuracy — and finds nobody who needs pre-operative optimisation.</a:t>
            </a:r>
          </a:p>
        </p:txBody>
      </p:sp>
      <p:sp>
        <p:nvSpPr>
          <p:cNvPr id="6" name="Rounded Rectangle 5"/>
          <p:cNvSpPr/>
          <p:nvPr/>
        </p:nvSpPr>
        <p:spPr>
          <a:xfrm>
            <a:off x="4420209" y="3630168"/>
            <a:ext cx="3346704" cy="2057400"/>
          </a:xfrm>
          <a:prstGeom prst="roundRect">
            <a:avLst>
              <a:gd name="adj" fmla="val 6000"/>
            </a:avLst>
          </a:prstGeom>
          <a:solidFill>
            <a:srgbClr val="FFFFFF"/>
          </a:solidFill>
          <a:ln w="12700">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639665" y="3849624"/>
            <a:ext cx="2907792" cy="1618488"/>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THE BASELINE TO BEAT</a:t>
            </a:r>
          </a:p>
          <a:p>
            <a:pPr>
              <a:lnSpc>
                <a:spcPct val="128000"/>
              </a:lnSpc>
              <a:spcAft>
                <a:spcPts val="1000"/>
              </a:spcAft>
            </a:pPr>
            <a:r>
              <a:rPr sz="1400" b="0" i="0">
                <a:solidFill>
                  <a:srgbClr val="16211E"/>
                </a:solidFill>
                <a:latin typeface="Arial"/>
              </a:rPr>
              <a:t>No-skill average precision is 0.171 — the prevalence. Every PR number in this talk is measured against that, never against 50%.</a:t>
            </a:r>
          </a:p>
        </p:txBody>
      </p:sp>
      <p:sp>
        <p:nvSpPr>
          <p:cNvPr id="8" name="Rounded Rectangle 7"/>
          <p:cNvSpPr/>
          <p:nvPr/>
        </p:nvSpPr>
        <p:spPr>
          <a:xfrm>
            <a:off x="8022945" y="3630168"/>
            <a:ext cx="3346704" cy="2057400"/>
          </a:xfrm>
          <a:prstGeom prst="roundRect">
            <a:avLst>
              <a:gd name="adj" fmla="val 6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42401" y="3849624"/>
            <a:ext cx="2907792" cy="1618488"/>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THE CONSEQUENCE</a:t>
            </a:r>
          </a:p>
          <a:p>
            <a:pPr>
              <a:lnSpc>
                <a:spcPct val="128000"/>
              </a:lnSpc>
              <a:spcAft>
                <a:spcPts val="1000"/>
              </a:spcAft>
            </a:pPr>
            <a:r>
              <a:rPr sz="1400" b="0" i="0">
                <a:solidFill>
                  <a:srgbClr val="16211E"/>
                </a:solidFill>
                <a:latin typeface="Arial"/>
              </a:rPr>
              <a:t>Precision–recall, never accuracy — and precision over recall, deliberately. Telling a patient surgery may not help is a claim that has to be right.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Two missingness mechanisms, two treatments</a:t>
            </a:r>
          </a:p>
        </p:txBody>
      </p:sp>
      <p:pic>
        <p:nvPicPr>
          <p:cNvPr id="3" name="Picture 2" descr="v9_missing.png"/>
          <p:cNvPicPr>
            <a:picLocks noChangeAspect="1"/>
          </p:cNvPicPr>
          <p:nvPr/>
        </p:nvPicPr>
        <p:blipFill>
          <a:blip r:embed="rId2"/>
          <a:stretch>
            <a:fillRect/>
          </a:stretch>
        </p:blipFill>
        <p:spPr>
          <a:xfrm>
            <a:off x="817473" y="1959076"/>
            <a:ext cx="6858000" cy="3250743"/>
          </a:xfrm>
          <a:prstGeom prst="rect">
            <a:avLst/>
          </a:prstGeom>
        </p:spPr>
      </p:pic>
      <p:sp>
        <p:nvSpPr>
          <p:cNvPr id="4" name="TextBox 3"/>
          <p:cNvSpPr txBox="1"/>
          <p:nvPr/>
        </p:nvSpPr>
        <p:spPr>
          <a:xfrm>
            <a:off x="7955279" y="1664208"/>
            <a:ext cx="3419856" cy="402336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NHS DISCLOSURE CONTROL</a:t>
            </a:r>
          </a:p>
          <a:p>
            <a:pPr>
              <a:lnSpc>
                <a:spcPct val="135000"/>
              </a:lnSpc>
              <a:spcAft>
                <a:spcPts val="1000"/>
              </a:spcAft>
            </a:pPr>
            <a:r>
              <a:rPr sz="1400" b="0" i="1">
                <a:solidFill>
                  <a:srgbClr val="003E34"/>
                </a:solidFill>
                <a:latin typeface="Arial"/>
              </a:rPr>
              <a:t>“Where there are between 1 and 5 records for a particular combination of ageband, sex, provider and procedure, the ageband and sex have been suppressed and replaced with an asterisk.”</a:t>
            </a:r>
          </a:p>
          <a:p>
            <a:pPr>
              <a:lnSpc>
                <a:spcPct val="125000"/>
              </a:lnSpc>
              <a:spcAft>
                <a:spcPts val="800"/>
              </a:spcAft>
            </a:pPr>
            <a:r>
              <a:rPr sz="1200" b="0" i="0">
                <a:solidFill>
                  <a:srgbClr val="6B7370"/>
                </a:solidFill>
                <a:latin typeface="Arial"/>
              </a:rPr>
              <a:t>CSV Footnotes 1819 Finalised.pdf</a:t>
            </a:r>
          </a:p>
          <a:p>
            <a:pPr>
              <a:lnSpc>
                <a:spcPct val="128000"/>
              </a:lnSpc>
              <a:spcAft>
                <a:spcPts val="1000"/>
              </a:spcAft>
            </a:pPr>
            <a:r>
              <a:rPr sz="1400" b="0" i="0">
                <a:solidFill>
                  <a:srgbClr val="16211E"/>
                </a:solidFill>
                <a:latin typeface="Arial"/>
              </a:rPr>
              <a:t>Age band and sex are missing on exactly the same 9,402 rows — one rule, not two gaps. Imputing them would mean training a model to reconstruct the value NHS hid to protect that patient, then serving clinical decisions on the reconstruction.</a:t>
            </a:r>
          </a:p>
          <a:p>
            <a:pPr>
              <a:lnSpc>
                <a:spcPct val="125000"/>
              </a:lnSpc>
              <a:spcAft>
                <a:spcPts val="1000"/>
              </a:spcAft>
            </a:pPr>
            <a:r>
              <a:rPr sz="1400" b="1" i="0">
                <a:solidFill>
                  <a:srgbClr val="BB9F45"/>
                </a:solidFill>
                <a:latin typeface="Arial"/>
              </a:rPr>
              <a:t>Impute questionnaire non-response. Never impute a protected characteristic.</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The sentinel trap</a:t>
            </a:r>
          </a:p>
        </p:txBody>
      </p:sp>
      <p:pic>
        <p:nvPicPr>
          <p:cNvPr id="3" name="Picture 2" descr="p_sentinel.png"/>
          <p:cNvPicPr>
            <a:picLocks noChangeAspect="1"/>
          </p:cNvPicPr>
          <p:nvPr/>
        </p:nvPicPr>
        <p:blipFill>
          <a:blip r:embed="rId2"/>
          <a:stretch>
            <a:fillRect/>
          </a:stretch>
        </p:blipFill>
        <p:spPr>
          <a:xfrm>
            <a:off x="2018190" y="1435608"/>
            <a:ext cx="8156228" cy="4480560"/>
          </a:xfrm>
          <a:prstGeom prst="rect">
            <a:avLst/>
          </a:prstGeom>
        </p:spPr>
      </p:pic>
      <p:sp>
        <p:nvSpPr>
          <p:cNvPr id="4" name="TextBox 3"/>
          <p:cNvSpPr txBox="1"/>
          <p:nvPr/>
        </p:nvSpPr>
        <p:spPr>
          <a:xfrm>
            <a:off x="817473" y="5852160"/>
            <a:ext cx="10557662" cy="274320"/>
          </a:xfrm>
          <a:prstGeom prst="rect">
            <a:avLst/>
          </a:prstGeom>
          <a:noFill/>
        </p:spPr>
        <p:txBody>
          <a:bodyPr wrap="square" lIns="0" rIns="0" tIns="0" bIns="0" anchor="t">
            <a:spAutoFit/>
          </a:bodyPr>
          <a:lstStyle/>
          <a:p>
            <a:pPr>
              <a:lnSpc>
                <a:spcPct val="125000"/>
              </a:lnSpc>
              <a:spcAft>
                <a:spcPts val="800"/>
              </a:spcAft>
            </a:pPr>
            <a:r>
              <a:rPr sz="1200" b="0" i="0">
                <a:solidFill>
                  <a:srgbClr val="6B7370"/>
                </a:solidFill>
                <a:latin typeface="Arial"/>
              </a:rPr>
              <a:t>Decoded in 20_silver_clean, proven in 31_data_exploration §7 — the kind of domain detail no AutoML finds for you.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The label that was never there</a:t>
            </a:r>
          </a:p>
        </p:txBody>
      </p:sp>
      <p:sp>
        <p:nvSpPr>
          <p:cNvPr id="3" name="TextBox 2"/>
          <p:cNvSpPr txBox="1"/>
          <p:nvPr/>
        </p:nvSpPr>
        <p:spPr>
          <a:xfrm>
            <a:off x="817473" y="1124712"/>
            <a:ext cx="10557662" cy="310896"/>
          </a:xfrm>
          <a:prstGeom prst="rect">
            <a:avLst/>
          </a:prstGeom>
          <a:noFill/>
        </p:spPr>
        <p:txBody>
          <a:bodyPr wrap="square" lIns="0" rIns="0" tIns="0" bIns="0" anchor="t">
            <a:spAutoFit/>
          </a:bodyPr>
          <a:lstStyle/>
          <a:p>
            <a:pPr>
              <a:lnSpc>
                <a:spcPct val="115000"/>
              </a:lnSpc>
              <a:spcAft>
                <a:spcPts val="600"/>
              </a:spcAft>
            </a:pPr>
            <a:r>
              <a:rPr sz="1300" b="0" i="0">
                <a:solidFill>
                  <a:srgbClr val="6B7370"/>
                </a:solidFill>
                <a:latin typeface="Arial"/>
              </a:rPr>
              <a:t>The finding that changed the pipeline.</a:t>
            </a:r>
          </a:p>
        </p:txBody>
      </p:sp>
      <p:pic>
        <p:nvPicPr>
          <p:cNvPr id="4" name="Picture 3" descr="p_nb31.png"/>
          <p:cNvPicPr>
            <a:picLocks noChangeAspect="1"/>
          </p:cNvPicPr>
          <p:nvPr/>
        </p:nvPicPr>
        <p:blipFill>
          <a:blip r:embed="rId2"/>
          <a:stretch>
            <a:fillRect/>
          </a:stretch>
        </p:blipFill>
        <p:spPr>
          <a:xfrm>
            <a:off x="2306861" y="1463040"/>
            <a:ext cx="7578887" cy="3703320"/>
          </a:xfrm>
          <a:prstGeom prst="rect">
            <a:avLst/>
          </a:prstGeom>
        </p:spPr>
      </p:pic>
      <p:sp>
        <p:nvSpPr>
          <p:cNvPr id="5" name="TextBox 4"/>
          <p:cNvSpPr txBox="1"/>
          <p:nvPr/>
        </p:nvSpPr>
        <p:spPr>
          <a:xfrm>
            <a:off x="817473" y="5394960"/>
            <a:ext cx="10557662" cy="640080"/>
          </a:xfrm>
          <a:prstGeom prst="rect">
            <a:avLst/>
          </a:prstGeom>
          <a:noFill/>
        </p:spPr>
        <p:txBody>
          <a:bodyPr wrap="square" lIns="0" rIns="0" tIns="0" bIns="0" anchor="t">
            <a:spAutoFit/>
          </a:bodyPr>
          <a:lstStyle/>
          <a:p>
            <a:pPr>
              <a:lnSpc>
                <a:spcPct val="128000"/>
              </a:lnSpc>
              <a:spcAft>
                <a:spcPts val="1000"/>
              </a:spcAft>
            </a:pPr>
            <a:r>
              <a:rPr sz="1400" b="0" i="0">
                <a:solidFill>
                  <a:srgbClr val="16211E"/>
                </a:solidFill>
                <a:latin typeface="Arial"/>
              </a:rPr>
              <a:t>np.nan &gt; 7 evaluates to False, so every non-responder fell into the else branch and was labelled a poor outcome. Silent, and plausible-looking downstream. Gold now marks them has_label = false, and notebook 40 trains only on patients whose outcome is known.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Let's look at the data</a:t>
            </a:r>
          </a:p>
        </p:txBody>
      </p:sp>
      <p:sp>
        <p:nvSpPr>
          <p:cNvPr id="3" name="TextBox 2"/>
          <p:cNvSpPr txBox="1"/>
          <p:nvPr/>
        </p:nvSpPr>
        <p:spPr>
          <a:xfrm>
            <a:off x="817473" y="1124712"/>
            <a:ext cx="10557662" cy="310896"/>
          </a:xfrm>
          <a:prstGeom prst="rect">
            <a:avLst/>
          </a:prstGeom>
          <a:noFill/>
        </p:spPr>
        <p:txBody>
          <a:bodyPr wrap="square" lIns="0" rIns="0" tIns="0" bIns="0" anchor="t">
            <a:spAutoFit/>
          </a:bodyPr>
          <a:lstStyle/>
          <a:p>
            <a:pPr>
              <a:lnSpc>
                <a:spcPct val="115000"/>
              </a:lnSpc>
              <a:spcAft>
                <a:spcPts val="600"/>
              </a:spcAft>
            </a:pPr>
            <a:r>
              <a:rPr sz="1300" b="0" i="0">
                <a:solidFill>
                  <a:srgbClr val="6B7370"/>
                </a:solidFill>
                <a:latin typeface="Arial"/>
              </a:rPr>
              <a:t>Segment 3 · notebook 31_data_exploration, pre-run, in the 35_Exploration folder. Nothing in it writes.</a:t>
            </a:r>
          </a:p>
        </p:txBody>
      </p:sp>
      <p:sp>
        <p:nvSpPr>
          <p:cNvPr id="4" name="TextBox 3"/>
          <p:cNvSpPr txBox="1"/>
          <p:nvPr/>
        </p:nvSpPr>
        <p:spPr>
          <a:xfrm>
            <a:off x="817473" y="1801368"/>
            <a:ext cx="914400" cy="548640"/>
          </a:xfrm>
          <a:prstGeom prst="rect">
            <a:avLst/>
          </a:prstGeom>
          <a:noFill/>
        </p:spPr>
        <p:txBody>
          <a:bodyPr wrap="square" lIns="0" rIns="0" tIns="0" bIns="0" anchor="t">
            <a:spAutoFit/>
          </a:bodyPr>
          <a:lstStyle/>
          <a:p>
            <a:pPr>
              <a:lnSpc>
                <a:spcPct val="110000"/>
              </a:lnSpc>
              <a:spcAft>
                <a:spcPts val="800"/>
              </a:spcAft>
            </a:pPr>
            <a:r>
              <a:rPr sz="1900" b="1" i="0">
                <a:solidFill>
                  <a:srgbClr val="003E34"/>
                </a:solidFill>
                <a:latin typeface="Arial"/>
              </a:rPr>
              <a:t>01</a:t>
            </a:r>
          </a:p>
        </p:txBody>
      </p:sp>
      <p:sp>
        <p:nvSpPr>
          <p:cNvPr id="5" name="TextBox 4"/>
          <p:cNvSpPr txBox="1"/>
          <p:nvPr/>
        </p:nvSpPr>
        <p:spPr>
          <a:xfrm>
            <a:off x="1731873" y="1856232"/>
            <a:ext cx="5852160" cy="548640"/>
          </a:xfrm>
          <a:prstGeom prst="rect">
            <a:avLst/>
          </a:prstGeom>
          <a:noFill/>
        </p:spPr>
        <p:txBody>
          <a:bodyPr wrap="square" lIns="0" rIns="0" tIns="0" bIns="0" anchor="t">
            <a:spAutoFit/>
          </a:bodyPr>
          <a:lstStyle/>
          <a:p>
            <a:pPr>
              <a:lnSpc>
                <a:spcPct val="130000"/>
              </a:lnSpc>
              <a:spcAft>
                <a:spcPts val="1200"/>
              </a:spcAft>
            </a:pPr>
            <a:r>
              <a:rPr sz="1700" b="0" i="0">
                <a:solidFill>
                  <a:srgbClr val="16211E"/>
                </a:solidFill>
                <a:latin typeface="Arial"/>
              </a:rPr>
              <a:t>The 7-point rule and the delta distribution</a:t>
            </a:r>
          </a:p>
        </p:txBody>
      </p:sp>
      <p:sp>
        <p:nvSpPr>
          <p:cNvPr id="6" name="Rectangle 5"/>
          <p:cNvSpPr/>
          <p:nvPr/>
        </p:nvSpPr>
        <p:spPr>
          <a:xfrm>
            <a:off x="817473" y="2404872"/>
            <a:ext cx="6766560" cy="10972"/>
          </a:xfrm>
          <a:prstGeom prst="rect">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7473" y="2514600"/>
            <a:ext cx="914400" cy="548640"/>
          </a:xfrm>
          <a:prstGeom prst="rect">
            <a:avLst/>
          </a:prstGeom>
          <a:noFill/>
        </p:spPr>
        <p:txBody>
          <a:bodyPr wrap="square" lIns="0" rIns="0" tIns="0" bIns="0" anchor="t">
            <a:spAutoFit/>
          </a:bodyPr>
          <a:lstStyle/>
          <a:p>
            <a:pPr>
              <a:lnSpc>
                <a:spcPct val="110000"/>
              </a:lnSpc>
              <a:spcAft>
                <a:spcPts val="800"/>
              </a:spcAft>
            </a:pPr>
            <a:r>
              <a:rPr sz="1900" b="1" i="0">
                <a:solidFill>
                  <a:srgbClr val="003E34"/>
                </a:solidFill>
                <a:latin typeface="Arial"/>
              </a:rPr>
              <a:t>02</a:t>
            </a:r>
          </a:p>
        </p:txBody>
      </p:sp>
      <p:sp>
        <p:nvSpPr>
          <p:cNvPr id="8" name="TextBox 7"/>
          <p:cNvSpPr txBox="1"/>
          <p:nvPr/>
        </p:nvSpPr>
        <p:spPr>
          <a:xfrm>
            <a:off x="1731873" y="2569464"/>
            <a:ext cx="5852160" cy="548640"/>
          </a:xfrm>
          <a:prstGeom prst="rect">
            <a:avLst/>
          </a:prstGeom>
          <a:noFill/>
        </p:spPr>
        <p:txBody>
          <a:bodyPr wrap="square" lIns="0" rIns="0" tIns="0" bIns="0" anchor="t">
            <a:spAutoFit/>
          </a:bodyPr>
          <a:lstStyle/>
          <a:p>
            <a:pPr>
              <a:lnSpc>
                <a:spcPct val="130000"/>
              </a:lnSpc>
              <a:spcAft>
                <a:spcPts val="1200"/>
              </a:spcAft>
            </a:pPr>
            <a:r>
              <a:rPr sz="1700" b="0" i="0">
                <a:solidFill>
                  <a:srgbClr val="16211E"/>
                </a:solidFill>
                <a:latin typeface="Arial"/>
              </a:rPr>
              <a:t>Knee vs hip — why this cohort</a:t>
            </a:r>
          </a:p>
        </p:txBody>
      </p:sp>
      <p:sp>
        <p:nvSpPr>
          <p:cNvPr id="9" name="Rectangle 8"/>
          <p:cNvSpPr/>
          <p:nvPr/>
        </p:nvSpPr>
        <p:spPr>
          <a:xfrm>
            <a:off x="817473" y="3118104"/>
            <a:ext cx="6766560" cy="10972"/>
          </a:xfrm>
          <a:prstGeom prst="rect">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 y="3227832"/>
            <a:ext cx="914400" cy="548640"/>
          </a:xfrm>
          <a:prstGeom prst="rect">
            <a:avLst/>
          </a:prstGeom>
          <a:noFill/>
        </p:spPr>
        <p:txBody>
          <a:bodyPr wrap="square" lIns="0" rIns="0" tIns="0" bIns="0" anchor="t">
            <a:spAutoFit/>
          </a:bodyPr>
          <a:lstStyle/>
          <a:p>
            <a:pPr>
              <a:lnSpc>
                <a:spcPct val="110000"/>
              </a:lnSpc>
              <a:spcAft>
                <a:spcPts val="800"/>
              </a:spcAft>
            </a:pPr>
            <a:r>
              <a:rPr sz="1900" b="1" i="0">
                <a:solidFill>
                  <a:srgbClr val="003E34"/>
                </a:solidFill>
                <a:latin typeface="Arial"/>
              </a:rPr>
              <a:t>03</a:t>
            </a:r>
          </a:p>
        </p:txBody>
      </p:sp>
      <p:sp>
        <p:nvSpPr>
          <p:cNvPr id="11" name="TextBox 10"/>
          <p:cNvSpPr txBox="1"/>
          <p:nvPr/>
        </p:nvSpPr>
        <p:spPr>
          <a:xfrm>
            <a:off x="1731873" y="3282696"/>
            <a:ext cx="5852160" cy="548640"/>
          </a:xfrm>
          <a:prstGeom prst="rect">
            <a:avLst/>
          </a:prstGeom>
          <a:noFill/>
        </p:spPr>
        <p:txBody>
          <a:bodyPr wrap="square" lIns="0" rIns="0" tIns="0" bIns="0" anchor="t">
            <a:spAutoFit/>
          </a:bodyPr>
          <a:lstStyle/>
          <a:p>
            <a:pPr>
              <a:lnSpc>
                <a:spcPct val="130000"/>
              </a:lnSpc>
              <a:spcAft>
                <a:spcPts val="1200"/>
              </a:spcAft>
            </a:pPr>
            <a:r>
              <a:rPr sz="1700" b="0" i="0">
                <a:solidFill>
                  <a:srgbClr val="16211E"/>
                </a:solidFill>
                <a:latin typeface="Arial"/>
              </a:rPr>
              <a:t>Class balance, and the PR baseline</a:t>
            </a:r>
          </a:p>
        </p:txBody>
      </p:sp>
      <p:sp>
        <p:nvSpPr>
          <p:cNvPr id="12" name="Rectangle 11"/>
          <p:cNvSpPr/>
          <p:nvPr/>
        </p:nvSpPr>
        <p:spPr>
          <a:xfrm>
            <a:off x="817473" y="3831336"/>
            <a:ext cx="6766560" cy="10972"/>
          </a:xfrm>
          <a:prstGeom prst="rect">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 y="3941064"/>
            <a:ext cx="914400" cy="548640"/>
          </a:xfrm>
          <a:prstGeom prst="rect">
            <a:avLst/>
          </a:prstGeom>
          <a:noFill/>
        </p:spPr>
        <p:txBody>
          <a:bodyPr wrap="square" lIns="0" rIns="0" tIns="0" bIns="0" anchor="t">
            <a:spAutoFit/>
          </a:bodyPr>
          <a:lstStyle/>
          <a:p>
            <a:pPr>
              <a:lnSpc>
                <a:spcPct val="110000"/>
              </a:lnSpc>
              <a:spcAft>
                <a:spcPts val="800"/>
              </a:spcAft>
            </a:pPr>
            <a:r>
              <a:rPr sz="1900" b="1" i="0">
                <a:solidFill>
                  <a:srgbClr val="003E34"/>
                </a:solidFill>
                <a:latin typeface="Arial"/>
              </a:rPr>
              <a:t>04</a:t>
            </a:r>
          </a:p>
        </p:txBody>
      </p:sp>
      <p:sp>
        <p:nvSpPr>
          <p:cNvPr id="14" name="TextBox 13"/>
          <p:cNvSpPr txBox="1"/>
          <p:nvPr/>
        </p:nvSpPr>
        <p:spPr>
          <a:xfrm>
            <a:off x="1731873" y="3995928"/>
            <a:ext cx="5852160" cy="548640"/>
          </a:xfrm>
          <a:prstGeom prst="rect">
            <a:avLst/>
          </a:prstGeom>
          <a:noFill/>
        </p:spPr>
        <p:txBody>
          <a:bodyPr wrap="square" lIns="0" rIns="0" tIns="0" bIns="0" anchor="t">
            <a:spAutoFit/>
          </a:bodyPr>
          <a:lstStyle/>
          <a:p>
            <a:pPr>
              <a:lnSpc>
                <a:spcPct val="130000"/>
              </a:lnSpc>
              <a:spcAft>
                <a:spcPts val="1200"/>
              </a:spcAft>
            </a:pPr>
            <a:r>
              <a:rPr sz="1700" b="0" i="0">
                <a:solidFill>
                  <a:srgbClr val="16211E"/>
                </a:solidFill>
                <a:latin typeface="Arial"/>
              </a:rPr>
              <a:t>The patients with no outcome at all</a:t>
            </a:r>
          </a:p>
        </p:txBody>
      </p:sp>
      <p:sp>
        <p:nvSpPr>
          <p:cNvPr id="15" name="Rectangle 14"/>
          <p:cNvSpPr/>
          <p:nvPr/>
        </p:nvSpPr>
        <p:spPr>
          <a:xfrm>
            <a:off x="817473" y="4544568"/>
            <a:ext cx="6766560" cy="10972"/>
          </a:xfrm>
          <a:prstGeom prst="rect">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473" y="4654296"/>
            <a:ext cx="914400" cy="548640"/>
          </a:xfrm>
          <a:prstGeom prst="rect">
            <a:avLst/>
          </a:prstGeom>
          <a:noFill/>
        </p:spPr>
        <p:txBody>
          <a:bodyPr wrap="square" lIns="0" rIns="0" tIns="0" bIns="0" anchor="t">
            <a:spAutoFit/>
          </a:bodyPr>
          <a:lstStyle/>
          <a:p>
            <a:pPr>
              <a:lnSpc>
                <a:spcPct val="110000"/>
              </a:lnSpc>
              <a:spcAft>
                <a:spcPts val="800"/>
              </a:spcAft>
            </a:pPr>
            <a:r>
              <a:rPr sz="1900" b="1" i="0">
                <a:solidFill>
                  <a:srgbClr val="003E34"/>
                </a:solidFill>
                <a:latin typeface="Arial"/>
              </a:rPr>
              <a:t>05</a:t>
            </a:r>
          </a:p>
        </p:txBody>
      </p:sp>
      <p:sp>
        <p:nvSpPr>
          <p:cNvPr id="17" name="TextBox 16"/>
          <p:cNvSpPr txBox="1"/>
          <p:nvPr/>
        </p:nvSpPr>
        <p:spPr>
          <a:xfrm>
            <a:off x="1731873" y="4709159"/>
            <a:ext cx="5852160" cy="548640"/>
          </a:xfrm>
          <a:prstGeom prst="rect">
            <a:avLst/>
          </a:prstGeom>
          <a:noFill/>
        </p:spPr>
        <p:txBody>
          <a:bodyPr wrap="square" lIns="0" rIns="0" tIns="0" bIns="0" anchor="t">
            <a:spAutoFit/>
          </a:bodyPr>
          <a:lstStyle/>
          <a:p>
            <a:pPr>
              <a:lnSpc>
                <a:spcPct val="130000"/>
              </a:lnSpc>
              <a:spcAft>
                <a:spcPts val="1200"/>
              </a:spcAft>
            </a:pPr>
            <a:r>
              <a:rPr sz="1700" b="0" i="0">
                <a:solidFill>
                  <a:srgbClr val="16211E"/>
                </a:solidFill>
                <a:latin typeface="Arial"/>
              </a:rPr>
              <a:t>The sentinel trap</a:t>
            </a:r>
          </a:p>
        </p:txBody>
      </p:sp>
      <p:sp>
        <p:nvSpPr>
          <p:cNvPr id="18" name="Rectangle 17"/>
          <p:cNvSpPr/>
          <p:nvPr/>
        </p:nvSpPr>
        <p:spPr>
          <a:xfrm>
            <a:off x="817473" y="5257800"/>
            <a:ext cx="6766560" cy="10972"/>
          </a:xfrm>
          <a:prstGeom prst="rect">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863840" y="1801368"/>
            <a:ext cx="3511296" cy="3200400"/>
          </a:xfrm>
          <a:prstGeom prst="roundRect">
            <a:avLst>
              <a:gd name="adj" fmla="val 6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083296" y="2020824"/>
            <a:ext cx="3072384" cy="2761488"/>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READS</a:t>
            </a:r>
          </a:p>
          <a:p>
            <a:pPr>
              <a:lnSpc>
                <a:spcPct val="130000"/>
              </a:lnSpc>
              <a:spcAft>
                <a:spcPts val="800"/>
              </a:spcAft>
            </a:pPr>
            <a:r>
              <a:rPr sz="1300" b="0" i="0">
                <a:solidFill>
                  <a:srgbClr val="003E34"/>
                </a:solidFill>
                <a:latin typeface="Consolas"/>
              </a:rPr>
              <a:t>silver.knee_episode</a:t>
            </a:r>
          </a:p>
          <a:p>
            <a:pPr>
              <a:lnSpc>
                <a:spcPct val="130000"/>
              </a:lnSpc>
              <a:spcAft>
                <a:spcPts val="800"/>
              </a:spcAft>
            </a:pPr>
            <a:r>
              <a:rPr sz="1300" b="0" i="0">
                <a:solidFill>
                  <a:srgbClr val="003E34"/>
                </a:solidFill>
                <a:latin typeface="Consolas"/>
              </a:rPr>
              <a:t>gold.knee_features</a:t>
            </a:r>
          </a:p>
          <a:p>
            <a:pPr>
              <a:lnSpc>
                <a:spcPct val="120000"/>
              </a:lnSpc>
              <a:spcAft>
                <a:spcPts val="800"/>
              </a:spcAft>
            </a:pPr>
            <a:r>
              <a:rPr sz="1100" b="1" i="0" spc="140">
                <a:solidFill>
                  <a:srgbClr val="6B7370"/>
                </a:solidFill>
                <a:latin typeface="Arial"/>
              </a:rPr>
              <a:t>WRITES</a:t>
            </a:r>
          </a:p>
          <a:p>
            <a:pPr>
              <a:lnSpc>
                <a:spcPct val="130000"/>
              </a:lnSpc>
              <a:spcAft>
                <a:spcPts val="800"/>
              </a:spcAft>
            </a:pPr>
            <a:r>
              <a:rPr sz="1300" b="0" i="0">
                <a:solidFill>
                  <a:srgbClr val="003E34"/>
                </a:solidFill>
                <a:latin typeface="Consolas"/>
              </a:rPr>
              <a:t>nothing</a:t>
            </a:r>
          </a:p>
          <a:p>
            <a:pPr>
              <a:lnSpc>
                <a:spcPct val="125000"/>
              </a:lnSpc>
              <a:spcAft>
                <a:spcPts val="800"/>
              </a:spcAft>
            </a:pPr>
            <a:r>
              <a:rPr sz="1200" b="0" i="0">
                <a:solidFill>
                  <a:srgbClr val="6B7370"/>
                </a:solidFill>
                <a:latin typeface="Arial"/>
              </a:rPr>
              <a:t>A read-only notebook is a demo you can run twice. Everything it prints is recomputed live from the Lakehouse in front of the room.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Setting up train and test without leaking</a:t>
            </a:r>
          </a:p>
        </p:txBody>
      </p:sp>
      <p:pic>
        <p:nvPicPr>
          <p:cNvPr id="3" name="Picture 2" descr="p_order.png"/>
          <p:cNvPicPr>
            <a:picLocks noChangeAspect="1"/>
          </p:cNvPicPr>
          <p:nvPr/>
        </p:nvPicPr>
        <p:blipFill>
          <a:blip r:embed="rId2"/>
          <a:stretch>
            <a:fillRect/>
          </a:stretch>
        </p:blipFill>
        <p:spPr>
          <a:xfrm>
            <a:off x="817473" y="1463040"/>
            <a:ext cx="6949440" cy="1411833"/>
          </a:xfrm>
          <a:prstGeom prst="rect">
            <a:avLst/>
          </a:prstGeom>
        </p:spPr>
      </p:pic>
      <p:pic>
        <p:nvPicPr>
          <p:cNvPr id="4" name="Picture 3" descr="p_leakage.png"/>
          <p:cNvPicPr>
            <a:picLocks noChangeAspect="1"/>
          </p:cNvPicPr>
          <p:nvPr/>
        </p:nvPicPr>
        <p:blipFill>
          <a:blip r:embed="rId3"/>
          <a:stretch>
            <a:fillRect/>
          </a:stretch>
        </p:blipFill>
        <p:spPr>
          <a:xfrm>
            <a:off x="817473" y="3630168"/>
            <a:ext cx="4879533" cy="2286000"/>
          </a:xfrm>
          <a:prstGeom prst="rect">
            <a:avLst/>
          </a:prstGeom>
        </p:spPr>
      </p:pic>
      <p:sp>
        <p:nvSpPr>
          <p:cNvPr id="5" name="TextBox 4"/>
          <p:cNvSpPr txBox="1"/>
          <p:nvPr/>
        </p:nvSpPr>
        <p:spPr>
          <a:xfrm>
            <a:off x="8641080" y="3813048"/>
            <a:ext cx="2734056" cy="201168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THE LEAKAGE GUARD</a:t>
            </a:r>
          </a:p>
          <a:p>
            <a:pPr>
              <a:lnSpc>
                <a:spcPct val="128000"/>
              </a:lnSpc>
              <a:spcAft>
                <a:spcPts val="1000"/>
              </a:spcAft>
            </a:pPr>
            <a:r>
              <a:rPr sz="1400" b="0" i="0">
                <a:solidFill>
                  <a:srgbClr val="16211E"/>
                </a:solidFill>
                <a:latin typeface="Arial"/>
              </a:rPr>
              <a:t>Two assertions before a single model is fitted. A reviewer would catch both eventually; catching them here means they never reach a metric anyone quotes.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What we trained, and what it actually does</a:t>
            </a:r>
          </a:p>
        </p:txBody>
      </p:sp>
      <p:sp>
        <p:nvSpPr>
          <p:cNvPr id="3" name="TextBox 2"/>
          <p:cNvSpPr txBox="1"/>
          <p:nvPr/>
        </p:nvSpPr>
        <p:spPr>
          <a:xfrm>
            <a:off x="817473" y="1124712"/>
            <a:ext cx="10557662" cy="310896"/>
          </a:xfrm>
          <a:prstGeom prst="rect">
            <a:avLst/>
          </a:prstGeom>
          <a:noFill/>
        </p:spPr>
        <p:txBody>
          <a:bodyPr wrap="square" lIns="0" rIns="0" tIns="0" bIns="0" anchor="t">
            <a:spAutoFit/>
          </a:bodyPr>
          <a:lstStyle/>
          <a:p>
            <a:pPr>
              <a:lnSpc>
                <a:spcPct val="115000"/>
              </a:lnSpc>
              <a:spcAft>
                <a:spcPts val="600"/>
              </a:spcAft>
            </a:pPr>
            <a:r>
              <a:rPr sz="1300" b="0" i="0">
                <a:solidFill>
                  <a:srgbClr val="6B7370"/>
                </a:solidFill>
                <a:latin typeface="Arial"/>
              </a:rPr>
              <a:t>Held-out test set, decision threshold τ = 0.8.</a:t>
            </a:r>
          </a:p>
        </p:txBody>
      </p:sp>
      <p:pic>
        <p:nvPicPr>
          <p:cNvPr id="4" name="Picture 3" descr="p_models.png"/>
          <p:cNvPicPr>
            <a:picLocks noChangeAspect="1"/>
          </p:cNvPicPr>
          <p:nvPr/>
        </p:nvPicPr>
        <p:blipFill>
          <a:blip r:embed="rId2"/>
          <a:stretch>
            <a:fillRect/>
          </a:stretch>
        </p:blipFill>
        <p:spPr>
          <a:xfrm>
            <a:off x="925865" y="1618488"/>
            <a:ext cx="10340878" cy="2651760"/>
          </a:xfrm>
          <a:prstGeom prst="rect">
            <a:avLst/>
          </a:prstGeom>
        </p:spPr>
      </p:pic>
      <p:sp>
        <p:nvSpPr>
          <p:cNvPr id="5" name="Rounded Rectangle 4"/>
          <p:cNvSpPr/>
          <p:nvPr/>
        </p:nvSpPr>
        <p:spPr>
          <a:xfrm>
            <a:off x="817473" y="4498848"/>
            <a:ext cx="5120640" cy="1572768"/>
          </a:xfrm>
          <a:prstGeom prst="roundRect">
            <a:avLst>
              <a:gd name="adj" fmla="val 6000"/>
            </a:avLst>
          </a:prstGeom>
          <a:solidFill>
            <a:srgbClr val="FFFFFF"/>
          </a:solidFill>
          <a:ln w="12700">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36929" y="4718304"/>
            <a:ext cx="4681727" cy="1133856"/>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THE HONEST READING</a:t>
            </a:r>
          </a:p>
          <a:p>
            <a:pPr>
              <a:lnSpc>
                <a:spcPct val="125000"/>
              </a:lnSpc>
              <a:spcAft>
                <a:spcPts val="800"/>
              </a:spcAft>
            </a:pPr>
            <a:r>
              <a:rPr sz="1200" b="0" i="0">
                <a:solidFill>
                  <a:srgbClr val="6B7370"/>
                </a:solidFill>
                <a:latin typeface="Arial"/>
              </a:rPr>
              <a:t>All three are conservative to the point of near-silence here: about 4 of the 152 poor outcomes a week are flagged. That is the price of a precision-first operating point — a service decision, not a model output.</a:t>
            </a:r>
          </a:p>
        </p:txBody>
      </p:sp>
      <p:sp>
        <p:nvSpPr>
          <p:cNvPr id="7" name="Rounded Rectangle 6"/>
          <p:cNvSpPr/>
          <p:nvPr/>
        </p:nvSpPr>
        <p:spPr>
          <a:xfrm>
            <a:off x="6249009" y="4498848"/>
            <a:ext cx="5120640" cy="1572768"/>
          </a:xfrm>
          <a:prstGeom prst="roundRect">
            <a:avLst>
              <a:gd name="adj" fmla="val 6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68465" y="4718304"/>
            <a:ext cx="4681727" cy="1133856"/>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WHY THE EBM SHIPS</a:t>
            </a:r>
          </a:p>
          <a:p>
            <a:pPr>
              <a:lnSpc>
                <a:spcPct val="125000"/>
              </a:lnSpc>
              <a:spcAft>
                <a:spcPts val="800"/>
              </a:spcAft>
            </a:pPr>
            <a:r>
              <a:rPr sz="1200" b="0" i="0">
                <a:solidFill>
                  <a:srgbClr val="6B7370"/>
                </a:solidFill>
                <a:latin typeface="Arial"/>
              </a:rPr>
              <a:t>It matches the random forest on every metric and is a glassbox: the explanation is the model, not a post-hoc approximation of it. Interpretability is a deployment requirement here, not a preference.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Global, local, and the contrast</a:t>
            </a:r>
          </a:p>
        </p:txBody>
      </p:sp>
      <p:pic>
        <p:nvPicPr>
          <p:cNvPr id="3" name="Picture 2" descr="c-whyscore-top.png"/>
          <p:cNvPicPr>
            <a:picLocks noChangeAspect="1"/>
          </p:cNvPicPr>
          <p:nvPr/>
        </p:nvPicPr>
        <p:blipFill>
          <a:blip r:embed="rId2"/>
          <a:stretch>
            <a:fillRect/>
          </a:stretch>
        </p:blipFill>
        <p:spPr>
          <a:xfrm>
            <a:off x="5486400" y="1709928"/>
            <a:ext cx="5888736" cy="3592330"/>
          </a:xfrm>
          <a:prstGeom prst="rect">
            <a:avLst/>
          </a:prstGeom>
        </p:spPr>
      </p:pic>
      <p:sp>
        <p:nvSpPr>
          <p:cNvPr id="4" name="TextBox 3"/>
          <p:cNvSpPr txBox="1"/>
          <p:nvPr/>
        </p:nvSpPr>
        <p:spPr>
          <a:xfrm>
            <a:off x="817473" y="1618488"/>
            <a:ext cx="4434840" cy="420624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WHAT A CLINICIAN CAN ARGUE WITH</a:t>
            </a:r>
          </a:p>
          <a:p>
            <a:pPr>
              <a:lnSpc>
                <a:spcPct val="130000"/>
              </a:lnSpc>
              <a:spcAft>
                <a:spcPts val="800"/>
              </a:spcAft>
            </a:pPr>
            <a:r>
              <a:rPr sz="1300" b="0" i="0">
                <a:solidFill>
                  <a:srgbClr val="003E34"/>
                </a:solidFill>
                <a:latin typeface="Consolas"/>
              </a:rPr>
              <a:t>risk = sigmoid( intercept + Σ f(x) )</a:t>
            </a:r>
          </a:p>
          <a:p>
            <a:pPr>
              <a:lnSpc>
                <a:spcPct val="128000"/>
              </a:lnSpc>
              <a:spcAft>
                <a:spcPts val="1000"/>
              </a:spcAft>
            </a:pPr>
            <a:r>
              <a:rPr sz="1400" b="0" i="0">
                <a:solidFill>
                  <a:srgbClr val="16211E"/>
                </a:solidFill>
                <a:latin typeface="Arial"/>
              </a:rPr>
              <a:t>The bars on screen are those terms. No surrogate, no approximation, no “feature importance” standing in for the model’s reasoning.</a:t>
            </a:r>
          </a:p>
          <a:p>
            <a:pPr>
              <a:lnSpc>
                <a:spcPct val="125000"/>
              </a:lnSpc>
              <a:spcAft>
                <a:spcPts val="900"/>
              </a:spcAft>
            </a:pPr>
            <a:r>
              <a:rPr sz="1400" b="0" i="0">
                <a:solidFill>
                  <a:srgbClr val="16211E"/>
                </a:solidFill>
                <a:latin typeface="Arial"/>
              </a:rPr>
              <a:t>Global — the shape function for pre-operative OKS, and one comorbidity.</a:t>
            </a:r>
          </a:p>
          <a:p>
            <a:pPr>
              <a:lnSpc>
                <a:spcPct val="125000"/>
              </a:lnSpc>
              <a:spcAft>
                <a:spcPts val="900"/>
              </a:spcAft>
            </a:pPr>
            <a:r>
              <a:rPr sz="1400" b="0" i="0">
                <a:solidFill>
                  <a:srgbClr val="16211E"/>
                </a:solidFill>
                <a:latin typeface="Arial"/>
              </a:rPr>
              <a:t>Local — six ranked contributions for one pinned pre-operative patient.</a:t>
            </a:r>
          </a:p>
          <a:p>
            <a:pPr>
              <a:lnSpc>
                <a:spcPct val="125000"/>
              </a:lnSpc>
              <a:spcAft>
                <a:spcPts val="900"/>
              </a:spcAft>
            </a:pPr>
            <a:r>
              <a:rPr sz="1400" b="0" i="0">
                <a:solidFill>
                  <a:srgbClr val="16211E"/>
                </a:solidFill>
                <a:latin typeface="Arial"/>
              </a:rPr>
              <a:t>Contrast — the same patient through the random forest, via SHAP. Same story, one approximation further away.</a:t>
            </a:r>
          </a:p>
          <a:p>
            <a:pPr>
              <a:lnSpc>
                <a:spcPct val="125000"/>
              </a:lnSpc>
              <a:spcAft>
                <a:spcPts val="1000"/>
              </a:spcAft>
            </a:pPr>
            <a:r>
              <a:rPr sz="1400" b="1" i="0">
                <a:solidFill>
                  <a:srgbClr val="BB9F45"/>
                </a:solidFill>
                <a:latin typeface="Arial"/>
              </a:rPr>
              <a:t>A clinician cannot disagree with a random forest. Meaningful human oversight of something you cannot disagree with is not oversight.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A number that means what it says</a:t>
            </a:r>
          </a:p>
        </p:txBody>
      </p:sp>
      <p:pic>
        <p:nvPicPr>
          <p:cNvPr id="3" name="Picture 2" descr="c-calib2.png"/>
          <p:cNvPicPr>
            <a:picLocks noChangeAspect="1"/>
          </p:cNvPicPr>
          <p:nvPr/>
        </p:nvPicPr>
        <p:blipFill>
          <a:blip r:embed="rId2"/>
          <a:stretch>
            <a:fillRect/>
          </a:stretch>
        </p:blipFill>
        <p:spPr>
          <a:xfrm>
            <a:off x="4923153" y="1481328"/>
            <a:ext cx="6451982" cy="4343400"/>
          </a:xfrm>
          <a:prstGeom prst="rect">
            <a:avLst/>
          </a:prstGeom>
        </p:spPr>
      </p:pic>
      <p:sp>
        <p:nvSpPr>
          <p:cNvPr id="4" name="TextBox 3"/>
          <p:cNvSpPr txBox="1"/>
          <p:nvPr/>
        </p:nvSpPr>
        <p:spPr>
          <a:xfrm>
            <a:off x="817473" y="1847088"/>
            <a:ext cx="3520440" cy="384048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CALIBRATION</a:t>
            </a:r>
          </a:p>
          <a:p>
            <a:pPr>
              <a:lnSpc>
                <a:spcPct val="130000"/>
              </a:lnSpc>
              <a:spcAft>
                <a:spcPts val="1200"/>
              </a:spcAft>
            </a:pPr>
            <a:r>
              <a:rPr sz="1700" b="0" i="0">
                <a:solidFill>
                  <a:srgbClr val="16211E"/>
                </a:solidFill>
                <a:latin typeface="Arial"/>
              </a:rPr>
              <a:t>Of a hundred patients scored 34%, about thirty-four should have a poor outcome.</a:t>
            </a:r>
          </a:p>
          <a:p>
            <a:pPr>
              <a:lnSpc>
                <a:spcPct val="128000"/>
              </a:lnSpc>
              <a:spcAft>
                <a:spcPts val="1000"/>
              </a:spcAft>
            </a:pPr>
            <a:r>
              <a:rPr sz="1400" b="0" i="0">
                <a:solidFill>
                  <a:srgbClr val="16211E"/>
                </a:solidFill>
                <a:latin typeface="Arial"/>
              </a:rPr>
              <a:t>Isotonic regression on a held-out fold. Watch the Brier score and ECE move, not average precision — calibration is monotone, so ranking barely changes. That is the point.</a:t>
            </a:r>
          </a:p>
          <a:p>
            <a:pPr>
              <a:lnSpc>
                <a:spcPct val="125000"/>
              </a:lnSpc>
              <a:spcAft>
                <a:spcPts val="800"/>
              </a:spcAft>
            </a:pPr>
            <a:r>
              <a:rPr sz="1200" b="0" i="0">
                <a:solidFill>
                  <a:srgbClr val="6B7370"/>
                </a:solidFill>
                <a:latin typeface="Arial"/>
              </a:rPr>
              <a:t>Calibration is a property of the group, not of the individual. A well-calibrated model still cannot say which patient in a group of a hundred will be the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And where we put the line</a:t>
            </a:r>
          </a:p>
        </p:txBody>
      </p:sp>
      <p:pic>
        <p:nvPicPr>
          <p:cNvPr id="3" name="Picture 2" descr="v11_threshold.png"/>
          <p:cNvPicPr>
            <a:picLocks noChangeAspect="1"/>
          </p:cNvPicPr>
          <p:nvPr/>
        </p:nvPicPr>
        <p:blipFill>
          <a:blip r:embed="rId2"/>
          <a:stretch>
            <a:fillRect/>
          </a:stretch>
        </p:blipFill>
        <p:spPr>
          <a:xfrm>
            <a:off x="817473" y="1572768"/>
            <a:ext cx="5394960" cy="3128495"/>
          </a:xfrm>
          <a:prstGeom prst="rect">
            <a:avLst/>
          </a:prstGeom>
        </p:spPr>
      </p:pic>
      <p:pic>
        <p:nvPicPr>
          <p:cNvPr id="4" name="Picture 3" descr="c-cutoff.png"/>
          <p:cNvPicPr>
            <a:picLocks noChangeAspect="1"/>
          </p:cNvPicPr>
          <p:nvPr/>
        </p:nvPicPr>
        <p:blipFill>
          <a:blip r:embed="rId3"/>
          <a:stretch>
            <a:fillRect/>
          </a:stretch>
        </p:blipFill>
        <p:spPr>
          <a:xfrm>
            <a:off x="6492240" y="1572768"/>
            <a:ext cx="4882896" cy="3170344"/>
          </a:xfrm>
          <a:prstGeom prst="rect">
            <a:avLst/>
          </a:prstGeom>
        </p:spPr>
      </p:pic>
      <p:sp>
        <p:nvSpPr>
          <p:cNvPr id="5" name="TextBox 4"/>
          <p:cNvSpPr txBox="1"/>
          <p:nvPr/>
        </p:nvSpPr>
        <p:spPr>
          <a:xfrm>
            <a:off x="817473" y="5596128"/>
            <a:ext cx="10557662" cy="457200"/>
          </a:xfrm>
          <a:prstGeom prst="rect">
            <a:avLst/>
          </a:prstGeom>
          <a:noFill/>
        </p:spPr>
        <p:txBody>
          <a:bodyPr wrap="square" lIns="0" rIns="0" tIns="0" bIns="0" anchor="t">
            <a:spAutoFit/>
          </a:bodyPr>
          <a:lstStyle/>
          <a:p>
            <a:pPr>
              <a:lnSpc>
                <a:spcPct val="128000"/>
              </a:lnSpc>
              <a:spcAft>
                <a:spcPts val="1000"/>
              </a:spcAft>
            </a:pPr>
            <a:r>
              <a:rPr sz="1400" b="0" i="0">
                <a:solidFill>
                  <a:srgbClr val="16211E"/>
                </a:solidFill>
                <a:latin typeface="Arial"/>
              </a:rPr>
              <a:t>The threshold is a service decision, exposed as one: the clinician sees what each operating point costs in patients per 1,000 before anybody moves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Tracking that survives an audit</a:t>
            </a:r>
          </a:p>
        </p:txBody>
      </p:sp>
      <p:pic>
        <p:nvPicPr>
          <p:cNvPr id="3" name="Picture 2" descr="p_tags.png"/>
          <p:cNvPicPr>
            <a:picLocks noChangeAspect="1"/>
          </p:cNvPicPr>
          <p:nvPr/>
        </p:nvPicPr>
        <p:blipFill>
          <a:blip r:embed="rId2"/>
          <a:stretch>
            <a:fillRect/>
          </a:stretch>
        </p:blipFill>
        <p:spPr>
          <a:xfrm>
            <a:off x="817473" y="1481328"/>
            <a:ext cx="6492240" cy="3949678"/>
          </a:xfrm>
          <a:prstGeom prst="rect">
            <a:avLst/>
          </a:prstGeom>
        </p:spPr>
      </p:pic>
      <p:sp>
        <p:nvSpPr>
          <p:cNvPr id="4" name="TextBox 3"/>
          <p:cNvSpPr txBox="1"/>
          <p:nvPr/>
        </p:nvSpPr>
        <p:spPr>
          <a:xfrm>
            <a:off x="7635240" y="1801368"/>
            <a:ext cx="3739896" cy="384048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THE QUESTION, TWO YEARS LATER</a:t>
            </a:r>
          </a:p>
          <a:p>
            <a:pPr>
              <a:lnSpc>
                <a:spcPct val="135000"/>
              </a:lnSpc>
              <a:spcAft>
                <a:spcPts val="1000"/>
              </a:spcAft>
            </a:pPr>
            <a:r>
              <a:rPr sz="1400" b="0" i="1">
                <a:solidFill>
                  <a:srgbClr val="003E34"/>
                </a:solidFill>
                <a:latin typeface="Arial"/>
              </a:rPr>
              <a:t>“Reconstruct the exact input this model was trained on, and show me who approved it.”</a:t>
            </a:r>
          </a:p>
          <a:p>
            <a:pPr>
              <a:lnSpc>
                <a:spcPct val="128000"/>
              </a:lnSpc>
              <a:spcAft>
                <a:spcPts val="1000"/>
              </a:spcAft>
            </a:pPr>
            <a:r>
              <a:rPr sz="1400" b="0" i="0">
                <a:solidFill>
                  <a:srgbClr val="16211E"/>
                </a:solidFill>
                <a:latin typeface="Arial"/>
              </a:rPr>
              <a:t>Most teams cannot — not from carelessness, but because the answer was never written anywhere.</a:t>
            </a:r>
          </a:p>
          <a:p>
            <a:pPr>
              <a:lnSpc>
                <a:spcPct val="125000"/>
              </a:lnSpc>
              <a:spcAft>
                <a:spcPts val="1000"/>
              </a:spcAft>
            </a:pPr>
            <a:r>
              <a:rPr sz="1400" b="1" i="0">
                <a:solidFill>
                  <a:srgbClr val="BB9F45"/>
                </a:solidFill>
                <a:latin typeface="Arial"/>
              </a:rPr>
              <a:t>Autologging records what the library knew. These tags record what you decided.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Reconstruct it, live</a:t>
            </a:r>
          </a:p>
        </p:txBody>
      </p:sp>
      <p:pic>
        <p:nvPicPr>
          <p:cNvPr id="3" name="Picture 2" descr="p_timetravel.png"/>
          <p:cNvPicPr>
            <a:picLocks noChangeAspect="1"/>
          </p:cNvPicPr>
          <p:nvPr/>
        </p:nvPicPr>
        <p:blipFill>
          <a:blip r:embed="rId2"/>
          <a:stretch>
            <a:fillRect/>
          </a:stretch>
        </p:blipFill>
        <p:spPr>
          <a:xfrm>
            <a:off x="2359098" y="1527048"/>
            <a:ext cx="7474413" cy="4114800"/>
          </a:xfrm>
          <a:prstGeom prst="rect">
            <a:avLst/>
          </a:prstGeom>
        </p:spPr>
      </p:pic>
      <p:sp>
        <p:nvSpPr>
          <p:cNvPr id="4" name="TextBox 3"/>
          <p:cNvSpPr txBox="1"/>
          <p:nvPr/>
        </p:nvSpPr>
        <p:spPr>
          <a:xfrm>
            <a:off x="817473" y="5852160"/>
            <a:ext cx="10557662" cy="274320"/>
          </a:xfrm>
          <a:prstGeom prst="rect">
            <a:avLst/>
          </a:prstGeom>
          <a:noFill/>
        </p:spPr>
        <p:txBody>
          <a:bodyPr wrap="square" lIns="0" rIns="0" tIns="0" bIns="0" anchor="t">
            <a:spAutoFit/>
          </a:bodyPr>
          <a:lstStyle/>
          <a:p>
            <a:pPr>
              <a:lnSpc>
                <a:spcPct val="125000"/>
              </a:lnSpc>
              <a:spcAft>
                <a:spcPts val="800"/>
              </a:spcAft>
            </a:pPr>
            <a:r>
              <a:rPr sz="1200" b="0" i="0">
                <a:solidFill>
                  <a:srgbClr val="6B7370"/>
                </a:solidFill>
                <a:latin typeface="Arial"/>
              </a:rPr>
              <a:t>The version came from DESCRIBE HISTORY at training time and rode along as an MLflow tag.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Live: the experiment and the registered model</a:t>
            </a:r>
          </a:p>
        </p:txBody>
      </p:sp>
      <p:sp>
        <p:nvSpPr>
          <p:cNvPr id="3" name="TextBox 2"/>
          <p:cNvSpPr txBox="1"/>
          <p:nvPr/>
        </p:nvSpPr>
        <p:spPr>
          <a:xfrm>
            <a:off x="817473" y="1124712"/>
            <a:ext cx="10557662" cy="310896"/>
          </a:xfrm>
          <a:prstGeom prst="rect">
            <a:avLst/>
          </a:prstGeom>
          <a:noFill/>
        </p:spPr>
        <p:txBody>
          <a:bodyPr wrap="square" lIns="0" rIns="0" tIns="0" bIns="0" anchor="t">
            <a:spAutoFit/>
          </a:bodyPr>
          <a:lstStyle/>
          <a:p>
            <a:pPr>
              <a:lnSpc>
                <a:spcPct val="115000"/>
              </a:lnSpc>
              <a:spcAft>
                <a:spcPts val="600"/>
              </a:spcAft>
            </a:pPr>
            <a:r>
              <a:rPr sz="1300" b="0" i="0">
                <a:solidFill>
                  <a:srgbClr val="6B7370"/>
                </a:solidFill>
                <a:latin typeface="Arial"/>
              </a:rPr>
              <a:t>Segment 5 · the ML experiment and model items, in the workspace.</a:t>
            </a:r>
          </a:p>
        </p:txBody>
      </p:sp>
      <p:pic>
        <p:nvPicPr>
          <p:cNvPr id="4" name="Picture 3" descr="p_live.png"/>
          <p:cNvPicPr>
            <a:picLocks noChangeAspect="1"/>
          </p:cNvPicPr>
          <p:nvPr/>
        </p:nvPicPr>
        <p:blipFill>
          <a:blip r:embed="rId2"/>
          <a:stretch>
            <a:fillRect/>
          </a:stretch>
        </p:blipFill>
        <p:spPr>
          <a:xfrm>
            <a:off x="817473" y="2077694"/>
            <a:ext cx="10557662" cy="2373427"/>
          </a:xfrm>
          <a:prstGeom prst="rect">
            <a:avLst/>
          </a:prstGeom>
        </p:spPr>
      </p:pic>
      <p:sp>
        <p:nvSpPr>
          <p:cNvPr id="5" name="Rounded Rectangle 4"/>
          <p:cNvSpPr/>
          <p:nvPr/>
        </p:nvSpPr>
        <p:spPr>
          <a:xfrm>
            <a:off x="817473" y="5486400"/>
            <a:ext cx="10557662" cy="566928"/>
          </a:xfrm>
          <a:prstGeom prst="roundRect">
            <a:avLst>
              <a:gd name="adj" fmla="val 6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17473" y="5486400"/>
            <a:ext cx="50292" cy="56692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3505" y="5614416"/>
            <a:ext cx="10100462" cy="365760"/>
          </a:xfrm>
          <a:prstGeom prst="rect">
            <a:avLst/>
          </a:prstGeom>
          <a:noFill/>
        </p:spPr>
        <p:txBody>
          <a:bodyPr wrap="square" lIns="0" rIns="0" tIns="0" bIns="0" anchor="t">
            <a:spAutoFit/>
          </a:bodyPr>
          <a:lstStyle/>
          <a:p>
            <a:pPr>
              <a:lnSpc>
                <a:spcPct val="115000"/>
              </a:lnSpc>
              <a:spcAft>
                <a:spcPts val="600"/>
              </a:spcAft>
            </a:pPr>
            <a:r>
              <a:rPr sz="1600" b="1" i="0">
                <a:solidFill>
                  <a:srgbClr val="003E34"/>
                </a:solidFill>
                <a:latin typeface="Arial"/>
              </a:rPr>
              <a:t>Filter the run list by tag: interpretability = blackbox — the deployment gate, written as a query.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What the endpoint returns</a:t>
            </a:r>
          </a:p>
        </p:txBody>
      </p:sp>
      <p:pic>
        <p:nvPicPr>
          <p:cNvPr id="3" name="Picture 2" descr="p_payload.png"/>
          <p:cNvPicPr>
            <a:picLocks noChangeAspect="1"/>
          </p:cNvPicPr>
          <p:nvPr/>
        </p:nvPicPr>
        <p:blipFill>
          <a:blip r:embed="rId2"/>
          <a:stretch>
            <a:fillRect/>
          </a:stretch>
        </p:blipFill>
        <p:spPr>
          <a:xfrm>
            <a:off x="5323470" y="1435608"/>
            <a:ext cx="6051665" cy="4480560"/>
          </a:xfrm>
          <a:prstGeom prst="rect">
            <a:avLst/>
          </a:prstGeom>
        </p:spPr>
      </p:pic>
      <p:sp>
        <p:nvSpPr>
          <p:cNvPr id="4" name="TextBox 3"/>
          <p:cNvSpPr txBox="1"/>
          <p:nvPr/>
        </p:nvSpPr>
        <p:spPr>
          <a:xfrm>
            <a:off x="817473" y="1801368"/>
            <a:ext cx="4114800" cy="384048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VERSIONED, AUTHENTICATED, IN-ESTATE</a:t>
            </a:r>
          </a:p>
          <a:p>
            <a:pPr>
              <a:lnSpc>
                <a:spcPct val="130000"/>
              </a:lnSpc>
              <a:spcAft>
                <a:spcPts val="1200"/>
              </a:spcAft>
            </a:pPr>
            <a:r>
              <a:rPr sz="1700" b="0" i="0">
                <a:solidFill>
                  <a:srgbClr val="16211E"/>
                </a:solidFill>
                <a:latin typeface="Arial"/>
              </a:rPr>
              <a:t>The score never travels alone.</a:t>
            </a:r>
          </a:p>
          <a:p>
            <a:pPr>
              <a:lnSpc>
                <a:spcPct val="128000"/>
              </a:lnSpc>
              <a:spcAft>
                <a:spcPts val="1000"/>
              </a:spcAft>
            </a:pPr>
            <a:r>
              <a:rPr sz="1400" b="0" i="0">
                <a:solidFill>
                  <a:srgbClr val="16211E"/>
                </a:solidFill>
                <a:latin typeface="Arial"/>
              </a:rPr>
              <a:t>Every response carries the six contributions that produced it, the model version that produced them, and the Delta version of the table that model was trained on.</a:t>
            </a:r>
          </a:p>
          <a:p>
            <a:pPr>
              <a:lnSpc>
                <a:spcPct val="128000"/>
              </a:lnSpc>
              <a:spcAft>
                <a:spcPts val="1000"/>
              </a:spcAft>
            </a:pPr>
            <a:r>
              <a:rPr sz="1400" b="0" i="0">
                <a:solidFill>
                  <a:srgbClr val="16211E"/>
                </a:solidFill>
                <a:latin typeface="Arial"/>
              </a:rPr>
              <a:t>A clinician can act on the score. An auditor can reconstruct it. Both from the same payload, without a second system.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Seven decorated classes, four provisioned objects</a:t>
            </a:r>
          </a:p>
        </p:txBody>
      </p:sp>
      <p:pic>
        <p:nvPicPr>
          <p:cNvPr id="3" name="Picture 2" descr="p_entity.png"/>
          <p:cNvPicPr>
            <a:picLocks noChangeAspect="1"/>
          </p:cNvPicPr>
          <p:nvPr/>
        </p:nvPicPr>
        <p:blipFill>
          <a:blip r:embed="rId2"/>
          <a:stretch>
            <a:fillRect/>
          </a:stretch>
        </p:blipFill>
        <p:spPr>
          <a:xfrm>
            <a:off x="817473" y="1481328"/>
            <a:ext cx="5606299" cy="3749039"/>
          </a:xfrm>
          <a:prstGeom prst="rect">
            <a:avLst/>
          </a:prstGeom>
        </p:spPr>
      </p:pic>
      <p:pic>
        <p:nvPicPr>
          <p:cNvPr id="4" name="Picture 3" descr="p_provisioned.png"/>
          <p:cNvPicPr>
            <a:picLocks noChangeAspect="1"/>
          </p:cNvPicPr>
          <p:nvPr/>
        </p:nvPicPr>
        <p:blipFill>
          <a:blip r:embed="rId3"/>
          <a:stretch>
            <a:fillRect/>
          </a:stretch>
        </p:blipFill>
        <p:spPr>
          <a:xfrm>
            <a:off x="6400800" y="1618488"/>
            <a:ext cx="4974336" cy="2505546"/>
          </a:xfrm>
          <a:prstGeom prst="rect">
            <a:avLst/>
          </a:prstGeom>
        </p:spPr>
      </p:pic>
      <p:sp>
        <p:nvSpPr>
          <p:cNvPr id="5" name="TextBox 4"/>
          <p:cNvSpPr txBox="1"/>
          <p:nvPr/>
        </p:nvSpPr>
        <p:spPr>
          <a:xfrm>
            <a:off x="817473" y="5852160"/>
            <a:ext cx="10557662" cy="274320"/>
          </a:xfrm>
          <a:prstGeom prst="rect">
            <a:avLst/>
          </a:prstGeom>
          <a:noFill/>
        </p:spPr>
        <p:txBody>
          <a:bodyPr wrap="square" lIns="0" rIns="0" tIns="0" bIns="0" anchor="t">
            <a:spAutoFit/>
          </a:bodyPr>
          <a:lstStyle/>
          <a:p>
            <a:pPr>
              <a:lnSpc>
                <a:spcPct val="125000"/>
              </a:lnSpc>
              <a:spcAft>
                <a:spcPts val="800"/>
              </a:spcAft>
            </a:pPr>
            <a:r>
              <a:rPr sz="1200" b="0" i="0">
                <a:solidFill>
                  <a:srgbClr val="6B7370"/>
                </a:solidFill>
                <a:latin typeface="Arial"/>
              </a:rPr>
              <a:t>The row-level security policy is declared on the entity, next to the field it protects — not in a middleware layer someone has to remember to call.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The clinician's end of the pipeline</a:t>
            </a:r>
          </a:p>
        </p:txBody>
      </p:sp>
      <p:sp>
        <p:nvSpPr>
          <p:cNvPr id="3" name="TextBox 2"/>
          <p:cNvSpPr txBox="1"/>
          <p:nvPr/>
        </p:nvSpPr>
        <p:spPr>
          <a:xfrm>
            <a:off x="817473" y="1124712"/>
            <a:ext cx="10557662" cy="310896"/>
          </a:xfrm>
          <a:prstGeom prst="rect">
            <a:avLst/>
          </a:prstGeom>
          <a:noFill/>
        </p:spPr>
        <p:txBody>
          <a:bodyPr wrap="square" lIns="0" rIns="0" tIns="0" bIns="0" anchor="t">
            <a:spAutoFit/>
          </a:bodyPr>
          <a:lstStyle/>
          <a:p>
            <a:pPr>
              <a:lnSpc>
                <a:spcPct val="115000"/>
              </a:lnSpc>
              <a:spcAft>
                <a:spcPts val="600"/>
              </a:spcAft>
            </a:pPr>
            <a:r>
              <a:rPr sz="1300" b="0" i="0">
                <a:solidFill>
                  <a:srgbClr val="6B7370"/>
                </a:solidFill>
                <a:latin typeface="Arial"/>
              </a:rPr>
              <a:t>One clinician's pre-operative list. Filtered by row-level security on the data, not by this page.</a:t>
            </a:r>
          </a:p>
        </p:txBody>
      </p:sp>
      <p:pic>
        <p:nvPicPr>
          <p:cNvPr id="4" name="Picture 3" descr="c-worklist-top.png"/>
          <p:cNvPicPr>
            <a:picLocks noChangeAspect="1"/>
          </p:cNvPicPr>
          <p:nvPr/>
        </p:nvPicPr>
        <p:blipFill>
          <a:blip r:embed="rId2"/>
          <a:stretch>
            <a:fillRect/>
          </a:stretch>
        </p:blipFill>
        <p:spPr>
          <a:xfrm>
            <a:off x="1973711" y="1527048"/>
            <a:ext cx="8245186" cy="420624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One patient, and the model's own arithmetic</a:t>
            </a:r>
          </a:p>
        </p:txBody>
      </p:sp>
      <p:pic>
        <p:nvPicPr>
          <p:cNvPr id="3" name="Picture 2" descr="c-risk-header.png"/>
          <p:cNvPicPr>
            <a:picLocks noChangeAspect="1"/>
          </p:cNvPicPr>
          <p:nvPr/>
        </p:nvPicPr>
        <p:blipFill>
          <a:blip r:embed="rId2"/>
          <a:stretch>
            <a:fillRect/>
          </a:stretch>
        </p:blipFill>
        <p:spPr>
          <a:xfrm>
            <a:off x="817473" y="1481328"/>
            <a:ext cx="5119399" cy="4206240"/>
          </a:xfrm>
          <a:prstGeom prst="rect">
            <a:avLst/>
          </a:prstGeom>
        </p:spPr>
      </p:pic>
      <p:pic>
        <p:nvPicPr>
          <p:cNvPr id="4" name="Picture 3" descr="c-whyscore-top.png"/>
          <p:cNvPicPr>
            <a:picLocks noChangeAspect="1"/>
          </p:cNvPicPr>
          <p:nvPr/>
        </p:nvPicPr>
        <p:blipFill>
          <a:blip r:embed="rId3"/>
          <a:stretch>
            <a:fillRect/>
          </a:stretch>
        </p:blipFill>
        <p:spPr>
          <a:xfrm>
            <a:off x="6263640" y="1801368"/>
            <a:ext cx="5111496" cy="3118187"/>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The decision is the record</a:t>
            </a:r>
          </a:p>
        </p:txBody>
      </p:sp>
      <p:pic>
        <p:nvPicPr>
          <p:cNvPr id="3" name="Picture 2" descr="c-review.png"/>
          <p:cNvPicPr>
            <a:picLocks noChangeAspect="1"/>
          </p:cNvPicPr>
          <p:nvPr/>
        </p:nvPicPr>
        <p:blipFill>
          <a:blip r:embed="rId2"/>
          <a:stretch>
            <a:fillRect/>
          </a:stretch>
        </p:blipFill>
        <p:spPr>
          <a:xfrm>
            <a:off x="817473" y="1481328"/>
            <a:ext cx="3429000" cy="4062155"/>
          </a:xfrm>
          <a:prstGeom prst="rect">
            <a:avLst/>
          </a:prstGeom>
        </p:spPr>
      </p:pic>
      <p:pic>
        <p:nvPicPr>
          <p:cNvPr id="4" name="Picture 3" descr="c-decisions.png"/>
          <p:cNvPicPr>
            <a:picLocks noChangeAspect="1"/>
          </p:cNvPicPr>
          <p:nvPr/>
        </p:nvPicPr>
        <p:blipFill>
          <a:blip r:embed="rId3"/>
          <a:stretch>
            <a:fillRect/>
          </a:stretch>
        </p:blipFill>
        <p:spPr>
          <a:xfrm>
            <a:off x="4526280" y="1481328"/>
            <a:ext cx="3657600" cy="4073630"/>
          </a:xfrm>
          <a:prstGeom prst="rect">
            <a:avLst/>
          </a:prstGeom>
        </p:spPr>
      </p:pic>
      <p:sp>
        <p:nvSpPr>
          <p:cNvPr id="5" name="TextBox 4"/>
          <p:cNvSpPr txBox="1"/>
          <p:nvPr/>
        </p:nvSpPr>
        <p:spPr>
          <a:xfrm>
            <a:off x="8549640" y="1938528"/>
            <a:ext cx="2825496" cy="347472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OVERSIGHT, RECORDED</a:t>
            </a:r>
          </a:p>
          <a:p>
            <a:pPr>
              <a:lnSpc>
                <a:spcPct val="128000"/>
              </a:lnSpc>
              <a:spcAft>
                <a:spcPts val="1000"/>
              </a:spcAft>
            </a:pPr>
            <a:r>
              <a:rPr sz="1400" b="0" i="0">
                <a:solidFill>
                  <a:srgbClr val="16211E"/>
                </a:solidFill>
                <a:latin typeface="Arial"/>
              </a:rPr>
              <a:t>Nothing is pre-selected. Agreeing and overriding take the same two clicks, and the disagreement rate is the cheapest drift signal a service has.</a:t>
            </a:r>
          </a:p>
          <a:p>
            <a:pPr>
              <a:lnSpc>
                <a:spcPct val="125000"/>
              </a:lnSpc>
              <a:spcAft>
                <a:spcPts val="1000"/>
              </a:spcAft>
            </a:pPr>
            <a:r>
              <a:rPr sz="1400" b="1" i="0">
                <a:solidFill>
                  <a:srgbClr val="BB9F45"/>
                </a:solidFill>
                <a:latin typeface="Arial"/>
              </a:rPr>
              <a:t>Every decision is stored against the model version the clinician actually saw.</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Row-level security, demonstrated rather than claimed</a:t>
            </a:r>
          </a:p>
        </p:txBody>
      </p:sp>
      <p:pic>
        <p:nvPicPr>
          <p:cNvPr id="3" name="Picture 2" descr="p_rls.png"/>
          <p:cNvPicPr>
            <a:picLocks noChangeAspect="1"/>
          </p:cNvPicPr>
          <p:nvPr/>
        </p:nvPicPr>
        <p:blipFill>
          <a:blip r:embed="rId2"/>
          <a:stretch>
            <a:fillRect/>
          </a:stretch>
        </p:blipFill>
        <p:spPr>
          <a:xfrm>
            <a:off x="817473" y="1873958"/>
            <a:ext cx="10557662" cy="3329538"/>
          </a:xfrm>
          <a:prstGeom prst="rect">
            <a:avLst/>
          </a:prstGeom>
        </p:spPr>
      </p:pic>
      <p:sp>
        <p:nvSpPr>
          <p:cNvPr id="4" name="Rounded Rectangle 3"/>
          <p:cNvSpPr/>
          <p:nvPr/>
        </p:nvSpPr>
        <p:spPr>
          <a:xfrm>
            <a:off x="817473" y="5486400"/>
            <a:ext cx="10557662" cy="566928"/>
          </a:xfrm>
          <a:prstGeom prst="roundRect">
            <a:avLst>
              <a:gd name="adj" fmla="val 6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17473" y="5486400"/>
            <a:ext cx="50292" cy="56692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3505" y="5614416"/>
            <a:ext cx="10100462" cy="365760"/>
          </a:xfrm>
          <a:prstGeom prst="rect">
            <a:avLst/>
          </a:prstGeom>
          <a:noFill/>
        </p:spPr>
        <p:txBody>
          <a:bodyPr wrap="square" lIns="0" rIns="0" tIns="0" bIns="0" anchor="t">
            <a:spAutoFit/>
          </a:bodyPr>
          <a:lstStyle/>
          <a:p>
            <a:pPr>
              <a:lnSpc>
                <a:spcPct val="115000"/>
              </a:lnSpc>
              <a:spcAft>
                <a:spcPts val="600"/>
              </a:spcAft>
            </a:pPr>
            <a:r>
              <a:rPr sz="1600" b="1" i="0">
                <a:solidFill>
                  <a:srgbClr val="003E34"/>
                </a:solidFill>
                <a:latin typeface="Arial"/>
              </a:rPr>
              <a:t>The demonstration: sign in as a second clinician and reload the same deep link.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A grounded answer, or none</a:t>
            </a:r>
          </a:p>
        </p:txBody>
      </p:sp>
      <p:pic>
        <p:nvPicPr>
          <p:cNvPr id="3" name="Picture 2" descr="p_grounding.png"/>
          <p:cNvPicPr>
            <a:picLocks noChangeAspect="1"/>
          </p:cNvPicPr>
          <p:nvPr/>
        </p:nvPicPr>
        <p:blipFill>
          <a:blip r:embed="rId2"/>
          <a:stretch>
            <a:fillRect/>
          </a:stretch>
        </p:blipFill>
        <p:spPr>
          <a:xfrm>
            <a:off x="817473" y="1454515"/>
            <a:ext cx="10557662" cy="1928144"/>
          </a:xfrm>
          <a:prstGeom prst="rect">
            <a:avLst/>
          </a:prstGeom>
        </p:spPr>
      </p:pic>
      <p:pic>
        <p:nvPicPr>
          <p:cNvPr id="4" name="Picture 3" descr="c-ask-card.png"/>
          <p:cNvPicPr>
            <a:picLocks noChangeAspect="1"/>
          </p:cNvPicPr>
          <p:nvPr/>
        </p:nvPicPr>
        <p:blipFill>
          <a:blip r:embed="rId3"/>
          <a:stretch>
            <a:fillRect/>
          </a:stretch>
        </p:blipFill>
        <p:spPr>
          <a:xfrm>
            <a:off x="817473" y="3630168"/>
            <a:ext cx="7406640" cy="2047307"/>
          </a:xfrm>
          <a:prstGeom prst="rect">
            <a:avLst/>
          </a:prstGeom>
        </p:spPr>
      </p:pic>
      <p:sp>
        <p:nvSpPr>
          <p:cNvPr id="5" name="TextBox 4"/>
          <p:cNvSpPr txBox="1"/>
          <p:nvPr/>
        </p:nvSpPr>
        <p:spPr>
          <a:xfrm>
            <a:off x="8503920" y="3721608"/>
            <a:ext cx="2871216" cy="219456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WHAT IT WILL NOT DO</a:t>
            </a:r>
          </a:p>
          <a:p>
            <a:pPr>
              <a:lnSpc>
                <a:spcPct val="135000"/>
              </a:lnSpc>
              <a:spcAft>
                <a:spcPts val="1000"/>
              </a:spcAft>
            </a:pPr>
            <a:r>
              <a:rPr sz="1400" b="0" i="1">
                <a:solidFill>
                  <a:srgbClr val="003E34"/>
                </a:solidFill>
                <a:latin typeface="Arial"/>
              </a:rPr>
              <a:t>“Should I cancel a patient's operation?”</a:t>
            </a:r>
          </a:p>
          <a:p>
            <a:pPr>
              <a:lnSpc>
                <a:spcPct val="128000"/>
              </a:lnSpc>
              <a:spcAft>
                <a:spcPts val="1000"/>
              </a:spcAft>
            </a:pPr>
            <a:r>
              <a:rPr sz="1400" b="0" i="0">
                <a:solidFill>
                  <a:srgbClr val="16211E"/>
                </a:solidFill>
                <a:latin typeface="Arial"/>
              </a:rPr>
              <a:t>Declined. The agent answers from the governed tables under the same permissions as the rest of the app — and what cannot be grounded is refused rather than improvised.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The missing layer, built</a:t>
            </a:r>
          </a:p>
        </p:txBody>
      </p:sp>
      <p:pic>
        <p:nvPicPr>
          <p:cNvPr id="3" name="Picture 2" descr="p_audiences.png"/>
          <p:cNvPicPr>
            <a:picLocks noChangeAspect="1"/>
          </p:cNvPicPr>
          <p:nvPr/>
        </p:nvPicPr>
        <p:blipFill>
          <a:blip r:embed="rId2"/>
          <a:stretch>
            <a:fillRect/>
          </a:stretch>
        </p:blipFill>
        <p:spPr>
          <a:xfrm>
            <a:off x="6400800" y="1572768"/>
            <a:ext cx="4974336" cy="3101557"/>
          </a:xfrm>
          <a:prstGeom prst="rect">
            <a:avLst/>
          </a:prstGeom>
        </p:spPr>
      </p:pic>
      <p:sp>
        <p:nvSpPr>
          <p:cNvPr id="4" name="TextBox 3"/>
          <p:cNvSpPr txBox="1"/>
          <p:nvPr/>
        </p:nvSpPr>
        <p:spPr>
          <a:xfrm>
            <a:off x="817473" y="1801368"/>
            <a:ext cx="5120640" cy="384048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WHERE WE STARTED</a:t>
            </a:r>
          </a:p>
          <a:p>
            <a:pPr>
              <a:lnSpc>
                <a:spcPct val="130000"/>
              </a:lnSpc>
              <a:spcAft>
                <a:spcPts val="1200"/>
              </a:spcAft>
            </a:pPr>
            <a:r>
              <a:rPr sz="1700" b="0" i="0">
                <a:solidFill>
                  <a:srgbClr val="16211E"/>
                </a:solidFill>
                <a:latin typeface="Arial"/>
              </a:rPr>
              <a:t>1,872 papers. 56 models in practice.</a:t>
            </a:r>
          </a:p>
          <a:p>
            <a:pPr>
              <a:lnSpc>
                <a:spcPct val="128000"/>
              </a:lnSpc>
              <a:spcAft>
                <a:spcPts val="1000"/>
              </a:spcAft>
            </a:pPr>
            <a:r>
              <a:rPr sz="1400" b="0" i="0">
                <a:solidFill>
                  <a:srgbClr val="16211E"/>
                </a:solidFill>
                <a:latin typeface="Arial"/>
              </a:rPr>
              <a:t>The gap is not modelling capability. It is that data, analytics and decision live in three different estates, with the lineage broken at every boundary.</a:t>
            </a:r>
          </a:p>
          <a:p>
            <a:pPr>
              <a:lnSpc>
                <a:spcPct val="128000"/>
              </a:lnSpc>
              <a:spcAft>
                <a:spcPts val="1000"/>
              </a:spcAft>
            </a:pPr>
            <a:r>
              <a:rPr sz="1400" b="0" i="0">
                <a:solidFill>
                  <a:srgbClr val="16211E"/>
                </a:solidFill>
                <a:latin typeface="Arial"/>
              </a:rPr>
              <a:t>What closes it is one governed place, with one lineage from a raw registry row to a recorded clinical decision — and a score a clinician is allowed to disagree with.</a:t>
            </a:r>
          </a:p>
          <a:p>
            <a:pPr>
              <a:lnSpc>
                <a:spcPct val="125000"/>
              </a:lnSpc>
              <a:spcAft>
                <a:spcPts val="1000"/>
              </a:spcAft>
            </a:pPr>
            <a:r>
              <a:rPr sz="1400" b="1" i="0">
                <a:solidFill>
                  <a:srgbClr val="BB9F45"/>
                </a:solidFill>
                <a:latin typeface="Arial"/>
              </a:rPr>
              <a:t>Clinicians are not the blocker.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7473" y="219456"/>
            <a:ext cx="10557662" cy="960120"/>
          </a:xfrm>
        </p:spPr>
        <p:txBody>
          <a:bodyPr wrap="square"/>
          <a:lstStyle/>
          <a:p>
            <a:r>
              <a:rPr sz="3000" b="1">
                <a:solidFill>
                  <a:srgbClr val="003E34"/>
                </a:solidFill>
                <a:latin typeface="Arial"/>
              </a:rPr>
              <a:t>Five things that transfer</a:t>
            </a:r>
          </a:p>
        </p:txBody>
      </p:sp>
      <p:pic>
        <p:nvPicPr>
          <p:cNvPr id="3" name="Picture 2" descr="p_transfer.png"/>
          <p:cNvPicPr>
            <a:picLocks noChangeAspect="1"/>
          </p:cNvPicPr>
          <p:nvPr/>
        </p:nvPicPr>
        <p:blipFill>
          <a:blip r:embed="rId2"/>
          <a:stretch>
            <a:fillRect/>
          </a:stretch>
        </p:blipFill>
        <p:spPr>
          <a:xfrm>
            <a:off x="817473" y="1481328"/>
            <a:ext cx="8321040" cy="3108525"/>
          </a:xfrm>
          <a:prstGeom prst="rect">
            <a:avLst/>
          </a:prstGeom>
        </p:spPr>
      </p:pic>
      <p:pic>
        <p:nvPicPr>
          <p:cNvPr id="4" name="Picture 3" descr="qr.png"/>
          <p:cNvPicPr>
            <a:picLocks noChangeAspect="1"/>
          </p:cNvPicPr>
          <p:nvPr/>
        </p:nvPicPr>
        <p:blipFill>
          <a:blip r:embed="rId3"/>
          <a:stretch>
            <a:fillRect/>
          </a:stretch>
        </p:blipFill>
        <p:spPr>
          <a:xfrm>
            <a:off x="9189720" y="1618488"/>
            <a:ext cx="1828800" cy="1828800"/>
          </a:xfrm>
          <a:prstGeom prst="rect">
            <a:avLst/>
          </a:prstGeom>
        </p:spPr>
      </p:pic>
      <p:sp>
        <p:nvSpPr>
          <p:cNvPr id="5" name="TextBox 4"/>
          <p:cNvSpPr txBox="1"/>
          <p:nvPr/>
        </p:nvSpPr>
        <p:spPr>
          <a:xfrm>
            <a:off x="9052560" y="3721608"/>
            <a:ext cx="2322576" cy="1737360"/>
          </a:xfrm>
          <a:prstGeom prst="rect">
            <a:avLst/>
          </a:prstGeom>
          <a:noFill/>
        </p:spPr>
        <p:txBody>
          <a:bodyPr wrap="square" lIns="0" rIns="0" tIns="0" bIns="0" anchor="t">
            <a:spAutoFit/>
          </a:bodyPr>
          <a:lstStyle/>
          <a:p>
            <a:pPr>
              <a:lnSpc>
                <a:spcPct val="120000"/>
              </a:lnSpc>
              <a:spcAft>
                <a:spcPts val="800"/>
              </a:spcAft>
            </a:pPr>
            <a:r>
              <a:rPr sz="1100" b="1" i="0" spc="140">
                <a:solidFill>
                  <a:srgbClr val="6B7370"/>
                </a:solidFill>
                <a:latin typeface="Arial"/>
              </a:rPr>
              <a:t>TAKE IT WITH YOU</a:t>
            </a:r>
          </a:p>
          <a:p>
            <a:pPr>
              <a:lnSpc>
                <a:spcPct val="125000"/>
              </a:lnSpc>
              <a:spcAft>
                <a:spcPts val="800"/>
              </a:spcAft>
            </a:pPr>
            <a:r>
              <a:rPr sz="1200" b="0" i="0">
                <a:solidFill>
                  <a:srgbClr val="6B7370"/>
                </a:solidFill>
                <a:latin typeface="Arial"/>
              </a:rPr>
              <a:t>Ten Fabric notebooks, the medallion and MLflow design notes, the clinician app with its offline mode, and the model card.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2026-09-17T19:22:18Z</dcterms:created>
  <dcterms:modified xsi:type="dcterms:W3CDTF">2026-09-17T19:22:18Z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2026-09-17T00:00:00Z</vt:filetime>
  </property>
  <property fmtid="{D5CDD505-2E9C-101B-9397-08002B2CF9AE}" pid="4" name="LastSaved">
    <vt:filetime>2026-09-17T00:00:00Z</vt:filetime>
  </property>
</Properties>
</file>